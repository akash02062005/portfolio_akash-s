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8" r:id="rId12"/>
    <p:sldId id="269" r:id="rId13"/>
  </p:sldIdLst>
  <p:sldSz cx="18288000" cy="10287000"/>
  <p:notesSz cx="6858000" cy="9144000"/>
  <p:embeddedFontLst>
    <p:embeddedFont>
      <p:font typeface="Helvetica World" panose="020B0604020202020204" charset="-128"/>
      <p:regular r:id="rId14"/>
    </p:embeddedFont>
    <p:embeddedFont>
      <p:font typeface="Arial Bold" panose="020B0704020202020204" pitchFamily="34" charset="0"/>
      <p:regular r:id="rId15"/>
      <p:bold r:id="rId16"/>
    </p:embeddedFont>
    <p:embeddedFont>
      <p:font typeface="Georgia Pro Condense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5" d="100"/>
          <a:sy n="65" d="100"/>
        </p:scale>
        <p:origin x="82" y="18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2A76BA"/>
            </a:solidFill>
            <a:ln w="12700">
              <a:solidFill>
                <a:srgbClr val="000000"/>
              </a:solidFill>
            </a:ln>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666750" y="8031812"/>
            <a:ext cx="4563060" cy="1588438"/>
          </a:xfrm>
          <a:prstGeom prst="rect">
            <a:avLst/>
          </a:prstGeom>
        </p:spPr>
        <p:txBody>
          <a:bodyPr lIns="0" tIns="0" rIns="0" bIns="0" rtlCol="0" anchor="t">
            <a:spAutoFit/>
          </a:bodyPr>
          <a:lstStyle/>
          <a:p>
            <a:pPr marL="0" lvl="0" indent="0" algn="l">
              <a:lnSpc>
                <a:spcPts val="4128"/>
              </a:lnSpc>
            </a:pPr>
            <a:r>
              <a:rPr lang="en-US" sz="3176" b="1" u="none" strike="noStrike" spc="-47">
                <a:solidFill>
                  <a:srgbClr val="D7E6F8"/>
                </a:solidFill>
                <a:latin typeface="Arial Bold"/>
                <a:ea typeface="Arial Bold"/>
                <a:cs typeface="Arial Bold"/>
                <a:sym typeface="Arial Bold"/>
              </a:rPr>
              <a:t>AKASH S ,</a:t>
            </a:r>
          </a:p>
          <a:p>
            <a:pPr marL="0" lvl="0" indent="0" algn="l">
              <a:lnSpc>
                <a:spcPts val="4128"/>
              </a:lnSpc>
            </a:pPr>
            <a:r>
              <a:rPr lang="en-US" sz="3176" b="1" u="none" strike="noStrike" spc="-47">
                <a:solidFill>
                  <a:srgbClr val="D7E6F8"/>
                </a:solidFill>
                <a:latin typeface="Arial Bold"/>
                <a:ea typeface="Arial Bold"/>
                <a:cs typeface="Arial Bold"/>
                <a:sym typeface="Arial Bold"/>
              </a:rPr>
              <a:t>2303921310421012,</a:t>
            </a:r>
          </a:p>
          <a:p>
            <a:pPr marL="0" lvl="0" indent="0" algn="l">
              <a:lnSpc>
                <a:spcPts val="4128"/>
              </a:lnSpc>
            </a:pPr>
            <a:r>
              <a:rPr lang="en-US" sz="3176" b="1" u="none" strike="noStrike" spc="-47">
                <a:solidFill>
                  <a:srgbClr val="D7E6F8"/>
                </a:solidFill>
                <a:latin typeface="Arial Bold"/>
                <a:ea typeface="Arial Bold"/>
                <a:cs typeface="Arial Bold"/>
                <a:sym typeface="Arial Bold"/>
              </a:rPr>
              <a:t>III-CSE-A</a:t>
            </a:r>
          </a:p>
        </p:txBody>
      </p:sp>
      <p:sp>
        <p:nvSpPr>
          <p:cNvPr id="7" name="TextBox 7"/>
          <p:cNvSpPr txBox="1"/>
          <p:nvPr/>
        </p:nvSpPr>
        <p:spPr>
          <a:xfrm>
            <a:off x="805764" y="5113245"/>
            <a:ext cx="8153693" cy="1686560"/>
          </a:xfrm>
          <a:prstGeom prst="rect">
            <a:avLst/>
          </a:prstGeom>
        </p:spPr>
        <p:txBody>
          <a:bodyPr lIns="0" tIns="0" rIns="0" bIns="0" rtlCol="0" anchor="t">
            <a:spAutoFit/>
          </a:bodyPr>
          <a:lstStyle/>
          <a:p>
            <a:pPr marL="0" lvl="0" indent="0" algn="l">
              <a:lnSpc>
                <a:spcPts val="6399"/>
              </a:lnSpc>
            </a:pPr>
            <a:r>
              <a:rPr lang="en-US" sz="6399" u="none" strike="noStrike" spc="-223">
                <a:solidFill>
                  <a:srgbClr val="D7E6F8"/>
                </a:solidFill>
                <a:latin typeface="Arial"/>
                <a:ea typeface="Arial"/>
                <a:cs typeface="Arial"/>
                <a:sym typeface="Arial"/>
              </a:rPr>
              <a:t>Explainable AI &amp; Federated Learning</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666750" y="990600"/>
            <a:ext cx="8153693" cy="2476500"/>
          </a:xfrm>
          <a:prstGeom prst="rect">
            <a:avLst/>
          </a:prstGeom>
        </p:spPr>
        <p:txBody>
          <a:bodyPr lIns="0" tIns="0" rIns="0" bIns="0" rtlCol="0" anchor="t">
            <a:spAutoFit/>
          </a:bodyPr>
          <a:lstStyle/>
          <a:p>
            <a:pPr algn="ctr">
              <a:lnSpc>
                <a:spcPts val="9601"/>
              </a:lnSpc>
              <a:spcBef>
                <a:spcPct val="0"/>
              </a:spcBef>
            </a:pPr>
            <a:r>
              <a:rPr lang="en-US" sz="8001" b="1" spc="-120">
                <a:solidFill>
                  <a:srgbClr val="D7E6F8"/>
                </a:solidFill>
                <a:latin typeface="Arial Bold"/>
                <a:ea typeface="Arial Bold"/>
                <a:cs typeface="Arial Bold"/>
                <a:sym typeface="Arial Bold"/>
              </a:rPr>
              <a:t>Practical Uses of Deep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marL="0" lvl="0" indent="0" algn="ctr">
              <a:lnSpc>
                <a:spcPts val="2677"/>
              </a:lnSpc>
              <a:spcBef>
                <a:spcPct val="0"/>
              </a:spcBef>
            </a:pPr>
            <a:r>
              <a:rPr lang="en-US" sz="1912">
                <a:solidFill>
                  <a:srgbClr val="D7E6F8"/>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1623"/>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213"/>
                </a:lnSpc>
                <a:spcBef>
                  <a:spcPct val="0"/>
                </a:spcBef>
              </a:pPr>
              <a:endParaRPr/>
            </a:p>
          </p:txBody>
        </p:sp>
      </p:grpSp>
      <p:grpSp>
        <p:nvGrpSpPr>
          <p:cNvPr id="6" name="Group 6"/>
          <p:cNvGrpSpPr/>
          <p:nvPr/>
        </p:nvGrpSpPr>
        <p:grpSpPr>
          <a:xfrm>
            <a:off x="3210221" y="666750"/>
            <a:ext cx="13249275" cy="2133684"/>
            <a:chOff x="0" y="0"/>
            <a:chExt cx="17665700" cy="2844912"/>
          </a:xfrm>
        </p:grpSpPr>
        <p:sp>
          <p:nvSpPr>
            <p:cNvPr id="7" name="TextBox 7"/>
            <p:cNvSpPr txBox="1"/>
            <p:nvPr/>
          </p:nvSpPr>
          <p:spPr>
            <a:xfrm>
              <a:off x="0" y="-114300"/>
              <a:ext cx="17665700" cy="1731433"/>
            </a:xfrm>
            <a:prstGeom prst="rect">
              <a:avLst/>
            </a:prstGeom>
          </p:spPr>
          <p:txBody>
            <a:bodyPr lIns="0" tIns="0" rIns="0" bIns="0" rtlCol="0" anchor="t">
              <a:spAutoFit/>
            </a:bodyPr>
            <a:lstStyle/>
            <a:p>
              <a:pPr marL="0" lvl="0" indent="0" algn="ctr">
                <a:lnSpc>
                  <a:spcPts val="10400"/>
                </a:lnSpc>
              </a:pPr>
              <a:r>
                <a:rPr lang="en-US" sz="8000" spc="-240">
                  <a:solidFill>
                    <a:srgbClr val="D7E6F8"/>
                  </a:solidFill>
                  <a:latin typeface="Arial"/>
                  <a:ea typeface="Arial"/>
                  <a:cs typeface="Arial"/>
                  <a:sym typeface="Arial"/>
                </a:rPr>
                <a:t>Introduction to AI</a:t>
              </a:r>
            </a:p>
          </p:txBody>
        </p:sp>
        <p:sp>
          <p:nvSpPr>
            <p:cNvPr id="8" name="TextBox 8"/>
            <p:cNvSpPr txBox="1"/>
            <p:nvPr/>
          </p:nvSpPr>
          <p:spPr>
            <a:xfrm>
              <a:off x="0" y="2178162"/>
              <a:ext cx="17665700" cy="666750"/>
            </a:xfrm>
            <a:prstGeom prst="rect">
              <a:avLst/>
            </a:prstGeom>
          </p:spPr>
          <p:txBody>
            <a:bodyPr lIns="0" tIns="0" rIns="0" bIns="0" rtlCol="0" anchor="t">
              <a:spAutoFit/>
            </a:bodyPr>
            <a:lstStyle/>
            <a:p>
              <a:pPr marL="0" lvl="0" indent="0" algn="ctr">
                <a:lnSpc>
                  <a:spcPts val="3884"/>
                </a:lnSpc>
                <a:spcBef>
                  <a:spcPct val="0"/>
                </a:spcBef>
              </a:pPr>
              <a:r>
                <a:rPr lang="en-US" sz="3237" b="1" spc="-48">
                  <a:solidFill>
                    <a:srgbClr val="D7E6F8"/>
                  </a:solidFill>
                  <a:latin typeface="Arial Bold"/>
                  <a:ea typeface="Arial Bold"/>
                  <a:cs typeface="Arial Bold"/>
                  <a:sym typeface="Arial Bold"/>
                </a:rPr>
                <a:t>Understanding Explainable AI and Federated Learning</a:t>
              </a:r>
            </a:p>
          </p:txBody>
        </p:sp>
      </p:grpSp>
      <p:grpSp>
        <p:nvGrpSpPr>
          <p:cNvPr id="9" name="Group 9"/>
          <p:cNvGrpSpPr/>
          <p:nvPr/>
        </p:nvGrpSpPr>
        <p:grpSpPr>
          <a:xfrm>
            <a:off x="1247066" y="3685848"/>
            <a:ext cx="4551787" cy="4776043"/>
            <a:chOff x="0" y="0"/>
            <a:chExt cx="6069049" cy="6368057"/>
          </a:xfrm>
        </p:grpSpPr>
        <p:sp>
          <p:nvSpPr>
            <p:cNvPr id="10" name="TextBox 10"/>
            <p:cNvSpPr txBox="1"/>
            <p:nvPr/>
          </p:nvSpPr>
          <p:spPr>
            <a:xfrm>
              <a:off x="0" y="-19050"/>
              <a:ext cx="6069049" cy="628650"/>
            </a:xfrm>
            <a:prstGeom prst="rect">
              <a:avLst/>
            </a:prstGeom>
          </p:spPr>
          <p:txBody>
            <a:bodyPr lIns="0" tIns="0" rIns="0" bIns="0" rtlCol="0" anchor="t">
              <a:spAutoFit/>
            </a:bodyPr>
            <a:lstStyle/>
            <a:p>
              <a:pPr marL="0" lvl="0" indent="0" algn="l">
                <a:lnSpc>
                  <a:spcPts val="3618"/>
                </a:lnSpc>
                <a:spcBef>
                  <a:spcPct val="0"/>
                </a:spcBef>
              </a:pPr>
              <a:r>
                <a:rPr lang="en-US" sz="3015" b="1" spc="-45">
                  <a:solidFill>
                    <a:srgbClr val="D7E6F8"/>
                  </a:solidFill>
                  <a:latin typeface="Arial Bold"/>
                  <a:ea typeface="Arial Bold"/>
                  <a:cs typeface="Arial Bold"/>
                  <a:sym typeface="Arial Bold"/>
                </a:rPr>
                <a:t>Explainable AI (XAI)</a:t>
              </a:r>
            </a:p>
          </p:txBody>
        </p:sp>
        <p:sp>
          <p:nvSpPr>
            <p:cNvPr id="11" name="TextBox 11"/>
            <p:cNvSpPr txBox="1"/>
            <p:nvPr/>
          </p:nvSpPr>
          <p:spPr>
            <a:xfrm>
              <a:off x="0" y="1304075"/>
              <a:ext cx="6069049" cy="5063983"/>
            </a:xfrm>
            <a:prstGeom prst="rect">
              <a:avLst/>
            </a:prstGeom>
          </p:spPr>
          <p:txBody>
            <a:bodyPr lIns="0" tIns="0" rIns="0" bIns="0" rtlCol="0" anchor="t">
              <a:spAutoFit/>
            </a:bodyPr>
            <a:lstStyle/>
            <a:p>
              <a:pPr marL="0" lvl="0" indent="0" algn="l">
                <a:lnSpc>
                  <a:spcPts val="3812"/>
                </a:lnSpc>
              </a:pPr>
              <a:r>
                <a:rPr lang="en-US" sz="2722" u="none" strike="noStrike" spc="-40">
                  <a:solidFill>
                    <a:srgbClr val="D7E6F8"/>
                  </a:solidFill>
                  <a:latin typeface="Arial"/>
                  <a:ea typeface="Arial"/>
                  <a:cs typeface="Arial"/>
                  <a:sym typeface="Arial"/>
                </a:rPr>
                <a:t>Explainable AI focuses on making AI decisions </a:t>
              </a:r>
              <a:r>
                <a:rPr lang="en-US" sz="2722" b="1" u="none" strike="noStrike" spc="-40">
                  <a:solidFill>
                    <a:srgbClr val="D7E6F8"/>
                  </a:solidFill>
                  <a:latin typeface="Arial Bold"/>
                  <a:ea typeface="Arial Bold"/>
                  <a:cs typeface="Arial Bold"/>
                  <a:sym typeface="Arial Bold"/>
                </a:rPr>
                <a:t>transparent and understandable</a:t>
              </a:r>
              <a:r>
                <a:rPr lang="en-US" sz="2722" u="none" strike="noStrike" spc="-40">
                  <a:solidFill>
                    <a:srgbClr val="D7E6F8"/>
                  </a:solidFill>
                  <a:latin typeface="Arial"/>
                  <a:ea typeface="Arial"/>
                  <a:cs typeface="Arial"/>
                  <a:sym typeface="Arial"/>
                </a:rPr>
                <a:t>, ensuring users trust AI systems by providing insights into how decisions are reached and what factors influence them.</a:t>
              </a:r>
            </a:p>
          </p:txBody>
        </p:sp>
      </p:grpSp>
      <p:grpSp>
        <p:nvGrpSpPr>
          <p:cNvPr id="12" name="Group 12"/>
          <p:cNvGrpSpPr/>
          <p:nvPr/>
        </p:nvGrpSpPr>
        <p:grpSpPr>
          <a:xfrm>
            <a:off x="6492576" y="3700276"/>
            <a:ext cx="5069591" cy="4761614"/>
            <a:chOff x="0" y="0"/>
            <a:chExt cx="6759455" cy="6348819"/>
          </a:xfrm>
        </p:grpSpPr>
        <p:sp>
          <p:nvSpPr>
            <p:cNvPr id="13" name="TextBox 13"/>
            <p:cNvSpPr txBox="1"/>
            <p:nvPr/>
          </p:nvSpPr>
          <p:spPr>
            <a:xfrm>
              <a:off x="0" y="-19050"/>
              <a:ext cx="6759455" cy="641350"/>
            </a:xfrm>
            <a:prstGeom prst="rect">
              <a:avLst/>
            </a:prstGeom>
          </p:spPr>
          <p:txBody>
            <a:bodyPr lIns="0" tIns="0" rIns="0" bIns="0" rtlCol="0" anchor="t">
              <a:spAutoFit/>
            </a:bodyPr>
            <a:lstStyle/>
            <a:p>
              <a:pPr marL="0" lvl="0" indent="0" algn="l">
                <a:lnSpc>
                  <a:spcPts val="3697"/>
                </a:lnSpc>
                <a:spcBef>
                  <a:spcPct val="0"/>
                </a:spcBef>
              </a:pPr>
              <a:r>
                <a:rPr lang="en-US" sz="3081" b="1" spc="-46">
                  <a:solidFill>
                    <a:srgbClr val="D7E6F8"/>
                  </a:solidFill>
                  <a:latin typeface="Arial Bold"/>
                  <a:ea typeface="Arial Bold"/>
                  <a:cs typeface="Arial Bold"/>
                  <a:sym typeface="Arial Bold"/>
                </a:rPr>
                <a:t>Federated Learning (FL)</a:t>
              </a:r>
            </a:p>
          </p:txBody>
        </p:sp>
        <p:sp>
          <p:nvSpPr>
            <p:cNvPr id="14" name="TextBox 14"/>
            <p:cNvSpPr txBox="1"/>
            <p:nvPr/>
          </p:nvSpPr>
          <p:spPr>
            <a:xfrm>
              <a:off x="0" y="1284663"/>
              <a:ext cx="6759455" cy="5064156"/>
            </a:xfrm>
            <a:prstGeom prst="rect">
              <a:avLst/>
            </a:prstGeom>
          </p:spPr>
          <p:txBody>
            <a:bodyPr lIns="0" tIns="0" rIns="0" bIns="0" rtlCol="0" anchor="t">
              <a:spAutoFit/>
            </a:bodyPr>
            <a:lstStyle/>
            <a:p>
              <a:pPr marL="0" lvl="0" indent="0" algn="l">
                <a:lnSpc>
                  <a:spcPts val="3804"/>
                </a:lnSpc>
              </a:pPr>
              <a:r>
                <a:rPr lang="en-US" sz="2717" u="none" strike="noStrike" spc="-40">
                  <a:solidFill>
                    <a:srgbClr val="D7E6F8"/>
                  </a:solidFill>
                  <a:latin typeface="Arial"/>
                  <a:ea typeface="Arial"/>
                  <a:cs typeface="Arial"/>
                  <a:sym typeface="Arial"/>
                </a:rPr>
                <a:t>Federated Learning is a decentralized approach to AI training that </a:t>
              </a:r>
              <a:r>
                <a:rPr lang="en-US" sz="2717" b="1" u="none" strike="noStrike" spc="-40">
                  <a:solidFill>
                    <a:srgbClr val="D7E6F8"/>
                  </a:solidFill>
                  <a:latin typeface="Arial Bold"/>
                  <a:ea typeface="Arial Bold"/>
                  <a:cs typeface="Arial Bold"/>
                  <a:sym typeface="Arial Bold"/>
                </a:rPr>
                <a:t>preserves data privacy</a:t>
              </a:r>
              <a:r>
                <a:rPr lang="en-US" sz="2717" u="none" strike="noStrike" spc="-40">
                  <a:solidFill>
                    <a:srgbClr val="D7E6F8"/>
                  </a:solidFill>
                  <a:latin typeface="Arial"/>
                  <a:ea typeface="Arial"/>
                  <a:cs typeface="Arial"/>
                  <a:sym typeface="Arial"/>
                </a:rPr>
                <a:t> by allowing model updates from local devices without sharing sensitive data, enhancing security and compliance.</a:t>
              </a:r>
            </a:p>
          </p:txBody>
        </p:sp>
      </p:grpSp>
      <p:grpSp>
        <p:nvGrpSpPr>
          <p:cNvPr id="15" name="Group 15"/>
          <p:cNvGrpSpPr/>
          <p:nvPr/>
        </p:nvGrpSpPr>
        <p:grpSpPr>
          <a:xfrm>
            <a:off x="12255891" y="3700276"/>
            <a:ext cx="5070977" cy="4285499"/>
            <a:chOff x="0" y="0"/>
            <a:chExt cx="6761303" cy="5713998"/>
          </a:xfrm>
        </p:grpSpPr>
        <p:sp>
          <p:nvSpPr>
            <p:cNvPr id="16" name="TextBox 16"/>
            <p:cNvSpPr txBox="1"/>
            <p:nvPr/>
          </p:nvSpPr>
          <p:spPr>
            <a:xfrm>
              <a:off x="0" y="-19050"/>
              <a:ext cx="6761303" cy="641350"/>
            </a:xfrm>
            <a:prstGeom prst="rect">
              <a:avLst/>
            </a:prstGeom>
          </p:spPr>
          <p:txBody>
            <a:bodyPr lIns="0" tIns="0" rIns="0" bIns="0" rtlCol="0" anchor="t">
              <a:spAutoFit/>
            </a:bodyPr>
            <a:lstStyle/>
            <a:p>
              <a:pPr marL="0" lvl="0" indent="0" algn="l">
                <a:lnSpc>
                  <a:spcPts val="3698"/>
                </a:lnSpc>
                <a:spcBef>
                  <a:spcPct val="0"/>
                </a:spcBef>
              </a:pPr>
              <a:r>
                <a:rPr lang="en-US" sz="3082" b="1" spc="-46">
                  <a:solidFill>
                    <a:srgbClr val="D7E6F8"/>
                  </a:solidFill>
                  <a:latin typeface="Arial Bold"/>
                  <a:ea typeface="Arial Bold"/>
                  <a:cs typeface="Arial Bold"/>
                  <a:sym typeface="Arial Bold"/>
                </a:rPr>
                <a:t>Importance of Technologies</a:t>
              </a:r>
            </a:p>
          </p:txBody>
        </p:sp>
        <p:sp>
          <p:nvSpPr>
            <p:cNvPr id="17" name="TextBox 17"/>
            <p:cNvSpPr txBox="1"/>
            <p:nvPr/>
          </p:nvSpPr>
          <p:spPr>
            <a:xfrm>
              <a:off x="0" y="1284865"/>
              <a:ext cx="6761303" cy="4429134"/>
            </a:xfrm>
            <a:prstGeom prst="rect">
              <a:avLst/>
            </a:prstGeom>
          </p:spPr>
          <p:txBody>
            <a:bodyPr lIns="0" tIns="0" rIns="0" bIns="0" rtlCol="0" anchor="t">
              <a:spAutoFit/>
            </a:bodyPr>
            <a:lstStyle/>
            <a:p>
              <a:pPr marL="0" lvl="0" indent="0" algn="l">
                <a:lnSpc>
                  <a:spcPts val="3805"/>
                </a:lnSpc>
              </a:pPr>
              <a:r>
                <a:rPr lang="en-US" sz="2718" u="none" strike="noStrike" spc="-40">
                  <a:solidFill>
                    <a:srgbClr val="D7E6F8"/>
                  </a:solidFill>
                  <a:latin typeface="Arial"/>
                  <a:ea typeface="Arial"/>
                  <a:cs typeface="Arial"/>
                  <a:sym typeface="Arial"/>
                </a:rPr>
                <a:t>Both XAI and FL are crucial for building </a:t>
              </a:r>
              <a:r>
                <a:rPr lang="en-US" sz="2718" b="1" u="none" strike="noStrike" spc="-40">
                  <a:solidFill>
                    <a:srgbClr val="D7E6F8"/>
                  </a:solidFill>
                  <a:latin typeface="Arial Bold"/>
                  <a:ea typeface="Arial Bold"/>
                  <a:cs typeface="Arial Bold"/>
                  <a:sym typeface="Arial Bold"/>
                </a:rPr>
                <a:t>trustworthy AI systems</a:t>
              </a:r>
              <a:r>
                <a:rPr lang="en-US" sz="2718" u="none" strike="noStrike" spc="-40">
                  <a:solidFill>
                    <a:srgbClr val="D7E6F8"/>
                  </a:solidFill>
                  <a:latin typeface="Arial"/>
                  <a:ea typeface="Arial"/>
                  <a:cs typeface="Arial"/>
                  <a:sym typeface="Arial"/>
                </a:rPr>
                <a:t>, supporting ethical practices and adherence to regulations while optimizing user experience and data protection in applications across various industries.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D7E6F8"/>
                </a:solidFill>
                <a:latin typeface="Helvetica World"/>
                <a:ea typeface="Helvetica World"/>
                <a:cs typeface="Helvetica World"/>
                <a:sym typeface="Helvetica World"/>
              </a:rPr>
              <a:t>3</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1623"/>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3302103" y="830109"/>
            <a:ext cx="13288993" cy="2125429"/>
            <a:chOff x="0" y="0"/>
            <a:chExt cx="17718658" cy="2833905"/>
          </a:xfrm>
        </p:grpSpPr>
        <p:sp>
          <p:nvSpPr>
            <p:cNvPr id="7" name="TextBox 7"/>
            <p:cNvSpPr txBox="1"/>
            <p:nvPr/>
          </p:nvSpPr>
          <p:spPr>
            <a:xfrm>
              <a:off x="0" y="-114300"/>
              <a:ext cx="17718658" cy="1707726"/>
            </a:xfrm>
            <a:prstGeom prst="rect">
              <a:avLst/>
            </a:prstGeom>
          </p:spPr>
          <p:txBody>
            <a:bodyPr lIns="0" tIns="0" rIns="0" bIns="0" rtlCol="0" anchor="t">
              <a:spAutoFit/>
            </a:bodyPr>
            <a:lstStyle/>
            <a:p>
              <a:pPr marL="0" lvl="0" indent="0" algn="ctr">
                <a:lnSpc>
                  <a:spcPts val="10270"/>
                </a:lnSpc>
              </a:pPr>
              <a:r>
                <a:rPr lang="en-US" sz="7900" spc="-237">
                  <a:solidFill>
                    <a:srgbClr val="D7E6F8"/>
                  </a:solidFill>
                  <a:latin typeface="Arial"/>
                  <a:ea typeface="Arial"/>
                  <a:cs typeface="Arial"/>
                  <a:sym typeface="Arial"/>
                </a:rPr>
                <a:t>Fundamentals of Explainable AI</a:t>
              </a:r>
            </a:p>
          </p:txBody>
        </p:sp>
        <p:sp>
          <p:nvSpPr>
            <p:cNvPr id="8" name="TextBox 8"/>
            <p:cNvSpPr txBox="1"/>
            <p:nvPr/>
          </p:nvSpPr>
          <p:spPr>
            <a:xfrm>
              <a:off x="0" y="2144930"/>
              <a:ext cx="17718658" cy="688975"/>
            </a:xfrm>
            <a:prstGeom prst="rect">
              <a:avLst/>
            </a:prstGeom>
          </p:spPr>
          <p:txBody>
            <a:bodyPr lIns="0" tIns="0" rIns="0" bIns="0" rtlCol="0" anchor="t">
              <a:spAutoFit/>
            </a:bodyPr>
            <a:lstStyle/>
            <a:p>
              <a:pPr marL="0" lvl="0" indent="0" algn="ctr">
                <a:lnSpc>
                  <a:spcPts val="3959"/>
                </a:lnSpc>
                <a:spcBef>
                  <a:spcPct val="0"/>
                </a:spcBef>
              </a:pPr>
              <a:r>
                <a:rPr lang="en-US" sz="3299" b="1" spc="-49">
                  <a:solidFill>
                    <a:srgbClr val="D7E6F8"/>
                  </a:solidFill>
                  <a:latin typeface="Arial Bold"/>
                  <a:ea typeface="Arial Bold"/>
                  <a:cs typeface="Arial Bold"/>
                  <a:sym typeface="Arial Bold"/>
                </a:rPr>
                <a:t>Understanding core concepts and methodologies</a:t>
              </a:r>
            </a:p>
          </p:txBody>
        </p:sp>
      </p:grpSp>
      <p:grpSp>
        <p:nvGrpSpPr>
          <p:cNvPr id="9" name="Group 9"/>
          <p:cNvGrpSpPr/>
          <p:nvPr/>
        </p:nvGrpSpPr>
        <p:grpSpPr>
          <a:xfrm>
            <a:off x="1147855" y="3733504"/>
            <a:ext cx="4308497" cy="4777105"/>
            <a:chOff x="0" y="0"/>
            <a:chExt cx="5744662" cy="6369474"/>
          </a:xfrm>
        </p:grpSpPr>
        <p:sp>
          <p:nvSpPr>
            <p:cNvPr id="10" name="TextBox 10"/>
            <p:cNvSpPr txBox="1"/>
            <p:nvPr/>
          </p:nvSpPr>
          <p:spPr>
            <a:xfrm>
              <a:off x="0" y="-9525"/>
              <a:ext cx="5744662"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Motivation</a:t>
              </a:r>
            </a:p>
          </p:txBody>
        </p:sp>
        <p:sp>
          <p:nvSpPr>
            <p:cNvPr id="11" name="TextBox 11"/>
            <p:cNvSpPr txBox="1"/>
            <p:nvPr/>
          </p:nvSpPr>
          <p:spPr>
            <a:xfrm>
              <a:off x="0" y="1104900"/>
              <a:ext cx="5744662"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Explainability in AI is crucial for </a:t>
              </a:r>
              <a:r>
                <a:rPr lang="en-US" sz="2799" b="1" u="none" strike="noStrike" spc="-41">
                  <a:solidFill>
                    <a:srgbClr val="D7E6F8"/>
                  </a:solidFill>
                  <a:latin typeface="Arial Bold"/>
                  <a:ea typeface="Arial Bold"/>
                  <a:cs typeface="Arial Bold"/>
                  <a:sym typeface="Arial Bold"/>
                </a:rPr>
                <a:t>trust</a:t>
              </a:r>
              <a:r>
                <a:rPr lang="en-US" sz="2799" u="none" strike="noStrike" spc="-41">
                  <a:solidFill>
                    <a:srgbClr val="D7E6F8"/>
                  </a:solidFill>
                  <a:latin typeface="Arial"/>
                  <a:ea typeface="Arial"/>
                  <a:cs typeface="Arial"/>
                  <a:sym typeface="Arial"/>
                </a:rPr>
                <a:t> and </a:t>
              </a:r>
              <a:r>
                <a:rPr lang="en-US" sz="2799" b="1" u="none" strike="noStrike" spc="-41">
                  <a:solidFill>
                    <a:srgbClr val="D7E6F8"/>
                  </a:solidFill>
                  <a:latin typeface="Arial Bold"/>
                  <a:ea typeface="Arial Bold"/>
                  <a:cs typeface="Arial Bold"/>
                  <a:sym typeface="Arial Bold"/>
                </a:rPr>
                <a:t>accountability</a:t>
              </a:r>
              <a:r>
                <a:rPr lang="en-US" sz="2799" u="none" strike="noStrike" spc="-41">
                  <a:solidFill>
                    <a:srgbClr val="D7E6F8"/>
                  </a:solidFill>
                  <a:latin typeface="Arial"/>
                  <a:ea typeface="Arial"/>
                  <a:cs typeface="Arial"/>
                  <a:sym typeface="Arial"/>
                </a:rPr>
                <a:t>, ensuring that users can comprehend decisions made by AI systems, which is essential for regulatory compliance and ethical standards.</a:t>
              </a:r>
            </a:p>
          </p:txBody>
        </p:sp>
      </p:grpSp>
      <p:grpSp>
        <p:nvGrpSpPr>
          <p:cNvPr id="12" name="Group 12"/>
          <p:cNvGrpSpPr/>
          <p:nvPr/>
        </p:nvGrpSpPr>
        <p:grpSpPr>
          <a:xfrm>
            <a:off x="6551470" y="3733504"/>
            <a:ext cx="4407207" cy="4777105"/>
            <a:chOff x="0" y="0"/>
            <a:chExt cx="5876276" cy="6369474"/>
          </a:xfrm>
        </p:grpSpPr>
        <p:sp>
          <p:nvSpPr>
            <p:cNvPr id="13" name="TextBox 13"/>
            <p:cNvSpPr txBox="1"/>
            <p:nvPr/>
          </p:nvSpPr>
          <p:spPr>
            <a:xfrm>
              <a:off x="0" y="-9525"/>
              <a:ext cx="5876276"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Types of Explainability</a:t>
              </a:r>
            </a:p>
          </p:txBody>
        </p:sp>
        <p:sp>
          <p:nvSpPr>
            <p:cNvPr id="14" name="TextBox 14"/>
            <p:cNvSpPr txBox="1"/>
            <p:nvPr/>
          </p:nvSpPr>
          <p:spPr>
            <a:xfrm>
              <a:off x="0" y="1104900"/>
              <a:ext cx="5876276"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Explainability can be classified as </a:t>
              </a:r>
              <a:r>
                <a:rPr lang="en-US" sz="2799" b="1" u="none" strike="noStrike" spc="-41">
                  <a:solidFill>
                    <a:srgbClr val="D7E6F8"/>
                  </a:solidFill>
                  <a:latin typeface="Arial Bold"/>
                  <a:ea typeface="Arial Bold"/>
                  <a:cs typeface="Arial Bold"/>
                  <a:sym typeface="Arial Bold"/>
                </a:rPr>
                <a:t>global</a:t>
              </a:r>
              <a:r>
                <a:rPr lang="en-US" sz="2799" u="none" strike="noStrike" spc="-41">
                  <a:solidFill>
                    <a:srgbClr val="D7E6F8"/>
                  </a:solidFill>
                  <a:latin typeface="Arial"/>
                  <a:ea typeface="Arial"/>
                  <a:cs typeface="Arial"/>
                  <a:sym typeface="Arial"/>
                </a:rPr>
                <a:t> or </a:t>
              </a:r>
              <a:r>
                <a:rPr lang="en-US" sz="2799" b="1" u="none" strike="noStrike" spc="-41">
                  <a:solidFill>
                    <a:srgbClr val="D7E6F8"/>
                  </a:solidFill>
                  <a:latin typeface="Arial Bold"/>
                  <a:ea typeface="Arial Bold"/>
                  <a:cs typeface="Arial Bold"/>
                  <a:sym typeface="Arial Bold"/>
                </a:rPr>
                <a:t>local</a:t>
              </a:r>
              <a:r>
                <a:rPr lang="en-US" sz="2799" u="none" strike="noStrike" spc="-41">
                  <a:solidFill>
                    <a:srgbClr val="D7E6F8"/>
                  </a:solidFill>
                  <a:latin typeface="Arial"/>
                  <a:ea typeface="Arial"/>
                  <a:cs typeface="Arial"/>
                  <a:sym typeface="Arial"/>
                </a:rPr>
                <a:t>, where global explanations provide an overview of the entire model behavior, while local explanations focus on individual decisions for specific inputs.</a:t>
              </a:r>
            </a:p>
          </p:txBody>
        </p:sp>
      </p:grpSp>
      <p:grpSp>
        <p:nvGrpSpPr>
          <p:cNvPr id="15" name="Group 15"/>
          <p:cNvGrpSpPr/>
          <p:nvPr/>
        </p:nvGrpSpPr>
        <p:grpSpPr>
          <a:xfrm>
            <a:off x="12212668" y="3733504"/>
            <a:ext cx="4526362" cy="4777105"/>
            <a:chOff x="0" y="0"/>
            <a:chExt cx="6035149" cy="6369474"/>
          </a:xfrm>
        </p:grpSpPr>
        <p:sp>
          <p:nvSpPr>
            <p:cNvPr id="16" name="TextBox 16"/>
            <p:cNvSpPr txBox="1"/>
            <p:nvPr/>
          </p:nvSpPr>
          <p:spPr>
            <a:xfrm>
              <a:off x="0" y="-9525"/>
              <a:ext cx="6035149"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Common Techniques</a:t>
              </a:r>
            </a:p>
          </p:txBody>
        </p:sp>
        <p:sp>
          <p:nvSpPr>
            <p:cNvPr id="17" name="TextBox 17"/>
            <p:cNvSpPr txBox="1"/>
            <p:nvPr/>
          </p:nvSpPr>
          <p:spPr>
            <a:xfrm>
              <a:off x="0" y="1104900"/>
              <a:ext cx="6035149"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Key methods for achieving explainability include model-agnostic techniques like </a:t>
              </a:r>
              <a:r>
                <a:rPr lang="en-US" sz="2799" b="1" u="none" strike="noStrike" spc="-41">
                  <a:solidFill>
                    <a:srgbClr val="D7E6F8"/>
                  </a:solidFill>
                  <a:latin typeface="Arial Bold"/>
                  <a:ea typeface="Arial Bold"/>
                  <a:cs typeface="Arial Bold"/>
                  <a:sym typeface="Arial Bold"/>
                </a:rPr>
                <a:t>LIME</a:t>
              </a:r>
              <a:r>
                <a:rPr lang="en-US" sz="2799" u="none" strike="noStrike" spc="-41">
                  <a:solidFill>
                    <a:srgbClr val="D7E6F8"/>
                  </a:solidFill>
                  <a:latin typeface="Arial"/>
                  <a:ea typeface="Arial"/>
                  <a:cs typeface="Arial"/>
                  <a:sym typeface="Arial"/>
                </a:rPr>
                <a:t> and </a:t>
              </a:r>
              <a:r>
                <a:rPr lang="en-US" sz="2799" b="1" u="none" strike="noStrike" spc="-41">
                  <a:solidFill>
                    <a:srgbClr val="D7E6F8"/>
                  </a:solidFill>
                  <a:latin typeface="Arial Bold"/>
                  <a:ea typeface="Arial Bold"/>
                  <a:cs typeface="Arial Bold"/>
                  <a:sym typeface="Arial Bold"/>
                </a:rPr>
                <a:t>SHAP</a:t>
              </a:r>
              <a:r>
                <a:rPr lang="en-US" sz="2799" u="none" strike="noStrike" spc="-41">
                  <a:solidFill>
                    <a:srgbClr val="D7E6F8"/>
                  </a:solidFill>
                  <a:latin typeface="Arial"/>
                  <a:ea typeface="Arial"/>
                  <a:cs typeface="Arial"/>
                  <a:sym typeface="Arial"/>
                </a:rPr>
                <a:t>, along with interpretable models such as decision trees and linear models, providing insights into AI behavior.</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D7E6F8"/>
                </a:solidFill>
                <a:latin typeface="Helvetica World"/>
                <a:ea typeface="Helvetica World"/>
                <a:cs typeface="Helvetica World"/>
                <a:sym typeface="Helvetica World"/>
              </a:rPr>
              <a:t>4</a:t>
            </a:r>
          </a:p>
        </p:txBody>
      </p:sp>
      <p:grpSp>
        <p:nvGrpSpPr>
          <p:cNvPr id="3" name="Group 3"/>
          <p:cNvGrpSpPr/>
          <p:nvPr/>
        </p:nvGrpSpPr>
        <p:grpSpPr>
          <a:xfrm>
            <a:off x="446127" y="102870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1623"/>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947547" y="1053473"/>
            <a:ext cx="14480539" cy="2098759"/>
            <a:chOff x="0" y="0"/>
            <a:chExt cx="19307386" cy="2798345"/>
          </a:xfrm>
        </p:grpSpPr>
        <p:sp>
          <p:nvSpPr>
            <p:cNvPr id="7" name="TextBox 7"/>
            <p:cNvSpPr txBox="1"/>
            <p:nvPr/>
          </p:nvSpPr>
          <p:spPr>
            <a:xfrm>
              <a:off x="0" y="-104775"/>
              <a:ext cx="19307386" cy="1675341"/>
            </a:xfrm>
            <a:prstGeom prst="rect">
              <a:avLst/>
            </a:prstGeom>
          </p:spPr>
          <p:txBody>
            <a:bodyPr lIns="0" tIns="0" rIns="0" bIns="0" rtlCol="0" anchor="t">
              <a:spAutoFit/>
            </a:bodyPr>
            <a:lstStyle/>
            <a:p>
              <a:pPr marL="0" lvl="0" indent="0" algn="ctr">
                <a:lnSpc>
                  <a:spcPts val="10075"/>
                </a:lnSpc>
              </a:pPr>
              <a:r>
                <a:rPr lang="en-US" sz="7750" spc="-232">
                  <a:solidFill>
                    <a:srgbClr val="D7E6F8"/>
                  </a:solidFill>
                  <a:latin typeface="Arial"/>
                  <a:ea typeface="Arial"/>
                  <a:cs typeface="Arial"/>
                  <a:sym typeface="Arial"/>
                </a:rPr>
                <a:t>Understanding Federated Learning</a:t>
              </a:r>
            </a:p>
          </p:txBody>
        </p:sp>
        <p:sp>
          <p:nvSpPr>
            <p:cNvPr id="8" name="TextBox 8"/>
            <p:cNvSpPr txBox="1"/>
            <p:nvPr/>
          </p:nvSpPr>
          <p:spPr>
            <a:xfrm>
              <a:off x="0" y="2122070"/>
              <a:ext cx="19307386" cy="676275"/>
            </a:xfrm>
            <a:prstGeom prst="rect">
              <a:avLst/>
            </a:prstGeom>
          </p:spPr>
          <p:txBody>
            <a:bodyPr lIns="0" tIns="0" rIns="0" bIns="0" rtlCol="0" anchor="t">
              <a:spAutoFit/>
            </a:bodyPr>
            <a:lstStyle/>
            <a:p>
              <a:pPr marL="0" lvl="0" indent="0" algn="ctr">
                <a:lnSpc>
                  <a:spcPts val="3839"/>
                </a:lnSpc>
                <a:spcBef>
                  <a:spcPct val="0"/>
                </a:spcBef>
              </a:pPr>
              <a:r>
                <a:rPr lang="en-US" sz="3199" b="1" spc="-47">
                  <a:solidFill>
                    <a:srgbClr val="D7E6F8"/>
                  </a:solidFill>
                  <a:latin typeface="Arial Bold"/>
                  <a:ea typeface="Arial Bold"/>
                  <a:cs typeface="Arial Bold"/>
                  <a:sym typeface="Arial Bold"/>
                </a:rPr>
                <a:t>Decentralized AI Model Training Explained</a:t>
              </a:r>
            </a:p>
          </p:txBody>
        </p:sp>
      </p:grpSp>
      <p:grpSp>
        <p:nvGrpSpPr>
          <p:cNvPr id="9" name="Group 9"/>
          <p:cNvGrpSpPr/>
          <p:nvPr/>
        </p:nvGrpSpPr>
        <p:grpSpPr>
          <a:xfrm>
            <a:off x="1282070" y="3912245"/>
            <a:ext cx="4308497" cy="4627245"/>
            <a:chOff x="0" y="0"/>
            <a:chExt cx="5744662" cy="6169661"/>
          </a:xfrm>
        </p:grpSpPr>
        <p:sp>
          <p:nvSpPr>
            <p:cNvPr id="10" name="TextBox 10"/>
            <p:cNvSpPr txBox="1"/>
            <p:nvPr/>
          </p:nvSpPr>
          <p:spPr>
            <a:xfrm>
              <a:off x="0" y="-9525"/>
              <a:ext cx="5744662"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Motivation</a:t>
              </a:r>
            </a:p>
          </p:txBody>
        </p:sp>
        <p:sp>
          <p:nvSpPr>
            <p:cNvPr id="11" name="TextBox 11"/>
            <p:cNvSpPr txBox="1"/>
            <p:nvPr/>
          </p:nvSpPr>
          <p:spPr>
            <a:xfrm>
              <a:off x="0" y="1114425"/>
              <a:ext cx="5744662" cy="5055236"/>
            </a:xfrm>
            <a:prstGeom prst="rect">
              <a:avLst/>
            </a:prstGeom>
          </p:spPr>
          <p:txBody>
            <a:bodyPr lIns="0" tIns="0" rIns="0" bIns="0" rtlCol="0" anchor="t">
              <a:spAutoFit/>
            </a:bodyPr>
            <a:lstStyle/>
            <a:p>
              <a:pPr marL="0" lvl="0" indent="0" algn="l">
                <a:lnSpc>
                  <a:spcPts val="3779"/>
                </a:lnSpc>
              </a:pPr>
              <a:r>
                <a:rPr lang="en-US" sz="2699" u="none" strike="noStrike" spc="-40">
                  <a:solidFill>
                    <a:srgbClr val="D7E6F8"/>
                  </a:solidFill>
                  <a:latin typeface="Arial"/>
                  <a:ea typeface="Arial"/>
                  <a:cs typeface="Arial"/>
                  <a:sym typeface="Arial"/>
                </a:rPr>
                <a:t>Federated Learning addresses the critical need for </a:t>
              </a:r>
              <a:r>
                <a:rPr lang="en-US" sz="2699" b="1" u="none" strike="noStrike" spc="-40">
                  <a:solidFill>
                    <a:srgbClr val="D7E6F8"/>
                  </a:solidFill>
                  <a:latin typeface="Arial Bold"/>
                  <a:ea typeface="Arial Bold"/>
                  <a:cs typeface="Arial Bold"/>
                  <a:sym typeface="Arial Bold"/>
                </a:rPr>
                <a:t>data privacy</a:t>
              </a:r>
              <a:r>
                <a:rPr lang="en-US" sz="2699" u="none" strike="noStrike" spc="-40">
                  <a:solidFill>
                    <a:srgbClr val="D7E6F8"/>
                  </a:solidFill>
                  <a:latin typeface="Arial"/>
                  <a:ea typeface="Arial"/>
                  <a:cs typeface="Arial"/>
                  <a:sym typeface="Arial"/>
                </a:rPr>
                <a:t> in AI, allowing models to learn from decentralized data without compromising user confidentiality or violating regulations.</a:t>
              </a:r>
            </a:p>
          </p:txBody>
        </p:sp>
      </p:grpSp>
      <p:grpSp>
        <p:nvGrpSpPr>
          <p:cNvPr id="12" name="Group 12"/>
          <p:cNvGrpSpPr/>
          <p:nvPr/>
        </p:nvGrpSpPr>
        <p:grpSpPr>
          <a:xfrm>
            <a:off x="6846957" y="3912245"/>
            <a:ext cx="4010025" cy="4777105"/>
            <a:chOff x="0" y="0"/>
            <a:chExt cx="5346700" cy="6369474"/>
          </a:xfrm>
        </p:grpSpPr>
        <p:sp>
          <p:nvSpPr>
            <p:cNvPr id="13" name="TextBox 13"/>
            <p:cNvSpPr txBox="1"/>
            <p:nvPr/>
          </p:nvSpPr>
          <p:spPr>
            <a:xfrm>
              <a:off x="0" y="-9525"/>
              <a:ext cx="5346700"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Basic Architecture</a:t>
              </a:r>
            </a:p>
          </p:txBody>
        </p:sp>
        <p:sp>
          <p:nvSpPr>
            <p:cNvPr id="14" name="TextBox 14"/>
            <p:cNvSpPr txBox="1"/>
            <p:nvPr/>
          </p:nvSpPr>
          <p:spPr>
            <a:xfrm>
              <a:off x="0" y="1104900"/>
              <a:ext cx="5346700"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The architecture consists of </a:t>
              </a:r>
              <a:r>
                <a:rPr lang="en-US" sz="2799" b="1" u="none" strike="noStrike" spc="-41">
                  <a:solidFill>
                    <a:srgbClr val="D7E6F8"/>
                  </a:solidFill>
                  <a:latin typeface="Arial Bold"/>
                  <a:ea typeface="Arial Bold"/>
                  <a:cs typeface="Arial Bold"/>
                  <a:sym typeface="Arial Bold"/>
                </a:rPr>
                <a:t>local clients</a:t>
              </a:r>
              <a:r>
                <a:rPr lang="en-US" sz="2799" u="none" strike="noStrike" spc="-41">
                  <a:solidFill>
                    <a:srgbClr val="D7E6F8"/>
                  </a:solidFill>
                  <a:latin typeface="Arial"/>
                  <a:ea typeface="Arial"/>
                  <a:cs typeface="Arial"/>
                  <a:sym typeface="Arial"/>
                </a:rPr>
                <a:t> that maintain their data while communicating with a central server, enabling efficient model updates while preserving data security and privacy.</a:t>
              </a:r>
            </a:p>
          </p:txBody>
        </p:sp>
      </p:grpSp>
      <p:grpSp>
        <p:nvGrpSpPr>
          <p:cNvPr id="15" name="Group 15"/>
          <p:cNvGrpSpPr/>
          <p:nvPr/>
        </p:nvGrpSpPr>
        <p:grpSpPr>
          <a:xfrm>
            <a:off x="12114282" y="3912245"/>
            <a:ext cx="4010025" cy="4777105"/>
            <a:chOff x="0" y="0"/>
            <a:chExt cx="5346700" cy="6369474"/>
          </a:xfrm>
        </p:grpSpPr>
        <p:sp>
          <p:nvSpPr>
            <p:cNvPr id="16" name="TextBox 16"/>
            <p:cNvSpPr txBox="1"/>
            <p:nvPr/>
          </p:nvSpPr>
          <p:spPr>
            <a:xfrm>
              <a:off x="0" y="-9525"/>
              <a:ext cx="5346700"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Training Process</a:t>
              </a:r>
            </a:p>
          </p:txBody>
        </p:sp>
        <p:sp>
          <p:nvSpPr>
            <p:cNvPr id="17" name="TextBox 17"/>
            <p:cNvSpPr txBox="1"/>
            <p:nvPr/>
          </p:nvSpPr>
          <p:spPr>
            <a:xfrm>
              <a:off x="0" y="1104900"/>
              <a:ext cx="5346700"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In the training process, local models are updated based on local data, with results aggregated via methods like FedAvg to ensure global model improvement without direct data sharing.</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408582" y="1879601"/>
            <a:ext cx="5706468" cy="7740649"/>
            <a:chOff x="0" y="0"/>
            <a:chExt cx="1502938" cy="2038690"/>
          </a:xfrm>
        </p:grpSpPr>
        <p:sp>
          <p:nvSpPr>
            <p:cNvPr id="3" name="Freeform 3"/>
            <p:cNvSpPr/>
            <p:nvPr/>
          </p:nvSpPr>
          <p:spPr>
            <a:xfrm>
              <a:off x="0" y="0"/>
              <a:ext cx="1502938" cy="2038690"/>
            </a:xfrm>
            <a:custGeom>
              <a:avLst/>
              <a:gdLst/>
              <a:ahLst/>
              <a:cxnLst/>
              <a:rect l="l" t="t" r="r" b="b"/>
              <a:pathLst>
                <a:path w="1502938" h="2038690">
                  <a:moveTo>
                    <a:pt x="27134" y="0"/>
                  </a:moveTo>
                  <a:lnTo>
                    <a:pt x="1475804" y="0"/>
                  </a:lnTo>
                  <a:cubicBezTo>
                    <a:pt x="1490790" y="0"/>
                    <a:pt x="1502938" y="12148"/>
                    <a:pt x="1502938" y="27134"/>
                  </a:cubicBezTo>
                  <a:lnTo>
                    <a:pt x="1502938" y="2011556"/>
                  </a:lnTo>
                  <a:cubicBezTo>
                    <a:pt x="1502938" y="2018752"/>
                    <a:pt x="1500079" y="2025654"/>
                    <a:pt x="1494991" y="2030742"/>
                  </a:cubicBezTo>
                  <a:cubicBezTo>
                    <a:pt x="1489902" y="2035831"/>
                    <a:pt x="1483001" y="2038690"/>
                    <a:pt x="1475804" y="2038690"/>
                  </a:cubicBezTo>
                  <a:lnTo>
                    <a:pt x="27134" y="2038690"/>
                  </a:lnTo>
                  <a:cubicBezTo>
                    <a:pt x="12148" y="2038690"/>
                    <a:pt x="0" y="2026541"/>
                    <a:pt x="0" y="2011556"/>
                  </a:cubicBezTo>
                  <a:lnTo>
                    <a:pt x="0" y="27134"/>
                  </a:lnTo>
                  <a:cubicBezTo>
                    <a:pt x="0" y="12148"/>
                    <a:pt x="12148" y="0"/>
                    <a:pt x="27134" y="0"/>
                  </a:cubicBezTo>
                  <a:close/>
                </a:path>
              </a:pathLst>
            </a:custGeom>
            <a:solidFill>
              <a:srgbClr val="2A76BA"/>
            </a:solidFill>
          </p:spPr>
        </p:sp>
        <p:sp>
          <p:nvSpPr>
            <p:cNvPr id="4" name="TextBox 4"/>
            <p:cNvSpPr txBox="1"/>
            <p:nvPr/>
          </p:nvSpPr>
          <p:spPr>
            <a:xfrm>
              <a:off x="0" y="-28575"/>
              <a:ext cx="1502938" cy="2067265"/>
            </a:xfrm>
            <a:prstGeom prst="rect">
              <a:avLst/>
            </a:prstGeom>
          </p:spPr>
          <p:txBody>
            <a:bodyPr lIns="50800" tIns="50800" rIns="50800" bIns="50800" rtlCol="0" anchor="ctr"/>
            <a:lstStyle/>
            <a:p>
              <a:pPr marL="0" lvl="0" indent="0" algn="ctr">
                <a:lnSpc>
                  <a:spcPts val="1679"/>
                </a:lnSpc>
              </a:pPr>
              <a:endParaRPr/>
            </a:p>
          </p:txBody>
        </p:sp>
      </p:grpSp>
      <p:grpSp>
        <p:nvGrpSpPr>
          <p:cNvPr id="5" name="Group 5"/>
          <p:cNvGrpSpPr/>
          <p:nvPr/>
        </p:nvGrpSpPr>
        <p:grpSpPr>
          <a:xfrm>
            <a:off x="6419850" y="1879601"/>
            <a:ext cx="5448300" cy="7740649"/>
            <a:chOff x="0" y="0"/>
            <a:chExt cx="1434943" cy="2038690"/>
          </a:xfrm>
        </p:grpSpPr>
        <p:sp>
          <p:nvSpPr>
            <p:cNvPr id="6" name="Freeform 6"/>
            <p:cNvSpPr/>
            <p:nvPr/>
          </p:nvSpPr>
          <p:spPr>
            <a:xfrm>
              <a:off x="0" y="0"/>
              <a:ext cx="1434943" cy="2038690"/>
            </a:xfrm>
            <a:custGeom>
              <a:avLst/>
              <a:gdLst/>
              <a:ahLst/>
              <a:cxnLst/>
              <a:rect l="l" t="t" r="r" b="b"/>
              <a:pathLst>
                <a:path w="1434943" h="2038690">
                  <a:moveTo>
                    <a:pt x="28420" y="0"/>
                  </a:moveTo>
                  <a:lnTo>
                    <a:pt x="1406524" y="0"/>
                  </a:lnTo>
                  <a:cubicBezTo>
                    <a:pt x="1422219" y="0"/>
                    <a:pt x="1434943" y="12724"/>
                    <a:pt x="1434943" y="28420"/>
                  </a:cubicBezTo>
                  <a:lnTo>
                    <a:pt x="1434943" y="2010270"/>
                  </a:lnTo>
                  <a:cubicBezTo>
                    <a:pt x="1434943" y="2025966"/>
                    <a:pt x="1422219" y="2038690"/>
                    <a:pt x="1406524" y="2038690"/>
                  </a:cubicBezTo>
                  <a:lnTo>
                    <a:pt x="28420" y="2038690"/>
                  </a:lnTo>
                  <a:cubicBezTo>
                    <a:pt x="12724" y="2038690"/>
                    <a:pt x="0" y="2025966"/>
                    <a:pt x="0" y="2010270"/>
                  </a:cubicBezTo>
                  <a:lnTo>
                    <a:pt x="0" y="28420"/>
                  </a:lnTo>
                  <a:cubicBezTo>
                    <a:pt x="0" y="12724"/>
                    <a:pt x="12724" y="0"/>
                    <a:pt x="28420" y="0"/>
                  </a:cubicBezTo>
                  <a:close/>
                </a:path>
              </a:pathLst>
            </a:custGeom>
            <a:solidFill>
              <a:srgbClr val="2A76BA"/>
            </a:solidFill>
          </p:spPr>
        </p:sp>
        <p:sp>
          <p:nvSpPr>
            <p:cNvPr id="7" name="TextBox 7"/>
            <p:cNvSpPr txBox="1"/>
            <p:nvPr/>
          </p:nvSpPr>
          <p:spPr>
            <a:xfrm>
              <a:off x="0" y="-28575"/>
              <a:ext cx="1434943" cy="2067265"/>
            </a:xfrm>
            <a:prstGeom prst="rect">
              <a:avLst/>
            </a:prstGeom>
          </p:spPr>
          <p:txBody>
            <a:bodyPr lIns="50800" tIns="50800" rIns="50800" bIns="50800" rtlCol="0" anchor="ctr"/>
            <a:lstStyle/>
            <a:p>
              <a:pPr marL="0" lvl="0" indent="0" algn="ctr">
                <a:lnSpc>
                  <a:spcPts val="1679"/>
                </a:lnSpc>
              </a:pPr>
              <a:endParaRPr/>
            </a:p>
          </p:txBody>
        </p:sp>
      </p:grpSp>
      <p:grpSp>
        <p:nvGrpSpPr>
          <p:cNvPr id="8" name="Group 8"/>
          <p:cNvGrpSpPr/>
          <p:nvPr/>
        </p:nvGrpSpPr>
        <p:grpSpPr>
          <a:xfrm>
            <a:off x="12172950" y="1879601"/>
            <a:ext cx="5448300" cy="7740649"/>
            <a:chOff x="0" y="0"/>
            <a:chExt cx="1434943" cy="2038690"/>
          </a:xfrm>
        </p:grpSpPr>
        <p:sp>
          <p:nvSpPr>
            <p:cNvPr id="9" name="Freeform 9"/>
            <p:cNvSpPr/>
            <p:nvPr/>
          </p:nvSpPr>
          <p:spPr>
            <a:xfrm>
              <a:off x="0" y="0"/>
              <a:ext cx="1434943" cy="2038690"/>
            </a:xfrm>
            <a:custGeom>
              <a:avLst/>
              <a:gdLst/>
              <a:ahLst/>
              <a:cxnLst/>
              <a:rect l="l" t="t" r="r" b="b"/>
              <a:pathLst>
                <a:path w="1434943" h="2038690">
                  <a:moveTo>
                    <a:pt x="28420" y="0"/>
                  </a:moveTo>
                  <a:lnTo>
                    <a:pt x="1406524" y="0"/>
                  </a:lnTo>
                  <a:cubicBezTo>
                    <a:pt x="1422219" y="0"/>
                    <a:pt x="1434943" y="12724"/>
                    <a:pt x="1434943" y="28420"/>
                  </a:cubicBezTo>
                  <a:lnTo>
                    <a:pt x="1434943" y="2010270"/>
                  </a:lnTo>
                  <a:cubicBezTo>
                    <a:pt x="1434943" y="2025966"/>
                    <a:pt x="1422219" y="2038690"/>
                    <a:pt x="1406524" y="2038690"/>
                  </a:cubicBezTo>
                  <a:lnTo>
                    <a:pt x="28420" y="2038690"/>
                  </a:lnTo>
                  <a:cubicBezTo>
                    <a:pt x="12724" y="2038690"/>
                    <a:pt x="0" y="2025966"/>
                    <a:pt x="0" y="2010270"/>
                  </a:cubicBezTo>
                  <a:lnTo>
                    <a:pt x="0" y="28420"/>
                  </a:lnTo>
                  <a:cubicBezTo>
                    <a:pt x="0" y="12724"/>
                    <a:pt x="12724" y="0"/>
                    <a:pt x="28420" y="0"/>
                  </a:cubicBezTo>
                  <a:close/>
                </a:path>
              </a:pathLst>
            </a:custGeom>
            <a:solidFill>
              <a:srgbClr val="2A76BA"/>
            </a:solidFill>
          </p:spPr>
        </p:sp>
        <p:sp>
          <p:nvSpPr>
            <p:cNvPr id="10" name="TextBox 10"/>
            <p:cNvSpPr txBox="1"/>
            <p:nvPr/>
          </p:nvSpPr>
          <p:spPr>
            <a:xfrm>
              <a:off x="0" y="-28575"/>
              <a:ext cx="1434943" cy="2067265"/>
            </a:xfrm>
            <a:prstGeom prst="rect">
              <a:avLst/>
            </a:prstGeom>
          </p:spPr>
          <p:txBody>
            <a:bodyPr lIns="50800" tIns="50800" rIns="50800" bIns="50800" rtlCol="0" anchor="ctr"/>
            <a:lstStyle/>
            <a:p>
              <a:pPr marL="0" lvl="0" indent="0" algn="ctr">
                <a:lnSpc>
                  <a:spcPts val="1679"/>
                </a:lnSpc>
              </a:pPr>
              <a:endParaRPr/>
            </a:p>
          </p:txBody>
        </p:sp>
      </p:grpSp>
      <p:grpSp>
        <p:nvGrpSpPr>
          <p:cNvPr id="11" name="Group 11"/>
          <p:cNvGrpSpPr/>
          <p:nvPr/>
        </p:nvGrpSpPr>
        <p:grpSpPr>
          <a:xfrm>
            <a:off x="586004" y="3199501"/>
            <a:ext cx="5398251" cy="3575570"/>
            <a:chOff x="0" y="0"/>
            <a:chExt cx="1259398" cy="834171"/>
          </a:xfrm>
        </p:grpSpPr>
        <p:sp>
          <p:nvSpPr>
            <p:cNvPr id="12" name="Freeform 12"/>
            <p:cNvSpPr/>
            <p:nvPr/>
          </p:nvSpPr>
          <p:spPr>
            <a:xfrm>
              <a:off x="0" y="0"/>
              <a:ext cx="1259398" cy="834171"/>
            </a:xfrm>
            <a:custGeom>
              <a:avLst/>
              <a:gdLst/>
              <a:ahLst/>
              <a:cxnLst/>
              <a:rect l="l" t="t" r="r" b="b"/>
              <a:pathLst>
                <a:path w="1259398" h="834171">
                  <a:moveTo>
                    <a:pt x="28683" y="0"/>
                  </a:moveTo>
                  <a:lnTo>
                    <a:pt x="1230715" y="0"/>
                  </a:lnTo>
                  <a:cubicBezTo>
                    <a:pt x="1246556" y="0"/>
                    <a:pt x="1259398" y="12842"/>
                    <a:pt x="1259398" y="28683"/>
                  </a:cubicBezTo>
                  <a:lnTo>
                    <a:pt x="1259398" y="805488"/>
                  </a:lnTo>
                  <a:cubicBezTo>
                    <a:pt x="1259398" y="813095"/>
                    <a:pt x="1256376" y="820391"/>
                    <a:pt x="1250997" y="825770"/>
                  </a:cubicBezTo>
                  <a:cubicBezTo>
                    <a:pt x="1245618" y="831149"/>
                    <a:pt x="1238322" y="834171"/>
                    <a:pt x="1230715" y="834171"/>
                  </a:cubicBezTo>
                  <a:lnTo>
                    <a:pt x="28683" y="834171"/>
                  </a:lnTo>
                  <a:cubicBezTo>
                    <a:pt x="12842" y="834171"/>
                    <a:pt x="0" y="821329"/>
                    <a:pt x="0" y="805488"/>
                  </a:cubicBezTo>
                  <a:lnTo>
                    <a:pt x="0" y="28683"/>
                  </a:lnTo>
                  <a:cubicBezTo>
                    <a:pt x="0" y="12842"/>
                    <a:pt x="12842" y="0"/>
                    <a:pt x="28683" y="0"/>
                  </a:cubicBezTo>
                  <a:close/>
                </a:path>
              </a:pathLst>
            </a:custGeom>
            <a:blipFill>
              <a:blip r:embed="rId2"/>
              <a:stretch>
                <a:fillRect t="-8691" b="-8691"/>
              </a:stretch>
            </a:blipFill>
          </p:spPr>
        </p:sp>
      </p:grpSp>
      <p:grpSp>
        <p:nvGrpSpPr>
          <p:cNvPr id="13" name="Group 13"/>
          <p:cNvGrpSpPr/>
          <p:nvPr/>
        </p:nvGrpSpPr>
        <p:grpSpPr>
          <a:xfrm>
            <a:off x="6493538" y="2925918"/>
            <a:ext cx="5300923" cy="4140353"/>
            <a:chOff x="0" y="0"/>
            <a:chExt cx="1334384" cy="1042237"/>
          </a:xfrm>
        </p:grpSpPr>
        <p:sp>
          <p:nvSpPr>
            <p:cNvPr id="14" name="Freeform 14"/>
            <p:cNvSpPr/>
            <p:nvPr/>
          </p:nvSpPr>
          <p:spPr>
            <a:xfrm>
              <a:off x="0" y="0"/>
              <a:ext cx="1334384" cy="1042237"/>
            </a:xfrm>
            <a:custGeom>
              <a:avLst/>
              <a:gdLst/>
              <a:ahLst/>
              <a:cxnLst/>
              <a:rect l="l" t="t" r="r" b="b"/>
              <a:pathLst>
                <a:path w="1334384" h="1042237">
                  <a:moveTo>
                    <a:pt x="29210" y="0"/>
                  </a:moveTo>
                  <a:lnTo>
                    <a:pt x="1305174" y="0"/>
                  </a:lnTo>
                  <a:cubicBezTo>
                    <a:pt x="1321306" y="0"/>
                    <a:pt x="1334384" y="13078"/>
                    <a:pt x="1334384" y="29210"/>
                  </a:cubicBezTo>
                  <a:lnTo>
                    <a:pt x="1334384" y="1013028"/>
                  </a:lnTo>
                  <a:cubicBezTo>
                    <a:pt x="1334384" y="1029160"/>
                    <a:pt x="1321306" y="1042237"/>
                    <a:pt x="1305174" y="1042237"/>
                  </a:cubicBezTo>
                  <a:lnTo>
                    <a:pt x="29210" y="1042237"/>
                  </a:lnTo>
                  <a:cubicBezTo>
                    <a:pt x="13078" y="1042237"/>
                    <a:pt x="0" y="1029160"/>
                    <a:pt x="0" y="1013028"/>
                  </a:cubicBezTo>
                  <a:lnTo>
                    <a:pt x="0" y="29210"/>
                  </a:lnTo>
                  <a:cubicBezTo>
                    <a:pt x="0" y="13078"/>
                    <a:pt x="13078" y="0"/>
                    <a:pt x="29210" y="0"/>
                  </a:cubicBezTo>
                  <a:close/>
                </a:path>
              </a:pathLst>
            </a:custGeom>
            <a:solidFill>
              <a:srgbClr val="000000">
                <a:alpha val="0"/>
              </a:srgbClr>
            </a:solidFill>
            <a:ln w="12700">
              <a:solidFill>
                <a:srgbClr val="000000"/>
              </a:solidFill>
            </a:ln>
          </p:spPr>
        </p:sp>
      </p:grpSp>
      <p:grpSp>
        <p:nvGrpSpPr>
          <p:cNvPr id="15" name="Group 15"/>
          <p:cNvGrpSpPr/>
          <p:nvPr/>
        </p:nvGrpSpPr>
        <p:grpSpPr>
          <a:xfrm>
            <a:off x="12363985" y="2908300"/>
            <a:ext cx="5077698" cy="4157971"/>
            <a:chOff x="0" y="0"/>
            <a:chExt cx="1269975" cy="1039943"/>
          </a:xfrm>
        </p:grpSpPr>
        <p:sp>
          <p:nvSpPr>
            <p:cNvPr id="16" name="Freeform 16"/>
            <p:cNvSpPr/>
            <p:nvPr/>
          </p:nvSpPr>
          <p:spPr>
            <a:xfrm>
              <a:off x="0" y="0"/>
              <a:ext cx="1269975" cy="1039943"/>
            </a:xfrm>
            <a:custGeom>
              <a:avLst/>
              <a:gdLst/>
              <a:ahLst/>
              <a:cxnLst/>
              <a:rect l="l" t="t" r="r" b="b"/>
              <a:pathLst>
                <a:path w="1269975" h="1039943">
                  <a:moveTo>
                    <a:pt x="30494" y="0"/>
                  </a:moveTo>
                  <a:lnTo>
                    <a:pt x="1239481" y="0"/>
                  </a:lnTo>
                  <a:cubicBezTo>
                    <a:pt x="1256322" y="0"/>
                    <a:pt x="1269975" y="13653"/>
                    <a:pt x="1269975" y="30494"/>
                  </a:cubicBezTo>
                  <a:lnTo>
                    <a:pt x="1269975" y="1009450"/>
                  </a:lnTo>
                  <a:cubicBezTo>
                    <a:pt x="1269975" y="1026291"/>
                    <a:pt x="1256322" y="1039943"/>
                    <a:pt x="1239481" y="1039943"/>
                  </a:cubicBezTo>
                  <a:lnTo>
                    <a:pt x="30494" y="1039943"/>
                  </a:lnTo>
                  <a:cubicBezTo>
                    <a:pt x="13653" y="1039943"/>
                    <a:pt x="0" y="1026291"/>
                    <a:pt x="0" y="1009450"/>
                  </a:cubicBezTo>
                  <a:lnTo>
                    <a:pt x="0" y="30494"/>
                  </a:lnTo>
                  <a:cubicBezTo>
                    <a:pt x="0" y="13653"/>
                    <a:pt x="13653" y="0"/>
                    <a:pt x="30494" y="0"/>
                  </a:cubicBezTo>
                  <a:close/>
                </a:path>
              </a:pathLst>
            </a:custGeom>
            <a:blipFill>
              <a:blip r:embed="rId3"/>
              <a:stretch>
                <a:fillRect l="-3520" r="-3520"/>
              </a:stretch>
            </a:blipFill>
          </p:spPr>
        </p:sp>
      </p:grpSp>
      <p:sp>
        <p:nvSpPr>
          <p:cNvPr id="17" name="Freeform 17"/>
          <p:cNvSpPr/>
          <p:nvPr/>
        </p:nvSpPr>
        <p:spPr>
          <a:xfrm>
            <a:off x="6606036" y="3054000"/>
            <a:ext cx="5075927" cy="3721071"/>
          </a:xfrm>
          <a:custGeom>
            <a:avLst/>
            <a:gdLst/>
            <a:ahLst/>
            <a:cxnLst/>
            <a:rect l="l" t="t" r="r" b="b"/>
            <a:pathLst>
              <a:path w="5075927" h="3721071">
                <a:moveTo>
                  <a:pt x="0" y="0"/>
                </a:moveTo>
                <a:lnTo>
                  <a:pt x="5075928" y="0"/>
                </a:lnTo>
                <a:lnTo>
                  <a:pt x="5075928" y="3721071"/>
                </a:lnTo>
                <a:lnTo>
                  <a:pt x="0" y="3721071"/>
                </a:lnTo>
                <a:lnTo>
                  <a:pt x="0" y="0"/>
                </a:lnTo>
                <a:close/>
              </a:path>
            </a:pathLst>
          </a:custGeom>
          <a:blipFill>
            <a:blip r:embed="rId4"/>
            <a:stretch>
              <a:fillRect t="-24075" b="-12334"/>
            </a:stretch>
          </a:blipFill>
        </p:spPr>
      </p:sp>
      <p:sp>
        <p:nvSpPr>
          <p:cNvPr id="18" name="TextBox 18"/>
          <p:cNvSpPr txBox="1"/>
          <p:nvPr/>
        </p:nvSpPr>
        <p:spPr>
          <a:xfrm>
            <a:off x="12551109" y="7478271"/>
            <a:ext cx="4691983" cy="1646193"/>
          </a:xfrm>
          <a:prstGeom prst="rect">
            <a:avLst/>
          </a:prstGeom>
        </p:spPr>
        <p:txBody>
          <a:bodyPr lIns="0" tIns="0" rIns="0" bIns="0" rtlCol="0" anchor="t">
            <a:spAutoFit/>
          </a:bodyPr>
          <a:lstStyle/>
          <a:p>
            <a:pPr marL="0" lvl="0" indent="0" algn="ctr">
              <a:lnSpc>
                <a:spcPts val="3239"/>
              </a:lnSpc>
            </a:pPr>
            <a:r>
              <a:rPr lang="en-US" sz="2314" spc="-34">
                <a:solidFill>
                  <a:srgbClr val="D7E6F8"/>
                </a:solidFill>
                <a:latin typeface="Arial"/>
                <a:ea typeface="Arial"/>
                <a:cs typeface="Arial"/>
                <a:sym typeface="Arial"/>
              </a:rPr>
              <a:t>Federated transfer learning enables clients with different datasets to leverage shared knowledge for improved models.</a:t>
            </a:r>
          </a:p>
        </p:txBody>
      </p:sp>
      <p:sp>
        <p:nvSpPr>
          <p:cNvPr id="19" name="TextBox 19"/>
          <p:cNvSpPr txBox="1"/>
          <p:nvPr/>
        </p:nvSpPr>
        <p:spPr>
          <a:xfrm>
            <a:off x="12893516" y="1969870"/>
            <a:ext cx="4349575" cy="956049"/>
          </a:xfrm>
          <a:prstGeom prst="rect">
            <a:avLst/>
          </a:prstGeom>
        </p:spPr>
        <p:txBody>
          <a:bodyPr lIns="0" tIns="0" rIns="0" bIns="0" rtlCol="0" anchor="t">
            <a:spAutoFit/>
          </a:bodyPr>
          <a:lstStyle/>
          <a:p>
            <a:pPr marL="0" lvl="0" indent="0" algn="ctr">
              <a:lnSpc>
                <a:spcPts val="3607"/>
              </a:lnSpc>
            </a:pPr>
            <a:r>
              <a:rPr lang="en-US" sz="3279" spc="-81">
                <a:solidFill>
                  <a:srgbClr val="D7E6F8"/>
                </a:solidFill>
                <a:latin typeface="Arial"/>
                <a:ea typeface="Arial"/>
                <a:cs typeface="Arial"/>
                <a:sym typeface="Arial"/>
              </a:rPr>
              <a:t>Federated Transfer Learning</a:t>
            </a:r>
          </a:p>
        </p:txBody>
      </p:sp>
      <p:sp>
        <p:nvSpPr>
          <p:cNvPr id="20" name="TextBox 20"/>
          <p:cNvSpPr txBox="1"/>
          <p:nvPr/>
        </p:nvSpPr>
        <p:spPr>
          <a:xfrm>
            <a:off x="805764" y="3143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D7E6F8"/>
                </a:solidFill>
                <a:latin typeface="Georgia Pro Condensed"/>
                <a:ea typeface="Georgia Pro Condensed"/>
                <a:cs typeface="Georgia Pro Condensed"/>
                <a:sym typeface="Georgia Pro Condensed"/>
              </a:rPr>
              <a:t>Types of Federated Learning</a:t>
            </a:r>
          </a:p>
        </p:txBody>
      </p:sp>
      <p:sp>
        <p:nvSpPr>
          <p:cNvPr id="21" name="TextBox 21"/>
          <p:cNvSpPr txBox="1"/>
          <p:nvPr/>
        </p:nvSpPr>
        <p:spPr>
          <a:xfrm>
            <a:off x="586004" y="7487796"/>
            <a:ext cx="5148046" cy="1254442"/>
          </a:xfrm>
          <a:prstGeom prst="rect">
            <a:avLst/>
          </a:prstGeom>
        </p:spPr>
        <p:txBody>
          <a:bodyPr lIns="0" tIns="0" rIns="0" bIns="0" rtlCol="0" anchor="t">
            <a:spAutoFit/>
          </a:bodyPr>
          <a:lstStyle/>
          <a:p>
            <a:pPr marL="0" lvl="0" indent="0" algn="ctr">
              <a:lnSpc>
                <a:spcPts val="3307"/>
              </a:lnSpc>
            </a:pPr>
            <a:r>
              <a:rPr lang="en-US" sz="2362" spc="-35">
                <a:solidFill>
                  <a:srgbClr val="D7E6F8"/>
                </a:solidFill>
                <a:latin typeface="Arial"/>
                <a:ea typeface="Arial"/>
                <a:cs typeface="Arial"/>
                <a:sym typeface="Arial"/>
              </a:rPr>
              <a:t>Horizontal federated learning involves clients with similar feature spaces training a shared model collaboratively.</a:t>
            </a:r>
          </a:p>
        </p:txBody>
      </p:sp>
      <p:sp>
        <p:nvSpPr>
          <p:cNvPr id="22" name="TextBox 22"/>
          <p:cNvSpPr txBox="1"/>
          <p:nvPr/>
        </p:nvSpPr>
        <p:spPr>
          <a:xfrm>
            <a:off x="583396" y="2190638"/>
            <a:ext cx="4699667" cy="499963"/>
          </a:xfrm>
          <a:prstGeom prst="rect">
            <a:avLst/>
          </a:prstGeom>
        </p:spPr>
        <p:txBody>
          <a:bodyPr lIns="0" tIns="0" rIns="0" bIns="0" rtlCol="0" anchor="t">
            <a:spAutoFit/>
          </a:bodyPr>
          <a:lstStyle/>
          <a:p>
            <a:pPr marL="0" lvl="0" indent="0" algn="ctr">
              <a:lnSpc>
                <a:spcPts val="3703"/>
              </a:lnSpc>
              <a:spcBef>
                <a:spcPct val="0"/>
              </a:spcBef>
            </a:pPr>
            <a:r>
              <a:rPr lang="en-US" sz="3367" u="none" strike="noStrike" spc="-84">
                <a:solidFill>
                  <a:srgbClr val="D7E6F8"/>
                </a:solidFill>
                <a:latin typeface="Arial"/>
                <a:ea typeface="Arial"/>
                <a:cs typeface="Arial"/>
                <a:sym typeface="Arial"/>
              </a:rPr>
              <a:t>Horizontal FL</a:t>
            </a:r>
          </a:p>
        </p:txBody>
      </p:sp>
      <p:sp>
        <p:nvSpPr>
          <p:cNvPr id="23" name="TextBox 23"/>
          <p:cNvSpPr txBox="1"/>
          <p:nvPr/>
        </p:nvSpPr>
        <p:spPr>
          <a:xfrm>
            <a:off x="6681272" y="7487796"/>
            <a:ext cx="4787575" cy="1636245"/>
          </a:xfrm>
          <a:prstGeom prst="rect">
            <a:avLst/>
          </a:prstGeom>
        </p:spPr>
        <p:txBody>
          <a:bodyPr lIns="0" tIns="0" rIns="0" bIns="0" rtlCol="0" anchor="t">
            <a:spAutoFit/>
          </a:bodyPr>
          <a:lstStyle/>
          <a:p>
            <a:pPr marL="0" lvl="0" indent="0" algn="ctr">
              <a:lnSpc>
                <a:spcPts val="3263"/>
              </a:lnSpc>
            </a:pPr>
            <a:r>
              <a:rPr lang="en-US" sz="2330" spc="-34">
                <a:solidFill>
                  <a:srgbClr val="D7E6F8"/>
                </a:solidFill>
                <a:latin typeface="Arial"/>
                <a:ea typeface="Arial"/>
                <a:cs typeface="Arial"/>
                <a:sym typeface="Arial"/>
              </a:rPr>
              <a:t>Vertical federated learning allows clients to collaborate while retaining ownership of their unique feature sets.</a:t>
            </a:r>
          </a:p>
        </p:txBody>
      </p:sp>
      <p:sp>
        <p:nvSpPr>
          <p:cNvPr id="24" name="TextBox 24"/>
          <p:cNvSpPr txBox="1"/>
          <p:nvPr/>
        </p:nvSpPr>
        <p:spPr>
          <a:xfrm>
            <a:off x="6727232" y="2190638"/>
            <a:ext cx="4741615" cy="499963"/>
          </a:xfrm>
          <a:prstGeom prst="rect">
            <a:avLst/>
          </a:prstGeom>
        </p:spPr>
        <p:txBody>
          <a:bodyPr lIns="0" tIns="0" rIns="0" bIns="0" rtlCol="0" anchor="t">
            <a:spAutoFit/>
          </a:bodyPr>
          <a:lstStyle/>
          <a:p>
            <a:pPr marL="0" lvl="0" indent="0" algn="ctr">
              <a:lnSpc>
                <a:spcPts val="3703"/>
              </a:lnSpc>
              <a:spcBef>
                <a:spcPct val="0"/>
              </a:spcBef>
            </a:pPr>
            <a:r>
              <a:rPr lang="en-US" sz="3367" u="none" strike="noStrike" spc="-84">
                <a:solidFill>
                  <a:srgbClr val="D7E6F8"/>
                </a:solidFill>
                <a:latin typeface="Arial"/>
                <a:ea typeface="Arial"/>
                <a:cs typeface="Arial"/>
                <a:sym typeface="Arial"/>
              </a:rPr>
              <a:t>Vertical FL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666750" y="1498304"/>
            <a:ext cx="5448300" cy="8121946"/>
            <a:chOff x="0" y="0"/>
            <a:chExt cx="1434943" cy="2139113"/>
          </a:xfrm>
        </p:grpSpPr>
        <p:sp>
          <p:nvSpPr>
            <p:cNvPr id="3" name="Freeform 3"/>
            <p:cNvSpPr/>
            <p:nvPr/>
          </p:nvSpPr>
          <p:spPr>
            <a:xfrm>
              <a:off x="0" y="0"/>
              <a:ext cx="1434943" cy="2139113"/>
            </a:xfrm>
            <a:custGeom>
              <a:avLst/>
              <a:gdLst/>
              <a:ahLst/>
              <a:cxnLst/>
              <a:rect l="l" t="t" r="r" b="b"/>
              <a:pathLst>
                <a:path w="1434943" h="2139113">
                  <a:moveTo>
                    <a:pt x="28420" y="0"/>
                  </a:moveTo>
                  <a:lnTo>
                    <a:pt x="1406524" y="0"/>
                  </a:lnTo>
                  <a:cubicBezTo>
                    <a:pt x="1422219" y="0"/>
                    <a:pt x="1434943" y="12724"/>
                    <a:pt x="1434943" y="28420"/>
                  </a:cubicBezTo>
                  <a:lnTo>
                    <a:pt x="1434943" y="2110694"/>
                  </a:lnTo>
                  <a:cubicBezTo>
                    <a:pt x="1434943" y="2126390"/>
                    <a:pt x="1422219" y="2139113"/>
                    <a:pt x="1406524" y="2139113"/>
                  </a:cubicBezTo>
                  <a:lnTo>
                    <a:pt x="28420" y="2139113"/>
                  </a:lnTo>
                  <a:cubicBezTo>
                    <a:pt x="12724" y="2139113"/>
                    <a:pt x="0" y="2126390"/>
                    <a:pt x="0" y="2110694"/>
                  </a:cubicBezTo>
                  <a:lnTo>
                    <a:pt x="0" y="28420"/>
                  </a:lnTo>
                  <a:cubicBezTo>
                    <a:pt x="0" y="12724"/>
                    <a:pt x="12724" y="0"/>
                    <a:pt x="28420" y="0"/>
                  </a:cubicBezTo>
                  <a:close/>
                </a:path>
              </a:pathLst>
            </a:custGeom>
            <a:solidFill>
              <a:srgbClr val="2A76BA"/>
            </a:solidFill>
          </p:spPr>
        </p:sp>
        <p:sp>
          <p:nvSpPr>
            <p:cNvPr id="4" name="TextBox 4"/>
            <p:cNvSpPr txBox="1"/>
            <p:nvPr/>
          </p:nvSpPr>
          <p:spPr>
            <a:xfrm>
              <a:off x="0" y="-28575"/>
              <a:ext cx="1434943" cy="2167688"/>
            </a:xfrm>
            <a:prstGeom prst="rect">
              <a:avLst/>
            </a:prstGeom>
          </p:spPr>
          <p:txBody>
            <a:bodyPr lIns="50800" tIns="50800" rIns="50800" bIns="50800" rtlCol="0" anchor="ctr"/>
            <a:lstStyle/>
            <a:p>
              <a:pPr marL="0" lvl="0" indent="0" algn="ctr">
                <a:lnSpc>
                  <a:spcPts val="1679"/>
                </a:lnSpc>
              </a:pPr>
              <a:endParaRPr/>
            </a:p>
          </p:txBody>
        </p:sp>
      </p:grpSp>
      <p:grpSp>
        <p:nvGrpSpPr>
          <p:cNvPr id="5" name="Group 5"/>
          <p:cNvGrpSpPr/>
          <p:nvPr/>
        </p:nvGrpSpPr>
        <p:grpSpPr>
          <a:xfrm>
            <a:off x="6419850" y="1498304"/>
            <a:ext cx="5448300" cy="8121946"/>
            <a:chOff x="0" y="0"/>
            <a:chExt cx="1434943" cy="2139113"/>
          </a:xfrm>
        </p:grpSpPr>
        <p:sp>
          <p:nvSpPr>
            <p:cNvPr id="6" name="Freeform 6"/>
            <p:cNvSpPr/>
            <p:nvPr/>
          </p:nvSpPr>
          <p:spPr>
            <a:xfrm>
              <a:off x="0" y="0"/>
              <a:ext cx="1434943" cy="2139113"/>
            </a:xfrm>
            <a:custGeom>
              <a:avLst/>
              <a:gdLst/>
              <a:ahLst/>
              <a:cxnLst/>
              <a:rect l="l" t="t" r="r" b="b"/>
              <a:pathLst>
                <a:path w="1434943" h="2139113">
                  <a:moveTo>
                    <a:pt x="28420" y="0"/>
                  </a:moveTo>
                  <a:lnTo>
                    <a:pt x="1406524" y="0"/>
                  </a:lnTo>
                  <a:cubicBezTo>
                    <a:pt x="1422219" y="0"/>
                    <a:pt x="1434943" y="12724"/>
                    <a:pt x="1434943" y="28420"/>
                  </a:cubicBezTo>
                  <a:lnTo>
                    <a:pt x="1434943" y="2110694"/>
                  </a:lnTo>
                  <a:cubicBezTo>
                    <a:pt x="1434943" y="2126390"/>
                    <a:pt x="1422219" y="2139113"/>
                    <a:pt x="1406524" y="2139113"/>
                  </a:cubicBezTo>
                  <a:lnTo>
                    <a:pt x="28420" y="2139113"/>
                  </a:lnTo>
                  <a:cubicBezTo>
                    <a:pt x="12724" y="2139113"/>
                    <a:pt x="0" y="2126390"/>
                    <a:pt x="0" y="2110694"/>
                  </a:cubicBezTo>
                  <a:lnTo>
                    <a:pt x="0" y="28420"/>
                  </a:lnTo>
                  <a:cubicBezTo>
                    <a:pt x="0" y="12724"/>
                    <a:pt x="12724" y="0"/>
                    <a:pt x="28420" y="0"/>
                  </a:cubicBezTo>
                  <a:close/>
                </a:path>
              </a:pathLst>
            </a:custGeom>
            <a:solidFill>
              <a:srgbClr val="2A76BA"/>
            </a:solidFill>
          </p:spPr>
        </p:sp>
        <p:sp>
          <p:nvSpPr>
            <p:cNvPr id="7" name="TextBox 7"/>
            <p:cNvSpPr txBox="1"/>
            <p:nvPr/>
          </p:nvSpPr>
          <p:spPr>
            <a:xfrm>
              <a:off x="0" y="-28575"/>
              <a:ext cx="1434943" cy="2167688"/>
            </a:xfrm>
            <a:prstGeom prst="rect">
              <a:avLst/>
            </a:prstGeom>
          </p:spPr>
          <p:txBody>
            <a:bodyPr lIns="50800" tIns="50800" rIns="50800" bIns="50800" rtlCol="0" anchor="ctr"/>
            <a:lstStyle/>
            <a:p>
              <a:pPr marL="0" lvl="0" indent="0" algn="ctr">
                <a:lnSpc>
                  <a:spcPts val="1679"/>
                </a:lnSpc>
              </a:pPr>
              <a:endParaRPr/>
            </a:p>
          </p:txBody>
        </p:sp>
      </p:grpSp>
      <p:grpSp>
        <p:nvGrpSpPr>
          <p:cNvPr id="8" name="Group 8"/>
          <p:cNvGrpSpPr/>
          <p:nvPr/>
        </p:nvGrpSpPr>
        <p:grpSpPr>
          <a:xfrm>
            <a:off x="12172950" y="1498304"/>
            <a:ext cx="5448300" cy="8121946"/>
            <a:chOff x="0" y="0"/>
            <a:chExt cx="1434943" cy="2139113"/>
          </a:xfrm>
        </p:grpSpPr>
        <p:sp>
          <p:nvSpPr>
            <p:cNvPr id="9" name="Freeform 9"/>
            <p:cNvSpPr/>
            <p:nvPr/>
          </p:nvSpPr>
          <p:spPr>
            <a:xfrm>
              <a:off x="0" y="0"/>
              <a:ext cx="1434943" cy="2139113"/>
            </a:xfrm>
            <a:custGeom>
              <a:avLst/>
              <a:gdLst/>
              <a:ahLst/>
              <a:cxnLst/>
              <a:rect l="l" t="t" r="r" b="b"/>
              <a:pathLst>
                <a:path w="1434943" h="2139113">
                  <a:moveTo>
                    <a:pt x="28420" y="0"/>
                  </a:moveTo>
                  <a:lnTo>
                    <a:pt x="1406524" y="0"/>
                  </a:lnTo>
                  <a:cubicBezTo>
                    <a:pt x="1422219" y="0"/>
                    <a:pt x="1434943" y="12724"/>
                    <a:pt x="1434943" y="28420"/>
                  </a:cubicBezTo>
                  <a:lnTo>
                    <a:pt x="1434943" y="2110694"/>
                  </a:lnTo>
                  <a:cubicBezTo>
                    <a:pt x="1434943" y="2126390"/>
                    <a:pt x="1422219" y="2139113"/>
                    <a:pt x="1406524" y="2139113"/>
                  </a:cubicBezTo>
                  <a:lnTo>
                    <a:pt x="28420" y="2139113"/>
                  </a:lnTo>
                  <a:cubicBezTo>
                    <a:pt x="12724" y="2139113"/>
                    <a:pt x="0" y="2126390"/>
                    <a:pt x="0" y="2110694"/>
                  </a:cubicBezTo>
                  <a:lnTo>
                    <a:pt x="0" y="28420"/>
                  </a:lnTo>
                  <a:cubicBezTo>
                    <a:pt x="0" y="12724"/>
                    <a:pt x="12724" y="0"/>
                    <a:pt x="28420" y="0"/>
                  </a:cubicBezTo>
                  <a:close/>
                </a:path>
              </a:pathLst>
            </a:custGeom>
            <a:solidFill>
              <a:srgbClr val="2A76BA"/>
            </a:solidFill>
          </p:spPr>
        </p:sp>
        <p:sp>
          <p:nvSpPr>
            <p:cNvPr id="10" name="TextBox 10"/>
            <p:cNvSpPr txBox="1"/>
            <p:nvPr/>
          </p:nvSpPr>
          <p:spPr>
            <a:xfrm>
              <a:off x="0" y="-28575"/>
              <a:ext cx="1434943" cy="2167688"/>
            </a:xfrm>
            <a:prstGeom prst="rect">
              <a:avLst/>
            </a:prstGeom>
          </p:spPr>
          <p:txBody>
            <a:bodyPr lIns="50800" tIns="50800" rIns="50800" bIns="50800" rtlCol="0" anchor="ctr"/>
            <a:lstStyle/>
            <a:p>
              <a:pPr marL="0" lvl="0" indent="0" algn="ctr">
                <a:lnSpc>
                  <a:spcPts val="1679"/>
                </a:lnSpc>
              </a:pPr>
              <a:endParaRPr/>
            </a:p>
          </p:txBody>
        </p:sp>
      </p:grpSp>
      <p:grpSp>
        <p:nvGrpSpPr>
          <p:cNvPr id="11" name="Group 11"/>
          <p:cNvGrpSpPr/>
          <p:nvPr/>
        </p:nvGrpSpPr>
        <p:grpSpPr>
          <a:xfrm>
            <a:off x="781792" y="2582304"/>
            <a:ext cx="5218216" cy="4634933"/>
            <a:chOff x="0" y="0"/>
            <a:chExt cx="1259398" cy="1118625"/>
          </a:xfrm>
        </p:grpSpPr>
        <p:sp>
          <p:nvSpPr>
            <p:cNvPr id="12" name="Freeform 12"/>
            <p:cNvSpPr/>
            <p:nvPr/>
          </p:nvSpPr>
          <p:spPr>
            <a:xfrm>
              <a:off x="0" y="0"/>
              <a:ext cx="1259398" cy="1118625"/>
            </a:xfrm>
            <a:custGeom>
              <a:avLst/>
              <a:gdLst/>
              <a:ahLst/>
              <a:cxnLst/>
              <a:rect l="l" t="t" r="r" b="b"/>
              <a:pathLst>
                <a:path w="1259398" h="1118625">
                  <a:moveTo>
                    <a:pt x="29673" y="0"/>
                  </a:moveTo>
                  <a:lnTo>
                    <a:pt x="1229725" y="0"/>
                  </a:lnTo>
                  <a:cubicBezTo>
                    <a:pt x="1237595" y="0"/>
                    <a:pt x="1245142" y="3126"/>
                    <a:pt x="1250707" y="8691"/>
                  </a:cubicBezTo>
                  <a:cubicBezTo>
                    <a:pt x="1256272" y="14256"/>
                    <a:pt x="1259398" y="21803"/>
                    <a:pt x="1259398" y="29673"/>
                  </a:cubicBezTo>
                  <a:lnTo>
                    <a:pt x="1259398" y="1088952"/>
                  </a:lnTo>
                  <a:cubicBezTo>
                    <a:pt x="1259398" y="1096822"/>
                    <a:pt x="1256272" y="1104369"/>
                    <a:pt x="1250707" y="1109934"/>
                  </a:cubicBezTo>
                  <a:cubicBezTo>
                    <a:pt x="1245142" y="1115498"/>
                    <a:pt x="1237595" y="1118625"/>
                    <a:pt x="1229725" y="1118625"/>
                  </a:cubicBezTo>
                  <a:lnTo>
                    <a:pt x="29673" y="1118625"/>
                  </a:lnTo>
                  <a:cubicBezTo>
                    <a:pt x="21803" y="1118625"/>
                    <a:pt x="14256" y="1115498"/>
                    <a:pt x="8691" y="1109934"/>
                  </a:cubicBezTo>
                  <a:cubicBezTo>
                    <a:pt x="3126" y="1104369"/>
                    <a:pt x="0" y="1096822"/>
                    <a:pt x="0" y="1088952"/>
                  </a:cubicBezTo>
                  <a:lnTo>
                    <a:pt x="0" y="29673"/>
                  </a:lnTo>
                  <a:cubicBezTo>
                    <a:pt x="0" y="21803"/>
                    <a:pt x="3126" y="14256"/>
                    <a:pt x="8691" y="8691"/>
                  </a:cubicBezTo>
                  <a:cubicBezTo>
                    <a:pt x="14256" y="3126"/>
                    <a:pt x="21803" y="0"/>
                    <a:pt x="29673" y="0"/>
                  </a:cubicBezTo>
                  <a:close/>
                </a:path>
              </a:pathLst>
            </a:custGeom>
            <a:blipFill>
              <a:blip r:embed="rId2"/>
              <a:stretch>
                <a:fillRect l="-8053" r="-8053"/>
              </a:stretch>
            </a:blipFill>
          </p:spPr>
        </p:sp>
      </p:grpSp>
      <p:grpSp>
        <p:nvGrpSpPr>
          <p:cNvPr id="13" name="Group 13"/>
          <p:cNvGrpSpPr/>
          <p:nvPr/>
        </p:nvGrpSpPr>
        <p:grpSpPr>
          <a:xfrm>
            <a:off x="6501149" y="2582304"/>
            <a:ext cx="5285703" cy="4634933"/>
            <a:chOff x="0" y="0"/>
            <a:chExt cx="1259398" cy="1104342"/>
          </a:xfrm>
        </p:grpSpPr>
        <p:sp>
          <p:nvSpPr>
            <p:cNvPr id="14" name="Freeform 14"/>
            <p:cNvSpPr/>
            <p:nvPr/>
          </p:nvSpPr>
          <p:spPr>
            <a:xfrm>
              <a:off x="0" y="0"/>
              <a:ext cx="1259398" cy="1104342"/>
            </a:xfrm>
            <a:custGeom>
              <a:avLst/>
              <a:gdLst/>
              <a:ahLst/>
              <a:cxnLst/>
              <a:rect l="l" t="t" r="r" b="b"/>
              <a:pathLst>
                <a:path w="1259398" h="1104342">
                  <a:moveTo>
                    <a:pt x="29294" y="0"/>
                  </a:moveTo>
                  <a:lnTo>
                    <a:pt x="1230104" y="0"/>
                  </a:lnTo>
                  <a:cubicBezTo>
                    <a:pt x="1246283" y="0"/>
                    <a:pt x="1259398" y="13115"/>
                    <a:pt x="1259398" y="29294"/>
                  </a:cubicBezTo>
                  <a:lnTo>
                    <a:pt x="1259398" y="1075048"/>
                  </a:lnTo>
                  <a:cubicBezTo>
                    <a:pt x="1259398" y="1082817"/>
                    <a:pt x="1256311" y="1090268"/>
                    <a:pt x="1250818" y="1095762"/>
                  </a:cubicBezTo>
                  <a:cubicBezTo>
                    <a:pt x="1245324" y="1101256"/>
                    <a:pt x="1237873" y="1104342"/>
                    <a:pt x="1230104" y="1104342"/>
                  </a:cubicBezTo>
                  <a:lnTo>
                    <a:pt x="29294" y="1104342"/>
                  </a:lnTo>
                  <a:cubicBezTo>
                    <a:pt x="13115" y="1104342"/>
                    <a:pt x="0" y="1091227"/>
                    <a:pt x="0" y="1075048"/>
                  </a:cubicBezTo>
                  <a:lnTo>
                    <a:pt x="0" y="29294"/>
                  </a:lnTo>
                  <a:cubicBezTo>
                    <a:pt x="0" y="13115"/>
                    <a:pt x="13115" y="0"/>
                    <a:pt x="29294" y="0"/>
                  </a:cubicBezTo>
                  <a:close/>
                </a:path>
              </a:pathLst>
            </a:custGeom>
            <a:blipFill>
              <a:blip r:embed="rId3"/>
              <a:stretch>
                <a:fillRect l="-7312" r="-7312"/>
              </a:stretch>
            </a:blipFill>
          </p:spPr>
        </p:sp>
      </p:grpSp>
      <p:grpSp>
        <p:nvGrpSpPr>
          <p:cNvPr id="15" name="Group 15"/>
          <p:cNvGrpSpPr/>
          <p:nvPr/>
        </p:nvGrpSpPr>
        <p:grpSpPr>
          <a:xfrm>
            <a:off x="12258675" y="2582304"/>
            <a:ext cx="5334000" cy="4634933"/>
            <a:chOff x="0" y="0"/>
            <a:chExt cx="1259398" cy="1094343"/>
          </a:xfrm>
        </p:grpSpPr>
        <p:sp>
          <p:nvSpPr>
            <p:cNvPr id="16" name="Freeform 16"/>
            <p:cNvSpPr/>
            <p:nvPr/>
          </p:nvSpPr>
          <p:spPr>
            <a:xfrm>
              <a:off x="0" y="0"/>
              <a:ext cx="1259398" cy="1094343"/>
            </a:xfrm>
            <a:custGeom>
              <a:avLst/>
              <a:gdLst/>
              <a:ahLst/>
              <a:cxnLst/>
              <a:rect l="l" t="t" r="r" b="b"/>
              <a:pathLst>
                <a:path w="1259398" h="1094343">
                  <a:moveTo>
                    <a:pt x="29029" y="0"/>
                  </a:moveTo>
                  <a:lnTo>
                    <a:pt x="1230369" y="0"/>
                  </a:lnTo>
                  <a:cubicBezTo>
                    <a:pt x="1246401" y="0"/>
                    <a:pt x="1259398" y="12997"/>
                    <a:pt x="1259398" y="29029"/>
                  </a:cubicBezTo>
                  <a:lnTo>
                    <a:pt x="1259398" y="1065314"/>
                  </a:lnTo>
                  <a:cubicBezTo>
                    <a:pt x="1259398" y="1081346"/>
                    <a:pt x="1246401" y="1094343"/>
                    <a:pt x="1230369" y="1094343"/>
                  </a:cubicBezTo>
                  <a:lnTo>
                    <a:pt x="29029" y="1094343"/>
                  </a:lnTo>
                  <a:cubicBezTo>
                    <a:pt x="12997" y="1094343"/>
                    <a:pt x="0" y="1081346"/>
                    <a:pt x="0" y="1065314"/>
                  </a:cubicBezTo>
                  <a:lnTo>
                    <a:pt x="0" y="29029"/>
                  </a:lnTo>
                  <a:cubicBezTo>
                    <a:pt x="0" y="12997"/>
                    <a:pt x="12997" y="0"/>
                    <a:pt x="29029" y="0"/>
                  </a:cubicBezTo>
                  <a:close/>
                </a:path>
              </a:pathLst>
            </a:custGeom>
            <a:blipFill>
              <a:blip r:embed="rId4"/>
              <a:stretch>
                <a:fillRect l="-6793" r="-6793"/>
              </a:stretch>
            </a:blipFill>
          </p:spPr>
        </p:sp>
      </p:grpSp>
      <p:sp>
        <p:nvSpPr>
          <p:cNvPr id="17" name="TextBox 17"/>
          <p:cNvSpPr txBox="1"/>
          <p:nvPr/>
        </p:nvSpPr>
        <p:spPr>
          <a:xfrm>
            <a:off x="724271" y="7407737"/>
            <a:ext cx="5333258" cy="1911870"/>
          </a:xfrm>
          <a:prstGeom prst="rect">
            <a:avLst/>
          </a:prstGeom>
        </p:spPr>
        <p:txBody>
          <a:bodyPr lIns="0" tIns="0" rIns="0" bIns="0" rtlCol="0" anchor="t">
            <a:spAutoFit/>
          </a:bodyPr>
          <a:lstStyle/>
          <a:p>
            <a:pPr marL="0" lvl="0" indent="0" algn="ctr">
              <a:lnSpc>
                <a:spcPts val="3821"/>
              </a:lnSpc>
            </a:pPr>
            <a:r>
              <a:rPr lang="en-US" sz="2729" spc="-40">
                <a:solidFill>
                  <a:srgbClr val="D7E6F8"/>
                </a:solidFill>
                <a:latin typeface="Arial"/>
                <a:ea typeface="Arial"/>
                <a:cs typeface="Arial"/>
                <a:sym typeface="Arial"/>
              </a:rPr>
              <a:t>Federated learning enables </a:t>
            </a:r>
            <a:r>
              <a:rPr lang="en-US" sz="2729" b="1" spc="-40">
                <a:solidFill>
                  <a:srgbClr val="D7E6F8"/>
                </a:solidFill>
                <a:latin typeface="Arial Bold"/>
                <a:ea typeface="Arial Bold"/>
                <a:cs typeface="Arial Bold"/>
                <a:sym typeface="Arial Bold"/>
              </a:rPr>
              <a:t>secure data processing</a:t>
            </a:r>
            <a:r>
              <a:rPr lang="en-US" sz="2729" spc="-40">
                <a:solidFill>
                  <a:srgbClr val="D7E6F8"/>
                </a:solidFill>
                <a:latin typeface="Arial"/>
                <a:ea typeface="Arial"/>
                <a:cs typeface="Arial"/>
                <a:sym typeface="Arial"/>
              </a:rPr>
              <a:t> on mobile devices without compromising user privacy.</a:t>
            </a:r>
          </a:p>
        </p:txBody>
      </p:sp>
      <p:sp>
        <p:nvSpPr>
          <p:cNvPr id="18" name="TextBox 18"/>
          <p:cNvSpPr txBox="1"/>
          <p:nvPr/>
        </p:nvSpPr>
        <p:spPr>
          <a:xfrm>
            <a:off x="1021783" y="1768966"/>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D7E6F8"/>
                </a:solidFill>
                <a:latin typeface="Georgia Pro Condensed"/>
                <a:ea typeface="Georgia Pro Condensed"/>
                <a:cs typeface="Georgia Pro Condensed"/>
                <a:sym typeface="Georgia Pro Condensed"/>
              </a:rPr>
              <a:t>Mobile Devices</a:t>
            </a:r>
          </a:p>
        </p:txBody>
      </p:sp>
      <p:sp>
        <p:nvSpPr>
          <p:cNvPr id="19" name="TextBox 19"/>
          <p:cNvSpPr txBox="1"/>
          <p:nvPr/>
        </p:nvSpPr>
        <p:spPr>
          <a:xfrm>
            <a:off x="6744432" y="7435664"/>
            <a:ext cx="4741615" cy="1902733"/>
          </a:xfrm>
          <a:prstGeom prst="rect">
            <a:avLst/>
          </a:prstGeom>
        </p:spPr>
        <p:txBody>
          <a:bodyPr lIns="0" tIns="0" rIns="0" bIns="0" rtlCol="0" anchor="t">
            <a:spAutoFit/>
          </a:bodyPr>
          <a:lstStyle/>
          <a:p>
            <a:pPr marL="0" lvl="0" indent="0" algn="ctr">
              <a:lnSpc>
                <a:spcPts val="3799"/>
              </a:lnSpc>
            </a:pPr>
            <a:r>
              <a:rPr lang="en-US" sz="2714" spc="-40">
                <a:solidFill>
                  <a:srgbClr val="D7E6F8"/>
                </a:solidFill>
                <a:latin typeface="Arial"/>
                <a:ea typeface="Arial"/>
                <a:cs typeface="Arial"/>
                <a:sym typeface="Arial"/>
              </a:rPr>
              <a:t>Healthcare institutions can collaborate on </a:t>
            </a:r>
            <a:r>
              <a:rPr lang="en-US" sz="2714" b="1" spc="-40">
                <a:solidFill>
                  <a:srgbClr val="D7E6F8"/>
                </a:solidFill>
                <a:latin typeface="Arial Bold"/>
                <a:ea typeface="Arial Bold"/>
                <a:cs typeface="Arial Bold"/>
                <a:sym typeface="Arial Bold"/>
              </a:rPr>
              <a:t>patient data analysis</a:t>
            </a:r>
            <a:r>
              <a:rPr lang="en-US" sz="2714" spc="-40">
                <a:solidFill>
                  <a:srgbClr val="D7E6F8"/>
                </a:solidFill>
                <a:latin typeface="Arial"/>
                <a:ea typeface="Arial"/>
                <a:cs typeface="Arial"/>
                <a:sym typeface="Arial"/>
              </a:rPr>
              <a:t> while maintaining strict data privacy standards.</a:t>
            </a:r>
          </a:p>
        </p:txBody>
      </p:sp>
      <p:sp>
        <p:nvSpPr>
          <p:cNvPr id="20" name="TextBox 20"/>
          <p:cNvSpPr txBox="1"/>
          <p:nvPr/>
        </p:nvSpPr>
        <p:spPr>
          <a:xfrm>
            <a:off x="6819153" y="1768966"/>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D7E6F8"/>
                </a:solidFill>
                <a:latin typeface="Georgia Pro Condensed"/>
                <a:ea typeface="Georgia Pro Condensed"/>
                <a:cs typeface="Georgia Pro Condensed"/>
                <a:sym typeface="Georgia Pro Condensed"/>
              </a:rPr>
              <a:t>Healthcare Data Sharing</a:t>
            </a:r>
          </a:p>
        </p:txBody>
      </p:sp>
      <p:sp>
        <p:nvSpPr>
          <p:cNvPr id="21" name="TextBox 21"/>
          <p:cNvSpPr txBox="1"/>
          <p:nvPr/>
        </p:nvSpPr>
        <p:spPr>
          <a:xfrm>
            <a:off x="12496800" y="7417262"/>
            <a:ext cx="4691983" cy="1902733"/>
          </a:xfrm>
          <a:prstGeom prst="rect">
            <a:avLst/>
          </a:prstGeom>
        </p:spPr>
        <p:txBody>
          <a:bodyPr lIns="0" tIns="0" rIns="0" bIns="0" rtlCol="0" anchor="t">
            <a:spAutoFit/>
          </a:bodyPr>
          <a:lstStyle/>
          <a:p>
            <a:pPr marL="0" lvl="0" indent="0" algn="ctr">
              <a:lnSpc>
                <a:spcPts val="3799"/>
              </a:lnSpc>
            </a:pPr>
            <a:r>
              <a:rPr lang="en-US" sz="2714" spc="-40">
                <a:solidFill>
                  <a:srgbClr val="D7E6F8"/>
                </a:solidFill>
                <a:latin typeface="Arial"/>
                <a:ea typeface="Arial"/>
                <a:cs typeface="Arial"/>
                <a:sym typeface="Arial"/>
              </a:rPr>
              <a:t>Federated learning supports </a:t>
            </a:r>
            <a:r>
              <a:rPr lang="en-US" sz="2714" b="1" spc="-40">
                <a:solidFill>
                  <a:srgbClr val="D7E6F8"/>
                </a:solidFill>
                <a:latin typeface="Arial Bold"/>
                <a:ea typeface="Arial Bold"/>
                <a:cs typeface="Arial Bold"/>
                <a:sym typeface="Arial Bold"/>
              </a:rPr>
              <a:t>collaborative fraud detection</a:t>
            </a:r>
            <a:r>
              <a:rPr lang="en-US" sz="2714" spc="-40">
                <a:solidFill>
                  <a:srgbClr val="D7E6F8"/>
                </a:solidFill>
                <a:latin typeface="Arial"/>
                <a:ea typeface="Arial"/>
                <a:cs typeface="Arial"/>
                <a:sym typeface="Arial"/>
              </a:rPr>
              <a:t> across financial institutions without sharing sensitive data.</a:t>
            </a:r>
          </a:p>
        </p:txBody>
      </p:sp>
      <p:sp>
        <p:nvSpPr>
          <p:cNvPr id="22" name="TextBox 22"/>
          <p:cNvSpPr txBox="1"/>
          <p:nvPr/>
        </p:nvSpPr>
        <p:spPr>
          <a:xfrm>
            <a:off x="12729840" y="1768966"/>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D7E6F8"/>
                </a:solidFill>
                <a:latin typeface="Georgia Pro Condensed"/>
                <a:ea typeface="Georgia Pro Condensed"/>
                <a:cs typeface="Georgia Pro Condensed"/>
                <a:sym typeface="Georgia Pro Condensed"/>
              </a:rPr>
              <a:t>Financial Institutions</a:t>
            </a:r>
          </a:p>
        </p:txBody>
      </p:sp>
      <p:sp>
        <p:nvSpPr>
          <p:cNvPr id="23" name="TextBox 23"/>
          <p:cNvSpPr txBox="1"/>
          <p:nvPr/>
        </p:nvSpPr>
        <p:spPr>
          <a:xfrm>
            <a:off x="1066053" y="14287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D7E6F8"/>
                </a:solidFill>
                <a:latin typeface="Georgia Pro Condensed"/>
                <a:ea typeface="Georgia Pro Condensed"/>
                <a:cs typeface="Georgia Pro Condensed"/>
                <a:sym typeface="Georgia Pro Condensed"/>
              </a:rPr>
              <a:t>Use Cases of FL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D7E6F8"/>
                </a:solidFill>
                <a:latin typeface="Helvetica World"/>
                <a:ea typeface="Helvetica World"/>
                <a:cs typeface="Helvetica World"/>
                <a:sym typeface="Helvetica World"/>
              </a:rPr>
              <a:t>7</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1623"/>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2332420" y="869827"/>
            <a:ext cx="14484014" cy="2133684"/>
            <a:chOff x="0" y="0"/>
            <a:chExt cx="19312019" cy="2844912"/>
          </a:xfrm>
        </p:grpSpPr>
        <p:sp>
          <p:nvSpPr>
            <p:cNvPr id="7" name="TextBox 7"/>
            <p:cNvSpPr txBox="1"/>
            <p:nvPr/>
          </p:nvSpPr>
          <p:spPr>
            <a:xfrm>
              <a:off x="0" y="-114300"/>
              <a:ext cx="19312019" cy="1731433"/>
            </a:xfrm>
            <a:prstGeom prst="rect">
              <a:avLst/>
            </a:prstGeom>
          </p:spPr>
          <p:txBody>
            <a:bodyPr lIns="0" tIns="0" rIns="0" bIns="0" rtlCol="0" anchor="t">
              <a:spAutoFit/>
            </a:bodyPr>
            <a:lstStyle/>
            <a:p>
              <a:pPr marL="0" lvl="0" indent="0" algn="l">
                <a:lnSpc>
                  <a:spcPts val="10400"/>
                </a:lnSpc>
              </a:pPr>
              <a:r>
                <a:rPr lang="en-US" sz="8000" spc="-240">
                  <a:solidFill>
                    <a:srgbClr val="D7E6F8"/>
                  </a:solidFill>
                  <a:latin typeface="Arial"/>
                  <a:ea typeface="Arial"/>
                  <a:cs typeface="Arial"/>
                  <a:sym typeface="Arial"/>
                </a:rPr>
                <a:t>Challenges in Federated Learning</a:t>
              </a:r>
            </a:p>
          </p:txBody>
        </p:sp>
        <p:sp>
          <p:nvSpPr>
            <p:cNvPr id="8" name="TextBox 8"/>
            <p:cNvSpPr txBox="1"/>
            <p:nvPr/>
          </p:nvSpPr>
          <p:spPr>
            <a:xfrm>
              <a:off x="0" y="2168637"/>
              <a:ext cx="19312019" cy="676275"/>
            </a:xfrm>
            <a:prstGeom prst="rect">
              <a:avLst/>
            </a:prstGeom>
          </p:spPr>
          <p:txBody>
            <a:bodyPr lIns="0" tIns="0" rIns="0" bIns="0" rtlCol="0" anchor="t">
              <a:spAutoFit/>
            </a:bodyPr>
            <a:lstStyle/>
            <a:p>
              <a:pPr marL="0" lvl="0" indent="0" algn="ctr">
                <a:lnSpc>
                  <a:spcPts val="3839"/>
                </a:lnSpc>
                <a:spcBef>
                  <a:spcPct val="0"/>
                </a:spcBef>
              </a:pPr>
              <a:r>
                <a:rPr lang="en-US" sz="3199" b="1" spc="-47">
                  <a:solidFill>
                    <a:srgbClr val="D7E6F8"/>
                  </a:solidFill>
                  <a:latin typeface="Arial Bold"/>
                  <a:ea typeface="Arial Bold"/>
                  <a:cs typeface="Arial Bold"/>
                  <a:sym typeface="Arial Bold"/>
                </a:rPr>
                <a:t>Understanding key obstacles in FL implementation</a:t>
              </a:r>
            </a:p>
          </p:txBody>
        </p:sp>
      </p:grpSp>
      <p:grpSp>
        <p:nvGrpSpPr>
          <p:cNvPr id="9" name="Group 9"/>
          <p:cNvGrpSpPr/>
          <p:nvPr/>
        </p:nvGrpSpPr>
        <p:grpSpPr>
          <a:xfrm>
            <a:off x="1147855" y="3657026"/>
            <a:ext cx="4685820" cy="4281805"/>
            <a:chOff x="0" y="0"/>
            <a:chExt cx="6247760" cy="5709074"/>
          </a:xfrm>
        </p:grpSpPr>
        <p:sp>
          <p:nvSpPr>
            <p:cNvPr id="10" name="TextBox 10"/>
            <p:cNvSpPr txBox="1"/>
            <p:nvPr/>
          </p:nvSpPr>
          <p:spPr>
            <a:xfrm>
              <a:off x="0" y="-9525"/>
              <a:ext cx="6247760"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Communication Costs</a:t>
              </a:r>
            </a:p>
          </p:txBody>
        </p:sp>
        <p:sp>
          <p:nvSpPr>
            <p:cNvPr id="11" name="TextBox 11"/>
            <p:cNvSpPr txBox="1"/>
            <p:nvPr/>
          </p:nvSpPr>
          <p:spPr>
            <a:xfrm>
              <a:off x="0" y="1104900"/>
              <a:ext cx="6247760" cy="46041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High communication costs can hinder the efficiency of Federated Learning, as frequent updates between local clients and the central server can lead to increased network strain and latency.</a:t>
              </a:r>
            </a:p>
          </p:txBody>
        </p:sp>
      </p:grpSp>
      <p:grpSp>
        <p:nvGrpSpPr>
          <p:cNvPr id="12" name="Group 12"/>
          <p:cNvGrpSpPr/>
          <p:nvPr/>
        </p:nvGrpSpPr>
        <p:grpSpPr>
          <a:xfrm>
            <a:off x="6533854" y="3657026"/>
            <a:ext cx="4943403" cy="4281805"/>
            <a:chOff x="0" y="0"/>
            <a:chExt cx="6591204" cy="5709074"/>
          </a:xfrm>
        </p:grpSpPr>
        <p:sp>
          <p:nvSpPr>
            <p:cNvPr id="13" name="TextBox 13"/>
            <p:cNvSpPr txBox="1"/>
            <p:nvPr/>
          </p:nvSpPr>
          <p:spPr>
            <a:xfrm>
              <a:off x="0" y="-9525"/>
              <a:ext cx="6591204"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Data Heterogeneity</a:t>
              </a:r>
            </a:p>
          </p:txBody>
        </p:sp>
        <p:sp>
          <p:nvSpPr>
            <p:cNvPr id="14" name="TextBox 14"/>
            <p:cNvSpPr txBox="1"/>
            <p:nvPr/>
          </p:nvSpPr>
          <p:spPr>
            <a:xfrm>
              <a:off x="0" y="1104900"/>
              <a:ext cx="6591204" cy="46041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The variability in data across different clients affects model performance and interpretability, as inconsistent data distributions can lead to biased outcomes and challenges in model generalization.</a:t>
              </a:r>
            </a:p>
          </p:txBody>
        </p:sp>
      </p:grpSp>
      <p:grpSp>
        <p:nvGrpSpPr>
          <p:cNvPr id="15" name="Group 15"/>
          <p:cNvGrpSpPr/>
          <p:nvPr/>
        </p:nvGrpSpPr>
        <p:grpSpPr>
          <a:xfrm>
            <a:off x="12207829" y="3657026"/>
            <a:ext cx="5122135" cy="4281805"/>
            <a:chOff x="0" y="0"/>
            <a:chExt cx="6829513" cy="5709074"/>
          </a:xfrm>
        </p:grpSpPr>
        <p:sp>
          <p:nvSpPr>
            <p:cNvPr id="16" name="TextBox 16"/>
            <p:cNvSpPr txBox="1"/>
            <p:nvPr/>
          </p:nvSpPr>
          <p:spPr>
            <a:xfrm>
              <a:off x="0" y="-9525"/>
              <a:ext cx="6829513"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Device Diversity</a:t>
              </a:r>
            </a:p>
          </p:txBody>
        </p:sp>
        <p:sp>
          <p:nvSpPr>
            <p:cNvPr id="17" name="TextBox 17"/>
            <p:cNvSpPr txBox="1"/>
            <p:nvPr/>
          </p:nvSpPr>
          <p:spPr>
            <a:xfrm>
              <a:off x="0" y="1104900"/>
              <a:ext cx="6829513" cy="46041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The heterogeneity of devices participating in Federated Learning poses challenges, as variations in computational power and capabilities can impact learning efficiency and the overall quality of the trained model.</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D7E6F8"/>
                </a:solidFill>
                <a:latin typeface="Helvetica World"/>
                <a:ea typeface="Helvetica World"/>
                <a:cs typeface="Helvetica World"/>
                <a:sym typeface="Helvetica World"/>
              </a:rPr>
              <a:t>8</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1623"/>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2678235" y="790391"/>
            <a:ext cx="13249275" cy="2133684"/>
            <a:chOff x="0" y="0"/>
            <a:chExt cx="17665700" cy="2844912"/>
          </a:xfrm>
        </p:grpSpPr>
        <p:sp>
          <p:nvSpPr>
            <p:cNvPr id="7" name="TextBox 7"/>
            <p:cNvSpPr txBox="1"/>
            <p:nvPr/>
          </p:nvSpPr>
          <p:spPr>
            <a:xfrm>
              <a:off x="0" y="-114300"/>
              <a:ext cx="17665700" cy="1731433"/>
            </a:xfrm>
            <a:prstGeom prst="rect">
              <a:avLst/>
            </a:prstGeom>
          </p:spPr>
          <p:txBody>
            <a:bodyPr lIns="0" tIns="0" rIns="0" bIns="0" rtlCol="0" anchor="t">
              <a:spAutoFit/>
            </a:bodyPr>
            <a:lstStyle/>
            <a:p>
              <a:pPr marL="0" lvl="0" indent="0" algn="ctr">
                <a:lnSpc>
                  <a:spcPts val="10400"/>
                </a:lnSpc>
              </a:pPr>
              <a:r>
                <a:rPr lang="en-US" sz="8000" spc="-240">
                  <a:solidFill>
                    <a:srgbClr val="D7E6F8"/>
                  </a:solidFill>
                  <a:latin typeface="Arial"/>
                  <a:ea typeface="Arial"/>
                  <a:cs typeface="Arial"/>
                  <a:sym typeface="Arial"/>
                </a:rPr>
                <a:t>Challenges in Explainability</a:t>
              </a:r>
            </a:p>
          </p:txBody>
        </p:sp>
        <p:sp>
          <p:nvSpPr>
            <p:cNvPr id="8" name="TextBox 8"/>
            <p:cNvSpPr txBox="1"/>
            <p:nvPr/>
          </p:nvSpPr>
          <p:spPr>
            <a:xfrm>
              <a:off x="0" y="2168637"/>
              <a:ext cx="17665700" cy="676275"/>
            </a:xfrm>
            <a:prstGeom prst="rect">
              <a:avLst/>
            </a:prstGeom>
          </p:spPr>
          <p:txBody>
            <a:bodyPr lIns="0" tIns="0" rIns="0" bIns="0" rtlCol="0" anchor="t">
              <a:spAutoFit/>
            </a:bodyPr>
            <a:lstStyle/>
            <a:p>
              <a:pPr marL="0" lvl="0" indent="0" algn="ctr">
                <a:lnSpc>
                  <a:spcPts val="3839"/>
                </a:lnSpc>
                <a:spcBef>
                  <a:spcPct val="0"/>
                </a:spcBef>
              </a:pPr>
              <a:r>
                <a:rPr lang="en-US" sz="3199" b="1" spc="-47">
                  <a:solidFill>
                    <a:srgbClr val="D7E6F8"/>
                  </a:solidFill>
                  <a:latin typeface="Arial Bold"/>
                  <a:ea typeface="Arial Bold"/>
                  <a:cs typeface="Arial Bold"/>
                  <a:sym typeface="Arial Bold"/>
                </a:rPr>
                <a:t>Navigating complexities in federated learning</a:t>
              </a:r>
            </a:p>
          </p:txBody>
        </p:sp>
      </p:grpSp>
      <p:grpSp>
        <p:nvGrpSpPr>
          <p:cNvPr id="9" name="Group 9"/>
          <p:cNvGrpSpPr/>
          <p:nvPr/>
        </p:nvGrpSpPr>
        <p:grpSpPr>
          <a:xfrm>
            <a:off x="1028700" y="4229981"/>
            <a:ext cx="4626242" cy="4281805"/>
            <a:chOff x="0" y="0"/>
            <a:chExt cx="6168323" cy="5709074"/>
          </a:xfrm>
        </p:grpSpPr>
        <p:sp>
          <p:nvSpPr>
            <p:cNvPr id="10" name="TextBox 10"/>
            <p:cNvSpPr txBox="1"/>
            <p:nvPr/>
          </p:nvSpPr>
          <p:spPr>
            <a:xfrm>
              <a:off x="0" y="-9525"/>
              <a:ext cx="6168323"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FL Context Challenges</a:t>
              </a:r>
            </a:p>
          </p:txBody>
        </p:sp>
        <p:sp>
          <p:nvSpPr>
            <p:cNvPr id="11" name="TextBox 11"/>
            <p:cNvSpPr txBox="1"/>
            <p:nvPr/>
          </p:nvSpPr>
          <p:spPr>
            <a:xfrm>
              <a:off x="0" y="1104900"/>
              <a:ext cx="6168323" cy="46041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Explainability is often limited in federated learning due to decentralized training, making it difficult to understand model decisions based on distributed data sources and local updates.</a:t>
              </a:r>
            </a:p>
          </p:txBody>
        </p:sp>
      </p:grpSp>
      <p:grpSp>
        <p:nvGrpSpPr>
          <p:cNvPr id="12" name="Group 12"/>
          <p:cNvGrpSpPr/>
          <p:nvPr/>
        </p:nvGrpSpPr>
        <p:grpSpPr>
          <a:xfrm>
            <a:off x="6473629" y="4229981"/>
            <a:ext cx="4881562" cy="4281805"/>
            <a:chOff x="0" y="0"/>
            <a:chExt cx="6508750" cy="5709074"/>
          </a:xfrm>
        </p:grpSpPr>
        <p:sp>
          <p:nvSpPr>
            <p:cNvPr id="13" name="TextBox 13"/>
            <p:cNvSpPr txBox="1"/>
            <p:nvPr/>
          </p:nvSpPr>
          <p:spPr>
            <a:xfrm>
              <a:off x="0" y="-9525"/>
              <a:ext cx="6508750"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Data Heterogeneity</a:t>
              </a:r>
            </a:p>
          </p:txBody>
        </p:sp>
        <p:sp>
          <p:nvSpPr>
            <p:cNvPr id="14" name="TextBox 14"/>
            <p:cNvSpPr txBox="1"/>
            <p:nvPr/>
          </p:nvSpPr>
          <p:spPr>
            <a:xfrm>
              <a:off x="0" y="1104900"/>
              <a:ext cx="6508750" cy="46041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Variability in data types and distributions across clients can hinder the model interpretability, as differing data characteristics complicate the extraction of consistent, understandable explanations.</a:t>
              </a:r>
            </a:p>
          </p:txBody>
        </p:sp>
      </p:grpSp>
      <p:grpSp>
        <p:nvGrpSpPr>
          <p:cNvPr id="15" name="Group 15"/>
          <p:cNvGrpSpPr/>
          <p:nvPr/>
        </p:nvGrpSpPr>
        <p:grpSpPr>
          <a:xfrm>
            <a:off x="12332750" y="4229981"/>
            <a:ext cx="4526362" cy="4281805"/>
            <a:chOff x="0" y="0"/>
            <a:chExt cx="6035149" cy="5709074"/>
          </a:xfrm>
        </p:grpSpPr>
        <p:sp>
          <p:nvSpPr>
            <p:cNvPr id="16" name="TextBox 16"/>
            <p:cNvSpPr txBox="1"/>
            <p:nvPr/>
          </p:nvSpPr>
          <p:spPr>
            <a:xfrm>
              <a:off x="0" y="-9525"/>
              <a:ext cx="6035149"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Privacy vs Transparency</a:t>
              </a:r>
            </a:p>
          </p:txBody>
        </p:sp>
        <p:sp>
          <p:nvSpPr>
            <p:cNvPr id="17" name="TextBox 17"/>
            <p:cNvSpPr txBox="1"/>
            <p:nvPr/>
          </p:nvSpPr>
          <p:spPr>
            <a:xfrm>
              <a:off x="0" y="1104900"/>
              <a:ext cx="6035149" cy="46041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Striking a balance between providing meaningful explanations and protecting sensitive data is challenging, as revealing too much can compromise privacy, creating conflict in regulatory contexts.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D7E6F8"/>
                </a:solidFill>
                <a:latin typeface="Helvetica World"/>
                <a:ea typeface="Helvetica World"/>
                <a:cs typeface="Helvetica World"/>
                <a:sym typeface="Helvetica World"/>
              </a:rPr>
              <a:t>10</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81623"/>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2933700" y="790391"/>
            <a:ext cx="13249275" cy="2133684"/>
            <a:chOff x="0" y="0"/>
            <a:chExt cx="17665700" cy="2844912"/>
          </a:xfrm>
        </p:grpSpPr>
        <p:sp>
          <p:nvSpPr>
            <p:cNvPr id="7" name="TextBox 7"/>
            <p:cNvSpPr txBox="1"/>
            <p:nvPr/>
          </p:nvSpPr>
          <p:spPr>
            <a:xfrm>
              <a:off x="0" y="-114300"/>
              <a:ext cx="17665700" cy="1731433"/>
            </a:xfrm>
            <a:prstGeom prst="rect">
              <a:avLst/>
            </a:prstGeom>
          </p:spPr>
          <p:txBody>
            <a:bodyPr lIns="0" tIns="0" rIns="0" bIns="0" rtlCol="0" anchor="t">
              <a:spAutoFit/>
            </a:bodyPr>
            <a:lstStyle/>
            <a:p>
              <a:pPr marL="0" lvl="0" indent="0" algn="ctr">
                <a:lnSpc>
                  <a:spcPts val="10400"/>
                </a:lnSpc>
              </a:pPr>
              <a:r>
                <a:rPr lang="en-US" sz="8000" spc="-240">
                  <a:solidFill>
                    <a:srgbClr val="D7E6F8"/>
                  </a:solidFill>
                  <a:latin typeface="Arial"/>
                  <a:ea typeface="Arial"/>
                  <a:cs typeface="Arial"/>
                  <a:sym typeface="Arial"/>
                </a:rPr>
                <a:t>Integrating XAI and FL</a:t>
              </a:r>
            </a:p>
          </p:txBody>
        </p:sp>
        <p:sp>
          <p:nvSpPr>
            <p:cNvPr id="8" name="TextBox 8"/>
            <p:cNvSpPr txBox="1"/>
            <p:nvPr/>
          </p:nvSpPr>
          <p:spPr>
            <a:xfrm>
              <a:off x="0" y="2168637"/>
              <a:ext cx="17665700" cy="676275"/>
            </a:xfrm>
            <a:prstGeom prst="rect">
              <a:avLst/>
            </a:prstGeom>
          </p:spPr>
          <p:txBody>
            <a:bodyPr lIns="0" tIns="0" rIns="0" bIns="0" rtlCol="0" anchor="t">
              <a:spAutoFit/>
            </a:bodyPr>
            <a:lstStyle/>
            <a:p>
              <a:pPr marL="0" lvl="0" indent="0" algn="ctr">
                <a:lnSpc>
                  <a:spcPts val="3839"/>
                </a:lnSpc>
                <a:spcBef>
                  <a:spcPct val="0"/>
                </a:spcBef>
              </a:pPr>
              <a:r>
                <a:rPr lang="en-US" sz="3199" b="1" spc="-47">
                  <a:solidFill>
                    <a:srgbClr val="D7E6F8"/>
                  </a:solidFill>
                  <a:latin typeface="Arial Bold"/>
                  <a:ea typeface="Arial Bold"/>
                  <a:cs typeface="Arial Bold"/>
                  <a:sym typeface="Arial Bold"/>
                </a:rPr>
                <a:t>The importance of combining these technologies</a:t>
              </a:r>
            </a:p>
          </p:txBody>
        </p:sp>
      </p:grpSp>
      <p:grpSp>
        <p:nvGrpSpPr>
          <p:cNvPr id="9" name="Group 9"/>
          <p:cNvGrpSpPr/>
          <p:nvPr/>
        </p:nvGrpSpPr>
        <p:grpSpPr>
          <a:xfrm>
            <a:off x="1283888" y="4051249"/>
            <a:ext cx="4606383" cy="4777105"/>
            <a:chOff x="0" y="0"/>
            <a:chExt cx="6141844" cy="6369474"/>
          </a:xfrm>
        </p:grpSpPr>
        <p:sp>
          <p:nvSpPr>
            <p:cNvPr id="10" name="TextBox 10"/>
            <p:cNvSpPr txBox="1"/>
            <p:nvPr/>
          </p:nvSpPr>
          <p:spPr>
            <a:xfrm>
              <a:off x="0" y="-9525"/>
              <a:ext cx="6141844"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Trustworthiness</a:t>
              </a:r>
            </a:p>
          </p:txBody>
        </p:sp>
        <p:sp>
          <p:nvSpPr>
            <p:cNvPr id="11" name="TextBox 11"/>
            <p:cNvSpPr txBox="1"/>
            <p:nvPr/>
          </p:nvSpPr>
          <p:spPr>
            <a:xfrm>
              <a:off x="0" y="1104900"/>
              <a:ext cx="6141844"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Combining Explainable AI and Federated Learning is essential for developing </a:t>
              </a:r>
              <a:r>
                <a:rPr lang="en-US" sz="2799" b="1" u="none" strike="noStrike" spc="-41">
                  <a:solidFill>
                    <a:srgbClr val="D7E6F8"/>
                  </a:solidFill>
                  <a:latin typeface="Arial Bold"/>
                  <a:ea typeface="Arial Bold"/>
                  <a:cs typeface="Arial Bold"/>
                  <a:sym typeface="Arial Bold"/>
                </a:rPr>
                <a:t>trustworthy AI systems</a:t>
              </a:r>
              <a:r>
                <a:rPr lang="en-US" sz="2799" u="none" strike="noStrike" spc="-41">
                  <a:solidFill>
                    <a:srgbClr val="D7E6F8"/>
                  </a:solidFill>
                  <a:latin typeface="Arial"/>
                  <a:ea typeface="Arial"/>
                  <a:cs typeface="Arial"/>
                  <a:sym typeface="Arial"/>
                </a:rPr>
                <a:t> that prioritize user understanding and data privacy, fostering confidence among users and stakeholders alike.</a:t>
              </a:r>
            </a:p>
          </p:txBody>
        </p:sp>
      </p:grpSp>
      <p:grpSp>
        <p:nvGrpSpPr>
          <p:cNvPr id="12" name="Group 12"/>
          <p:cNvGrpSpPr/>
          <p:nvPr/>
        </p:nvGrpSpPr>
        <p:grpSpPr>
          <a:xfrm>
            <a:off x="6927303" y="4051249"/>
            <a:ext cx="4208616" cy="4777105"/>
            <a:chOff x="0" y="0"/>
            <a:chExt cx="5611488" cy="6369474"/>
          </a:xfrm>
        </p:grpSpPr>
        <p:sp>
          <p:nvSpPr>
            <p:cNvPr id="13" name="TextBox 13"/>
            <p:cNvSpPr txBox="1"/>
            <p:nvPr/>
          </p:nvSpPr>
          <p:spPr>
            <a:xfrm>
              <a:off x="0" y="-9525"/>
              <a:ext cx="5611488"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Research Trends</a:t>
              </a:r>
            </a:p>
          </p:txBody>
        </p:sp>
        <p:sp>
          <p:nvSpPr>
            <p:cNvPr id="14" name="TextBox 14"/>
            <p:cNvSpPr txBox="1"/>
            <p:nvPr/>
          </p:nvSpPr>
          <p:spPr>
            <a:xfrm>
              <a:off x="0" y="1104900"/>
              <a:ext cx="5611488"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Ongoing research focuses on frameworks that merge XAI with FL, exploring innovative approaches to enhance explainability while maintaining the security and privacy of decentralized data.</a:t>
              </a:r>
            </a:p>
          </p:txBody>
        </p:sp>
      </p:grpSp>
      <p:grpSp>
        <p:nvGrpSpPr>
          <p:cNvPr id="15" name="Group 15"/>
          <p:cNvGrpSpPr/>
          <p:nvPr/>
        </p:nvGrpSpPr>
        <p:grpSpPr>
          <a:xfrm>
            <a:off x="12172950" y="4051249"/>
            <a:ext cx="4625657" cy="4777105"/>
            <a:chOff x="0" y="0"/>
            <a:chExt cx="6167543" cy="6369474"/>
          </a:xfrm>
        </p:grpSpPr>
        <p:sp>
          <p:nvSpPr>
            <p:cNvPr id="16" name="TextBox 16"/>
            <p:cNvSpPr txBox="1"/>
            <p:nvPr/>
          </p:nvSpPr>
          <p:spPr>
            <a:xfrm>
              <a:off x="0" y="-9525"/>
              <a:ext cx="6167543" cy="606425"/>
            </a:xfrm>
            <a:prstGeom prst="rect">
              <a:avLst/>
            </a:prstGeom>
          </p:spPr>
          <p:txBody>
            <a:bodyPr lIns="0" tIns="0" rIns="0" bIns="0" rtlCol="0" anchor="t">
              <a:spAutoFit/>
            </a:bodyPr>
            <a:lstStyle/>
            <a:p>
              <a:pPr marL="0" lvl="0" indent="0" algn="l">
                <a:lnSpc>
                  <a:spcPts val="3599"/>
                </a:lnSpc>
                <a:spcBef>
                  <a:spcPct val="0"/>
                </a:spcBef>
              </a:pPr>
              <a:r>
                <a:rPr lang="en-US" sz="2999" b="1" spc="-44">
                  <a:solidFill>
                    <a:srgbClr val="D7E6F8"/>
                  </a:solidFill>
                  <a:latin typeface="Arial Bold"/>
                  <a:ea typeface="Arial Bold"/>
                  <a:cs typeface="Arial Bold"/>
                  <a:sym typeface="Arial Bold"/>
                </a:rPr>
                <a:t>Best Practices</a:t>
              </a:r>
            </a:p>
          </p:txBody>
        </p:sp>
        <p:sp>
          <p:nvSpPr>
            <p:cNvPr id="17" name="TextBox 17"/>
            <p:cNvSpPr txBox="1"/>
            <p:nvPr/>
          </p:nvSpPr>
          <p:spPr>
            <a:xfrm>
              <a:off x="0" y="1104900"/>
              <a:ext cx="6167543" cy="5264574"/>
            </a:xfrm>
            <a:prstGeom prst="rect">
              <a:avLst/>
            </a:prstGeom>
          </p:spPr>
          <p:txBody>
            <a:bodyPr lIns="0" tIns="0" rIns="0" bIns="0" rtlCol="0" anchor="t">
              <a:spAutoFit/>
            </a:bodyPr>
            <a:lstStyle/>
            <a:p>
              <a:pPr marL="0" lvl="0" indent="0" algn="l">
                <a:lnSpc>
                  <a:spcPts val="3919"/>
                </a:lnSpc>
              </a:pPr>
              <a:r>
                <a:rPr lang="en-US" sz="2799" u="none" strike="noStrike" spc="-41">
                  <a:solidFill>
                    <a:srgbClr val="D7E6F8"/>
                  </a:solidFill>
                  <a:latin typeface="Arial"/>
                  <a:ea typeface="Arial"/>
                  <a:cs typeface="Arial"/>
                  <a:sym typeface="Arial"/>
                </a:rPr>
                <a:t>Implementing best practices involves designing models that prioritize interpretability, utilizing effective explanation methods, and establishing clear communication protocols to convey insights generated by AI systems.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4C90D6"/>
            </a:solidFill>
            <a:ln w="12700">
              <a:solidFill>
                <a:srgbClr val="000000"/>
              </a:solidFill>
            </a:ln>
          </p:spPr>
        </p:sp>
      </p:grpSp>
      <p:grpSp>
        <p:nvGrpSpPr>
          <p:cNvPr id="4" name="Group 4"/>
          <p:cNvGrpSpPr/>
          <p:nvPr/>
        </p:nvGrpSpPr>
        <p:grpSpPr>
          <a:xfrm>
            <a:off x="666750" y="666750"/>
            <a:ext cx="6545058" cy="8953500"/>
            <a:chOff x="0" y="0"/>
            <a:chExt cx="768828" cy="1051741"/>
          </a:xfrm>
        </p:grpSpPr>
        <p:sp>
          <p:nvSpPr>
            <p:cNvPr id="5" name="Freeform 5"/>
            <p:cNvSpPr/>
            <p:nvPr/>
          </p:nvSpPr>
          <p:spPr>
            <a:xfrm>
              <a:off x="0" y="0"/>
              <a:ext cx="768828" cy="1051741"/>
            </a:xfrm>
            <a:custGeom>
              <a:avLst/>
              <a:gdLst/>
              <a:ahLst/>
              <a:cxnLst/>
              <a:rect l="l" t="t" r="r" b="b"/>
              <a:pathLst>
                <a:path w="768828" h="1051741">
                  <a:moveTo>
                    <a:pt x="53229" y="0"/>
                  </a:moveTo>
                  <a:lnTo>
                    <a:pt x="715599" y="0"/>
                  </a:lnTo>
                  <a:cubicBezTo>
                    <a:pt x="729717" y="0"/>
                    <a:pt x="743256" y="5608"/>
                    <a:pt x="753238" y="15590"/>
                  </a:cubicBezTo>
                  <a:cubicBezTo>
                    <a:pt x="763220" y="25573"/>
                    <a:pt x="768828" y="39112"/>
                    <a:pt x="768828" y="53229"/>
                  </a:cubicBezTo>
                  <a:lnTo>
                    <a:pt x="768828" y="998512"/>
                  </a:lnTo>
                  <a:cubicBezTo>
                    <a:pt x="768828" y="1027909"/>
                    <a:pt x="744997" y="1051741"/>
                    <a:pt x="715599" y="1051741"/>
                  </a:cubicBezTo>
                  <a:lnTo>
                    <a:pt x="53229" y="1051741"/>
                  </a:lnTo>
                  <a:cubicBezTo>
                    <a:pt x="39112" y="1051741"/>
                    <a:pt x="25573" y="1046133"/>
                    <a:pt x="15590" y="1036150"/>
                  </a:cubicBezTo>
                  <a:cubicBezTo>
                    <a:pt x="5608" y="1026168"/>
                    <a:pt x="0" y="1012629"/>
                    <a:pt x="0" y="998512"/>
                  </a:cubicBezTo>
                  <a:lnTo>
                    <a:pt x="0" y="53229"/>
                  </a:lnTo>
                  <a:cubicBezTo>
                    <a:pt x="0" y="23831"/>
                    <a:pt x="23831" y="0"/>
                    <a:pt x="53229" y="0"/>
                  </a:cubicBezTo>
                  <a:close/>
                </a:path>
              </a:pathLst>
            </a:custGeom>
            <a:blipFill>
              <a:blip r:embed="rId2"/>
              <a:stretch>
                <a:fillRect t="-414" b="-414"/>
              </a:stretch>
            </a:blipFill>
          </p:spPr>
        </p:sp>
      </p:grpSp>
      <p:grpSp>
        <p:nvGrpSpPr>
          <p:cNvPr id="6" name="Group 6"/>
          <p:cNvGrpSpPr/>
          <p:nvPr/>
        </p:nvGrpSpPr>
        <p:grpSpPr>
          <a:xfrm>
            <a:off x="9296400" y="685800"/>
            <a:ext cx="8324850" cy="3171825"/>
            <a:chOff x="0" y="0"/>
            <a:chExt cx="11099800" cy="4229100"/>
          </a:xfrm>
        </p:grpSpPr>
        <p:sp>
          <p:nvSpPr>
            <p:cNvPr id="7" name="TextBox 7"/>
            <p:cNvSpPr txBox="1"/>
            <p:nvPr/>
          </p:nvSpPr>
          <p:spPr>
            <a:xfrm>
              <a:off x="0" y="38100"/>
              <a:ext cx="11099800" cy="3069167"/>
            </a:xfrm>
            <a:prstGeom prst="rect">
              <a:avLst/>
            </a:prstGeom>
          </p:spPr>
          <p:txBody>
            <a:bodyPr lIns="0" tIns="0" rIns="0" bIns="0" rtlCol="0" anchor="t">
              <a:spAutoFit/>
            </a:bodyPr>
            <a:lstStyle/>
            <a:p>
              <a:pPr marL="0" lvl="0" indent="0" algn="l">
                <a:lnSpc>
                  <a:spcPts val="8800"/>
                </a:lnSpc>
              </a:pPr>
              <a:r>
                <a:rPr lang="en-US" sz="8000" spc="-240">
                  <a:solidFill>
                    <a:srgbClr val="D7E6F8"/>
                  </a:solidFill>
                  <a:latin typeface="Arial"/>
                  <a:ea typeface="Arial"/>
                  <a:cs typeface="Arial"/>
                  <a:sym typeface="Arial"/>
                </a:rPr>
                <a:t>Case Studies in Healthcare</a:t>
              </a:r>
            </a:p>
          </p:txBody>
        </p:sp>
        <p:sp>
          <p:nvSpPr>
            <p:cNvPr id="8" name="TextBox 8"/>
            <p:cNvSpPr txBox="1"/>
            <p:nvPr/>
          </p:nvSpPr>
          <p:spPr>
            <a:xfrm>
              <a:off x="0" y="3552825"/>
              <a:ext cx="11099800" cy="676275"/>
            </a:xfrm>
            <a:prstGeom prst="rect">
              <a:avLst/>
            </a:prstGeom>
          </p:spPr>
          <p:txBody>
            <a:bodyPr lIns="0" tIns="0" rIns="0" bIns="0" rtlCol="0" anchor="t">
              <a:spAutoFit/>
            </a:bodyPr>
            <a:lstStyle/>
            <a:p>
              <a:pPr marL="0" lvl="0" indent="0" algn="l">
                <a:lnSpc>
                  <a:spcPts val="3839"/>
                </a:lnSpc>
                <a:spcBef>
                  <a:spcPct val="0"/>
                </a:spcBef>
              </a:pPr>
              <a:r>
                <a:rPr lang="en-US" sz="3199" b="1" spc="-47">
                  <a:solidFill>
                    <a:srgbClr val="D7E6F8"/>
                  </a:solidFill>
                  <a:latin typeface="Arial Bold"/>
                  <a:ea typeface="Arial Bold"/>
                  <a:cs typeface="Arial Bold"/>
                  <a:sym typeface="Arial Bold"/>
                </a:rPr>
                <a:t>Integrating XAI and FL for Diagnostics</a:t>
              </a:r>
            </a:p>
          </p:txBody>
        </p:sp>
      </p:grpSp>
      <p:sp>
        <p:nvSpPr>
          <p:cNvPr id="9" name="TextBox 9"/>
          <p:cNvSpPr txBox="1"/>
          <p:nvPr/>
        </p:nvSpPr>
        <p:spPr>
          <a:xfrm>
            <a:off x="8934450" y="5067300"/>
            <a:ext cx="8686800" cy="2666780"/>
          </a:xfrm>
          <a:prstGeom prst="rect">
            <a:avLst/>
          </a:prstGeom>
        </p:spPr>
        <p:txBody>
          <a:bodyPr lIns="0" tIns="0" rIns="0" bIns="0" rtlCol="0" anchor="t">
            <a:spAutoFit/>
          </a:bodyPr>
          <a:lstStyle/>
          <a:p>
            <a:pPr marL="0" lvl="0" indent="0" algn="l">
              <a:lnSpc>
                <a:spcPts val="4212"/>
              </a:lnSpc>
            </a:pPr>
            <a:r>
              <a:rPr lang="en-US" sz="3008" spc="-45">
                <a:solidFill>
                  <a:srgbClr val="D7E6F8"/>
                </a:solidFill>
                <a:latin typeface="Arial"/>
                <a:ea typeface="Arial"/>
                <a:cs typeface="Arial"/>
                <a:sym typeface="Arial"/>
              </a:rPr>
              <a:t>Demonstrating successful case studies, this integration enhances patient outcomes through explainable AI, ensuring decisions are transparent and data privacy is maintained across federated learning systems.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785905" y="30480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2A76BA"/>
            </a:solidFill>
            <a:ln cap="rnd">
              <a:noFill/>
              <a:prstDash val="solid"/>
              <a:round/>
            </a:ln>
          </p:spPr>
        </p:sp>
        <p:sp>
          <p:nvSpPr>
            <p:cNvPr id="4" name="TextBox 4"/>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pPr>
              <a:endParaRPr/>
            </a:p>
          </p:txBody>
        </p:sp>
      </p:grpSp>
      <p:sp>
        <p:nvSpPr>
          <p:cNvPr id="5" name="TextBox 5"/>
          <p:cNvSpPr txBox="1"/>
          <p:nvPr/>
        </p:nvSpPr>
        <p:spPr>
          <a:xfrm>
            <a:off x="2812622" y="321173"/>
            <a:ext cx="12662755" cy="1300754"/>
          </a:xfrm>
          <a:prstGeom prst="rect">
            <a:avLst/>
          </a:prstGeom>
        </p:spPr>
        <p:txBody>
          <a:bodyPr lIns="0" tIns="0" rIns="0" bIns="0" rtlCol="0" anchor="t">
            <a:spAutoFit/>
          </a:bodyPr>
          <a:lstStyle/>
          <a:p>
            <a:pPr marL="0" lvl="0" indent="0" algn="ctr">
              <a:lnSpc>
                <a:spcPts val="10173"/>
              </a:lnSpc>
            </a:pPr>
            <a:r>
              <a:rPr lang="en-US" sz="7825" spc="-234">
                <a:solidFill>
                  <a:srgbClr val="000000"/>
                </a:solidFill>
                <a:latin typeface="Arial"/>
                <a:ea typeface="Arial"/>
                <a:cs typeface="Arial"/>
                <a:sym typeface="Arial"/>
              </a:rPr>
              <a:t>Conclusion </a:t>
            </a:r>
          </a:p>
        </p:txBody>
      </p:sp>
      <p:sp>
        <p:nvSpPr>
          <p:cNvPr id="6" name="TextBox 6"/>
          <p:cNvSpPr txBox="1"/>
          <p:nvPr/>
        </p:nvSpPr>
        <p:spPr>
          <a:xfrm>
            <a:off x="1028700" y="2029846"/>
            <a:ext cx="16513135" cy="6839586"/>
          </a:xfrm>
          <a:prstGeom prst="rect">
            <a:avLst/>
          </a:prstGeom>
        </p:spPr>
        <p:txBody>
          <a:bodyPr lIns="0" tIns="0" rIns="0" bIns="0" rtlCol="0" anchor="t">
            <a:spAutoFit/>
          </a:bodyPr>
          <a:lstStyle/>
          <a:p>
            <a:pPr marL="820429" lvl="1" indent="-410214" algn="l">
              <a:lnSpc>
                <a:spcPts val="4180"/>
              </a:lnSpc>
              <a:buFont typeface="Arial"/>
              <a:buChar char="•"/>
            </a:pPr>
            <a:r>
              <a:rPr lang="en-US" sz="3800" spc="-95">
                <a:solidFill>
                  <a:srgbClr val="000000"/>
                </a:solidFill>
                <a:latin typeface="Arial"/>
                <a:ea typeface="Arial"/>
                <a:cs typeface="Arial"/>
                <a:sym typeface="Arial"/>
              </a:rPr>
              <a:t>Federated Learning (FL) fundamentally redefines how machine learning models are trained by enabling collaborative learning across decentralized data sources without the direct exchange of raw data, thereby offering significant advantages in data privacy and security. </a:t>
            </a:r>
          </a:p>
          <a:p>
            <a:pPr marL="820429" lvl="1" indent="-410214" algn="l">
              <a:lnSpc>
                <a:spcPts val="4180"/>
              </a:lnSpc>
              <a:buFont typeface="Arial"/>
              <a:buChar char="•"/>
            </a:pPr>
            <a:r>
              <a:rPr lang="en-US" sz="3800" spc="-95">
                <a:solidFill>
                  <a:srgbClr val="000000"/>
                </a:solidFill>
                <a:latin typeface="Arial"/>
                <a:ea typeface="Arial"/>
                <a:cs typeface="Arial"/>
                <a:sym typeface="Arial"/>
              </a:rPr>
              <a:t>This distributed approach allows for the development of robust global models from diverse local datasets, addressing critical concerns around data sovereignty and regulatory compliance. </a:t>
            </a:r>
          </a:p>
          <a:p>
            <a:pPr marL="820429" lvl="1" indent="-410214" algn="l">
              <a:lnSpc>
                <a:spcPts val="4180"/>
              </a:lnSpc>
              <a:buFont typeface="Arial"/>
              <a:buChar char="•"/>
            </a:pPr>
            <a:r>
              <a:rPr lang="en-US" sz="3800" spc="-95">
                <a:solidFill>
                  <a:srgbClr val="000000"/>
                </a:solidFill>
                <a:latin typeface="Arial"/>
                <a:ea typeface="Arial"/>
                <a:cs typeface="Arial"/>
                <a:sym typeface="Arial"/>
              </a:rPr>
              <a:t>Moreover, as FL models become increasingly integrated into sensitive applications, the importance of Federated Model Interpretation emerges. </a:t>
            </a:r>
          </a:p>
          <a:p>
            <a:pPr marL="820429" lvl="1" indent="-410214" algn="l">
              <a:lnSpc>
                <a:spcPts val="4180"/>
              </a:lnSpc>
              <a:buFont typeface="Arial"/>
              <a:buChar char="•"/>
            </a:pPr>
            <a:r>
              <a:rPr lang="en-US" sz="3800" spc="-95">
                <a:solidFill>
                  <a:srgbClr val="000000"/>
                </a:solidFill>
                <a:latin typeface="Arial"/>
                <a:ea typeface="Arial"/>
                <a:cs typeface="Arial"/>
                <a:sym typeface="Arial"/>
              </a:rPr>
              <a:t>This crucial component ensures transparency and builds trust by providing insights into model behavior and predictions, both locally at the client level and globally after secure aggregation, ultimately leading to more accountable, understandable, and widely adoptable AI solutions.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4C90D6"/>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9319196" y="2437262"/>
            <a:ext cx="7057054" cy="1404632"/>
          </a:xfrm>
          <a:prstGeom prst="rect">
            <a:avLst/>
          </a:prstGeom>
        </p:spPr>
        <p:txBody>
          <a:bodyPr lIns="0" tIns="0" rIns="0" bIns="0" rtlCol="0" anchor="t">
            <a:spAutoFit/>
          </a:bodyPr>
          <a:lstStyle/>
          <a:p>
            <a:pPr marL="0" lvl="0" indent="0" algn="l">
              <a:lnSpc>
                <a:spcPts val="10297"/>
              </a:lnSpc>
            </a:pPr>
            <a:r>
              <a:rPr lang="en-US" sz="10297" spc="-360">
                <a:solidFill>
                  <a:srgbClr val="D7E6F8"/>
                </a:solidFill>
                <a:latin typeface="Arial"/>
                <a:ea typeface="Arial"/>
                <a:cs typeface="Arial"/>
                <a:sym typeface="Arial"/>
              </a:rPr>
              <a:t>Thank You</a:t>
            </a:r>
          </a:p>
        </p:txBody>
      </p:sp>
      <p:sp>
        <p:nvSpPr>
          <p:cNvPr id="7" name="Freeform 7"/>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0084087" y="5367706"/>
            <a:ext cx="5527271" cy="742950"/>
          </a:xfrm>
          <a:prstGeom prst="rect">
            <a:avLst/>
          </a:prstGeom>
        </p:spPr>
        <p:txBody>
          <a:bodyPr lIns="0" tIns="0" rIns="0" bIns="0" rtlCol="0" anchor="t">
            <a:spAutoFit/>
          </a:bodyPr>
          <a:lstStyle/>
          <a:p>
            <a:pPr algn="ctr">
              <a:lnSpc>
                <a:spcPts val="5639"/>
              </a:lnSpc>
              <a:spcBef>
                <a:spcPct val="0"/>
              </a:spcBef>
            </a:pPr>
            <a:r>
              <a:rPr lang="en-US" sz="4699" b="1" spc="-70">
                <a:solidFill>
                  <a:srgbClr val="D7E6F8"/>
                </a:solidFill>
                <a:latin typeface="Arial Bold"/>
                <a:ea typeface="Arial Bold"/>
                <a:cs typeface="Arial Bold"/>
                <a:sym typeface="Arial Bold"/>
              </a:rPr>
              <a:t>ANY QUERIES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931</Words>
  <Application>Microsoft Office PowerPoint</Application>
  <PresentationFormat>Custom</PresentationFormat>
  <Paragraphs>83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Arial</vt:lpstr>
      <vt:lpstr>Arial Bold</vt:lpstr>
      <vt:lpstr>Georgia Pro Condensed</vt:lpstr>
      <vt:lpstr>Helvetica World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Explainable AI &amp; Federated Learning</dc:title>
  <dc:creator>Acer</dc:creator>
  <dc:description>Presentation - Explainable AI &amp; Federated Learning</dc:description>
  <cp:lastModifiedBy>Akash S</cp:lastModifiedBy>
  <cp:revision>3</cp:revision>
  <dcterms:created xsi:type="dcterms:W3CDTF">2006-08-16T00:00:00Z</dcterms:created>
  <dcterms:modified xsi:type="dcterms:W3CDTF">2025-11-05T16:09:11Z</dcterms:modified>
  <dc:identifier>DAG3t4OXPAM</dc:identifier>
</cp:coreProperties>
</file>