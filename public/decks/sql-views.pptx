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6B37D-9F5D-4B88-A406-F8E42C9AC023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DF2B-DE82-46F0-A135-CE1761915B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55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6B37D-9F5D-4B88-A406-F8E42C9AC023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DF2B-DE82-46F0-A135-CE1761915B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588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6B37D-9F5D-4B88-A406-F8E42C9AC023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DF2B-DE82-46F0-A135-CE1761915B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108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6B37D-9F5D-4B88-A406-F8E42C9AC023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DF2B-DE82-46F0-A135-CE1761915B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808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6B37D-9F5D-4B88-A406-F8E42C9AC023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DF2B-DE82-46F0-A135-CE1761915B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67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6B37D-9F5D-4B88-A406-F8E42C9AC023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DF2B-DE82-46F0-A135-CE1761915B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012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6B37D-9F5D-4B88-A406-F8E42C9AC023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DF2B-DE82-46F0-A135-CE1761915B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083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6B37D-9F5D-4B88-A406-F8E42C9AC023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DF2B-DE82-46F0-A135-CE1761915B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426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6B37D-9F5D-4B88-A406-F8E42C9AC023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DF2B-DE82-46F0-A135-CE1761915B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398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6B37D-9F5D-4B88-A406-F8E42C9AC023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DF2B-DE82-46F0-A135-CE1761915B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441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6B37D-9F5D-4B88-A406-F8E42C9AC023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DF2B-DE82-46F0-A135-CE1761915B1A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4502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6B37D-9F5D-4B88-A406-F8E42C9AC023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DF2B-DE82-46F0-A135-CE1761915B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6772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6B37D-9F5D-4B88-A406-F8E42C9AC023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DF2B-DE82-46F0-A135-CE1761915B1A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69931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6B37D-9F5D-4B88-A406-F8E42C9AC023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DF2B-DE82-46F0-A135-CE1761915B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6962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6B37D-9F5D-4B88-A406-F8E42C9AC023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DF2B-DE82-46F0-A135-CE1761915B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025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6B37D-9F5D-4B88-A406-F8E42C9AC023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DF2B-DE82-46F0-A135-CE1761915B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851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76B37D-9F5D-4B88-A406-F8E42C9AC023}" type="datetimeFigureOut">
              <a:rPr lang="en-IN" smtClean="0"/>
              <a:t>03-04-2025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4A3DF2B-DE82-46F0-A135-CE1761915B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857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A1679-F77A-592B-6350-9AB9E84F91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1" y="1354666"/>
            <a:ext cx="6773332" cy="1659467"/>
          </a:xfrm>
        </p:spPr>
        <p:txBody>
          <a:bodyPr>
            <a:normAutofit/>
          </a:bodyPr>
          <a:lstStyle/>
          <a:p>
            <a:pPr algn="ctr"/>
            <a:r>
              <a:rPr lang="en-IN" sz="8800" dirty="0"/>
              <a:t>SQL VIEWS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E7D93B-EAE3-08D6-3804-4BE2A91B2F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9200" y="4047068"/>
            <a:ext cx="7679267" cy="2379132"/>
          </a:xfrm>
        </p:spPr>
        <p:txBody>
          <a:bodyPr>
            <a:normAutofit fontScale="40000" lnSpcReduction="20000"/>
          </a:bodyPr>
          <a:lstStyle/>
          <a:p>
            <a:pPr algn="ctr"/>
            <a:r>
              <a:rPr lang="en-IN" sz="7200" dirty="0"/>
              <a:t>  </a:t>
            </a:r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BY:-</a:t>
            </a:r>
          </a:p>
          <a:p>
            <a:pPr algn="ctr"/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AKASH S(05)</a:t>
            </a:r>
          </a:p>
          <a:p>
            <a:pPr algn="ctr"/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2303921310421012</a:t>
            </a:r>
          </a:p>
          <a:p>
            <a:pPr algn="ctr"/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                  CSE-A</a:t>
            </a:r>
          </a:p>
          <a:p>
            <a:endParaRPr lang="en-IN" dirty="0"/>
          </a:p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3619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9D0AB-6923-B1E1-10B2-17F423627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180" y="621820"/>
            <a:ext cx="8225820" cy="817513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WHAT IS SQL VIEW AND WHY USING IT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BFC20-2283-EA99-70EE-1C1EA131E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333" y="1596445"/>
            <a:ext cx="10066867" cy="4639735"/>
          </a:xfrm>
        </p:spPr>
        <p:txBody>
          <a:bodyPr/>
          <a:lstStyle/>
          <a:p>
            <a:pPr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What is an SQL View?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is a virtual table representing data from one or more tables.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does not store data but retrieves it dynamically.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Useful for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simplifying queries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enhancing security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data abstraction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None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Why Use SQL Views?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Simplify Complex Queries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Store frequently used queries as views.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Enhance Security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Restrict access to sensitive columns.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Flexible Data Presentation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Show customized data to different users.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Hides Complexity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Avoid direct table interactions.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2714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DF700-484D-399D-353C-367921ACB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300" y="296092"/>
            <a:ext cx="8596668" cy="330200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4348E-714E-D40B-BDC5-736363EDD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300" y="1007534"/>
            <a:ext cx="8941767" cy="5554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CREATE TABLE </a:t>
            </a:r>
            <a:r>
              <a:rPr lang="en-I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StudentDetails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(   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S_ID INT PRIMARY KEY,NAME VARCHAR(25),ADDRESS VARCHAR(25));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INSERT INTO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StudentDetails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VALUES(1, ‘CHANDRU PANDI’,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‘MADURAI'),(2,‘PULSAR’,’KOOMAPATTI'),(3, ‘AKASH SM', ‘SELLUR'),(4,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‘DISCO CHANDRU’,‘PARANGIMALAI'),(5, ‘SEKAR’, ‘VEDASANDHUR’);</a:t>
            </a:r>
          </a:p>
          <a:p>
            <a:pPr marL="0" indent="0">
              <a:buNone/>
            </a:pP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CREATE TABLE </a:t>
            </a:r>
            <a:r>
              <a:rPr lang="en-I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StudentMarks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ID INT PRIMARY KEY,NAME VARCHAR(255), MARKS INT,AGE INT);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INSERT INTO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StudentMarks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VALUES(1, ‘CHANDRU PANDI', 90, 19),(2, 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‘PULSAR’,80,20),(3,’AKASH SM’,95,19),  (4,’DISCO CHANDRU’,85,21),  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 (5,’SEKAR’, 75,18);</a:t>
            </a:r>
          </a:p>
        </p:txBody>
      </p:sp>
    </p:spTree>
    <p:extLst>
      <p:ext uri="{BB962C8B-B14F-4D97-AF65-F5344CB8AC3E}">
        <p14:creationId xmlns:p14="http://schemas.microsoft.com/office/powerpoint/2010/main" val="2038179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37D73-1E0C-081B-DC1F-7396FA454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211667"/>
            <a:ext cx="7543800" cy="516469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CREATING A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5DDF8-6485-99DF-8B0E-73BDD6A29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133" y="1100667"/>
            <a:ext cx="10473267" cy="5545666"/>
          </a:xfrm>
        </p:spPr>
        <p:txBody>
          <a:bodyPr/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CREATE VIEW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DetailsView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AS 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SELECT NAME, ADDRESS  FROM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StudentDetails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WHERE S_ID &lt; 5;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000" b="1" u="sng" dirty="0"/>
              <a:t>OUTPUT: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BF06858-6FD4-52B8-D3ED-9ED273D635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666009"/>
              </p:ext>
            </p:extLst>
          </p:nvPr>
        </p:nvGraphicFramePr>
        <p:xfrm>
          <a:off x="931332" y="3428999"/>
          <a:ext cx="9685868" cy="29125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42934">
                  <a:extLst>
                    <a:ext uri="{9D8B030D-6E8A-4147-A177-3AD203B41FA5}">
                      <a16:colId xmlns:a16="http://schemas.microsoft.com/office/drawing/2014/main" val="937743387"/>
                    </a:ext>
                  </a:extLst>
                </a:gridCol>
                <a:gridCol w="4842934">
                  <a:extLst>
                    <a:ext uri="{9D8B030D-6E8A-4147-A177-3AD203B41FA5}">
                      <a16:colId xmlns:a16="http://schemas.microsoft.com/office/drawing/2014/main" val="3765499512"/>
                    </a:ext>
                  </a:extLst>
                </a:gridCol>
              </a:tblGrid>
              <a:tr h="582507"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412454"/>
                  </a:ext>
                </a:extLst>
              </a:tr>
              <a:tr h="582507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CHANDRU PANDI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MADURAI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329199"/>
                  </a:ext>
                </a:extLst>
              </a:tr>
              <a:tr h="582507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PULSAR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KOOMAPATTI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1016210"/>
                  </a:ext>
                </a:extLst>
              </a:tr>
              <a:tr h="582507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AKASH 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SELLUR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357752"/>
                  </a:ext>
                </a:extLst>
              </a:tr>
              <a:tr h="582507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DISCO CHANDRU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PARANGIMALAI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55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7527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0CDBB-B956-5780-7754-375057E66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847666" cy="60960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CREATING VIEW FROM MULTIPLE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4561E-DE46-C8D5-E54B-2ADA99AD8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1583267"/>
            <a:ext cx="9601198" cy="5088466"/>
          </a:xfrm>
        </p:spPr>
        <p:txBody>
          <a:bodyPr>
            <a:norm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CREATE VIEW </a:t>
            </a:r>
            <a:r>
              <a:rPr lang="en-I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MarksView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  SELECT StudentDetails.NAME,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StudentDetails.ADDRESS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StudentMarks.MARKS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FROM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StudentDetails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StudentMarks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  WHERE StudentDetails.NAME = StudentMarks.NAME;</a:t>
            </a:r>
          </a:p>
          <a:p>
            <a:pPr marL="0" indent="0">
              <a:buNone/>
            </a:pPr>
            <a:r>
              <a:rPr lang="en-IN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OUTPUT: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078788C-73F7-B1E1-7B1F-7F6AC37F8C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158396"/>
              </p:ext>
            </p:extLst>
          </p:nvPr>
        </p:nvGraphicFramePr>
        <p:xfrm>
          <a:off x="1236134" y="3936999"/>
          <a:ext cx="8466666" cy="24468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22222">
                  <a:extLst>
                    <a:ext uri="{9D8B030D-6E8A-4147-A177-3AD203B41FA5}">
                      <a16:colId xmlns:a16="http://schemas.microsoft.com/office/drawing/2014/main" val="372543924"/>
                    </a:ext>
                  </a:extLst>
                </a:gridCol>
                <a:gridCol w="2822222">
                  <a:extLst>
                    <a:ext uri="{9D8B030D-6E8A-4147-A177-3AD203B41FA5}">
                      <a16:colId xmlns:a16="http://schemas.microsoft.com/office/drawing/2014/main" val="2865799153"/>
                    </a:ext>
                  </a:extLst>
                </a:gridCol>
                <a:gridCol w="2822222">
                  <a:extLst>
                    <a:ext uri="{9D8B030D-6E8A-4147-A177-3AD203B41FA5}">
                      <a16:colId xmlns:a16="http://schemas.microsoft.com/office/drawing/2014/main" val="1835316605"/>
                    </a:ext>
                  </a:extLst>
                </a:gridCol>
              </a:tblGrid>
              <a:tr h="407811"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473941"/>
                  </a:ext>
                </a:extLst>
              </a:tr>
              <a:tr h="407811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CHANDRU PANDI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MADURAI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8744191"/>
                  </a:ext>
                </a:extLst>
              </a:tr>
              <a:tr h="407811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PULSAR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KOOMAPATTI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6941612"/>
                  </a:ext>
                </a:extLst>
              </a:tr>
              <a:tr h="407811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AKASH 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SELLUR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022552"/>
                  </a:ext>
                </a:extLst>
              </a:tr>
              <a:tr h="407811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DISCO CHANDRU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PARANGIMALAI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060002"/>
                  </a:ext>
                </a:extLst>
              </a:tr>
              <a:tr h="407811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SEKAR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VEDASANDHUR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502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0391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C619-6C55-9909-44E1-E271723F3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467" y="194733"/>
            <a:ext cx="6697133" cy="592667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UPDATING A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47DAF-20BB-2D14-2905-4CBB98B2C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599" y="872065"/>
            <a:ext cx="10922001" cy="5867402"/>
          </a:xfrm>
        </p:spPr>
        <p:txBody>
          <a:bodyPr/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CREATE OR REPLACE VIEW </a:t>
            </a:r>
            <a:r>
              <a:rPr lang="en-I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MarksView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 SELECT StudentDetails.NAME,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StudentDetails.ADDRESS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StudentMarks.MARKS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      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StudentMarks.AGE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FROM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StudentDetails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StudentMarks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WHERE 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 StudentDetails.NAME = StudentMarks.NAME;</a:t>
            </a:r>
          </a:p>
          <a:p>
            <a:pPr marL="0" indent="0">
              <a:buNone/>
            </a:pPr>
            <a:r>
              <a:rPr lang="en-IN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OUTPUT: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5109DA2-E407-A507-8F8F-A361910F65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93166"/>
              </p:ext>
            </p:extLst>
          </p:nvPr>
        </p:nvGraphicFramePr>
        <p:xfrm>
          <a:off x="770467" y="3276597"/>
          <a:ext cx="9922936" cy="31919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32589">
                  <a:extLst>
                    <a:ext uri="{9D8B030D-6E8A-4147-A177-3AD203B41FA5}">
                      <a16:colId xmlns:a16="http://schemas.microsoft.com/office/drawing/2014/main" val="1072681001"/>
                    </a:ext>
                  </a:extLst>
                </a:gridCol>
                <a:gridCol w="2432589">
                  <a:extLst>
                    <a:ext uri="{9D8B030D-6E8A-4147-A177-3AD203B41FA5}">
                      <a16:colId xmlns:a16="http://schemas.microsoft.com/office/drawing/2014/main" val="1868566014"/>
                    </a:ext>
                  </a:extLst>
                </a:gridCol>
                <a:gridCol w="2432589">
                  <a:extLst>
                    <a:ext uri="{9D8B030D-6E8A-4147-A177-3AD203B41FA5}">
                      <a16:colId xmlns:a16="http://schemas.microsoft.com/office/drawing/2014/main" val="3287209318"/>
                    </a:ext>
                  </a:extLst>
                </a:gridCol>
                <a:gridCol w="2625169">
                  <a:extLst>
                    <a:ext uri="{9D8B030D-6E8A-4147-A177-3AD203B41FA5}">
                      <a16:colId xmlns:a16="http://schemas.microsoft.com/office/drawing/2014/main" val="2174238491"/>
                    </a:ext>
                  </a:extLst>
                </a:gridCol>
              </a:tblGrid>
              <a:tr h="531989"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461369"/>
                  </a:ext>
                </a:extLst>
              </a:tr>
              <a:tr h="531989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CHANDRU PANDI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MADURAI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514927"/>
                  </a:ext>
                </a:extLst>
              </a:tr>
              <a:tr h="531989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PULSAR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KOOMAPATTI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0523925"/>
                  </a:ext>
                </a:extLst>
              </a:tr>
              <a:tr h="531989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AKASH 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SELLUR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311279"/>
                  </a:ext>
                </a:extLst>
              </a:tr>
              <a:tr h="531989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DISCO CHANDRU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PARANGIMALAI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232649"/>
                  </a:ext>
                </a:extLst>
              </a:tr>
              <a:tr h="531989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SEKAR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VEDASANDHUR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786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4077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B7AD3-9312-4FF6-1566-984FDF0E5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99" y="372532"/>
            <a:ext cx="9169399" cy="626533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INSERTING AND DELETING ROWS IN A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01345-39C4-9E4A-D519-C3A3B5752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399" y="1202267"/>
            <a:ext cx="10498668" cy="5655733"/>
          </a:xfrm>
        </p:spPr>
        <p:txBody>
          <a:bodyPr/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Insert a New Row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    INSERT INTO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DetailsView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(NAME, ADDRESS)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VALUES (‘BALAYYA’, ‘DINDIGUL’);</a:t>
            </a:r>
          </a:p>
          <a:p>
            <a:pPr marL="0" indent="0">
              <a:buNone/>
            </a:pPr>
            <a:r>
              <a:rPr lang="en-US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OUTPUT:</a:t>
            </a:r>
            <a:endParaRPr lang="en-IN" sz="20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8616C1-DC81-5B4B-B2B1-3AB5E359FB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814437"/>
              </p:ext>
            </p:extLst>
          </p:nvPr>
        </p:nvGraphicFramePr>
        <p:xfrm>
          <a:off x="804333" y="3005668"/>
          <a:ext cx="9440334" cy="3268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20167">
                  <a:extLst>
                    <a:ext uri="{9D8B030D-6E8A-4147-A177-3AD203B41FA5}">
                      <a16:colId xmlns:a16="http://schemas.microsoft.com/office/drawing/2014/main" val="3023244131"/>
                    </a:ext>
                  </a:extLst>
                </a:gridCol>
                <a:gridCol w="4720167">
                  <a:extLst>
                    <a:ext uri="{9D8B030D-6E8A-4147-A177-3AD203B41FA5}">
                      <a16:colId xmlns:a16="http://schemas.microsoft.com/office/drawing/2014/main" val="1466785355"/>
                    </a:ext>
                  </a:extLst>
                </a:gridCol>
              </a:tblGrid>
              <a:tr h="528104"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856100"/>
                  </a:ext>
                </a:extLst>
              </a:tr>
              <a:tr h="528104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CHANDRU PANDI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MADURAI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961988"/>
                  </a:ext>
                </a:extLst>
              </a:tr>
              <a:tr h="528104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PULSAR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KOOMAPATTI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70079"/>
                  </a:ext>
                </a:extLst>
              </a:tr>
              <a:tr h="528104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AKASH 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SELLUR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31901"/>
                  </a:ext>
                </a:extLst>
              </a:tr>
              <a:tr h="627615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DISCO CHANDRU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PARANGIMALAI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478899"/>
                  </a:ext>
                </a:extLst>
              </a:tr>
              <a:tr h="528104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BALAYYA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DINDIGUL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564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3956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F57B6-B465-5D2A-AE0A-5C4CE5206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60548"/>
            <a:ext cx="8500533" cy="207038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143C4-7451-4821-2B3C-A98F762CC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550" y="822225"/>
            <a:ext cx="10153650" cy="5849508"/>
          </a:xfrm>
        </p:spPr>
        <p:txBody>
          <a:bodyPr/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Delete a Row: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DELETE FROM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DetailsView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WHERE NAME = ‘BALAYYA’;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OUTPUT:</a:t>
            </a:r>
            <a:endParaRPr lang="en-IN" sz="20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FEAB8A-1CF2-6A99-48D5-F822848097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02678"/>
              </p:ext>
            </p:extLst>
          </p:nvPr>
        </p:nvGraphicFramePr>
        <p:xfrm>
          <a:off x="999066" y="3081867"/>
          <a:ext cx="9135534" cy="3175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67767">
                  <a:extLst>
                    <a:ext uri="{9D8B030D-6E8A-4147-A177-3AD203B41FA5}">
                      <a16:colId xmlns:a16="http://schemas.microsoft.com/office/drawing/2014/main" val="2941311682"/>
                    </a:ext>
                  </a:extLst>
                </a:gridCol>
                <a:gridCol w="4567767">
                  <a:extLst>
                    <a:ext uri="{9D8B030D-6E8A-4147-A177-3AD203B41FA5}">
                      <a16:colId xmlns:a16="http://schemas.microsoft.com/office/drawing/2014/main" val="2877343739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076067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CHANDRU PANDI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MADURAI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755928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PULSAR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KOOMAPATTI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531957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AKASH 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SELLUR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451967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DISCO CHANDRU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PARANGIMALAI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061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911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3B137-6F46-65F1-F406-F989E0ED9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067" y="259755"/>
            <a:ext cx="5503333" cy="1113764"/>
          </a:xfrm>
        </p:spPr>
        <p:txBody>
          <a:bodyPr>
            <a:noAutofit/>
          </a:bodyPr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DELETING A VIEW &amp; WITH CHECK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125B7-8B5E-39AD-1AF2-BBCD9C4D3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600201"/>
            <a:ext cx="9245600" cy="4998044"/>
          </a:xfrm>
        </p:spPr>
        <p:txBody>
          <a:bodyPr/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DROP VIEW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MarksView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IN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OUTPUT: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View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MarksView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deleted successfully. </a:t>
            </a:r>
          </a:p>
          <a:p>
            <a:endParaRPr lang="en-IN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i="1" dirty="0">
                <a:latin typeface="Arial" panose="020B0604020202020204" pitchFamily="34" charset="0"/>
                <a:cs typeface="Arial" panose="020B0604020202020204" pitchFamily="34" charset="0"/>
              </a:rPr>
              <a:t>WITHCHECK:-(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Prevents INSERT/UPDATE if the condition is not met.)</a:t>
            </a:r>
            <a:endParaRPr lang="en-IN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VIEW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SampleView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AS 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SELECT S_ID, NAME FROM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StudentDetails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WHERE NAME IS NOT NULL WITH CHECK OPTION;</a:t>
            </a:r>
          </a:p>
          <a:p>
            <a:pPr marL="0" indent="0"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INSERT INTO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SampleView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(S_ID) VALUES (6); -- ERROR</a:t>
            </a:r>
          </a:p>
          <a:p>
            <a:pPr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Error Message:</a:t>
            </a:r>
          </a:p>
          <a:p>
            <a:pPr marL="0" indent="0">
              <a:buNone/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Column 'NAME' cannot be NULL due to WITH CHECK OPTION restriction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6336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4E21B-DDCD-A4AB-CFB7-1C66A4BD2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7967133" cy="618067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LISTING ALL 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9F9E7-5EE0-84FF-C2EF-6A8263C9F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83267"/>
            <a:ext cx="9677400" cy="4834466"/>
          </a:xfrm>
        </p:spPr>
        <p:txBody>
          <a:bodyPr/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SHOW FULL TABLES WHERE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table_type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'VIEW’;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OUTPUT: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table_name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FROM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information_schema.views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WHERE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table_schema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'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your_database_name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’;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OUTPUT: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902450-545F-B0D7-D190-E790A2E075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410115"/>
              </p:ext>
            </p:extLst>
          </p:nvPr>
        </p:nvGraphicFramePr>
        <p:xfrm>
          <a:off x="1452033" y="2523066"/>
          <a:ext cx="8128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14705587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47849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TABLE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TABLE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641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</a:t>
                      </a:r>
                      <a:r>
                        <a:rPr lang="en-IN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DetailsView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81104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88D980D-334D-FFE5-123D-905FDDB9C9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695303"/>
              </p:ext>
            </p:extLst>
          </p:nvPr>
        </p:nvGraphicFramePr>
        <p:xfrm>
          <a:off x="2133600" y="5249331"/>
          <a:ext cx="4656667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6667">
                  <a:extLst>
                    <a:ext uri="{9D8B030D-6E8A-4147-A177-3AD203B41FA5}">
                      <a16:colId xmlns:a16="http://schemas.microsoft.com/office/drawing/2014/main" val="9700370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TABLE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431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DetailsView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691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334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ABB29-ACC8-25B7-D5EE-1E72E4D81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372533"/>
            <a:ext cx="8525933" cy="702733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ADVANTAGES OF VIEWS IN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78414-7380-5038-306D-88B4C2CF4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3932"/>
            <a:ext cx="9050868" cy="5215467"/>
          </a:xfrm>
        </p:spPr>
        <p:txBody>
          <a:bodyPr>
            <a:normAutofit fontScale="32500" lnSpcReduction="20000"/>
          </a:bodyPr>
          <a:lstStyle/>
          <a:p>
            <a:pPr>
              <a:buNone/>
            </a:pPr>
            <a:r>
              <a:rPr lang="en-US" sz="6200" b="1" dirty="0">
                <a:latin typeface="Arial" panose="020B0604020202020204" pitchFamily="34" charset="0"/>
                <a:cs typeface="Arial" panose="020B0604020202020204" pitchFamily="34" charset="0"/>
              </a:rPr>
              <a:t>1. Simplifies Complex Queries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200" dirty="0">
                <a:latin typeface="Arial" panose="020B0604020202020204" pitchFamily="34" charset="0"/>
                <a:cs typeface="Arial" panose="020B0604020202020204" pitchFamily="34" charset="0"/>
              </a:rPr>
              <a:t>Encapsulates complex </a:t>
            </a:r>
            <a:r>
              <a:rPr lang="en-US" sz="6200" b="1" dirty="0">
                <a:latin typeface="Arial" panose="020B0604020202020204" pitchFamily="34" charset="0"/>
                <a:cs typeface="Arial" panose="020B0604020202020204" pitchFamily="34" charset="0"/>
              </a:rPr>
              <a:t>JOINs, aggregations, and conditions</a:t>
            </a:r>
            <a:r>
              <a:rPr lang="en-US" sz="6200" dirty="0">
                <a:latin typeface="Arial" panose="020B0604020202020204" pitchFamily="34" charset="0"/>
                <a:cs typeface="Arial" panose="020B0604020202020204" pitchFamily="34" charset="0"/>
              </a:rPr>
              <a:t> into a single query.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200" dirty="0">
                <a:latin typeface="Arial" panose="020B0604020202020204" pitchFamily="34" charset="0"/>
                <a:cs typeface="Arial" panose="020B0604020202020204" pitchFamily="34" charset="0"/>
              </a:rPr>
              <a:t>Users can fetch required data without writing lengthy SQL queries.</a:t>
            </a:r>
          </a:p>
          <a:p>
            <a:pPr>
              <a:buNone/>
            </a:pPr>
            <a:r>
              <a:rPr lang="en-US" sz="6200" b="1" dirty="0">
                <a:latin typeface="Arial" panose="020B0604020202020204" pitchFamily="34" charset="0"/>
                <a:cs typeface="Arial" panose="020B0604020202020204" pitchFamily="34" charset="0"/>
              </a:rPr>
              <a:t>2. Enhances Security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200" dirty="0">
                <a:latin typeface="Arial" panose="020B0604020202020204" pitchFamily="34" charset="0"/>
                <a:cs typeface="Arial" panose="020B0604020202020204" pitchFamily="34" charset="0"/>
              </a:rPr>
              <a:t>Restricts access to specific columns and rows.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200" dirty="0">
                <a:latin typeface="Arial" panose="020B0604020202020204" pitchFamily="34" charset="0"/>
                <a:cs typeface="Arial" panose="020B0604020202020204" pitchFamily="34" charset="0"/>
              </a:rPr>
              <a:t>Users can only view the allowed data without accessing the base tables.</a:t>
            </a:r>
          </a:p>
          <a:p>
            <a:pPr>
              <a:buNone/>
            </a:pPr>
            <a:r>
              <a:rPr lang="en-US" sz="6200" b="1" dirty="0">
                <a:latin typeface="Arial" panose="020B0604020202020204" pitchFamily="34" charset="0"/>
                <a:cs typeface="Arial" panose="020B0604020202020204" pitchFamily="34" charset="0"/>
              </a:rPr>
              <a:t>3. Data Abstraction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200" dirty="0">
                <a:latin typeface="Arial" panose="020B0604020202020204" pitchFamily="34" charset="0"/>
                <a:cs typeface="Arial" panose="020B0604020202020204" pitchFamily="34" charset="0"/>
              </a:rPr>
              <a:t>Hides the complexity of the underlying database schema.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200" dirty="0">
                <a:latin typeface="Arial" panose="020B0604020202020204" pitchFamily="34" charset="0"/>
                <a:cs typeface="Arial" panose="020B0604020202020204" pitchFamily="34" charset="0"/>
              </a:rPr>
              <a:t>Users interact with a </a:t>
            </a:r>
            <a:r>
              <a:rPr lang="en-US" sz="6200" b="1" dirty="0">
                <a:latin typeface="Arial" panose="020B0604020202020204" pitchFamily="34" charset="0"/>
                <a:cs typeface="Arial" panose="020B0604020202020204" pitchFamily="34" charset="0"/>
              </a:rPr>
              <a:t>simplified representation</a:t>
            </a:r>
            <a:r>
              <a:rPr lang="en-US" sz="6200" dirty="0">
                <a:latin typeface="Arial" panose="020B0604020202020204" pitchFamily="34" charset="0"/>
                <a:cs typeface="Arial" panose="020B0604020202020204" pitchFamily="34" charset="0"/>
              </a:rPr>
              <a:t> of the data.</a:t>
            </a:r>
          </a:p>
          <a:p>
            <a:pPr>
              <a:buNone/>
            </a:pPr>
            <a:r>
              <a:rPr lang="en-US" sz="6200" b="1" dirty="0">
                <a:latin typeface="Arial" panose="020B0604020202020204" pitchFamily="34" charset="0"/>
                <a:cs typeface="Arial" panose="020B0604020202020204" pitchFamily="34" charset="0"/>
              </a:rPr>
              <a:t>4. Consistent Data Representation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200" dirty="0">
                <a:latin typeface="Arial" panose="020B0604020202020204" pitchFamily="34" charset="0"/>
                <a:cs typeface="Arial" panose="020B0604020202020204" pitchFamily="34" charset="0"/>
              </a:rPr>
              <a:t>Ensures uniformity across multiple queries and reports.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200" dirty="0">
                <a:latin typeface="Arial" panose="020B0604020202020204" pitchFamily="34" charset="0"/>
                <a:cs typeface="Arial" panose="020B0604020202020204" pitchFamily="34" charset="0"/>
              </a:rPr>
              <a:t>If the underlying table structure changes, views help maintain backward compatibility.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3234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70182-CFD0-466B-64A4-5239BC4D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152400"/>
            <a:ext cx="9135533" cy="338667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01B4C-D8D5-0641-2790-BAAE25A51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133" y="651933"/>
            <a:ext cx="9855199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5. Reduces Data Redundancy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Prevents duplication by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storing results dynamically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instead of materializing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Useful for frequently used query results without additional storage.</a:t>
            </a:r>
          </a:p>
          <a:p>
            <a:pPr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6. Improves Maintainability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Centralized updates: modifying the view updates all dependent queries.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Easier to manage and debug queries compared to managing them in multiple places.</a:t>
            </a:r>
          </a:p>
          <a:p>
            <a:pPr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7. Multiple User Perspectives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Different views can be created for different users based on their needs.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Provides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role-based access control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to ensure security and flexibility.</a:t>
            </a:r>
          </a:p>
          <a:p>
            <a:pPr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8. Data Integrity with CHECK OPTION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Prevents modifications that violate predefined conditions in a view.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Ensures that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only valid data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is inserted or updated through the view.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09805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D9F17-D467-7CCC-10B4-30691ADD6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67" y="2099733"/>
            <a:ext cx="9414933" cy="2489200"/>
          </a:xfrm>
        </p:spPr>
        <p:txBody>
          <a:bodyPr>
            <a:normAutofit/>
          </a:bodyPr>
          <a:lstStyle/>
          <a:p>
            <a:pPr algn="ctr"/>
            <a:r>
              <a:rPr lang="en-IN" sz="7200" dirty="0">
                <a:solidFill>
                  <a:srgbClr val="FF0000"/>
                </a:solidFill>
              </a:rPr>
              <a:t>THANK U!! </a:t>
            </a:r>
            <a:br>
              <a:rPr lang="en-IN" sz="7200" dirty="0">
                <a:solidFill>
                  <a:srgbClr val="FF0000"/>
                </a:solidFill>
              </a:rPr>
            </a:br>
            <a:r>
              <a:rPr lang="en-IN" sz="7200" dirty="0">
                <a:solidFill>
                  <a:srgbClr val="FF0000"/>
                </a:solidFill>
              </a:rPr>
              <a:t>ANY QUERIES ??</a:t>
            </a:r>
          </a:p>
        </p:txBody>
      </p:sp>
    </p:spTree>
    <p:extLst>
      <p:ext uri="{BB962C8B-B14F-4D97-AF65-F5344CB8AC3E}">
        <p14:creationId xmlns:p14="http://schemas.microsoft.com/office/powerpoint/2010/main" val="314772974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166</TotalTime>
  <Words>934</Words>
  <Application>Microsoft Office PowerPoint</Application>
  <PresentationFormat>Widescreen</PresentationFormat>
  <Paragraphs>185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Facet</vt:lpstr>
      <vt:lpstr>SQL VIEWS </vt:lpstr>
      <vt:lpstr>WHAT IS SQL VIEW AND WHY USING IT </vt:lpstr>
      <vt:lpstr>PowerPoint Presentation</vt:lpstr>
      <vt:lpstr>CREATING A VIEW</vt:lpstr>
      <vt:lpstr>CREATING VIEW FROM MULTIPLE TABLES</vt:lpstr>
      <vt:lpstr>UPDATING A VIEW</vt:lpstr>
      <vt:lpstr>INSERTING AND DELETING ROWS IN A VIEW</vt:lpstr>
      <vt:lpstr>PowerPoint Presentation</vt:lpstr>
      <vt:lpstr>DELETING A VIEW &amp; WITH CHECK CLAUSE</vt:lpstr>
      <vt:lpstr>LISTING ALL VIEWS</vt:lpstr>
      <vt:lpstr>ADVANTAGES OF VIEWS IN SQL</vt:lpstr>
      <vt:lpstr>PowerPoint Presentation</vt:lpstr>
      <vt:lpstr>THANK U!!  ANY QUERIES 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 S</dc:creator>
  <cp:lastModifiedBy>Akash S</cp:lastModifiedBy>
  <cp:revision>6</cp:revision>
  <dcterms:created xsi:type="dcterms:W3CDTF">2025-04-03T15:20:55Z</dcterms:created>
  <dcterms:modified xsi:type="dcterms:W3CDTF">2025-04-03T18:07:32Z</dcterms:modified>
</cp:coreProperties>
</file>