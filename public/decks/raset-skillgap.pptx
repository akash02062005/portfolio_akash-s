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58"/>
  </p:normalViewPr>
  <p:slideViewPr>
    <p:cSldViewPr snapToGrid="0">
      <p:cViewPr varScale="1">
        <p:scale>
          <a:sx n="93" d="100"/>
          <a:sy n="93" d="100"/>
        </p:scale>
        <p:origin x="25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074917A9-8CD6-4068-8AE3-E88AA03BCC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C760B1E-C778-4662-BE00-65C338482901}"/>
              </a:ext>
            </a:extLst>
          </p:cNvPr>
          <p:cNvSpPr>
            <a:spLocks noGrp="1"/>
          </p:cNvSpPr>
          <p:nvPr/>
        </p:nvSpPr>
        <p:spPr>
          <a:xfrm>
            <a:off x="-1047750" y="-857250"/>
            <a:ext cx="3905250" cy="3905250"/>
          </a:xfrm>
          <a:prstGeom prst="ellipse">
            <a:avLst/>
          </a:prstGeom>
          <a:solidFill>
            <a:srgbClr val="11475D">
              <a:alpha val="5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1429883-0C54-4144-8280-AE2F9857AD62}"/>
              </a:ext>
            </a:extLst>
          </p:cNvPr>
          <p:cNvSpPr>
            <a:spLocks noGrp="1"/>
          </p:cNvSpPr>
          <p:nvPr/>
        </p:nvSpPr>
        <p:spPr>
          <a:xfrm>
            <a:off x="8477250" y="3162300"/>
            <a:ext cx="4476750" cy="4476750"/>
          </a:xfrm>
          <a:prstGeom prst="ellipse">
            <a:avLst/>
          </a:prstGeom>
          <a:solidFill>
            <a:srgbClr val="3C2147">
              <a:alpha val="5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92C67C3-CDED-4FD7-BDFB-1F40EC609BED}"/>
              </a:ext>
            </a:extLst>
          </p:cNvPr>
          <p:cNvSpPr>
            <a:spLocks noGrp="1"/>
          </p:cNvSpPr>
          <p:nvPr/>
        </p:nvSpPr>
        <p:spPr>
          <a:xfrm>
            <a:off x="5810250" y="-523875"/>
            <a:ext cx="2476500" cy="2476500"/>
          </a:xfrm>
          <a:prstGeom prst="ellipse">
            <a:avLst/>
          </a:prstGeom>
          <a:solidFill>
            <a:srgbClr val="0E4E4C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60E676-E893-4E42-8958-6DE06DEB2784}"/>
              </a:ext>
            </a:extLst>
          </p:cNvPr>
          <p:cNvSpPr>
            <a:spLocks noGrp="1"/>
          </p:cNvSpPr>
          <p:nvPr/>
        </p:nvSpPr>
        <p:spPr>
          <a:xfrm>
            <a:off x="542925" y="533400"/>
            <a:ext cx="11106150" cy="609600"/>
          </a:xfrm>
          <a:prstGeom prst="rect">
            <a:avLst/>
          </a:prstGeom>
          <a:solidFill>
            <a:srgbClr val="102D48">
              <a:alpha val="53333"/>
            </a:srgbClr>
          </a:solidFill>
          <a:ln w="15240">
            <a:solidFill>
              <a:srgbClr val="29D6F2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0A1402-DAD9-48A8-962F-56152FEBF315}"/>
              </a:ext>
            </a:extLst>
          </p:cNvPr>
          <p:cNvSpPr>
            <a:spLocks noGrp="1"/>
          </p:cNvSpPr>
          <p:nvPr/>
        </p:nvSpPr>
        <p:spPr>
          <a:xfrm>
            <a:off x="1695450" y="781050"/>
            <a:ext cx="885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8235"/>
          </a:bodyPr>
          <a:lstStyle/>
          <a:p>
            <a:pPr algn="ctr">
              <a:defRPr sz="1275" b="1">
                <a:solidFill>
                  <a:srgbClr val="29D6F2"/>
                </a:solidFill>
                <a:latin typeface="Poppins"/>
                <a:ea typeface="Poppins"/>
                <a:cs typeface="Poppins"/>
              </a:defRPr>
            </a:pPr>
            <a:r>
              <a:rPr sz="1275" b="1">
                <a:solidFill>
                  <a:srgbClr val="29D6F2"/>
                </a:solidFill>
                <a:latin typeface="Poppins"/>
                <a:ea typeface="Poppins"/>
                <a:cs typeface="Poppins"/>
              </a:rPr>
              <a:t>RASET 2026 - BANNARI AMMAN INSTITUTE OF TECHNOLOGY - SATHYAMANGALAM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16B0811-842E-4461-AE46-442E1A5BB22F}"/>
              </a:ext>
            </a:extLst>
          </p:cNvPr>
          <p:cNvSpPr>
            <a:spLocks noGrp="1"/>
          </p:cNvSpPr>
          <p:nvPr/>
        </p:nvSpPr>
        <p:spPr>
          <a:xfrm>
            <a:off x="781050" y="628650"/>
            <a:ext cx="514350" cy="514350"/>
          </a:xfrm>
          <a:prstGeom prst="ellipse">
            <a:avLst/>
          </a:prstGeom>
          <a:solidFill>
            <a:srgbClr val="FFC43D">
              <a:alpha val="20000"/>
            </a:srgbClr>
          </a:solidFill>
          <a:ln w="14288">
            <a:solidFill>
              <a:srgbClr val="FFC43D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D482F2-2063-4E89-9C25-8B11082BCBD6}"/>
              </a:ext>
            </a:extLst>
          </p:cNvPr>
          <p:cNvSpPr>
            <a:spLocks noGrp="1"/>
          </p:cNvSpPr>
          <p:nvPr/>
        </p:nvSpPr>
        <p:spPr>
          <a:xfrm>
            <a:off x="847725" y="771525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 fontScale="92593"/>
          </a:bodyPr>
          <a:lstStyle/>
          <a:p>
            <a:pPr algn="ctr">
              <a:defRPr sz="1350" b="1">
                <a:solidFill>
                  <a:srgbClr val="FFC43D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FFC43D"/>
                </a:solidFill>
                <a:latin typeface="Poppins"/>
                <a:ea typeface="Poppins"/>
                <a:cs typeface="Poppins"/>
              </a:rPr>
              <a:t>AI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5927BB-9256-49C6-8BA5-126DEFA9DAF7}"/>
              </a:ext>
            </a:extLst>
          </p:cNvPr>
          <p:cNvSpPr>
            <a:spLocks noGrp="1"/>
          </p:cNvSpPr>
          <p:nvPr/>
        </p:nvSpPr>
        <p:spPr>
          <a:xfrm>
            <a:off x="0" y="1952625"/>
            <a:ext cx="12192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3300" b="1">
                <a:solidFill>
                  <a:srgbClr val="29D6F2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9D6F2"/>
                </a:solidFill>
                <a:latin typeface="Poppins"/>
                <a:ea typeface="Poppins"/>
                <a:cs typeface="Poppins"/>
              </a:rPr>
              <a:t>AI-Based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FA2024-6558-4DF7-951C-38B3C405A301}"/>
              </a:ext>
            </a:extLst>
          </p:cNvPr>
          <p:cNvSpPr>
            <a:spLocks noGrp="1"/>
          </p:cNvSpPr>
          <p:nvPr/>
        </p:nvSpPr>
        <p:spPr>
          <a:xfrm>
            <a:off x="904875" y="2781300"/>
            <a:ext cx="103822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4907"/>
          </a:bodyPr>
          <a:lstStyle/>
          <a:p>
            <a:pPr algn="ctr">
              <a:defRPr sz="54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54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Skill Gap Analyzer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BF4ABF8-42E3-4177-A1E2-695D259BB060}"/>
              </a:ext>
            </a:extLst>
          </p:cNvPr>
          <p:cNvSpPr>
            <a:spLocks noGrp="1"/>
          </p:cNvSpPr>
          <p:nvPr/>
        </p:nvSpPr>
        <p:spPr>
          <a:xfrm>
            <a:off x="2076450" y="4019550"/>
            <a:ext cx="8039100" cy="495300"/>
          </a:xfrm>
          <a:prstGeom prst="roundRect">
            <a:avLst>
              <a:gd name="adj" fmla="val 12000"/>
            </a:avLst>
          </a:prstGeom>
          <a:solidFill>
            <a:srgbClr val="102D48">
              <a:alpha val="66667"/>
            </a:srgbClr>
          </a:solidFill>
          <a:ln w="13335">
            <a:solidFill>
              <a:srgbClr val="F261B4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4133B8-EA40-402C-8B54-692D31DF2A8C}"/>
              </a:ext>
            </a:extLst>
          </p:cNvPr>
          <p:cNvSpPr>
            <a:spLocks noGrp="1"/>
          </p:cNvSpPr>
          <p:nvPr/>
        </p:nvSpPr>
        <p:spPr>
          <a:xfrm>
            <a:off x="2333625" y="4171950"/>
            <a:ext cx="7524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1667"/>
          </a:bodyPr>
          <a:lstStyle/>
          <a:p>
            <a:pPr algn="ctr">
              <a:defRPr sz="15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FFFFFF"/>
                </a:solidFill>
                <a:latin typeface="Lato"/>
                <a:ea typeface="Lato"/>
                <a:cs typeface="Lato"/>
              </a:rPr>
              <a:t>Intelligent career guidance powered by NLP, semantic matching, and personalised learning paths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E848EAC-6A53-41A5-8A3D-C462D0ED8A83}"/>
              </a:ext>
            </a:extLst>
          </p:cNvPr>
          <p:cNvSpPr>
            <a:spLocks noGrp="1"/>
          </p:cNvSpPr>
          <p:nvPr/>
        </p:nvSpPr>
        <p:spPr>
          <a:xfrm>
            <a:off x="1143000" y="4876800"/>
            <a:ext cx="3124200" cy="819150"/>
          </a:xfrm>
          <a:prstGeom prst="roundRect">
            <a:avLst>
              <a:gd name="adj" fmla="val 12000"/>
            </a:avLst>
          </a:prstGeom>
          <a:solidFill>
            <a:srgbClr val="132D4A"/>
          </a:solidFill>
          <a:ln w="10478">
            <a:solidFill>
              <a:srgbClr val="29D6F2"/>
            </a:solidFill>
            <a:prstDash val="solid"/>
          </a:ln>
        </p:spPr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AD32B80-0168-4386-943B-930A79D339EF}"/>
              </a:ext>
            </a:extLst>
          </p:cNvPr>
          <p:cNvSpPr>
            <a:spLocks noGrp="1"/>
          </p:cNvSpPr>
          <p:nvPr/>
        </p:nvSpPr>
        <p:spPr>
          <a:xfrm>
            <a:off x="1371600" y="5057775"/>
            <a:ext cx="514350" cy="514350"/>
          </a:xfrm>
          <a:prstGeom prst="ellipse">
            <a:avLst/>
          </a:prstGeom>
          <a:solidFill>
            <a:srgbClr val="29D6F2">
              <a:alpha val="20000"/>
            </a:srgbClr>
          </a:solidFill>
          <a:ln w="14288">
            <a:solidFill>
              <a:srgbClr val="29D6F2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F03889C-5DAC-4619-B72D-697B92FB1AB4}"/>
              </a:ext>
            </a:extLst>
          </p:cNvPr>
          <p:cNvSpPr>
            <a:spLocks noGrp="1"/>
          </p:cNvSpPr>
          <p:nvPr/>
        </p:nvSpPr>
        <p:spPr>
          <a:xfrm>
            <a:off x="1438275" y="520065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 fontScale="92593"/>
          </a:bodyPr>
          <a:lstStyle/>
          <a:p>
            <a:pPr algn="ctr">
              <a:defRPr sz="1350" b="1">
                <a:solidFill>
                  <a:srgbClr val="29D6F2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29D6F2"/>
                </a:solidFill>
                <a:latin typeface="Poppins"/>
                <a:ea typeface="Poppins"/>
                <a:cs typeface="Poppins"/>
              </a:rPr>
              <a:t>NLP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F21AC46-5B1F-4C11-AD0C-C2199256901D}"/>
              </a:ext>
            </a:extLst>
          </p:cNvPr>
          <p:cNvSpPr>
            <a:spLocks noGrp="1"/>
          </p:cNvSpPr>
          <p:nvPr/>
        </p:nvSpPr>
        <p:spPr>
          <a:xfrm>
            <a:off x="2019300" y="5019675"/>
            <a:ext cx="1905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defRPr sz="1650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650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NLP + ML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2176C04-F188-4449-B5F9-8E116E2FFEE1}"/>
              </a:ext>
            </a:extLst>
          </p:cNvPr>
          <p:cNvSpPr>
            <a:spLocks noGrp="1"/>
          </p:cNvSpPr>
          <p:nvPr/>
        </p:nvSpPr>
        <p:spPr>
          <a:xfrm>
            <a:off x="2019300" y="5353050"/>
            <a:ext cx="2000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AFC0D3"/>
                </a:solidFill>
                <a:latin typeface="Lato"/>
                <a:ea typeface="Lato"/>
                <a:cs typeface="Lato"/>
              </a:rPr>
              <a:t>Understands skill evidence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B2DCAE9-A819-4ECD-9C8E-277F310A59AF}"/>
              </a:ext>
            </a:extLst>
          </p:cNvPr>
          <p:cNvSpPr>
            <a:spLocks noGrp="1"/>
          </p:cNvSpPr>
          <p:nvPr/>
        </p:nvSpPr>
        <p:spPr>
          <a:xfrm>
            <a:off x="4533900" y="4876800"/>
            <a:ext cx="3124200" cy="819150"/>
          </a:xfrm>
          <a:prstGeom prst="roundRect">
            <a:avLst>
              <a:gd name="adj" fmla="val 12000"/>
            </a:avLst>
          </a:prstGeom>
          <a:solidFill>
            <a:srgbClr val="132D4A"/>
          </a:solidFill>
          <a:ln w="10478">
            <a:solidFill>
              <a:srgbClr val="F261B4"/>
            </a:solidFill>
            <a:prstDash val="solid"/>
          </a:ln>
        </p:spPr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43248A8-540D-4D75-8FFB-3DD1369BAA9D}"/>
              </a:ext>
            </a:extLst>
          </p:cNvPr>
          <p:cNvSpPr>
            <a:spLocks noGrp="1"/>
          </p:cNvSpPr>
          <p:nvPr/>
        </p:nvSpPr>
        <p:spPr>
          <a:xfrm>
            <a:off x="4762500" y="5057775"/>
            <a:ext cx="514350" cy="514350"/>
          </a:xfrm>
          <a:prstGeom prst="ellipse">
            <a:avLst/>
          </a:prstGeom>
          <a:solidFill>
            <a:srgbClr val="F261B4">
              <a:alpha val="20000"/>
            </a:srgbClr>
          </a:solidFill>
          <a:ln w="14288">
            <a:solidFill>
              <a:srgbClr val="F261B4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0557E93-CCDB-4808-84E1-FD0FB0C85E37}"/>
              </a:ext>
            </a:extLst>
          </p:cNvPr>
          <p:cNvSpPr>
            <a:spLocks noGrp="1"/>
          </p:cNvSpPr>
          <p:nvPr/>
        </p:nvSpPr>
        <p:spPr>
          <a:xfrm>
            <a:off x="4829175" y="520065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 fontScale="92593"/>
          </a:bodyPr>
          <a:lstStyle/>
          <a:p>
            <a:pPr algn="ctr">
              <a:defRPr sz="1350" b="1">
                <a:solidFill>
                  <a:srgbClr val="F261B4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F261B4"/>
                </a:solidFill>
                <a:latin typeface="Poppins"/>
                <a:ea typeface="Poppins"/>
                <a:cs typeface="Poppins"/>
              </a:rPr>
              <a:t>82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4B1C60-0F9B-4979-B245-97D02C6CFAF8}"/>
              </a:ext>
            </a:extLst>
          </p:cNvPr>
          <p:cNvSpPr>
            <a:spLocks noGrp="1"/>
          </p:cNvSpPr>
          <p:nvPr/>
        </p:nvSpPr>
        <p:spPr>
          <a:xfrm>
            <a:off x="5410200" y="5019675"/>
            <a:ext cx="1905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defRPr sz="1650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650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Match Score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5CF65AB-C4DD-4232-B7AB-2503CBE6533F}"/>
              </a:ext>
            </a:extLst>
          </p:cNvPr>
          <p:cNvSpPr>
            <a:spLocks noGrp="1"/>
          </p:cNvSpPr>
          <p:nvPr/>
        </p:nvSpPr>
        <p:spPr>
          <a:xfrm>
            <a:off x="5410200" y="5353050"/>
            <a:ext cx="2000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AFC0D3"/>
                </a:solidFill>
                <a:latin typeface="Lato"/>
                <a:ea typeface="Lato"/>
                <a:cs typeface="Lato"/>
              </a:rPr>
              <a:t>0-100 readiness signal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C3AE7B9-3EAF-4BD3-B524-2D15B8B7EA06}"/>
              </a:ext>
            </a:extLst>
          </p:cNvPr>
          <p:cNvSpPr>
            <a:spLocks noGrp="1"/>
          </p:cNvSpPr>
          <p:nvPr/>
        </p:nvSpPr>
        <p:spPr>
          <a:xfrm>
            <a:off x="7924800" y="4876800"/>
            <a:ext cx="3124200" cy="819150"/>
          </a:xfrm>
          <a:prstGeom prst="roundRect">
            <a:avLst>
              <a:gd name="adj" fmla="val 12000"/>
            </a:avLst>
          </a:prstGeom>
          <a:solidFill>
            <a:srgbClr val="132D4A"/>
          </a:solidFill>
          <a:ln w="10478">
            <a:solidFill>
              <a:srgbClr val="18C99A"/>
            </a:solidFill>
            <a:prstDash val="solid"/>
          </a:ln>
        </p:spPr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F4FCB34-D218-4D14-B486-05DC47DDC2D7}"/>
              </a:ext>
            </a:extLst>
          </p:cNvPr>
          <p:cNvSpPr>
            <a:spLocks noGrp="1"/>
          </p:cNvSpPr>
          <p:nvPr/>
        </p:nvSpPr>
        <p:spPr>
          <a:xfrm>
            <a:off x="8153400" y="5057775"/>
            <a:ext cx="514350" cy="514350"/>
          </a:xfrm>
          <a:prstGeom prst="ellipse">
            <a:avLst/>
          </a:prstGeom>
          <a:solidFill>
            <a:srgbClr val="18C99A">
              <a:alpha val="20000"/>
            </a:srgbClr>
          </a:solidFill>
          <a:ln w="14288">
            <a:solidFill>
              <a:srgbClr val="18C99A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B1A2D34-A424-4DBF-962B-6C9620364366}"/>
              </a:ext>
            </a:extLst>
          </p:cNvPr>
          <p:cNvSpPr>
            <a:spLocks noGrp="1"/>
          </p:cNvSpPr>
          <p:nvPr/>
        </p:nvSpPr>
        <p:spPr>
          <a:xfrm>
            <a:off x="8220075" y="520065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 fontScale="92593"/>
          </a:bodyPr>
          <a:lstStyle/>
          <a:p>
            <a:pPr algn="ctr">
              <a:defRPr sz="1350" b="1">
                <a:solidFill>
                  <a:srgbClr val="18C99A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18C99A"/>
                </a:solidFill>
                <a:latin typeface="Poppins"/>
                <a:ea typeface="Poppins"/>
                <a:cs typeface="Poppins"/>
              </a:rPr>
              <a:t>LP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693147F-8B8F-4D5E-BB75-D1DE1DC7A2F2}"/>
              </a:ext>
            </a:extLst>
          </p:cNvPr>
          <p:cNvSpPr>
            <a:spLocks noGrp="1"/>
          </p:cNvSpPr>
          <p:nvPr/>
        </p:nvSpPr>
        <p:spPr>
          <a:xfrm>
            <a:off x="8801100" y="5019675"/>
            <a:ext cx="1905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defRPr sz="1650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650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Learning Path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F247B19-8F46-4D1C-89FC-BF54188224E9}"/>
              </a:ext>
            </a:extLst>
          </p:cNvPr>
          <p:cNvSpPr>
            <a:spLocks noGrp="1"/>
          </p:cNvSpPr>
          <p:nvPr/>
        </p:nvSpPr>
        <p:spPr>
          <a:xfrm>
            <a:off x="8801100" y="5353050"/>
            <a:ext cx="2000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AFC0D3"/>
                </a:solidFill>
                <a:latin typeface="Lato"/>
                <a:ea typeface="Lato"/>
                <a:cs typeface="Lato"/>
              </a:rPr>
              <a:t>Targeted next steps</a:t>
            </a:r>
          </a:p>
        </p:txBody>
      </p:sp>
    </p:spTree>
    <p:extLst>
      <p:ext uri="{BB962C8B-B14F-4D97-AF65-F5344CB8AC3E}">
        <p14:creationId xmlns:p14="http://schemas.microsoft.com/office/powerpoint/2010/main" val="20232965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33523E55-5187-4BCA-BB86-460DE9CB25B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9D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896B168-2209-4D9A-9AF3-ADE71C8C4BF0}"/>
              </a:ext>
            </a:extLst>
          </p:cNvPr>
          <p:cNvSpPr>
            <a:spLocks noGrp="1"/>
          </p:cNvSpPr>
          <p:nvPr/>
        </p:nvSpPr>
        <p:spPr>
          <a:xfrm>
            <a:off x="-1143000" y="-1143000"/>
            <a:ext cx="3429000" cy="3429000"/>
          </a:xfrm>
          <a:prstGeom prst="ellipse">
            <a:avLst/>
          </a:prstGeom>
          <a:solidFill>
            <a:srgbClr val="123A4C">
              <a:alpha val="4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161C0F1-D626-4A6A-81C5-893DEA78FC98}"/>
              </a:ext>
            </a:extLst>
          </p:cNvPr>
          <p:cNvSpPr>
            <a:spLocks noGrp="1"/>
          </p:cNvSpPr>
          <p:nvPr/>
        </p:nvSpPr>
        <p:spPr>
          <a:xfrm>
            <a:off x="10001250" y="5334000"/>
            <a:ext cx="3333750" cy="3333750"/>
          </a:xfrm>
          <a:prstGeom prst="ellipse">
            <a:avLst/>
          </a:prstGeom>
          <a:solidFill>
            <a:srgbClr val="3C2147">
              <a:alpha val="4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79CA36-E6C9-4BC6-A19E-06E14FD3E116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14350" cy="419100"/>
          </a:xfrm>
          <a:prstGeom prst="rect">
            <a:avLst/>
          </a:prstGeom>
          <a:solidFill>
            <a:srgbClr val="29D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316E79-511F-4CE3-ACD5-B1E0D2EC2EFC}"/>
              </a:ext>
            </a:extLst>
          </p:cNvPr>
          <p:cNvSpPr>
            <a:spLocks noGrp="1"/>
          </p:cNvSpPr>
          <p:nvPr/>
        </p:nvSpPr>
        <p:spPr>
          <a:xfrm>
            <a:off x="457200" y="371475"/>
            <a:ext cx="514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07111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7111F"/>
                </a:solidFill>
                <a:latin typeface="Poppins"/>
                <a:ea typeface="Poppins"/>
                <a:cs typeface="Poppins"/>
              </a:rPr>
              <a:t>02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71A189-AC8D-4178-B5BE-564A69D4EE39}"/>
              </a:ext>
            </a:extLst>
          </p:cNvPr>
          <p:cNvSpPr>
            <a:spLocks noGrp="1"/>
          </p:cNvSpPr>
          <p:nvPr/>
        </p:nvSpPr>
        <p:spPr>
          <a:xfrm>
            <a:off x="1104900" y="371475"/>
            <a:ext cx="7524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325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2325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Research Team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4A23F1-801B-4EFD-83C3-40054E9F747B}"/>
              </a:ext>
            </a:extLst>
          </p:cNvPr>
          <p:cNvSpPr>
            <a:spLocks noGrp="1"/>
          </p:cNvSpPr>
          <p:nvPr/>
        </p:nvSpPr>
        <p:spPr>
          <a:xfrm>
            <a:off x="10191750" y="41910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275" b="1">
                <a:solidFill>
                  <a:srgbClr val="AFC0D3"/>
                </a:solidFill>
                <a:latin typeface="Poppins"/>
                <a:ea typeface="Poppins"/>
                <a:cs typeface="Poppins"/>
              </a:defRPr>
            </a:pPr>
            <a:r>
              <a:rPr sz="1275" b="1">
                <a:solidFill>
                  <a:srgbClr val="AFC0D3"/>
                </a:solidFill>
                <a:latin typeface="Poppins"/>
                <a:ea typeface="Poppins"/>
                <a:cs typeface="Poppins"/>
              </a:rPr>
              <a:t>RASET 2026 - BIT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822C836-DDF2-47A5-A2DC-DA80BA85EAB2}"/>
              </a:ext>
            </a:extLst>
          </p:cNvPr>
          <p:cNvSpPr>
            <a:spLocks noGrp="1"/>
          </p:cNvSpPr>
          <p:nvPr/>
        </p:nvSpPr>
        <p:spPr>
          <a:xfrm>
            <a:off x="457200" y="838200"/>
            <a:ext cx="11277600" cy="19050"/>
          </a:xfrm>
          <a:prstGeom prst="rect">
            <a:avLst/>
          </a:prstGeom>
          <a:solidFill>
            <a:srgbClr val="2855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24B2E3A-1798-4B05-AA4E-AFDDB0CF7FAF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4000500" cy="4400550"/>
          </a:xfrm>
          <a:prstGeom prst="roundRect">
            <a:avLst>
              <a:gd name="adj" fmla="val 12000"/>
            </a:avLst>
          </a:prstGeom>
          <a:solidFill>
            <a:srgbClr val="10253E"/>
          </a:solidFill>
          <a:ln w="14288">
            <a:solidFill>
              <a:srgbClr val="FFC43D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D8ECD7-8A0C-4680-A262-C154576A45A7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4000500" cy="57150"/>
          </a:xfrm>
          <a:prstGeom prst="rect">
            <a:avLst/>
          </a:prstGeom>
          <a:solidFill>
            <a:srgbClr val="FFC4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DB3BC6E-2692-4221-808C-C03FC9DC6279}"/>
              </a:ext>
            </a:extLst>
          </p:cNvPr>
          <p:cNvSpPr>
            <a:spLocks noGrp="1"/>
          </p:cNvSpPr>
          <p:nvPr/>
        </p:nvSpPr>
        <p:spPr>
          <a:xfrm>
            <a:off x="1028700" y="1695450"/>
            <a:ext cx="3162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75" b="1">
                <a:solidFill>
                  <a:srgbClr val="FFC43D"/>
                </a:solidFill>
                <a:latin typeface="Poppins"/>
                <a:ea typeface="Poppins"/>
                <a:cs typeface="Poppins"/>
              </a:defRPr>
            </a:pPr>
            <a:r>
              <a:rPr sz="1275" b="1">
                <a:solidFill>
                  <a:srgbClr val="FFC43D"/>
                </a:solidFill>
                <a:latin typeface="Poppins"/>
                <a:ea typeface="Poppins"/>
                <a:cs typeface="Poppins"/>
              </a:rPr>
              <a:t>PROJECT GUIDE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66F1DB2-055D-4303-9BE5-55B51B665C5D}"/>
              </a:ext>
            </a:extLst>
          </p:cNvPr>
          <p:cNvSpPr>
            <a:spLocks noGrp="1"/>
          </p:cNvSpPr>
          <p:nvPr/>
        </p:nvSpPr>
        <p:spPr>
          <a:xfrm>
            <a:off x="990600" y="2209800"/>
            <a:ext cx="3238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2400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2400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Aadhitya 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3B70A9C-A715-4463-846A-ED40A7A96028}"/>
              </a:ext>
            </a:extLst>
          </p:cNvPr>
          <p:cNvSpPr>
            <a:spLocks noGrp="1"/>
          </p:cNvSpPr>
          <p:nvPr/>
        </p:nvSpPr>
        <p:spPr>
          <a:xfrm>
            <a:off x="990600" y="2857500"/>
            <a:ext cx="32385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AFC0D3"/>
                </a:solidFill>
                <a:latin typeface="Lato"/>
                <a:ea typeface="Lato"/>
                <a:cs typeface="Lato"/>
              </a:rPr>
              <a:t>Assistant Professor</a:t>
            </a:r>
          </a:p>
          <a:p>
            <a:pPr algn="ctr">
              <a:defRPr sz="1500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AFC0D3"/>
                </a:solidFill>
                <a:latin typeface="Lato"/>
                <a:ea typeface="Lato"/>
                <a:cs typeface="Lato"/>
              </a:rPr>
              <a:t>Department of CSE</a:t>
            </a:r>
          </a:p>
          <a:p>
            <a:pPr algn="ctr">
              <a:defRPr sz="1500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AFC0D3"/>
                </a:solidFill>
                <a:latin typeface="Lato"/>
                <a:ea typeface="Lato"/>
                <a:cs typeface="Lato"/>
              </a:rPr>
              <a:t>PSNA College of Engineering and Technology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8ADA1E8-A6B3-46B3-B318-A0F6A38513D3}"/>
              </a:ext>
            </a:extLst>
          </p:cNvPr>
          <p:cNvSpPr>
            <a:spLocks noGrp="1"/>
          </p:cNvSpPr>
          <p:nvPr/>
        </p:nvSpPr>
        <p:spPr>
          <a:xfrm>
            <a:off x="914400" y="4343400"/>
            <a:ext cx="3390900" cy="361950"/>
          </a:xfrm>
          <a:prstGeom prst="roundRect">
            <a:avLst>
              <a:gd name="adj" fmla="val 12000"/>
            </a:avLst>
          </a:prstGeom>
          <a:solidFill>
            <a:srgbClr val="17375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B162768-493E-4372-957B-9B6C873EF0F0}"/>
              </a:ext>
            </a:extLst>
          </p:cNvPr>
          <p:cNvSpPr>
            <a:spLocks noGrp="1"/>
          </p:cNvSpPr>
          <p:nvPr/>
        </p:nvSpPr>
        <p:spPr>
          <a:xfrm>
            <a:off x="1047750" y="4419600"/>
            <a:ext cx="3124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00" b="1">
                <a:solidFill>
                  <a:srgbClr val="29D6F2"/>
                </a:solidFill>
                <a:latin typeface="Poppins"/>
                <a:ea typeface="Poppins"/>
                <a:cs typeface="Poppins"/>
              </a:defRPr>
            </a:pPr>
            <a:r>
              <a:rPr sz="1200" b="1">
                <a:solidFill>
                  <a:srgbClr val="29D6F2"/>
                </a:solidFill>
                <a:latin typeface="Poppins"/>
                <a:ea typeface="Poppins"/>
                <a:cs typeface="Poppins"/>
              </a:rPr>
              <a:t>aadhityasivagnanam@psnacet.edu.in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C725E1C-633B-495E-AF1D-73AAEFE01852}"/>
              </a:ext>
            </a:extLst>
          </p:cNvPr>
          <p:cNvSpPr>
            <a:spLocks noGrp="1"/>
          </p:cNvSpPr>
          <p:nvPr/>
        </p:nvSpPr>
        <p:spPr>
          <a:xfrm>
            <a:off x="990600" y="5772150"/>
            <a:ext cx="9906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643"/>
          </a:bodyPr>
          <a:lstStyle/>
          <a:p>
            <a:pPr algn="ctr">
              <a:defRPr sz="1425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AFC0D3"/>
                </a:solidFill>
                <a:latin typeface="Lato"/>
                <a:ea typeface="Lato"/>
                <a:cs typeface="Lato"/>
              </a:rPr>
              <a:t>Submitted to</a:t>
            </a:r>
          </a:p>
          <a:p>
            <a:pPr algn="ctr">
              <a:defRPr sz="1425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AFC0D3"/>
                </a:solidFill>
                <a:latin typeface="Lato"/>
                <a:ea typeface="Lato"/>
                <a:cs typeface="Lato"/>
              </a:rPr>
              <a:t>RASET 2026</a:t>
            </a:r>
          </a:p>
          <a:p>
            <a:pPr algn="ctr">
              <a:defRPr sz="1425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AFC0D3"/>
                </a:solidFill>
                <a:latin typeface="Lato"/>
                <a:ea typeface="Lato"/>
                <a:cs typeface="Lato"/>
              </a:rPr>
              <a:t>Bannari Amman Institute of Technology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D3C4335-3592-4E8C-BDC1-0822FEE55961}"/>
              </a:ext>
            </a:extLst>
          </p:cNvPr>
          <p:cNvSpPr>
            <a:spLocks noGrp="1"/>
          </p:cNvSpPr>
          <p:nvPr/>
        </p:nvSpPr>
        <p:spPr>
          <a:xfrm>
            <a:off x="4953000" y="1219200"/>
            <a:ext cx="5905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325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2325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Student Contributors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4AF2869-9A96-4DA4-A80A-DDB613DDB6B2}"/>
              </a:ext>
            </a:extLst>
          </p:cNvPr>
          <p:cNvSpPr>
            <a:spLocks noGrp="1"/>
          </p:cNvSpPr>
          <p:nvPr/>
        </p:nvSpPr>
        <p:spPr>
          <a:xfrm>
            <a:off x="4953000" y="1809750"/>
            <a:ext cx="3028950" cy="1352550"/>
          </a:xfrm>
          <a:prstGeom prst="roundRect">
            <a:avLst>
              <a:gd name="adj" fmla="val 12000"/>
            </a:avLst>
          </a:prstGeom>
          <a:solidFill>
            <a:srgbClr val="132D4A"/>
          </a:solidFill>
          <a:ln w="10478">
            <a:solidFill>
              <a:srgbClr val="29D6F2"/>
            </a:solidFill>
            <a:prstDash val="solid"/>
          </a:ln>
        </p:spPr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7DA971C-0065-44D6-AA2D-8D262A435A89}"/>
              </a:ext>
            </a:extLst>
          </p:cNvPr>
          <p:cNvSpPr>
            <a:spLocks noGrp="1"/>
          </p:cNvSpPr>
          <p:nvPr/>
        </p:nvSpPr>
        <p:spPr>
          <a:xfrm>
            <a:off x="5162550" y="2076450"/>
            <a:ext cx="514350" cy="514350"/>
          </a:xfrm>
          <a:prstGeom prst="ellipse">
            <a:avLst/>
          </a:prstGeom>
          <a:solidFill>
            <a:srgbClr val="29D6F2">
              <a:alpha val="20000"/>
            </a:srgbClr>
          </a:solidFill>
          <a:ln w="14288">
            <a:solidFill>
              <a:srgbClr val="29D6F2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88CFFA3-2DD8-4E73-A3FC-01542FDFC9D6}"/>
              </a:ext>
            </a:extLst>
          </p:cNvPr>
          <p:cNvSpPr>
            <a:spLocks noGrp="1"/>
          </p:cNvSpPr>
          <p:nvPr/>
        </p:nvSpPr>
        <p:spPr>
          <a:xfrm>
            <a:off x="5229225" y="2219325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 fontScale="92593"/>
          </a:bodyPr>
          <a:lstStyle/>
          <a:p>
            <a:pPr algn="ctr">
              <a:defRPr sz="1350" b="1">
                <a:solidFill>
                  <a:srgbClr val="29D6F2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29D6F2"/>
                </a:solidFill>
                <a:latin typeface="Poppins"/>
                <a:ea typeface="Poppins"/>
                <a:cs typeface="Poppins"/>
              </a:rPr>
              <a:t>AM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D6B0278-5D0D-43B4-899E-EF72150A154C}"/>
              </a:ext>
            </a:extLst>
          </p:cNvPr>
          <p:cNvSpPr>
            <a:spLocks noGrp="1"/>
          </p:cNvSpPr>
          <p:nvPr/>
        </p:nvSpPr>
        <p:spPr>
          <a:xfrm>
            <a:off x="5829300" y="2095500"/>
            <a:ext cx="1905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650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Aaron Marshall A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7042073-AE6A-432A-A35C-225230864952}"/>
              </a:ext>
            </a:extLst>
          </p:cNvPr>
          <p:cNvSpPr>
            <a:spLocks noGrp="1"/>
          </p:cNvSpPr>
          <p:nvPr/>
        </p:nvSpPr>
        <p:spPr>
          <a:xfrm>
            <a:off x="5829300" y="245745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AFC0D3"/>
                </a:solidFill>
                <a:latin typeface="Lato"/>
                <a:ea typeface="Lato"/>
                <a:cs typeface="Lato"/>
              </a:rPr>
              <a:t>Student - CSE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E08744B-5D7B-4830-9F19-618AA22C6739}"/>
              </a:ext>
            </a:extLst>
          </p:cNvPr>
          <p:cNvSpPr>
            <a:spLocks noGrp="1"/>
          </p:cNvSpPr>
          <p:nvPr/>
        </p:nvSpPr>
        <p:spPr>
          <a:xfrm>
            <a:off x="5200650" y="2800350"/>
            <a:ext cx="2533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163" b="0">
                <a:solidFill>
                  <a:srgbClr val="7890A8"/>
                </a:solidFill>
                <a:latin typeface="Lato"/>
                <a:ea typeface="Lato"/>
                <a:cs typeface="Lato"/>
              </a:defRPr>
            </a:pPr>
            <a:r>
              <a:rPr sz="1163" b="0">
                <a:solidFill>
                  <a:srgbClr val="7890A8"/>
                </a:solidFill>
                <a:latin typeface="Lato"/>
                <a:ea typeface="Lato"/>
                <a:cs typeface="Lato"/>
              </a:rPr>
              <a:t>aaronmarshall2009@gmail.com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79EC515-5723-4DED-8D7F-3CD22721B205}"/>
              </a:ext>
            </a:extLst>
          </p:cNvPr>
          <p:cNvSpPr>
            <a:spLocks noGrp="1"/>
          </p:cNvSpPr>
          <p:nvPr/>
        </p:nvSpPr>
        <p:spPr>
          <a:xfrm>
            <a:off x="8191500" y="1809750"/>
            <a:ext cx="3028950" cy="1352550"/>
          </a:xfrm>
          <a:prstGeom prst="roundRect">
            <a:avLst>
              <a:gd name="adj" fmla="val 12000"/>
            </a:avLst>
          </a:prstGeom>
          <a:solidFill>
            <a:srgbClr val="132D4A"/>
          </a:solidFill>
          <a:ln w="10478">
            <a:solidFill>
              <a:srgbClr val="18C99A"/>
            </a:solidFill>
            <a:prstDash val="solid"/>
          </a:ln>
        </p:spPr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889BD1B-F384-47E1-AAD1-5849EBE032D4}"/>
              </a:ext>
            </a:extLst>
          </p:cNvPr>
          <p:cNvSpPr>
            <a:spLocks noGrp="1"/>
          </p:cNvSpPr>
          <p:nvPr/>
        </p:nvSpPr>
        <p:spPr>
          <a:xfrm>
            <a:off x="8401050" y="2076450"/>
            <a:ext cx="514350" cy="514350"/>
          </a:xfrm>
          <a:prstGeom prst="ellipse">
            <a:avLst/>
          </a:prstGeom>
          <a:solidFill>
            <a:srgbClr val="18C99A">
              <a:alpha val="20000"/>
            </a:srgbClr>
          </a:solidFill>
          <a:ln w="14288">
            <a:solidFill>
              <a:srgbClr val="18C99A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A08427C-8982-4D47-A6B3-E5AAEA2DE7FE}"/>
              </a:ext>
            </a:extLst>
          </p:cNvPr>
          <p:cNvSpPr>
            <a:spLocks noGrp="1"/>
          </p:cNvSpPr>
          <p:nvPr/>
        </p:nvSpPr>
        <p:spPr>
          <a:xfrm>
            <a:off x="8467725" y="2219325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 fontScale="92593"/>
          </a:bodyPr>
          <a:lstStyle/>
          <a:p>
            <a:pPr algn="ctr">
              <a:defRPr sz="1350" b="1">
                <a:solidFill>
                  <a:srgbClr val="18C99A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18C99A"/>
                </a:solidFill>
                <a:latin typeface="Poppins"/>
                <a:ea typeface="Poppins"/>
                <a:cs typeface="Poppins"/>
              </a:rPr>
              <a:t>AS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08B366B-0BD9-49AE-A954-88464C6B3FAD}"/>
              </a:ext>
            </a:extLst>
          </p:cNvPr>
          <p:cNvSpPr>
            <a:spLocks noGrp="1"/>
          </p:cNvSpPr>
          <p:nvPr/>
        </p:nvSpPr>
        <p:spPr>
          <a:xfrm>
            <a:off x="9067800" y="2095500"/>
            <a:ext cx="1905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650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Akash 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CB0FDD8-0896-4F5B-800B-F42A78673080}"/>
              </a:ext>
            </a:extLst>
          </p:cNvPr>
          <p:cNvSpPr>
            <a:spLocks noGrp="1"/>
          </p:cNvSpPr>
          <p:nvPr/>
        </p:nvSpPr>
        <p:spPr>
          <a:xfrm>
            <a:off x="9067800" y="245745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AFC0D3"/>
                </a:solidFill>
                <a:latin typeface="Lato"/>
                <a:ea typeface="Lato"/>
                <a:cs typeface="Lato"/>
              </a:rPr>
              <a:t>Student - CSE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72658B7-F4F7-44E7-BF7C-B70975F3EDAD}"/>
              </a:ext>
            </a:extLst>
          </p:cNvPr>
          <p:cNvSpPr>
            <a:spLocks noGrp="1"/>
          </p:cNvSpPr>
          <p:nvPr/>
        </p:nvSpPr>
        <p:spPr>
          <a:xfrm>
            <a:off x="8439150" y="2800350"/>
            <a:ext cx="2533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163" b="0">
                <a:solidFill>
                  <a:srgbClr val="7890A8"/>
                </a:solidFill>
                <a:latin typeface="Lato"/>
                <a:ea typeface="Lato"/>
                <a:cs typeface="Lato"/>
              </a:defRPr>
            </a:pPr>
            <a:r>
              <a:rPr sz="1163" b="0">
                <a:solidFill>
                  <a:srgbClr val="7890A8"/>
                </a:solidFill>
                <a:latin typeface="Lato"/>
                <a:ea typeface="Lato"/>
                <a:cs typeface="Lato"/>
              </a:rPr>
              <a:t>s.akash02062005@gmail.com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F92C55C0-98EC-4339-9334-20635176CAF0}"/>
              </a:ext>
            </a:extLst>
          </p:cNvPr>
          <p:cNvSpPr>
            <a:spLocks noGrp="1"/>
          </p:cNvSpPr>
          <p:nvPr/>
        </p:nvSpPr>
        <p:spPr>
          <a:xfrm>
            <a:off x="4953000" y="3467100"/>
            <a:ext cx="3028950" cy="1352550"/>
          </a:xfrm>
          <a:prstGeom prst="roundRect">
            <a:avLst>
              <a:gd name="adj" fmla="val 12000"/>
            </a:avLst>
          </a:prstGeom>
          <a:solidFill>
            <a:srgbClr val="132D4A"/>
          </a:solidFill>
          <a:ln w="10478">
            <a:solidFill>
              <a:srgbClr val="29D6F2"/>
            </a:solidFill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D8B1977-1961-4FD2-95CC-7619F0049FF3}"/>
              </a:ext>
            </a:extLst>
          </p:cNvPr>
          <p:cNvSpPr>
            <a:spLocks noGrp="1"/>
          </p:cNvSpPr>
          <p:nvPr/>
        </p:nvSpPr>
        <p:spPr>
          <a:xfrm>
            <a:off x="5162550" y="3733800"/>
            <a:ext cx="514350" cy="514350"/>
          </a:xfrm>
          <a:prstGeom prst="ellipse">
            <a:avLst/>
          </a:prstGeom>
          <a:solidFill>
            <a:srgbClr val="29D6F2">
              <a:alpha val="20000"/>
            </a:srgbClr>
          </a:solidFill>
          <a:ln w="14288">
            <a:solidFill>
              <a:srgbClr val="29D6F2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9EFDCE5-80EB-42AA-82DD-A42B354B17DE}"/>
              </a:ext>
            </a:extLst>
          </p:cNvPr>
          <p:cNvSpPr>
            <a:spLocks noGrp="1"/>
          </p:cNvSpPr>
          <p:nvPr/>
        </p:nvSpPr>
        <p:spPr>
          <a:xfrm>
            <a:off x="5229225" y="3876675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 fontScale="92593"/>
          </a:bodyPr>
          <a:lstStyle/>
          <a:p>
            <a:pPr algn="ctr">
              <a:defRPr sz="1350" b="1">
                <a:solidFill>
                  <a:srgbClr val="29D6F2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29D6F2"/>
                </a:solidFill>
                <a:latin typeface="Poppins"/>
                <a:ea typeface="Poppins"/>
                <a:cs typeface="Poppins"/>
              </a:rPr>
              <a:t>AS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A221885-3F19-4521-BDEE-1ECEC6C6E2DF}"/>
              </a:ext>
            </a:extLst>
          </p:cNvPr>
          <p:cNvSpPr>
            <a:spLocks noGrp="1"/>
          </p:cNvSpPr>
          <p:nvPr/>
        </p:nvSpPr>
        <p:spPr>
          <a:xfrm>
            <a:off x="5829300" y="3752850"/>
            <a:ext cx="1905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650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Akash S M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FD82D88-779C-4134-8C7B-65F573ADFCD8}"/>
              </a:ext>
            </a:extLst>
          </p:cNvPr>
          <p:cNvSpPr>
            <a:spLocks noGrp="1"/>
          </p:cNvSpPr>
          <p:nvPr/>
        </p:nvSpPr>
        <p:spPr>
          <a:xfrm>
            <a:off x="5829300" y="411480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AFC0D3"/>
                </a:solidFill>
                <a:latin typeface="Lato"/>
                <a:ea typeface="Lato"/>
                <a:cs typeface="Lato"/>
              </a:rPr>
              <a:t>Student - CSE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E41B6D5-4138-4A4F-8A46-82163CBC426C}"/>
              </a:ext>
            </a:extLst>
          </p:cNvPr>
          <p:cNvSpPr>
            <a:spLocks noGrp="1"/>
          </p:cNvSpPr>
          <p:nvPr/>
        </p:nvSpPr>
        <p:spPr>
          <a:xfrm>
            <a:off x="5200650" y="4457700"/>
            <a:ext cx="2533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163" b="0">
                <a:solidFill>
                  <a:srgbClr val="7890A8"/>
                </a:solidFill>
                <a:latin typeface="Lato"/>
                <a:ea typeface="Lato"/>
                <a:cs typeface="Lato"/>
              </a:defRPr>
            </a:pPr>
            <a:r>
              <a:rPr sz="1163" b="0">
                <a:solidFill>
                  <a:srgbClr val="7890A8"/>
                </a:solidFill>
                <a:latin typeface="Lato"/>
                <a:ea typeface="Lato"/>
                <a:cs typeface="Lato"/>
              </a:rPr>
              <a:t>akashkaviya2005@gmail.com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97B526C9-7A69-4B27-9D70-365EE6BEA847}"/>
              </a:ext>
            </a:extLst>
          </p:cNvPr>
          <p:cNvSpPr>
            <a:spLocks noGrp="1"/>
          </p:cNvSpPr>
          <p:nvPr/>
        </p:nvSpPr>
        <p:spPr>
          <a:xfrm>
            <a:off x="8191500" y="3467100"/>
            <a:ext cx="3028950" cy="1352550"/>
          </a:xfrm>
          <a:prstGeom prst="roundRect">
            <a:avLst>
              <a:gd name="adj" fmla="val 12000"/>
            </a:avLst>
          </a:prstGeom>
          <a:solidFill>
            <a:srgbClr val="132D4A"/>
          </a:solidFill>
          <a:ln w="10478">
            <a:solidFill>
              <a:srgbClr val="18C99A"/>
            </a:solidFill>
            <a:prstDash val="solid"/>
          </a:ln>
        </p:spPr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64F91AE2-119D-43B8-9CB0-14595A82DEFF}"/>
              </a:ext>
            </a:extLst>
          </p:cNvPr>
          <p:cNvSpPr>
            <a:spLocks noGrp="1"/>
          </p:cNvSpPr>
          <p:nvPr/>
        </p:nvSpPr>
        <p:spPr>
          <a:xfrm>
            <a:off x="8401050" y="3733800"/>
            <a:ext cx="514350" cy="514350"/>
          </a:xfrm>
          <a:prstGeom prst="ellipse">
            <a:avLst/>
          </a:prstGeom>
          <a:solidFill>
            <a:srgbClr val="18C99A">
              <a:alpha val="20000"/>
            </a:srgbClr>
          </a:solidFill>
          <a:ln w="14288">
            <a:solidFill>
              <a:srgbClr val="18C99A"/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F07A3FC-5832-4BC8-91E2-F6ED880114CC}"/>
              </a:ext>
            </a:extLst>
          </p:cNvPr>
          <p:cNvSpPr>
            <a:spLocks noGrp="1"/>
          </p:cNvSpPr>
          <p:nvPr/>
        </p:nvSpPr>
        <p:spPr>
          <a:xfrm>
            <a:off x="8467725" y="3876675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 fontScale="92593"/>
          </a:bodyPr>
          <a:lstStyle/>
          <a:p>
            <a:pPr algn="ctr">
              <a:defRPr sz="1350" b="1">
                <a:solidFill>
                  <a:srgbClr val="18C99A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18C99A"/>
                </a:solidFill>
                <a:latin typeface="Poppins"/>
                <a:ea typeface="Poppins"/>
                <a:cs typeface="Poppins"/>
              </a:rPr>
              <a:t>CP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F3D59CB-EA78-414D-A3B9-3AC81FEB3AAA}"/>
              </a:ext>
            </a:extLst>
          </p:cNvPr>
          <p:cNvSpPr>
            <a:spLocks noGrp="1"/>
          </p:cNvSpPr>
          <p:nvPr/>
        </p:nvSpPr>
        <p:spPr>
          <a:xfrm>
            <a:off x="9067800" y="3752850"/>
            <a:ext cx="1905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650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Chandru P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82C0AFA-1847-4BCE-8C00-E733C34611D1}"/>
              </a:ext>
            </a:extLst>
          </p:cNvPr>
          <p:cNvSpPr>
            <a:spLocks noGrp="1"/>
          </p:cNvSpPr>
          <p:nvPr/>
        </p:nvSpPr>
        <p:spPr>
          <a:xfrm>
            <a:off x="9067800" y="411480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AFC0D3"/>
                </a:solidFill>
                <a:latin typeface="Lato"/>
                <a:ea typeface="Lato"/>
                <a:cs typeface="Lato"/>
              </a:rPr>
              <a:t>Student - CSE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9521144-5D17-456D-A734-CFE28E975802}"/>
              </a:ext>
            </a:extLst>
          </p:cNvPr>
          <p:cNvSpPr>
            <a:spLocks noGrp="1"/>
          </p:cNvSpPr>
          <p:nvPr/>
        </p:nvSpPr>
        <p:spPr>
          <a:xfrm>
            <a:off x="8439150" y="4457700"/>
            <a:ext cx="2533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163" b="0">
                <a:solidFill>
                  <a:srgbClr val="7890A8"/>
                </a:solidFill>
                <a:latin typeface="Lato"/>
                <a:ea typeface="Lato"/>
                <a:cs typeface="Lato"/>
              </a:defRPr>
            </a:pPr>
            <a:r>
              <a:rPr sz="1163" b="0">
                <a:solidFill>
                  <a:srgbClr val="7890A8"/>
                </a:solidFill>
                <a:latin typeface="Lato"/>
                <a:ea typeface="Lato"/>
                <a:cs typeface="Lato"/>
              </a:rPr>
              <a:t>chandru90925@gmail.com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422AB86-7C86-45D2-949C-C64C25FC1A36}"/>
              </a:ext>
            </a:extLst>
          </p:cNvPr>
          <p:cNvSpPr>
            <a:spLocks noGrp="1"/>
          </p:cNvSpPr>
          <p:nvPr/>
        </p:nvSpPr>
        <p:spPr>
          <a:xfrm>
            <a:off x="4953000" y="5200650"/>
            <a:ext cx="6267450" cy="19050"/>
          </a:xfrm>
          <a:prstGeom prst="rect">
            <a:avLst/>
          </a:prstGeom>
          <a:solidFill>
            <a:srgbClr val="2855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A541CB8-F669-4B46-93DC-1FBF3CC3B904}"/>
              </a:ext>
            </a:extLst>
          </p:cNvPr>
          <p:cNvSpPr>
            <a:spLocks noGrp="1"/>
          </p:cNvSpPr>
          <p:nvPr/>
        </p:nvSpPr>
        <p:spPr>
          <a:xfrm>
            <a:off x="4953000" y="5410200"/>
            <a:ext cx="6267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AFC0D3"/>
                </a:solidFill>
                <a:latin typeface="Lato"/>
                <a:ea typeface="Lato"/>
                <a:cs typeface="Lato"/>
              </a:rPr>
              <a:t>Department of Computer Science and Engineering - Dindigul, Tamil Nadu, India</a:t>
            </a:r>
          </a:p>
        </p:txBody>
      </p:sp>
    </p:spTree>
    <p:extLst>
      <p:ext uri="{BB962C8B-B14F-4D97-AF65-F5344CB8AC3E}">
        <p14:creationId xmlns:p14="http://schemas.microsoft.com/office/powerpoint/2010/main" val="2009744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07254D7B-4A6F-48B2-994B-4E977987C59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9D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CE836B3-A187-406F-BF14-3875158869DC}"/>
              </a:ext>
            </a:extLst>
          </p:cNvPr>
          <p:cNvSpPr>
            <a:spLocks noGrp="1"/>
          </p:cNvSpPr>
          <p:nvPr/>
        </p:nvSpPr>
        <p:spPr>
          <a:xfrm>
            <a:off x="-1143000" y="-1143000"/>
            <a:ext cx="3429000" cy="3429000"/>
          </a:xfrm>
          <a:prstGeom prst="ellipse">
            <a:avLst/>
          </a:prstGeom>
          <a:solidFill>
            <a:srgbClr val="123A4C">
              <a:alpha val="4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BDFBA85-0B8E-44DE-B62C-048A407192DA}"/>
              </a:ext>
            </a:extLst>
          </p:cNvPr>
          <p:cNvSpPr>
            <a:spLocks noGrp="1"/>
          </p:cNvSpPr>
          <p:nvPr/>
        </p:nvSpPr>
        <p:spPr>
          <a:xfrm>
            <a:off x="10001250" y="5334000"/>
            <a:ext cx="3333750" cy="3333750"/>
          </a:xfrm>
          <a:prstGeom prst="ellipse">
            <a:avLst/>
          </a:prstGeom>
          <a:solidFill>
            <a:srgbClr val="3C2147">
              <a:alpha val="4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9396B9-32CE-4C13-8586-5A22CDB2E1A6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14350" cy="419100"/>
          </a:xfrm>
          <a:prstGeom prst="rect">
            <a:avLst/>
          </a:prstGeom>
          <a:solidFill>
            <a:srgbClr val="29D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D0DFF3-FC1C-455F-A99D-287515FB503B}"/>
              </a:ext>
            </a:extLst>
          </p:cNvPr>
          <p:cNvSpPr>
            <a:spLocks noGrp="1"/>
          </p:cNvSpPr>
          <p:nvPr/>
        </p:nvSpPr>
        <p:spPr>
          <a:xfrm>
            <a:off x="457200" y="371475"/>
            <a:ext cx="514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07111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7111F"/>
                </a:solidFill>
                <a:latin typeface="Poppins"/>
                <a:ea typeface="Poppins"/>
                <a:cs typeface="Poppins"/>
              </a:rPr>
              <a:t>03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668A4E-6D4F-4B07-B068-88B649ABC1C5}"/>
              </a:ext>
            </a:extLst>
          </p:cNvPr>
          <p:cNvSpPr>
            <a:spLocks noGrp="1"/>
          </p:cNvSpPr>
          <p:nvPr/>
        </p:nvSpPr>
        <p:spPr>
          <a:xfrm>
            <a:off x="1104900" y="371475"/>
            <a:ext cx="7524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325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2325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Presentation Roadmap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277A3B-DF33-488D-933D-30D9D8EC6223}"/>
              </a:ext>
            </a:extLst>
          </p:cNvPr>
          <p:cNvSpPr>
            <a:spLocks noGrp="1"/>
          </p:cNvSpPr>
          <p:nvPr/>
        </p:nvSpPr>
        <p:spPr>
          <a:xfrm>
            <a:off x="10191750" y="41910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275" b="1">
                <a:solidFill>
                  <a:srgbClr val="AFC0D3"/>
                </a:solidFill>
                <a:latin typeface="Poppins"/>
                <a:ea typeface="Poppins"/>
                <a:cs typeface="Poppins"/>
              </a:defRPr>
            </a:pPr>
            <a:r>
              <a:rPr sz="1275" b="1">
                <a:solidFill>
                  <a:srgbClr val="AFC0D3"/>
                </a:solidFill>
                <a:latin typeface="Poppins"/>
                <a:ea typeface="Poppins"/>
                <a:cs typeface="Poppins"/>
              </a:rPr>
              <a:t>RASET 2026 - BIT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834256A-D6FD-4AAA-B28B-1FD5D08A860B}"/>
              </a:ext>
            </a:extLst>
          </p:cNvPr>
          <p:cNvSpPr>
            <a:spLocks noGrp="1"/>
          </p:cNvSpPr>
          <p:nvPr/>
        </p:nvSpPr>
        <p:spPr>
          <a:xfrm>
            <a:off x="457200" y="838200"/>
            <a:ext cx="11277600" cy="19050"/>
          </a:xfrm>
          <a:prstGeom prst="rect">
            <a:avLst/>
          </a:prstGeom>
          <a:solidFill>
            <a:srgbClr val="2855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346A81B-DC0A-43DA-BFAA-9924A6688E1F}"/>
              </a:ext>
            </a:extLst>
          </p:cNvPr>
          <p:cNvSpPr>
            <a:spLocks noGrp="1"/>
          </p:cNvSpPr>
          <p:nvPr/>
        </p:nvSpPr>
        <p:spPr>
          <a:xfrm>
            <a:off x="609600" y="1333500"/>
            <a:ext cx="2495550" cy="1676400"/>
          </a:xfrm>
          <a:prstGeom prst="roundRect">
            <a:avLst>
              <a:gd name="adj" fmla="val 12000"/>
            </a:avLst>
          </a:prstGeom>
          <a:solidFill>
            <a:srgbClr val="132D4A"/>
          </a:solidFill>
          <a:ln w="11430">
            <a:solidFill>
              <a:srgbClr val="29D6F2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4D54EE1-829E-45BA-9071-5F7D11A62F83}"/>
              </a:ext>
            </a:extLst>
          </p:cNvPr>
          <p:cNvSpPr>
            <a:spLocks noGrp="1"/>
          </p:cNvSpPr>
          <p:nvPr/>
        </p:nvSpPr>
        <p:spPr>
          <a:xfrm>
            <a:off x="857250" y="1581150"/>
            <a:ext cx="571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5960"/>
          </a:bodyPr>
          <a:lstStyle/>
          <a:p>
            <a:pPr algn="l">
              <a:defRPr sz="2475" b="1">
                <a:solidFill>
                  <a:srgbClr val="29D6F2"/>
                </a:solidFill>
                <a:latin typeface="Poppins"/>
                <a:ea typeface="Poppins"/>
                <a:cs typeface="Poppins"/>
              </a:defRPr>
            </a:pPr>
            <a:r>
              <a:rPr sz="2475" b="1">
                <a:solidFill>
                  <a:srgbClr val="29D6F2"/>
                </a:solidFill>
                <a:latin typeface="Poppins"/>
                <a:ea typeface="Poppins"/>
                <a:cs typeface="Poppins"/>
              </a:rPr>
              <a:t>01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813D83F-C71F-4F11-A44C-2A9D0BD596BD}"/>
              </a:ext>
            </a:extLst>
          </p:cNvPr>
          <p:cNvSpPr>
            <a:spLocks noGrp="1"/>
          </p:cNvSpPr>
          <p:nvPr/>
        </p:nvSpPr>
        <p:spPr>
          <a:xfrm>
            <a:off x="857250" y="2133600"/>
            <a:ext cx="2000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650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Introduction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47F721-204E-4280-BE19-E82393BD054F}"/>
              </a:ext>
            </a:extLst>
          </p:cNvPr>
          <p:cNvSpPr>
            <a:spLocks noGrp="1"/>
          </p:cNvSpPr>
          <p:nvPr/>
        </p:nvSpPr>
        <p:spPr>
          <a:xfrm>
            <a:off x="857250" y="2514600"/>
            <a:ext cx="2000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6808"/>
          </a:bodyPr>
          <a:lstStyle/>
          <a:p>
            <a:pPr algn="l">
              <a:defRPr sz="1350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AFC0D3"/>
                </a:solidFill>
                <a:latin typeface="Lato"/>
                <a:ea typeface="Lato"/>
                <a:cs typeface="Lato"/>
              </a:rPr>
              <a:t>The modern career landscape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590A69-5FD0-4047-A662-1C6FC76F5C2E}"/>
              </a:ext>
            </a:extLst>
          </p:cNvPr>
          <p:cNvSpPr>
            <a:spLocks noGrp="1"/>
          </p:cNvSpPr>
          <p:nvPr/>
        </p:nvSpPr>
        <p:spPr>
          <a:xfrm>
            <a:off x="3105150" y="2171700"/>
            <a:ext cx="361950" cy="28575"/>
          </a:xfrm>
          <a:prstGeom prst="rect">
            <a:avLst/>
          </a:prstGeom>
          <a:solidFill>
            <a:srgbClr val="29D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39732AC6-D868-450E-8F8E-8A55EE921AB0}"/>
              </a:ext>
            </a:extLst>
          </p:cNvPr>
          <p:cNvSpPr>
            <a:spLocks noGrp="1"/>
          </p:cNvSpPr>
          <p:nvPr/>
        </p:nvSpPr>
        <p:spPr>
          <a:xfrm>
            <a:off x="3314700" y="2095500"/>
            <a:ext cx="247650" cy="190500"/>
          </a:xfrm>
          <a:prstGeom prst="rightArrow">
            <a:avLst/>
          </a:prstGeom>
          <a:solidFill>
            <a:srgbClr val="29D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F02992D-0DE9-4897-8B5E-F297291F0A21}"/>
              </a:ext>
            </a:extLst>
          </p:cNvPr>
          <p:cNvSpPr>
            <a:spLocks noGrp="1"/>
          </p:cNvSpPr>
          <p:nvPr/>
        </p:nvSpPr>
        <p:spPr>
          <a:xfrm>
            <a:off x="3467100" y="1333500"/>
            <a:ext cx="2495550" cy="1676400"/>
          </a:xfrm>
          <a:prstGeom prst="roundRect">
            <a:avLst>
              <a:gd name="adj" fmla="val 12000"/>
            </a:avLst>
          </a:prstGeom>
          <a:solidFill>
            <a:srgbClr val="132D4A"/>
          </a:solidFill>
          <a:ln w="11430">
            <a:solidFill>
              <a:srgbClr val="F261B4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E9A4C06-CC67-42F7-AEF0-AF01EC1B636F}"/>
              </a:ext>
            </a:extLst>
          </p:cNvPr>
          <p:cNvSpPr>
            <a:spLocks noGrp="1"/>
          </p:cNvSpPr>
          <p:nvPr/>
        </p:nvSpPr>
        <p:spPr>
          <a:xfrm>
            <a:off x="3714750" y="1581150"/>
            <a:ext cx="571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5960"/>
          </a:bodyPr>
          <a:lstStyle/>
          <a:p>
            <a:pPr algn="l">
              <a:defRPr sz="2475" b="1">
                <a:solidFill>
                  <a:srgbClr val="F261B4"/>
                </a:solidFill>
                <a:latin typeface="Poppins"/>
                <a:ea typeface="Poppins"/>
                <a:cs typeface="Poppins"/>
              </a:defRPr>
            </a:pPr>
            <a:r>
              <a:rPr sz="2475" b="1">
                <a:solidFill>
                  <a:srgbClr val="F261B4"/>
                </a:solidFill>
                <a:latin typeface="Poppins"/>
                <a:ea typeface="Poppins"/>
                <a:cs typeface="Poppins"/>
              </a:rPr>
              <a:t>02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D99CB06-8712-40C6-877D-96E4DC71A026}"/>
              </a:ext>
            </a:extLst>
          </p:cNvPr>
          <p:cNvSpPr>
            <a:spLocks noGrp="1"/>
          </p:cNvSpPr>
          <p:nvPr/>
        </p:nvSpPr>
        <p:spPr>
          <a:xfrm>
            <a:off x="3714750" y="2133600"/>
            <a:ext cx="2000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650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Problem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627DFA0-ADDB-4FAE-8940-86BFC6F3B409}"/>
              </a:ext>
            </a:extLst>
          </p:cNvPr>
          <p:cNvSpPr>
            <a:spLocks noGrp="1"/>
          </p:cNvSpPr>
          <p:nvPr/>
        </p:nvSpPr>
        <p:spPr>
          <a:xfrm>
            <a:off x="3714750" y="2514600"/>
            <a:ext cx="2000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AFC0D3"/>
                </a:solidFill>
                <a:latin typeface="Lato"/>
                <a:ea typeface="Lato"/>
                <a:cs typeface="Lato"/>
              </a:rPr>
              <a:t>Why current tools fall short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4149D5C-0F8A-46ED-B9F1-EA9EC2DFE26E}"/>
              </a:ext>
            </a:extLst>
          </p:cNvPr>
          <p:cNvSpPr>
            <a:spLocks noGrp="1"/>
          </p:cNvSpPr>
          <p:nvPr/>
        </p:nvSpPr>
        <p:spPr>
          <a:xfrm>
            <a:off x="5962650" y="2171700"/>
            <a:ext cx="361950" cy="28575"/>
          </a:xfrm>
          <a:prstGeom prst="rect">
            <a:avLst/>
          </a:prstGeom>
          <a:solidFill>
            <a:srgbClr val="F261B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B876A69A-6909-4A54-851E-A1B2B088ACF9}"/>
              </a:ext>
            </a:extLst>
          </p:cNvPr>
          <p:cNvSpPr>
            <a:spLocks noGrp="1"/>
          </p:cNvSpPr>
          <p:nvPr/>
        </p:nvSpPr>
        <p:spPr>
          <a:xfrm>
            <a:off x="6172200" y="2095500"/>
            <a:ext cx="247650" cy="190500"/>
          </a:xfrm>
          <a:prstGeom prst="rightArrow">
            <a:avLst/>
          </a:prstGeom>
          <a:solidFill>
            <a:srgbClr val="F261B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061DE26-1685-4995-B824-57DEF97D0963}"/>
              </a:ext>
            </a:extLst>
          </p:cNvPr>
          <p:cNvSpPr>
            <a:spLocks noGrp="1"/>
          </p:cNvSpPr>
          <p:nvPr/>
        </p:nvSpPr>
        <p:spPr>
          <a:xfrm>
            <a:off x="6324600" y="1333500"/>
            <a:ext cx="2495550" cy="1676400"/>
          </a:xfrm>
          <a:prstGeom prst="roundRect">
            <a:avLst>
              <a:gd name="adj" fmla="val 12000"/>
            </a:avLst>
          </a:prstGeom>
          <a:solidFill>
            <a:srgbClr val="132D4A"/>
          </a:solidFill>
          <a:ln w="11430">
            <a:solidFill>
              <a:srgbClr val="FFC43D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48630A7-7B4B-4405-8AA3-4893BF8990B8}"/>
              </a:ext>
            </a:extLst>
          </p:cNvPr>
          <p:cNvSpPr>
            <a:spLocks noGrp="1"/>
          </p:cNvSpPr>
          <p:nvPr/>
        </p:nvSpPr>
        <p:spPr>
          <a:xfrm>
            <a:off x="6572250" y="1581150"/>
            <a:ext cx="571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5960"/>
          </a:bodyPr>
          <a:lstStyle/>
          <a:p>
            <a:pPr algn="l">
              <a:defRPr sz="2475" b="1">
                <a:solidFill>
                  <a:srgbClr val="FFC43D"/>
                </a:solidFill>
                <a:latin typeface="Poppins"/>
                <a:ea typeface="Poppins"/>
                <a:cs typeface="Poppins"/>
              </a:defRPr>
            </a:pPr>
            <a:r>
              <a:rPr sz="2475" b="1">
                <a:solidFill>
                  <a:srgbClr val="FFC43D"/>
                </a:solidFill>
                <a:latin typeface="Poppins"/>
                <a:ea typeface="Poppins"/>
                <a:cs typeface="Poppins"/>
              </a:rPr>
              <a:t>03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A2F1886-803F-4FAB-877C-46B0DB31CC2D}"/>
              </a:ext>
            </a:extLst>
          </p:cNvPr>
          <p:cNvSpPr>
            <a:spLocks noGrp="1"/>
          </p:cNvSpPr>
          <p:nvPr/>
        </p:nvSpPr>
        <p:spPr>
          <a:xfrm>
            <a:off x="6572250" y="2133600"/>
            <a:ext cx="2000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650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Existing Systems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17DEA7A-E49B-4611-ADBB-DAE32757EF2C}"/>
              </a:ext>
            </a:extLst>
          </p:cNvPr>
          <p:cNvSpPr>
            <a:spLocks noGrp="1"/>
          </p:cNvSpPr>
          <p:nvPr/>
        </p:nvSpPr>
        <p:spPr>
          <a:xfrm>
            <a:off x="6572250" y="2514600"/>
            <a:ext cx="2000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AFC0D3"/>
                </a:solidFill>
                <a:latin typeface="Lato"/>
                <a:ea typeface="Lato"/>
                <a:cs typeface="Lato"/>
              </a:rPr>
              <a:t>Three categories analysed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1F0EC3B-C1F9-4857-9701-081B533B8470}"/>
              </a:ext>
            </a:extLst>
          </p:cNvPr>
          <p:cNvSpPr>
            <a:spLocks noGrp="1"/>
          </p:cNvSpPr>
          <p:nvPr/>
        </p:nvSpPr>
        <p:spPr>
          <a:xfrm>
            <a:off x="8820150" y="2171700"/>
            <a:ext cx="361950" cy="28575"/>
          </a:xfrm>
          <a:prstGeom prst="rect">
            <a:avLst/>
          </a:prstGeom>
          <a:solidFill>
            <a:srgbClr val="FFC4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333B89A7-2481-4FBC-AF68-5E36AB2208F4}"/>
              </a:ext>
            </a:extLst>
          </p:cNvPr>
          <p:cNvSpPr>
            <a:spLocks noGrp="1"/>
          </p:cNvSpPr>
          <p:nvPr/>
        </p:nvSpPr>
        <p:spPr>
          <a:xfrm>
            <a:off x="9029700" y="2095500"/>
            <a:ext cx="247650" cy="190500"/>
          </a:xfrm>
          <a:prstGeom prst="rightArrow">
            <a:avLst/>
          </a:prstGeom>
          <a:solidFill>
            <a:srgbClr val="FFC4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AEF85F6C-90A5-448C-9F7D-2B5A52FA799C}"/>
              </a:ext>
            </a:extLst>
          </p:cNvPr>
          <p:cNvSpPr>
            <a:spLocks noGrp="1"/>
          </p:cNvSpPr>
          <p:nvPr/>
        </p:nvSpPr>
        <p:spPr>
          <a:xfrm>
            <a:off x="9182100" y="1333500"/>
            <a:ext cx="2495550" cy="1676400"/>
          </a:xfrm>
          <a:prstGeom prst="roundRect">
            <a:avLst>
              <a:gd name="adj" fmla="val 12000"/>
            </a:avLst>
          </a:prstGeom>
          <a:solidFill>
            <a:srgbClr val="132D4A"/>
          </a:solidFill>
          <a:ln w="11430">
            <a:solidFill>
              <a:srgbClr val="18C99A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04E9E6F-9A35-4AF9-A9FF-3F73E3494D80}"/>
              </a:ext>
            </a:extLst>
          </p:cNvPr>
          <p:cNvSpPr>
            <a:spLocks noGrp="1"/>
          </p:cNvSpPr>
          <p:nvPr/>
        </p:nvSpPr>
        <p:spPr>
          <a:xfrm>
            <a:off x="9429750" y="1581150"/>
            <a:ext cx="571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5960"/>
          </a:bodyPr>
          <a:lstStyle/>
          <a:p>
            <a:pPr algn="l">
              <a:defRPr sz="2475" b="1">
                <a:solidFill>
                  <a:srgbClr val="18C99A"/>
                </a:solidFill>
                <a:latin typeface="Poppins"/>
                <a:ea typeface="Poppins"/>
                <a:cs typeface="Poppins"/>
              </a:defRPr>
            </a:pPr>
            <a:r>
              <a:rPr sz="2475" b="1">
                <a:solidFill>
                  <a:srgbClr val="18C99A"/>
                </a:solidFill>
                <a:latin typeface="Poppins"/>
                <a:ea typeface="Poppins"/>
                <a:cs typeface="Poppins"/>
              </a:rPr>
              <a:t>04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66E50BF-69AA-475C-8447-DB8E6BB41982}"/>
              </a:ext>
            </a:extLst>
          </p:cNvPr>
          <p:cNvSpPr>
            <a:spLocks noGrp="1"/>
          </p:cNvSpPr>
          <p:nvPr/>
        </p:nvSpPr>
        <p:spPr>
          <a:xfrm>
            <a:off x="9429750" y="2133600"/>
            <a:ext cx="2000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650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Proposed System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FB2A737-821B-44FD-BBC3-F42ACAF111A5}"/>
              </a:ext>
            </a:extLst>
          </p:cNvPr>
          <p:cNvSpPr>
            <a:spLocks noGrp="1"/>
          </p:cNvSpPr>
          <p:nvPr/>
        </p:nvSpPr>
        <p:spPr>
          <a:xfrm>
            <a:off x="9429750" y="2514600"/>
            <a:ext cx="2000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AFC0D3"/>
                </a:solidFill>
                <a:latin typeface="Lato"/>
                <a:ea typeface="Lato"/>
                <a:cs typeface="Lato"/>
              </a:rPr>
              <a:t>The intelligent platform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2FC747FF-32EF-4D33-9D98-CD8131B2F140}"/>
              </a:ext>
            </a:extLst>
          </p:cNvPr>
          <p:cNvSpPr>
            <a:spLocks noGrp="1"/>
          </p:cNvSpPr>
          <p:nvPr/>
        </p:nvSpPr>
        <p:spPr>
          <a:xfrm>
            <a:off x="609600" y="3486150"/>
            <a:ext cx="2495550" cy="1676400"/>
          </a:xfrm>
          <a:prstGeom prst="roundRect">
            <a:avLst>
              <a:gd name="adj" fmla="val 12000"/>
            </a:avLst>
          </a:prstGeom>
          <a:solidFill>
            <a:srgbClr val="10253E"/>
          </a:solidFill>
          <a:ln w="11430">
            <a:solidFill>
              <a:srgbClr val="29D6F2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EA20B53-CAEC-4E30-8579-5864F2F7FF5D}"/>
              </a:ext>
            </a:extLst>
          </p:cNvPr>
          <p:cNvSpPr>
            <a:spLocks noGrp="1"/>
          </p:cNvSpPr>
          <p:nvPr/>
        </p:nvSpPr>
        <p:spPr>
          <a:xfrm>
            <a:off x="857250" y="3733800"/>
            <a:ext cx="571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5960"/>
          </a:bodyPr>
          <a:lstStyle/>
          <a:p>
            <a:pPr algn="l">
              <a:defRPr sz="2475" b="1">
                <a:solidFill>
                  <a:srgbClr val="29D6F2"/>
                </a:solidFill>
                <a:latin typeface="Poppins"/>
                <a:ea typeface="Poppins"/>
                <a:cs typeface="Poppins"/>
              </a:defRPr>
            </a:pPr>
            <a:r>
              <a:rPr sz="2475" b="1">
                <a:solidFill>
                  <a:srgbClr val="29D6F2"/>
                </a:solidFill>
                <a:latin typeface="Poppins"/>
                <a:ea typeface="Poppins"/>
                <a:cs typeface="Poppins"/>
              </a:rPr>
              <a:t>05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297D873-B2A8-4642-A286-0F04A08843B5}"/>
              </a:ext>
            </a:extLst>
          </p:cNvPr>
          <p:cNvSpPr>
            <a:spLocks noGrp="1"/>
          </p:cNvSpPr>
          <p:nvPr/>
        </p:nvSpPr>
        <p:spPr>
          <a:xfrm>
            <a:off x="857250" y="4286250"/>
            <a:ext cx="2000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650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Architecture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885B519-79C2-4A84-9F53-90AB91AEB4DB}"/>
              </a:ext>
            </a:extLst>
          </p:cNvPr>
          <p:cNvSpPr>
            <a:spLocks noGrp="1"/>
          </p:cNvSpPr>
          <p:nvPr/>
        </p:nvSpPr>
        <p:spPr>
          <a:xfrm>
            <a:off x="857250" y="4667250"/>
            <a:ext cx="2000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AFC0D3"/>
                </a:solidFill>
                <a:latin typeface="Lato"/>
                <a:ea typeface="Lato"/>
                <a:cs typeface="Lato"/>
              </a:rPr>
              <a:t>Modular system design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C14013C-70F0-4367-8E35-82914FD46AD2}"/>
              </a:ext>
            </a:extLst>
          </p:cNvPr>
          <p:cNvSpPr>
            <a:spLocks noGrp="1"/>
          </p:cNvSpPr>
          <p:nvPr/>
        </p:nvSpPr>
        <p:spPr>
          <a:xfrm>
            <a:off x="3105150" y="4324350"/>
            <a:ext cx="361950" cy="28575"/>
          </a:xfrm>
          <a:prstGeom prst="rect">
            <a:avLst/>
          </a:prstGeom>
          <a:solidFill>
            <a:srgbClr val="29D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4ED5CA89-AC1F-4096-9E92-35F9F55A5859}"/>
              </a:ext>
            </a:extLst>
          </p:cNvPr>
          <p:cNvSpPr>
            <a:spLocks noGrp="1"/>
          </p:cNvSpPr>
          <p:nvPr/>
        </p:nvSpPr>
        <p:spPr>
          <a:xfrm>
            <a:off x="3314700" y="4248150"/>
            <a:ext cx="247650" cy="190500"/>
          </a:xfrm>
          <a:prstGeom prst="rightArrow">
            <a:avLst/>
          </a:prstGeom>
          <a:solidFill>
            <a:srgbClr val="29D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41FB0190-55E0-4C77-8F22-C6C4B3778521}"/>
              </a:ext>
            </a:extLst>
          </p:cNvPr>
          <p:cNvSpPr>
            <a:spLocks noGrp="1"/>
          </p:cNvSpPr>
          <p:nvPr/>
        </p:nvSpPr>
        <p:spPr>
          <a:xfrm>
            <a:off x="3467100" y="3486150"/>
            <a:ext cx="2495550" cy="1676400"/>
          </a:xfrm>
          <a:prstGeom prst="roundRect">
            <a:avLst>
              <a:gd name="adj" fmla="val 12000"/>
            </a:avLst>
          </a:prstGeom>
          <a:solidFill>
            <a:srgbClr val="10253E"/>
          </a:solidFill>
          <a:ln w="11430">
            <a:solidFill>
              <a:srgbClr val="7C61FF"/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83CBDB9-813B-43A0-B1EE-155D21F98D0F}"/>
              </a:ext>
            </a:extLst>
          </p:cNvPr>
          <p:cNvSpPr>
            <a:spLocks noGrp="1"/>
          </p:cNvSpPr>
          <p:nvPr/>
        </p:nvSpPr>
        <p:spPr>
          <a:xfrm>
            <a:off x="3714750" y="3733800"/>
            <a:ext cx="571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5960"/>
          </a:bodyPr>
          <a:lstStyle/>
          <a:p>
            <a:pPr algn="l">
              <a:defRPr sz="2475" b="1">
                <a:solidFill>
                  <a:srgbClr val="7C61FF"/>
                </a:solidFill>
                <a:latin typeface="Poppins"/>
                <a:ea typeface="Poppins"/>
                <a:cs typeface="Poppins"/>
              </a:defRPr>
            </a:pPr>
            <a:r>
              <a:rPr sz="2475" b="1">
                <a:solidFill>
                  <a:srgbClr val="7C61FF"/>
                </a:solidFill>
                <a:latin typeface="Poppins"/>
                <a:ea typeface="Poppins"/>
                <a:cs typeface="Poppins"/>
              </a:rPr>
              <a:t>06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E5534B2-8490-43E3-BAE7-BAE8877C27F2}"/>
              </a:ext>
            </a:extLst>
          </p:cNvPr>
          <p:cNvSpPr>
            <a:spLocks noGrp="1"/>
          </p:cNvSpPr>
          <p:nvPr/>
        </p:nvSpPr>
        <p:spPr>
          <a:xfrm>
            <a:off x="3714750" y="4286250"/>
            <a:ext cx="2000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650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Methodology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935B307-5640-41CE-B058-34FD878113B9}"/>
              </a:ext>
            </a:extLst>
          </p:cNvPr>
          <p:cNvSpPr>
            <a:spLocks noGrp="1"/>
          </p:cNvSpPr>
          <p:nvPr/>
        </p:nvSpPr>
        <p:spPr>
          <a:xfrm>
            <a:off x="3714750" y="4667250"/>
            <a:ext cx="2000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2869"/>
          </a:bodyPr>
          <a:lstStyle/>
          <a:p>
            <a:pPr algn="l">
              <a:defRPr sz="1350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AFC0D3"/>
                </a:solidFill>
                <a:latin typeface="Lato"/>
                <a:ea typeface="Lato"/>
                <a:cs typeface="Lato"/>
              </a:rPr>
              <a:t>Workflow and semantic engine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BA4B7BE-0009-44BB-BCD0-DE339CD488A5}"/>
              </a:ext>
            </a:extLst>
          </p:cNvPr>
          <p:cNvSpPr>
            <a:spLocks noGrp="1"/>
          </p:cNvSpPr>
          <p:nvPr/>
        </p:nvSpPr>
        <p:spPr>
          <a:xfrm>
            <a:off x="5962650" y="4324350"/>
            <a:ext cx="361950" cy="28575"/>
          </a:xfrm>
          <a:prstGeom prst="rect">
            <a:avLst/>
          </a:prstGeom>
          <a:solidFill>
            <a:srgbClr val="7C61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359B36A2-4DA5-44DD-8496-1308DC136A3F}"/>
              </a:ext>
            </a:extLst>
          </p:cNvPr>
          <p:cNvSpPr>
            <a:spLocks noGrp="1"/>
          </p:cNvSpPr>
          <p:nvPr/>
        </p:nvSpPr>
        <p:spPr>
          <a:xfrm>
            <a:off x="6172200" y="4248150"/>
            <a:ext cx="247650" cy="190500"/>
          </a:xfrm>
          <a:prstGeom prst="rightArrow">
            <a:avLst/>
          </a:prstGeom>
          <a:solidFill>
            <a:srgbClr val="7C61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B0877F70-366F-4792-BF60-F0980CC2120C}"/>
              </a:ext>
            </a:extLst>
          </p:cNvPr>
          <p:cNvSpPr>
            <a:spLocks noGrp="1"/>
          </p:cNvSpPr>
          <p:nvPr/>
        </p:nvSpPr>
        <p:spPr>
          <a:xfrm>
            <a:off x="6324600" y="3486150"/>
            <a:ext cx="2495550" cy="1676400"/>
          </a:xfrm>
          <a:prstGeom prst="roundRect">
            <a:avLst>
              <a:gd name="adj" fmla="val 12000"/>
            </a:avLst>
          </a:prstGeom>
          <a:solidFill>
            <a:srgbClr val="10253E"/>
          </a:solidFill>
          <a:ln w="11430">
            <a:solidFill>
              <a:srgbClr val="FFC43D"/>
            </a:solidFill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D11A2D0-7B07-403C-B7EC-557FD42F8924}"/>
              </a:ext>
            </a:extLst>
          </p:cNvPr>
          <p:cNvSpPr>
            <a:spLocks noGrp="1"/>
          </p:cNvSpPr>
          <p:nvPr/>
        </p:nvSpPr>
        <p:spPr>
          <a:xfrm>
            <a:off x="6572250" y="3733800"/>
            <a:ext cx="571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5960"/>
          </a:bodyPr>
          <a:lstStyle/>
          <a:p>
            <a:pPr algn="l">
              <a:defRPr sz="2475" b="1">
                <a:solidFill>
                  <a:srgbClr val="FFC43D"/>
                </a:solidFill>
                <a:latin typeface="Poppins"/>
                <a:ea typeface="Poppins"/>
                <a:cs typeface="Poppins"/>
              </a:defRPr>
            </a:pPr>
            <a:r>
              <a:rPr sz="2475" b="1">
                <a:solidFill>
                  <a:srgbClr val="FFC43D"/>
                </a:solidFill>
                <a:latin typeface="Poppins"/>
                <a:ea typeface="Poppins"/>
                <a:cs typeface="Poppins"/>
              </a:rPr>
              <a:t>07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3485576-8756-4E5B-98F3-2BFDD6B32D93}"/>
              </a:ext>
            </a:extLst>
          </p:cNvPr>
          <p:cNvSpPr>
            <a:spLocks noGrp="1"/>
          </p:cNvSpPr>
          <p:nvPr/>
        </p:nvSpPr>
        <p:spPr>
          <a:xfrm>
            <a:off x="6572250" y="4286250"/>
            <a:ext cx="2000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650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Results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DFCE1F8-C95F-4893-A09A-A3A476BAB481}"/>
              </a:ext>
            </a:extLst>
          </p:cNvPr>
          <p:cNvSpPr>
            <a:spLocks noGrp="1"/>
          </p:cNvSpPr>
          <p:nvPr/>
        </p:nvSpPr>
        <p:spPr>
          <a:xfrm>
            <a:off x="6572250" y="4667250"/>
            <a:ext cx="2000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AFC0D3"/>
                </a:solidFill>
                <a:latin typeface="Lato"/>
                <a:ea typeface="Lato"/>
                <a:cs typeface="Lato"/>
              </a:rPr>
              <a:t>Dashboard and evaluation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E94EC0D-98DE-4277-BC8B-5B5908CFE6A6}"/>
              </a:ext>
            </a:extLst>
          </p:cNvPr>
          <p:cNvSpPr>
            <a:spLocks noGrp="1"/>
          </p:cNvSpPr>
          <p:nvPr/>
        </p:nvSpPr>
        <p:spPr>
          <a:xfrm>
            <a:off x="8820150" y="4324350"/>
            <a:ext cx="361950" cy="28575"/>
          </a:xfrm>
          <a:prstGeom prst="rect">
            <a:avLst/>
          </a:prstGeom>
          <a:solidFill>
            <a:srgbClr val="FFC4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Arrow: Right 47">
            <a:extLst>
              <a:ext uri="{FF2B5EF4-FFF2-40B4-BE49-F238E27FC236}">
                <a16:creationId xmlns:a16="http://schemas.microsoft.com/office/drawing/2014/main" id="{C8C4D0B5-9192-4159-AB06-7CD19AE2C5D9}"/>
              </a:ext>
            </a:extLst>
          </p:cNvPr>
          <p:cNvSpPr>
            <a:spLocks noGrp="1"/>
          </p:cNvSpPr>
          <p:nvPr/>
        </p:nvSpPr>
        <p:spPr>
          <a:xfrm>
            <a:off x="9029700" y="4248150"/>
            <a:ext cx="247650" cy="190500"/>
          </a:xfrm>
          <a:prstGeom prst="rightArrow">
            <a:avLst/>
          </a:prstGeom>
          <a:solidFill>
            <a:srgbClr val="FFC4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244744F9-5C5F-426F-ADDE-68DF59238F26}"/>
              </a:ext>
            </a:extLst>
          </p:cNvPr>
          <p:cNvSpPr>
            <a:spLocks noGrp="1"/>
          </p:cNvSpPr>
          <p:nvPr/>
        </p:nvSpPr>
        <p:spPr>
          <a:xfrm>
            <a:off x="9182100" y="3486150"/>
            <a:ext cx="2495550" cy="1676400"/>
          </a:xfrm>
          <a:prstGeom prst="roundRect">
            <a:avLst>
              <a:gd name="adj" fmla="val 12000"/>
            </a:avLst>
          </a:prstGeom>
          <a:solidFill>
            <a:srgbClr val="10253E"/>
          </a:solidFill>
          <a:ln w="11430">
            <a:solidFill>
              <a:srgbClr val="18C99A"/>
            </a:solidFill>
            <a:prstDash val="solid"/>
          </a:ln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B822A03-C162-4C45-B12B-98EA3AD70A33}"/>
              </a:ext>
            </a:extLst>
          </p:cNvPr>
          <p:cNvSpPr>
            <a:spLocks noGrp="1"/>
          </p:cNvSpPr>
          <p:nvPr/>
        </p:nvSpPr>
        <p:spPr>
          <a:xfrm>
            <a:off x="9429750" y="3733800"/>
            <a:ext cx="571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5960"/>
          </a:bodyPr>
          <a:lstStyle/>
          <a:p>
            <a:pPr algn="l">
              <a:defRPr sz="2475" b="1">
                <a:solidFill>
                  <a:srgbClr val="18C99A"/>
                </a:solidFill>
                <a:latin typeface="Poppins"/>
                <a:ea typeface="Poppins"/>
                <a:cs typeface="Poppins"/>
              </a:defRPr>
            </a:pPr>
            <a:r>
              <a:rPr sz="2475" b="1">
                <a:solidFill>
                  <a:srgbClr val="18C99A"/>
                </a:solidFill>
                <a:latin typeface="Poppins"/>
                <a:ea typeface="Poppins"/>
                <a:cs typeface="Poppins"/>
              </a:rPr>
              <a:t>08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8227FF4-C8EB-4D05-913C-DBE72984FD18}"/>
              </a:ext>
            </a:extLst>
          </p:cNvPr>
          <p:cNvSpPr>
            <a:spLocks noGrp="1"/>
          </p:cNvSpPr>
          <p:nvPr/>
        </p:nvSpPr>
        <p:spPr>
          <a:xfrm>
            <a:off x="9429750" y="4286250"/>
            <a:ext cx="2000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650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Future Scope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80860E9-584A-4133-8F4E-7E58CCC6D42B}"/>
              </a:ext>
            </a:extLst>
          </p:cNvPr>
          <p:cNvSpPr>
            <a:spLocks noGrp="1"/>
          </p:cNvSpPr>
          <p:nvPr/>
        </p:nvSpPr>
        <p:spPr>
          <a:xfrm>
            <a:off x="9429750" y="4667250"/>
            <a:ext cx="2000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AFC0D3"/>
                </a:solidFill>
                <a:latin typeface="Lato"/>
                <a:ea typeface="Lato"/>
                <a:cs typeface="Lato"/>
              </a:rPr>
              <a:t>Limitations and roadmap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A93DC667-0D90-40AF-A19A-28D6BA2089C7}"/>
              </a:ext>
            </a:extLst>
          </p:cNvPr>
          <p:cNvSpPr>
            <a:spLocks noGrp="1"/>
          </p:cNvSpPr>
          <p:nvPr/>
        </p:nvSpPr>
        <p:spPr>
          <a:xfrm>
            <a:off x="3143250" y="5962650"/>
            <a:ext cx="5905500" cy="361950"/>
          </a:xfrm>
          <a:prstGeom prst="roundRect">
            <a:avLst>
              <a:gd name="adj" fmla="val 12000"/>
            </a:avLst>
          </a:prstGeom>
          <a:solidFill>
            <a:srgbClr val="102D48"/>
          </a:solidFill>
          <a:ln w="9525">
            <a:solidFill>
              <a:srgbClr val="29D6F2"/>
            </a:solidFill>
            <a:prstDash val="solid"/>
          </a:ln>
        </p:spPr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FF125F7-5214-416E-AF8D-A116A6EC1DDC}"/>
              </a:ext>
            </a:extLst>
          </p:cNvPr>
          <p:cNvSpPr>
            <a:spLocks noGrp="1"/>
          </p:cNvSpPr>
          <p:nvPr/>
        </p:nvSpPr>
        <p:spPr>
          <a:xfrm>
            <a:off x="3276600" y="6038850"/>
            <a:ext cx="5638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350" b="1">
                <a:solidFill>
                  <a:srgbClr val="29D6F2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29D6F2"/>
                </a:solidFill>
                <a:latin typeface="Poppins"/>
                <a:ea typeface="Poppins"/>
                <a:cs typeface="Poppins"/>
              </a:rPr>
              <a:t>20 slides - one project story - problem to validated prototype</a:t>
            </a:r>
          </a:p>
        </p:txBody>
      </p:sp>
    </p:spTree>
    <p:extLst>
      <p:ext uri="{BB962C8B-B14F-4D97-AF65-F5344CB8AC3E}">
        <p14:creationId xmlns:p14="http://schemas.microsoft.com/office/powerpoint/2010/main" val="660031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41832F2B-2459-443A-866A-3438C7B6BF5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9D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DDF77D3-EA43-4838-AE6B-6641278BD9DB}"/>
              </a:ext>
            </a:extLst>
          </p:cNvPr>
          <p:cNvSpPr>
            <a:spLocks noGrp="1"/>
          </p:cNvSpPr>
          <p:nvPr/>
        </p:nvSpPr>
        <p:spPr>
          <a:xfrm>
            <a:off x="-1143000" y="-1143000"/>
            <a:ext cx="3429000" cy="3429000"/>
          </a:xfrm>
          <a:prstGeom prst="ellipse">
            <a:avLst/>
          </a:prstGeom>
          <a:solidFill>
            <a:srgbClr val="123A4C">
              <a:alpha val="4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0FB5CC0-8898-48CC-8C6F-44AD2BD2C977}"/>
              </a:ext>
            </a:extLst>
          </p:cNvPr>
          <p:cNvSpPr>
            <a:spLocks noGrp="1"/>
          </p:cNvSpPr>
          <p:nvPr/>
        </p:nvSpPr>
        <p:spPr>
          <a:xfrm>
            <a:off x="10001250" y="5334000"/>
            <a:ext cx="3333750" cy="3333750"/>
          </a:xfrm>
          <a:prstGeom prst="ellipse">
            <a:avLst/>
          </a:prstGeom>
          <a:solidFill>
            <a:srgbClr val="3C2147">
              <a:alpha val="4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E9300E-3A34-48B2-998C-40E83621331E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14350" cy="419100"/>
          </a:xfrm>
          <a:prstGeom prst="rect">
            <a:avLst/>
          </a:prstGeom>
          <a:solidFill>
            <a:srgbClr val="29D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A1F9F7-C8EA-4552-802C-487883A0DE63}"/>
              </a:ext>
            </a:extLst>
          </p:cNvPr>
          <p:cNvSpPr>
            <a:spLocks noGrp="1"/>
          </p:cNvSpPr>
          <p:nvPr/>
        </p:nvSpPr>
        <p:spPr>
          <a:xfrm>
            <a:off x="457200" y="371475"/>
            <a:ext cx="514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07111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7111F"/>
                </a:solidFill>
                <a:latin typeface="Poppins"/>
                <a:ea typeface="Poppins"/>
                <a:cs typeface="Poppins"/>
              </a:rPr>
              <a:t>04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8BC78D-9873-4C3E-B405-04498FA8C6A3}"/>
              </a:ext>
            </a:extLst>
          </p:cNvPr>
          <p:cNvSpPr>
            <a:spLocks noGrp="1"/>
          </p:cNvSpPr>
          <p:nvPr/>
        </p:nvSpPr>
        <p:spPr>
          <a:xfrm>
            <a:off x="1104900" y="371475"/>
            <a:ext cx="7524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325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2325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Introduction - The Career Landscape Today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37CA14-6C26-4FB1-BFD9-D8C01A8A2921}"/>
              </a:ext>
            </a:extLst>
          </p:cNvPr>
          <p:cNvSpPr>
            <a:spLocks noGrp="1"/>
          </p:cNvSpPr>
          <p:nvPr/>
        </p:nvSpPr>
        <p:spPr>
          <a:xfrm>
            <a:off x="10191750" y="41910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275" b="1">
                <a:solidFill>
                  <a:srgbClr val="AFC0D3"/>
                </a:solidFill>
                <a:latin typeface="Poppins"/>
                <a:ea typeface="Poppins"/>
                <a:cs typeface="Poppins"/>
              </a:defRPr>
            </a:pPr>
            <a:r>
              <a:rPr sz="1275" b="1">
                <a:solidFill>
                  <a:srgbClr val="AFC0D3"/>
                </a:solidFill>
                <a:latin typeface="Poppins"/>
                <a:ea typeface="Poppins"/>
                <a:cs typeface="Poppins"/>
              </a:rPr>
              <a:t>RASET 2026 - BIT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45093E-FCFA-47EB-B2D6-A7B490E3D042}"/>
              </a:ext>
            </a:extLst>
          </p:cNvPr>
          <p:cNvSpPr>
            <a:spLocks noGrp="1"/>
          </p:cNvSpPr>
          <p:nvPr/>
        </p:nvSpPr>
        <p:spPr>
          <a:xfrm>
            <a:off x="457200" y="838200"/>
            <a:ext cx="11277600" cy="19050"/>
          </a:xfrm>
          <a:prstGeom prst="rect">
            <a:avLst/>
          </a:prstGeom>
          <a:solidFill>
            <a:srgbClr val="2855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BB2C91-02CB-46D3-BBC3-D7CBE27F9730}"/>
              </a:ext>
            </a:extLst>
          </p:cNvPr>
          <p:cNvSpPr>
            <a:spLocks noGrp="1"/>
          </p:cNvSpPr>
          <p:nvPr/>
        </p:nvSpPr>
        <p:spPr>
          <a:xfrm>
            <a:off x="666750" y="1390650"/>
            <a:ext cx="5143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2550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A world of knowledge.</a:t>
            </a:r>
          </a:p>
          <a:p>
            <a:pPr algn="l">
              <a:defRPr sz="2550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2550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Still one hard question: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C26FD12-239F-45E2-95B5-A5E072D710A7}"/>
              </a:ext>
            </a:extLst>
          </p:cNvPr>
          <p:cNvSpPr>
            <a:spLocks noGrp="1"/>
          </p:cNvSpPr>
          <p:nvPr/>
        </p:nvSpPr>
        <p:spPr>
          <a:xfrm>
            <a:off x="666750" y="2400300"/>
            <a:ext cx="6096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450" b="1">
                <a:solidFill>
                  <a:srgbClr val="29D6F2"/>
                </a:solidFill>
                <a:latin typeface="Poppins"/>
                <a:ea typeface="Poppins"/>
                <a:cs typeface="Poppins"/>
              </a:defRPr>
            </a:pPr>
            <a:r>
              <a:rPr sz="3450" b="1">
                <a:solidFill>
                  <a:srgbClr val="29D6F2"/>
                </a:solidFill>
                <a:latin typeface="Poppins"/>
                <a:ea typeface="Poppins"/>
                <a:cs typeface="Poppins"/>
              </a:rPr>
              <a:t>What should I learn next?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9FF1A7-00DC-4936-AFC0-BD07E7341946}"/>
              </a:ext>
            </a:extLst>
          </p:cNvPr>
          <p:cNvSpPr>
            <a:spLocks noGrp="1"/>
          </p:cNvSpPr>
          <p:nvPr/>
        </p:nvSpPr>
        <p:spPr>
          <a:xfrm>
            <a:off x="685800" y="3238500"/>
            <a:ext cx="4953000" cy="19050"/>
          </a:xfrm>
          <a:prstGeom prst="rect">
            <a:avLst/>
          </a:prstGeom>
          <a:solidFill>
            <a:srgbClr val="F261B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340AF19-6014-4A08-B76F-581930E0D754}"/>
              </a:ext>
            </a:extLst>
          </p:cNvPr>
          <p:cNvSpPr>
            <a:spLocks noGrp="1"/>
          </p:cNvSpPr>
          <p:nvPr/>
        </p:nvSpPr>
        <p:spPr>
          <a:xfrm>
            <a:off x="723900" y="3638550"/>
            <a:ext cx="209550" cy="209550"/>
          </a:xfrm>
          <a:prstGeom prst="ellipse">
            <a:avLst/>
          </a:prstGeom>
          <a:solidFill>
            <a:srgbClr val="29D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E22A5E-083F-41B8-8A38-568AC0CDD5C2}"/>
              </a:ext>
            </a:extLst>
          </p:cNvPr>
          <p:cNvSpPr>
            <a:spLocks noGrp="1"/>
          </p:cNvSpPr>
          <p:nvPr/>
        </p:nvSpPr>
        <p:spPr>
          <a:xfrm>
            <a:off x="1066800" y="3562350"/>
            <a:ext cx="5048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650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Rapid change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C21377-AD61-4966-A34C-16F91FD21593}"/>
              </a:ext>
            </a:extLst>
          </p:cNvPr>
          <p:cNvSpPr>
            <a:spLocks noGrp="1"/>
          </p:cNvSpPr>
          <p:nvPr/>
        </p:nvSpPr>
        <p:spPr>
          <a:xfrm>
            <a:off x="1066800" y="3886200"/>
            <a:ext cx="5048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AFC0D3"/>
                </a:solidFill>
                <a:latin typeface="Lato"/>
                <a:ea typeface="Lato"/>
                <a:cs typeface="Lato"/>
              </a:rPr>
              <a:t>Technology roles reshape every year; learning plans age quickly.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8A60898-CC8D-484C-B4BF-32D46DA92CA8}"/>
              </a:ext>
            </a:extLst>
          </p:cNvPr>
          <p:cNvSpPr>
            <a:spLocks noGrp="1"/>
          </p:cNvSpPr>
          <p:nvPr/>
        </p:nvSpPr>
        <p:spPr>
          <a:xfrm>
            <a:off x="723900" y="4476750"/>
            <a:ext cx="209550" cy="209550"/>
          </a:xfrm>
          <a:prstGeom prst="ellipse">
            <a:avLst/>
          </a:prstGeom>
          <a:solidFill>
            <a:srgbClr val="FFC4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358319E-389F-4E85-8653-904218E347EB}"/>
              </a:ext>
            </a:extLst>
          </p:cNvPr>
          <p:cNvSpPr>
            <a:spLocks noGrp="1"/>
          </p:cNvSpPr>
          <p:nvPr/>
        </p:nvSpPr>
        <p:spPr>
          <a:xfrm>
            <a:off x="1066800" y="4400550"/>
            <a:ext cx="5048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650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Different targets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699919B-EC02-4805-B855-8F10C80077DE}"/>
              </a:ext>
            </a:extLst>
          </p:cNvPr>
          <p:cNvSpPr>
            <a:spLocks noGrp="1"/>
          </p:cNvSpPr>
          <p:nvPr/>
        </p:nvSpPr>
        <p:spPr>
          <a:xfrm>
            <a:off x="1066800" y="4724400"/>
            <a:ext cx="5048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AFC0D3"/>
                </a:solidFill>
                <a:latin typeface="Lato"/>
                <a:ea typeface="Lato"/>
                <a:cs typeface="Lato"/>
              </a:rPr>
              <a:t>Two learners with similar resumes may need very different paths.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04E4F9D-DC09-494D-A78F-187CF3FE320B}"/>
              </a:ext>
            </a:extLst>
          </p:cNvPr>
          <p:cNvSpPr>
            <a:spLocks noGrp="1"/>
          </p:cNvSpPr>
          <p:nvPr/>
        </p:nvSpPr>
        <p:spPr>
          <a:xfrm>
            <a:off x="723900" y="5314950"/>
            <a:ext cx="209550" cy="209550"/>
          </a:xfrm>
          <a:prstGeom prst="ellipse">
            <a:avLst/>
          </a:prstGeom>
          <a:solidFill>
            <a:srgbClr val="18C9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2BD5815-9359-45A9-9BA9-EB44FEEBC807}"/>
              </a:ext>
            </a:extLst>
          </p:cNvPr>
          <p:cNvSpPr>
            <a:spLocks noGrp="1"/>
          </p:cNvSpPr>
          <p:nvPr/>
        </p:nvSpPr>
        <p:spPr>
          <a:xfrm>
            <a:off x="1066800" y="5238750"/>
            <a:ext cx="5048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650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Generic guidance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DB66B59-BE6B-46C2-BFC2-3FDDA1313C89}"/>
              </a:ext>
            </a:extLst>
          </p:cNvPr>
          <p:cNvSpPr>
            <a:spLocks noGrp="1"/>
          </p:cNvSpPr>
          <p:nvPr/>
        </p:nvSpPr>
        <p:spPr>
          <a:xfrm>
            <a:off x="1066800" y="5562600"/>
            <a:ext cx="5048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AFC0D3"/>
                </a:solidFill>
                <a:latin typeface="Lato"/>
                <a:ea typeface="Lato"/>
                <a:cs typeface="Lato"/>
              </a:rPr>
              <a:t>Most tools give the same advice because they only read keywords.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FD67E8B-F2AB-4829-9EF4-925C3C5427AD}"/>
              </a:ext>
            </a:extLst>
          </p:cNvPr>
          <p:cNvSpPr>
            <a:spLocks noGrp="1"/>
          </p:cNvSpPr>
          <p:nvPr/>
        </p:nvSpPr>
        <p:spPr>
          <a:xfrm>
            <a:off x="7048500" y="1333500"/>
            <a:ext cx="4229100" cy="1809750"/>
          </a:xfrm>
          <a:prstGeom prst="roundRect">
            <a:avLst>
              <a:gd name="adj" fmla="val 12000"/>
            </a:avLst>
          </a:prstGeom>
          <a:solidFill>
            <a:srgbClr val="132D4A"/>
          </a:solidFill>
          <a:ln w="11430">
            <a:solidFill>
              <a:srgbClr val="29D6F2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9BDE8E5-6530-4839-B28A-8718EA970BE3}"/>
              </a:ext>
            </a:extLst>
          </p:cNvPr>
          <p:cNvSpPr>
            <a:spLocks noGrp="1"/>
          </p:cNvSpPr>
          <p:nvPr/>
        </p:nvSpPr>
        <p:spPr>
          <a:xfrm>
            <a:off x="7410450" y="1695450"/>
            <a:ext cx="3333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29D6F2"/>
                </a:solidFill>
                <a:latin typeface="Poppins"/>
                <a:ea typeface="Poppins"/>
                <a:cs typeface="Poppins"/>
              </a:defRPr>
            </a:pPr>
            <a:r>
              <a:rPr sz="1875" b="1">
                <a:solidFill>
                  <a:srgbClr val="29D6F2"/>
                </a:solidFill>
                <a:latin typeface="Poppins"/>
                <a:ea typeface="Poppins"/>
                <a:cs typeface="Poppins"/>
              </a:rPr>
              <a:t>The Gap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72C1CFD-3E4B-4364-A46F-3463A2DF8B16}"/>
              </a:ext>
            </a:extLst>
          </p:cNvPr>
          <p:cNvSpPr>
            <a:spLocks noGrp="1"/>
          </p:cNvSpPr>
          <p:nvPr/>
        </p:nvSpPr>
        <p:spPr>
          <a:xfrm>
            <a:off x="7410450" y="2190750"/>
            <a:ext cx="3429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250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2250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Generic advice vs.</a:t>
            </a:r>
          </a:p>
          <a:p>
            <a:pPr algn="l">
              <a:defRPr sz="2250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2250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personalised direction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D023BAD-4065-4948-9A9E-2BF35462C856}"/>
              </a:ext>
            </a:extLst>
          </p:cNvPr>
          <p:cNvSpPr>
            <a:spLocks noGrp="1"/>
          </p:cNvSpPr>
          <p:nvPr/>
        </p:nvSpPr>
        <p:spPr>
          <a:xfrm>
            <a:off x="7048500" y="3429000"/>
            <a:ext cx="1943100" cy="1733550"/>
          </a:xfrm>
          <a:prstGeom prst="roundRect">
            <a:avLst>
              <a:gd name="adj" fmla="val 12000"/>
            </a:avLst>
          </a:prstGeom>
          <a:solidFill>
            <a:srgbClr val="10253E"/>
          </a:solidFill>
          <a:ln w="11430">
            <a:solidFill>
              <a:srgbClr val="FFC43D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129F8AB-13A1-4117-A7E1-CAC25E37355C}"/>
              </a:ext>
            </a:extLst>
          </p:cNvPr>
          <p:cNvSpPr>
            <a:spLocks noGrp="1"/>
          </p:cNvSpPr>
          <p:nvPr/>
        </p:nvSpPr>
        <p:spPr>
          <a:xfrm>
            <a:off x="7429500" y="3752850"/>
            <a:ext cx="11811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3000" b="1">
                <a:solidFill>
                  <a:srgbClr val="FFC43D"/>
                </a:solidFill>
                <a:latin typeface="Poppins"/>
                <a:ea typeface="Poppins"/>
                <a:cs typeface="Poppins"/>
              </a:defRPr>
            </a:pPr>
            <a:r>
              <a:rPr sz="3000" b="1">
                <a:solidFill>
                  <a:srgbClr val="FFC43D"/>
                </a:solidFill>
                <a:latin typeface="Poppins"/>
                <a:ea typeface="Poppins"/>
                <a:cs typeface="Poppins"/>
              </a:rPr>
              <a:t>70%+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2733F9A-428B-4B0E-891C-ECF29D4C41A8}"/>
              </a:ext>
            </a:extLst>
          </p:cNvPr>
          <p:cNvSpPr>
            <a:spLocks noGrp="1"/>
          </p:cNvSpPr>
          <p:nvPr/>
        </p:nvSpPr>
        <p:spPr>
          <a:xfrm>
            <a:off x="7334250" y="4400550"/>
            <a:ext cx="14097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4967"/>
          </a:bodyPr>
          <a:lstStyle/>
          <a:p>
            <a:pPr algn="ctr">
              <a:defRPr sz="1275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AFC0D3"/>
                </a:solidFill>
                <a:latin typeface="Lato"/>
                <a:ea typeface="Lato"/>
                <a:cs typeface="Lato"/>
              </a:rPr>
              <a:t>learners feel directionless about what to learn next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3CEDD1E6-160A-4D24-898A-957CC1FD1AA3}"/>
              </a:ext>
            </a:extLst>
          </p:cNvPr>
          <p:cNvSpPr>
            <a:spLocks noGrp="1"/>
          </p:cNvSpPr>
          <p:nvPr/>
        </p:nvSpPr>
        <p:spPr>
          <a:xfrm>
            <a:off x="9334500" y="3429000"/>
            <a:ext cx="1943100" cy="1733550"/>
          </a:xfrm>
          <a:prstGeom prst="roundRect">
            <a:avLst>
              <a:gd name="adj" fmla="val 12000"/>
            </a:avLst>
          </a:prstGeom>
          <a:solidFill>
            <a:srgbClr val="10253E"/>
          </a:solidFill>
          <a:ln w="11430">
            <a:solidFill>
              <a:srgbClr val="18C99A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3EFA8B7-CCD8-4EBF-9A7B-FF10F1587483}"/>
              </a:ext>
            </a:extLst>
          </p:cNvPr>
          <p:cNvSpPr>
            <a:spLocks noGrp="1"/>
          </p:cNvSpPr>
          <p:nvPr/>
        </p:nvSpPr>
        <p:spPr>
          <a:xfrm>
            <a:off x="9715500" y="3752850"/>
            <a:ext cx="11811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3000" b="1">
                <a:solidFill>
                  <a:srgbClr val="18C99A"/>
                </a:solidFill>
                <a:latin typeface="Poppins"/>
                <a:ea typeface="Poppins"/>
                <a:cs typeface="Poppins"/>
              </a:defRPr>
            </a:pPr>
            <a:r>
              <a:rPr sz="3000" b="1">
                <a:solidFill>
                  <a:srgbClr val="18C99A"/>
                </a:solidFill>
                <a:latin typeface="Poppins"/>
                <a:ea typeface="Poppins"/>
                <a:cs typeface="Poppins"/>
              </a:rPr>
              <a:t>1x1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E938B37-F670-460B-8BDA-926F674BC290}"/>
              </a:ext>
            </a:extLst>
          </p:cNvPr>
          <p:cNvSpPr>
            <a:spLocks noGrp="1"/>
          </p:cNvSpPr>
          <p:nvPr/>
        </p:nvSpPr>
        <p:spPr>
          <a:xfrm>
            <a:off x="9620250" y="4400550"/>
            <a:ext cx="14097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4967"/>
          </a:bodyPr>
          <a:lstStyle/>
          <a:p>
            <a:pPr algn="ctr">
              <a:defRPr sz="1275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AFC0D3"/>
                </a:solidFill>
                <a:latin typeface="Lato"/>
                <a:ea typeface="Lato"/>
                <a:cs typeface="Lato"/>
              </a:rPr>
              <a:t>personalised analysis is rare in common guidance tools</a:t>
            </a:r>
          </a:p>
        </p:txBody>
      </p:sp>
    </p:spTree>
    <p:extLst>
      <p:ext uri="{BB962C8B-B14F-4D97-AF65-F5344CB8AC3E}">
        <p14:creationId xmlns:p14="http://schemas.microsoft.com/office/powerpoint/2010/main" val="290959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628CB0F0-5803-4B19-B468-54F52E2E9D6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9D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9BDBA4D1-29AD-4C2B-8B80-B11F7F5BAEB9}"/>
              </a:ext>
            </a:extLst>
          </p:cNvPr>
          <p:cNvSpPr>
            <a:spLocks noGrp="1"/>
          </p:cNvSpPr>
          <p:nvPr/>
        </p:nvSpPr>
        <p:spPr>
          <a:xfrm>
            <a:off x="-1143000" y="-1143000"/>
            <a:ext cx="3429000" cy="3429000"/>
          </a:xfrm>
          <a:prstGeom prst="ellipse">
            <a:avLst/>
          </a:prstGeom>
          <a:solidFill>
            <a:srgbClr val="123A4C">
              <a:alpha val="4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35DA06F-7686-46FD-8C7C-4FDAF0DF3677}"/>
              </a:ext>
            </a:extLst>
          </p:cNvPr>
          <p:cNvSpPr>
            <a:spLocks noGrp="1"/>
          </p:cNvSpPr>
          <p:nvPr/>
        </p:nvSpPr>
        <p:spPr>
          <a:xfrm>
            <a:off x="10001250" y="5334000"/>
            <a:ext cx="3333750" cy="3333750"/>
          </a:xfrm>
          <a:prstGeom prst="ellipse">
            <a:avLst/>
          </a:prstGeom>
          <a:solidFill>
            <a:srgbClr val="3C2147">
              <a:alpha val="4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2E1257-EFF2-4294-B4B6-263597F2EC9F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14350" cy="419100"/>
          </a:xfrm>
          <a:prstGeom prst="rect">
            <a:avLst/>
          </a:prstGeom>
          <a:solidFill>
            <a:srgbClr val="29D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5F60C2-7564-418A-BFA3-27546D2DD73D}"/>
              </a:ext>
            </a:extLst>
          </p:cNvPr>
          <p:cNvSpPr>
            <a:spLocks noGrp="1"/>
          </p:cNvSpPr>
          <p:nvPr/>
        </p:nvSpPr>
        <p:spPr>
          <a:xfrm>
            <a:off x="457200" y="371475"/>
            <a:ext cx="514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07111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7111F"/>
                </a:solidFill>
                <a:latin typeface="Poppins"/>
                <a:ea typeface="Poppins"/>
                <a:cs typeface="Poppins"/>
              </a:rPr>
              <a:t>05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3530CF-2373-4D10-BE07-CE0ACE5310CB}"/>
              </a:ext>
            </a:extLst>
          </p:cNvPr>
          <p:cNvSpPr>
            <a:spLocks noGrp="1"/>
          </p:cNvSpPr>
          <p:nvPr/>
        </p:nvSpPr>
        <p:spPr>
          <a:xfrm>
            <a:off x="1104900" y="371475"/>
            <a:ext cx="7524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325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2325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Problem Statement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7A4C65-377C-4B9F-AC58-C5C70A556DC3}"/>
              </a:ext>
            </a:extLst>
          </p:cNvPr>
          <p:cNvSpPr>
            <a:spLocks noGrp="1"/>
          </p:cNvSpPr>
          <p:nvPr/>
        </p:nvSpPr>
        <p:spPr>
          <a:xfrm>
            <a:off x="10191750" y="41910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275" b="1">
                <a:solidFill>
                  <a:srgbClr val="AFC0D3"/>
                </a:solidFill>
                <a:latin typeface="Poppins"/>
                <a:ea typeface="Poppins"/>
                <a:cs typeface="Poppins"/>
              </a:defRPr>
            </a:pPr>
            <a:r>
              <a:rPr sz="1275" b="1">
                <a:solidFill>
                  <a:srgbClr val="AFC0D3"/>
                </a:solidFill>
                <a:latin typeface="Poppins"/>
                <a:ea typeface="Poppins"/>
                <a:cs typeface="Poppins"/>
              </a:rPr>
              <a:t>RASET 2026 - BIT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16E001-AD93-46A8-A58E-09D6F682505B}"/>
              </a:ext>
            </a:extLst>
          </p:cNvPr>
          <p:cNvSpPr>
            <a:spLocks noGrp="1"/>
          </p:cNvSpPr>
          <p:nvPr/>
        </p:nvSpPr>
        <p:spPr>
          <a:xfrm>
            <a:off x="457200" y="838200"/>
            <a:ext cx="11277600" cy="19050"/>
          </a:xfrm>
          <a:prstGeom prst="rect">
            <a:avLst/>
          </a:prstGeom>
          <a:solidFill>
            <a:srgbClr val="2855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7E654CA-E82C-4912-BE6F-8134DA34D85D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581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400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2400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Why personalised guidance is missing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A7AFF64-73E7-45A5-8E1C-CEACF21EC866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57150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7884"/>
          </a:bodyPr>
          <a:lstStyle/>
          <a:p>
            <a:pPr algn="l">
              <a:defRPr sz="1575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AFC0D3"/>
                </a:solidFill>
                <a:latin typeface="Lato"/>
                <a:ea typeface="Lato"/>
                <a:cs typeface="Lato"/>
              </a:rPr>
              <a:t>Current platforms often understand job titles, course popularity, or raw keywords. They rarely understand the learner's actual depth, target role, and progress over time.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A70D89F-8EC3-4092-B4F5-4720A8631F33}"/>
              </a:ext>
            </a:extLst>
          </p:cNvPr>
          <p:cNvSpPr>
            <a:spLocks noGrp="1"/>
          </p:cNvSpPr>
          <p:nvPr/>
        </p:nvSpPr>
        <p:spPr>
          <a:xfrm>
            <a:off x="704850" y="2781300"/>
            <a:ext cx="5334000" cy="876300"/>
          </a:xfrm>
          <a:prstGeom prst="roundRect">
            <a:avLst>
              <a:gd name="adj" fmla="val 12000"/>
            </a:avLst>
          </a:prstGeom>
          <a:solidFill>
            <a:srgbClr val="132D4A"/>
          </a:solidFill>
          <a:ln w="11430">
            <a:solidFill>
              <a:srgbClr val="29D6F2"/>
            </a:solidFill>
            <a:prstDash val="solid"/>
          </a:ln>
        </p:spPr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E157F51-0AAD-47B4-8576-DBE556DBDC02}"/>
              </a:ext>
            </a:extLst>
          </p:cNvPr>
          <p:cNvSpPr>
            <a:spLocks noGrp="1"/>
          </p:cNvSpPr>
          <p:nvPr/>
        </p:nvSpPr>
        <p:spPr>
          <a:xfrm>
            <a:off x="933450" y="2971800"/>
            <a:ext cx="514350" cy="514350"/>
          </a:xfrm>
          <a:prstGeom prst="ellipse">
            <a:avLst/>
          </a:prstGeom>
          <a:solidFill>
            <a:srgbClr val="29D6F2">
              <a:alpha val="20000"/>
            </a:srgbClr>
          </a:solidFill>
          <a:ln w="14288">
            <a:solidFill>
              <a:srgbClr val="29D6F2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28ED863-CBF6-46D9-819A-8A6963F018D3}"/>
              </a:ext>
            </a:extLst>
          </p:cNvPr>
          <p:cNvSpPr>
            <a:spLocks noGrp="1"/>
          </p:cNvSpPr>
          <p:nvPr/>
        </p:nvSpPr>
        <p:spPr>
          <a:xfrm>
            <a:off x="1000125" y="3114675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 fontScale="92593"/>
          </a:bodyPr>
          <a:lstStyle/>
          <a:p>
            <a:pPr algn="ctr">
              <a:defRPr sz="1350" b="1">
                <a:solidFill>
                  <a:srgbClr val="29D6F2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29D6F2"/>
                </a:solidFill>
                <a:latin typeface="Poppins"/>
                <a:ea typeface="Poppins"/>
                <a:cs typeface="Poppins"/>
              </a:rPr>
              <a:t>01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035517-F38D-42B9-9290-5186358EB157}"/>
              </a:ext>
            </a:extLst>
          </p:cNvPr>
          <p:cNvSpPr>
            <a:spLocks noGrp="1"/>
          </p:cNvSpPr>
          <p:nvPr/>
        </p:nvSpPr>
        <p:spPr>
          <a:xfrm>
            <a:off x="1638300" y="2971800"/>
            <a:ext cx="3714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650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Surface-level matching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ABB59B-6677-459A-9C58-FFCEB1A424D7}"/>
              </a:ext>
            </a:extLst>
          </p:cNvPr>
          <p:cNvSpPr>
            <a:spLocks noGrp="1"/>
          </p:cNvSpPr>
          <p:nvPr/>
        </p:nvSpPr>
        <p:spPr>
          <a:xfrm>
            <a:off x="1638300" y="3295650"/>
            <a:ext cx="3810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2197"/>
          </a:bodyPr>
          <a:lstStyle/>
          <a:p>
            <a:pPr algn="l">
              <a:defRPr sz="1350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AFC0D3"/>
                </a:solidFill>
                <a:latin typeface="Lato"/>
                <a:ea typeface="Lato"/>
                <a:cs typeface="Lato"/>
              </a:rPr>
              <a:t>A one-line mention can look equal to hands-on project experience.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0AB5BD3-BD71-4C06-9030-852504BE8AE4}"/>
              </a:ext>
            </a:extLst>
          </p:cNvPr>
          <p:cNvSpPr>
            <a:spLocks noGrp="1"/>
          </p:cNvSpPr>
          <p:nvPr/>
        </p:nvSpPr>
        <p:spPr>
          <a:xfrm>
            <a:off x="704850" y="3810000"/>
            <a:ext cx="5334000" cy="876300"/>
          </a:xfrm>
          <a:prstGeom prst="roundRect">
            <a:avLst>
              <a:gd name="adj" fmla="val 12000"/>
            </a:avLst>
          </a:prstGeom>
          <a:solidFill>
            <a:srgbClr val="132D4A"/>
          </a:solidFill>
          <a:ln w="11430">
            <a:solidFill>
              <a:srgbClr val="FFC43D"/>
            </a:solidFill>
            <a:prstDash val="solid"/>
          </a:ln>
        </p:spPr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A3E668C-82CB-49FA-B468-998A1510AA55}"/>
              </a:ext>
            </a:extLst>
          </p:cNvPr>
          <p:cNvSpPr>
            <a:spLocks noGrp="1"/>
          </p:cNvSpPr>
          <p:nvPr/>
        </p:nvSpPr>
        <p:spPr>
          <a:xfrm>
            <a:off x="933450" y="4000500"/>
            <a:ext cx="514350" cy="514350"/>
          </a:xfrm>
          <a:prstGeom prst="ellipse">
            <a:avLst/>
          </a:prstGeom>
          <a:solidFill>
            <a:srgbClr val="FFC43D">
              <a:alpha val="20000"/>
            </a:srgbClr>
          </a:solidFill>
          <a:ln w="14288">
            <a:solidFill>
              <a:srgbClr val="FFC43D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9B10E9A-1968-4828-91AF-EE8B5D7C0E44}"/>
              </a:ext>
            </a:extLst>
          </p:cNvPr>
          <p:cNvSpPr>
            <a:spLocks noGrp="1"/>
          </p:cNvSpPr>
          <p:nvPr/>
        </p:nvSpPr>
        <p:spPr>
          <a:xfrm>
            <a:off x="1000125" y="4143375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 fontScale="92593"/>
          </a:bodyPr>
          <a:lstStyle/>
          <a:p>
            <a:pPr algn="ctr">
              <a:defRPr sz="1350" b="1">
                <a:solidFill>
                  <a:srgbClr val="FFC43D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FFC43D"/>
                </a:solidFill>
                <a:latin typeface="Poppins"/>
                <a:ea typeface="Poppins"/>
                <a:cs typeface="Poppins"/>
              </a:rPr>
              <a:t>02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7C8FB4D-865A-4E63-B134-39C701428EC3}"/>
              </a:ext>
            </a:extLst>
          </p:cNvPr>
          <p:cNvSpPr>
            <a:spLocks noGrp="1"/>
          </p:cNvSpPr>
          <p:nvPr/>
        </p:nvSpPr>
        <p:spPr>
          <a:xfrm>
            <a:off x="1638300" y="4000500"/>
            <a:ext cx="3714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650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Generic recommendations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41B7563-7B06-4EE0-9056-40F557322C23}"/>
              </a:ext>
            </a:extLst>
          </p:cNvPr>
          <p:cNvSpPr>
            <a:spLocks noGrp="1"/>
          </p:cNvSpPr>
          <p:nvPr/>
        </p:nvSpPr>
        <p:spPr>
          <a:xfrm>
            <a:off x="1638300" y="4324350"/>
            <a:ext cx="3810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77453"/>
          </a:bodyPr>
          <a:lstStyle/>
          <a:p>
            <a:pPr algn="l">
              <a:defRPr sz="1350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AFC0D3"/>
                </a:solidFill>
                <a:latin typeface="Lato"/>
                <a:ea typeface="Lato"/>
                <a:cs typeface="Lato"/>
              </a:rPr>
              <a:t>Popular courses appear even when they do not close the learner's gap.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E422E90-785F-417B-93C1-D862CEE0E0DA}"/>
              </a:ext>
            </a:extLst>
          </p:cNvPr>
          <p:cNvSpPr>
            <a:spLocks noGrp="1"/>
          </p:cNvSpPr>
          <p:nvPr/>
        </p:nvSpPr>
        <p:spPr>
          <a:xfrm>
            <a:off x="704850" y="4838700"/>
            <a:ext cx="5334000" cy="876300"/>
          </a:xfrm>
          <a:prstGeom prst="roundRect">
            <a:avLst>
              <a:gd name="adj" fmla="val 12000"/>
            </a:avLst>
          </a:prstGeom>
          <a:solidFill>
            <a:srgbClr val="132D4A"/>
          </a:solidFill>
          <a:ln w="11430">
            <a:solidFill>
              <a:srgbClr val="F261B4"/>
            </a:solidFill>
            <a:prstDash val="solid"/>
          </a:ln>
        </p:spPr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209A0A3-2AA0-479C-9DBB-E4D4746B9F3D}"/>
              </a:ext>
            </a:extLst>
          </p:cNvPr>
          <p:cNvSpPr>
            <a:spLocks noGrp="1"/>
          </p:cNvSpPr>
          <p:nvPr/>
        </p:nvSpPr>
        <p:spPr>
          <a:xfrm>
            <a:off x="933450" y="5029200"/>
            <a:ext cx="514350" cy="514350"/>
          </a:xfrm>
          <a:prstGeom prst="ellipse">
            <a:avLst/>
          </a:prstGeom>
          <a:solidFill>
            <a:srgbClr val="F261B4">
              <a:alpha val="20000"/>
            </a:srgbClr>
          </a:solidFill>
          <a:ln w="14288">
            <a:solidFill>
              <a:srgbClr val="F261B4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90FC235-960B-4E27-89E0-195CC1BE5822}"/>
              </a:ext>
            </a:extLst>
          </p:cNvPr>
          <p:cNvSpPr>
            <a:spLocks noGrp="1"/>
          </p:cNvSpPr>
          <p:nvPr/>
        </p:nvSpPr>
        <p:spPr>
          <a:xfrm>
            <a:off x="1000125" y="5172075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 fontScale="92593"/>
          </a:bodyPr>
          <a:lstStyle/>
          <a:p>
            <a:pPr algn="ctr">
              <a:defRPr sz="1350" b="1">
                <a:solidFill>
                  <a:srgbClr val="F261B4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F261B4"/>
                </a:solidFill>
                <a:latin typeface="Poppins"/>
                <a:ea typeface="Poppins"/>
                <a:cs typeface="Poppins"/>
              </a:rPr>
              <a:t>03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974BB9E-1D45-4161-A129-EFDA871C6729}"/>
              </a:ext>
            </a:extLst>
          </p:cNvPr>
          <p:cNvSpPr>
            <a:spLocks noGrp="1"/>
          </p:cNvSpPr>
          <p:nvPr/>
        </p:nvSpPr>
        <p:spPr>
          <a:xfrm>
            <a:off x="1638300" y="5029200"/>
            <a:ext cx="3714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650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No continuous tracking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85F1CDF-DD5B-42B1-9733-B608E10CA40A}"/>
              </a:ext>
            </a:extLst>
          </p:cNvPr>
          <p:cNvSpPr>
            <a:spLocks noGrp="1"/>
          </p:cNvSpPr>
          <p:nvPr/>
        </p:nvSpPr>
        <p:spPr>
          <a:xfrm>
            <a:off x="1638300" y="5353050"/>
            <a:ext cx="3810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72642"/>
          </a:bodyPr>
          <a:lstStyle/>
          <a:p>
            <a:pPr algn="l">
              <a:defRPr sz="1350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AFC0D3"/>
                </a:solidFill>
                <a:latin typeface="Lato"/>
                <a:ea typeface="Lato"/>
                <a:cs typeface="Lato"/>
              </a:rPr>
              <a:t>A single snapshot cannot show whether study effort is improving readiness.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C1AAEB9-A603-455E-AF0B-1B410E4BB129}"/>
              </a:ext>
            </a:extLst>
          </p:cNvPr>
          <p:cNvSpPr>
            <a:spLocks noGrp="1"/>
          </p:cNvSpPr>
          <p:nvPr/>
        </p:nvSpPr>
        <p:spPr>
          <a:xfrm>
            <a:off x="6762750" y="1447800"/>
            <a:ext cx="4686300" cy="4229100"/>
          </a:xfrm>
          <a:prstGeom prst="roundRect">
            <a:avLst>
              <a:gd name="adj" fmla="val 12000"/>
            </a:avLst>
          </a:prstGeom>
          <a:solidFill>
            <a:srgbClr val="10253E"/>
          </a:solidFill>
          <a:ln w="11430">
            <a:solidFill>
              <a:srgbClr val="28557A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9EC7E80-24FB-4967-9FD2-AD906FF3E41E}"/>
              </a:ext>
            </a:extLst>
          </p:cNvPr>
          <p:cNvSpPr>
            <a:spLocks noGrp="1"/>
          </p:cNvSpPr>
          <p:nvPr/>
        </p:nvSpPr>
        <p:spPr>
          <a:xfrm>
            <a:off x="6762750" y="1447800"/>
            <a:ext cx="4686300" cy="57150"/>
          </a:xfrm>
          <a:prstGeom prst="rect">
            <a:avLst/>
          </a:prstGeom>
          <a:solidFill>
            <a:srgbClr val="29D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AB63834-F305-475B-AE3A-AA3C43E81B86}"/>
              </a:ext>
            </a:extLst>
          </p:cNvPr>
          <p:cNvSpPr>
            <a:spLocks noGrp="1"/>
          </p:cNvSpPr>
          <p:nvPr/>
        </p:nvSpPr>
        <p:spPr>
          <a:xfrm>
            <a:off x="7162800" y="1866900"/>
            <a:ext cx="3619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765"/>
          </a:bodyPr>
          <a:lstStyle/>
          <a:p>
            <a:pPr algn="l">
              <a:defRPr sz="2025" b="1">
                <a:solidFill>
                  <a:srgbClr val="29D6F2"/>
                </a:solidFill>
                <a:latin typeface="Poppins"/>
                <a:ea typeface="Poppins"/>
                <a:cs typeface="Poppins"/>
              </a:defRPr>
            </a:pPr>
            <a:r>
              <a:rPr sz="2025" b="1">
                <a:solidFill>
                  <a:srgbClr val="29D6F2"/>
                </a:solidFill>
                <a:latin typeface="Poppins"/>
                <a:ea typeface="Poppins"/>
                <a:cs typeface="Poppins"/>
              </a:rPr>
              <a:t>Pain points observed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2537669-30AB-4BC8-B35E-F120B47CADA9}"/>
              </a:ext>
            </a:extLst>
          </p:cNvPr>
          <p:cNvSpPr>
            <a:spLocks noGrp="1"/>
          </p:cNvSpPr>
          <p:nvPr/>
        </p:nvSpPr>
        <p:spPr>
          <a:xfrm>
            <a:off x="7181850" y="2533650"/>
            <a:ext cx="209550" cy="209550"/>
          </a:xfrm>
          <a:prstGeom prst="ellipse">
            <a:avLst/>
          </a:prstGeom>
          <a:solidFill>
            <a:srgbClr val="29D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177F706-6585-4AC2-B302-713BCFBF41D6}"/>
              </a:ext>
            </a:extLst>
          </p:cNvPr>
          <p:cNvSpPr>
            <a:spLocks noGrp="1"/>
          </p:cNvSpPr>
          <p:nvPr/>
        </p:nvSpPr>
        <p:spPr>
          <a:xfrm>
            <a:off x="7524750" y="2457450"/>
            <a:ext cx="361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650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No deep profile analysis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C86AFBC-32E5-45D5-9265-A703237C0A07}"/>
              </a:ext>
            </a:extLst>
          </p:cNvPr>
          <p:cNvSpPr>
            <a:spLocks noGrp="1"/>
          </p:cNvSpPr>
          <p:nvPr/>
        </p:nvSpPr>
        <p:spPr>
          <a:xfrm>
            <a:off x="7524750" y="2781300"/>
            <a:ext cx="3619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AFC0D3"/>
                </a:solidFill>
                <a:latin typeface="Lato"/>
                <a:ea typeface="Lato"/>
                <a:cs typeface="Lato"/>
              </a:rPr>
              <a:t>Existing portals do not examine true competencies.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A8903AA-0EEF-488A-B53A-6BF1F8A52906}"/>
              </a:ext>
            </a:extLst>
          </p:cNvPr>
          <p:cNvSpPr>
            <a:spLocks noGrp="1"/>
          </p:cNvSpPr>
          <p:nvPr/>
        </p:nvSpPr>
        <p:spPr>
          <a:xfrm>
            <a:off x="7181850" y="3295650"/>
            <a:ext cx="209550" cy="209550"/>
          </a:xfrm>
          <a:prstGeom prst="ellipse">
            <a:avLst/>
          </a:prstGeom>
          <a:solidFill>
            <a:srgbClr val="FFC4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809EFD7-ABF5-4F60-B649-79ECB3C02CA9}"/>
              </a:ext>
            </a:extLst>
          </p:cNvPr>
          <p:cNvSpPr>
            <a:spLocks noGrp="1"/>
          </p:cNvSpPr>
          <p:nvPr/>
        </p:nvSpPr>
        <p:spPr>
          <a:xfrm>
            <a:off x="7524750" y="3219450"/>
            <a:ext cx="361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650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Brief mention vs deep usage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7F21DB7-57EE-4143-A2C3-3DD121F2D689}"/>
              </a:ext>
            </a:extLst>
          </p:cNvPr>
          <p:cNvSpPr>
            <a:spLocks noGrp="1"/>
          </p:cNvSpPr>
          <p:nvPr/>
        </p:nvSpPr>
        <p:spPr>
          <a:xfrm>
            <a:off x="7524750" y="3543300"/>
            <a:ext cx="3619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AFC0D3"/>
                </a:solidFill>
                <a:latin typeface="Lato"/>
                <a:ea typeface="Lato"/>
                <a:cs typeface="Lato"/>
              </a:rPr>
              <a:t>Keyword scorers cannot tell them apart.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3466F7B5-F021-4EE3-9429-50E5007F8F25}"/>
              </a:ext>
            </a:extLst>
          </p:cNvPr>
          <p:cNvSpPr>
            <a:spLocks noGrp="1"/>
          </p:cNvSpPr>
          <p:nvPr/>
        </p:nvSpPr>
        <p:spPr>
          <a:xfrm>
            <a:off x="7181850" y="4057650"/>
            <a:ext cx="209550" cy="209550"/>
          </a:xfrm>
          <a:prstGeom prst="ellipse">
            <a:avLst/>
          </a:prstGeom>
          <a:solidFill>
            <a:srgbClr val="F261B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41A340A-3FAB-4DE7-BA4C-67CBAD0FDADD}"/>
              </a:ext>
            </a:extLst>
          </p:cNvPr>
          <p:cNvSpPr>
            <a:spLocks noGrp="1"/>
          </p:cNvSpPr>
          <p:nvPr/>
        </p:nvSpPr>
        <p:spPr>
          <a:xfrm>
            <a:off x="7524750" y="3981450"/>
            <a:ext cx="361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650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Same advice for everyone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28C2FF8-1BE8-47BF-AFAD-4FDF60EB20C5}"/>
              </a:ext>
            </a:extLst>
          </p:cNvPr>
          <p:cNvSpPr>
            <a:spLocks noGrp="1"/>
          </p:cNvSpPr>
          <p:nvPr/>
        </p:nvSpPr>
        <p:spPr>
          <a:xfrm>
            <a:off x="7524750" y="4305300"/>
            <a:ext cx="3619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AFC0D3"/>
                </a:solidFill>
                <a:latin typeface="Lato"/>
                <a:ea typeface="Lato"/>
                <a:cs typeface="Lato"/>
              </a:rPr>
              <a:t>Trending-skill lists ignore target role.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F287192-0BC4-4AD0-A1F1-F0B2B1B62130}"/>
              </a:ext>
            </a:extLst>
          </p:cNvPr>
          <p:cNvSpPr>
            <a:spLocks noGrp="1"/>
          </p:cNvSpPr>
          <p:nvPr/>
        </p:nvSpPr>
        <p:spPr>
          <a:xfrm>
            <a:off x="7181850" y="4819650"/>
            <a:ext cx="209550" cy="209550"/>
          </a:xfrm>
          <a:prstGeom prst="ellipse">
            <a:avLst/>
          </a:prstGeom>
          <a:solidFill>
            <a:srgbClr val="18C9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6587F57-6307-49B3-B0CB-DDBC06237611}"/>
              </a:ext>
            </a:extLst>
          </p:cNvPr>
          <p:cNvSpPr>
            <a:spLocks noGrp="1"/>
          </p:cNvSpPr>
          <p:nvPr/>
        </p:nvSpPr>
        <p:spPr>
          <a:xfrm>
            <a:off x="7524750" y="4743450"/>
            <a:ext cx="361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650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No long-term progress view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CB8BC58-EFEF-4D5E-9D9F-2CEC8480C4AB}"/>
              </a:ext>
            </a:extLst>
          </p:cNvPr>
          <p:cNvSpPr>
            <a:spLocks noGrp="1"/>
          </p:cNvSpPr>
          <p:nvPr/>
        </p:nvSpPr>
        <p:spPr>
          <a:xfrm>
            <a:off x="7524750" y="5067300"/>
            <a:ext cx="3619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AFC0D3"/>
                </a:solidFill>
                <a:latin typeface="Lato"/>
                <a:ea typeface="Lato"/>
                <a:cs typeface="Lato"/>
              </a:rPr>
              <a:t>Learners cannot see the gap closing.</a:t>
            </a:r>
          </a:p>
        </p:txBody>
      </p:sp>
    </p:spTree>
    <p:extLst>
      <p:ext uri="{BB962C8B-B14F-4D97-AF65-F5344CB8AC3E}">
        <p14:creationId xmlns:p14="http://schemas.microsoft.com/office/powerpoint/2010/main" val="262143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00CA4F17-D85D-4A92-89C0-4DBD5AAD919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9D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B426C7C-3093-4A46-9EA2-FDF729A3638B}"/>
              </a:ext>
            </a:extLst>
          </p:cNvPr>
          <p:cNvSpPr>
            <a:spLocks noGrp="1"/>
          </p:cNvSpPr>
          <p:nvPr/>
        </p:nvSpPr>
        <p:spPr>
          <a:xfrm>
            <a:off x="-1143000" y="-1143000"/>
            <a:ext cx="3429000" cy="3429000"/>
          </a:xfrm>
          <a:prstGeom prst="ellipse">
            <a:avLst/>
          </a:prstGeom>
          <a:solidFill>
            <a:srgbClr val="123A4C">
              <a:alpha val="4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773B6C4-C957-41EB-BF24-CC8FB5F5BFB1}"/>
              </a:ext>
            </a:extLst>
          </p:cNvPr>
          <p:cNvSpPr>
            <a:spLocks noGrp="1"/>
          </p:cNvSpPr>
          <p:nvPr/>
        </p:nvSpPr>
        <p:spPr>
          <a:xfrm>
            <a:off x="10001250" y="5334000"/>
            <a:ext cx="3333750" cy="3333750"/>
          </a:xfrm>
          <a:prstGeom prst="ellipse">
            <a:avLst/>
          </a:prstGeom>
          <a:solidFill>
            <a:srgbClr val="3C2147">
              <a:alpha val="4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EB3204-6ABC-467C-A9ED-EA71BC52F50A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14350" cy="419100"/>
          </a:xfrm>
          <a:prstGeom prst="rect">
            <a:avLst/>
          </a:prstGeom>
          <a:solidFill>
            <a:srgbClr val="29D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8AA75A-6ACA-4019-9AC1-443969AD70EF}"/>
              </a:ext>
            </a:extLst>
          </p:cNvPr>
          <p:cNvSpPr>
            <a:spLocks noGrp="1"/>
          </p:cNvSpPr>
          <p:nvPr/>
        </p:nvSpPr>
        <p:spPr>
          <a:xfrm>
            <a:off x="457200" y="371475"/>
            <a:ext cx="514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07111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7111F"/>
                </a:solidFill>
                <a:latin typeface="Poppins"/>
                <a:ea typeface="Poppins"/>
                <a:cs typeface="Poppins"/>
              </a:rPr>
              <a:t>06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A149BC-0428-4969-A21E-F260BC7BB986}"/>
              </a:ext>
            </a:extLst>
          </p:cNvPr>
          <p:cNvSpPr>
            <a:spLocks noGrp="1"/>
          </p:cNvSpPr>
          <p:nvPr/>
        </p:nvSpPr>
        <p:spPr>
          <a:xfrm>
            <a:off x="1104900" y="371475"/>
            <a:ext cx="7524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325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2325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Motivation - Why AI Helps Now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B783EC-2123-429C-BEF6-B7B45E42C758}"/>
              </a:ext>
            </a:extLst>
          </p:cNvPr>
          <p:cNvSpPr>
            <a:spLocks noGrp="1"/>
          </p:cNvSpPr>
          <p:nvPr/>
        </p:nvSpPr>
        <p:spPr>
          <a:xfrm>
            <a:off x="10191750" y="41910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275" b="1">
                <a:solidFill>
                  <a:srgbClr val="AFC0D3"/>
                </a:solidFill>
                <a:latin typeface="Poppins"/>
                <a:ea typeface="Poppins"/>
                <a:cs typeface="Poppins"/>
              </a:defRPr>
            </a:pPr>
            <a:r>
              <a:rPr sz="1275" b="1">
                <a:solidFill>
                  <a:srgbClr val="AFC0D3"/>
                </a:solidFill>
                <a:latin typeface="Poppins"/>
                <a:ea typeface="Poppins"/>
                <a:cs typeface="Poppins"/>
              </a:rPr>
              <a:t>RASET 2026 - BIT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4664E5-9B1F-47C7-BB5C-769DE4BCB401}"/>
              </a:ext>
            </a:extLst>
          </p:cNvPr>
          <p:cNvSpPr>
            <a:spLocks noGrp="1"/>
          </p:cNvSpPr>
          <p:nvPr/>
        </p:nvSpPr>
        <p:spPr>
          <a:xfrm>
            <a:off x="457200" y="838200"/>
            <a:ext cx="11277600" cy="19050"/>
          </a:xfrm>
          <a:prstGeom prst="rect">
            <a:avLst/>
          </a:prstGeom>
          <a:solidFill>
            <a:srgbClr val="2855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020E475-02FE-46AB-A113-59CB93078F8B}"/>
              </a:ext>
            </a:extLst>
          </p:cNvPr>
          <p:cNvSpPr>
            <a:spLocks noGrp="1"/>
          </p:cNvSpPr>
          <p:nvPr/>
        </p:nvSpPr>
        <p:spPr>
          <a:xfrm>
            <a:off x="819150" y="1219200"/>
            <a:ext cx="9906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6667"/>
          </a:bodyPr>
          <a:lstStyle/>
          <a:p>
            <a:pPr algn="ctr">
              <a:defRPr sz="1875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875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Modern language models can read a resume closer to how a human reviewer reads it: context first, keywords second.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024A931-BD75-4CC6-858A-276EA3CB34C4}"/>
              </a:ext>
            </a:extLst>
          </p:cNvPr>
          <p:cNvSpPr>
            <a:spLocks noGrp="1"/>
          </p:cNvSpPr>
          <p:nvPr/>
        </p:nvSpPr>
        <p:spPr>
          <a:xfrm>
            <a:off x="666750" y="2076450"/>
            <a:ext cx="3371850" cy="2781300"/>
          </a:xfrm>
          <a:prstGeom prst="roundRect">
            <a:avLst>
              <a:gd name="adj" fmla="val 12000"/>
            </a:avLst>
          </a:prstGeom>
          <a:solidFill>
            <a:srgbClr val="132D4A"/>
          </a:solidFill>
          <a:ln w="12383">
            <a:solidFill>
              <a:srgbClr val="29D6F2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E309C5-03A0-4F33-9CEF-5D2BB8661D32}"/>
              </a:ext>
            </a:extLst>
          </p:cNvPr>
          <p:cNvSpPr>
            <a:spLocks noGrp="1"/>
          </p:cNvSpPr>
          <p:nvPr/>
        </p:nvSpPr>
        <p:spPr>
          <a:xfrm>
            <a:off x="666750" y="2076450"/>
            <a:ext cx="3371850" cy="57150"/>
          </a:xfrm>
          <a:prstGeom prst="rect">
            <a:avLst/>
          </a:prstGeom>
          <a:solidFill>
            <a:srgbClr val="29D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CC76C16-2316-48B3-ACC5-32D76D15A891}"/>
              </a:ext>
            </a:extLst>
          </p:cNvPr>
          <p:cNvSpPr>
            <a:spLocks noGrp="1"/>
          </p:cNvSpPr>
          <p:nvPr/>
        </p:nvSpPr>
        <p:spPr>
          <a:xfrm>
            <a:off x="990600" y="2533650"/>
            <a:ext cx="514350" cy="514350"/>
          </a:xfrm>
          <a:prstGeom prst="ellipse">
            <a:avLst/>
          </a:prstGeom>
          <a:solidFill>
            <a:srgbClr val="29D6F2">
              <a:alpha val="20000"/>
            </a:srgbClr>
          </a:solidFill>
          <a:ln w="14288">
            <a:solidFill>
              <a:srgbClr val="29D6F2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766B3C-397F-4B49-9D6A-7F0E05985F23}"/>
              </a:ext>
            </a:extLst>
          </p:cNvPr>
          <p:cNvSpPr>
            <a:spLocks noGrp="1"/>
          </p:cNvSpPr>
          <p:nvPr/>
        </p:nvSpPr>
        <p:spPr>
          <a:xfrm>
            <a:off x="1057275" y="2676525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 fontScale="92593"/>
          </a:bodyPr>
          <a:lstStyle/>
          <a:p>
            <a:pPr algn="ctr">
              <a:defRPr sz="1350" b="1">
                <a:solidFill>
                  <a:srgbClr val="29D6F2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29D6F2"/>
                </a:solidFill>
                <a:latin typeface="Poppins"/>
                <a:ea typeface="Poppins"/>
                <a:cs typeface="Poppins"/>
              </a:rPr>
              <a:t>NLP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AE0A89-6B1B-497B-A05A-546DEC651DF4}"/>
              </a:ext>
            </a:extLst>
          </p:cNvPr>
          <p:cNvSpPr>
            <a:spLocks noGrp="1"/>
          </p:cNvSpPr>
          <p:nvPr/>
        </p:nvSpPr>
        <p:spPr>
          <a:xfrm>
            <a:off x="990600" y="3314700"/>
            <a:ext cx="2724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950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950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Contextual NLP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1AF23A6-4A11-405E-A6C6-7612778FA3AD}"/>
              </a:ext>
            </a:extLst>
          </p:cNvPr>
          <p:cNvSpPr>
            <a:spLocks noGrp="1"/>
          </p:cNvSpPr>
          <p:nvPr/>
        </p:nvSpPr>
        <p:spPr>
          <a:xfrm>
            <a:off x="990600" y="3829050"/>
            <a:ext cx="272415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4298"/>
          </a:bodyPr>
          <a:lstStyle/>
          <a:p>
            <a:pPr algn="l">
              <a:defRPr sz="1425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AFC0D3"/>
                </a:solidFill>
                <a:latin typeface="Lato"/>
                <a:ea typeface="Lato"/>
                <a:cs typeface="Lato"/>
              </a:rPr>
              <a:t>Sentence-level embeddings interpret meaning beyond literal words. ML maps to Machine Learning automatically.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76150BB-A72D-47FE-BE84-47026DB35EA2}"/>
              </a:ext>
            </a:extLst>
          </p:cNvPr>
          <p:cNvSpPr>
            <a:spLocks noGrp="1"/>
          </p:cNvSpPr>
          <p:nvPr/>
        </p:nvSpPr>
        <p:spPr>
          <a:xfrm>
            <a:off x="4514850" y="2076450"/>
            <a:ext cx="3371850" cy="2781300"/>
          </a:xfrm>
          <a:prstGeom prst="roundRect">
            <a:avLst>
              <a:gd name="adj" fmla="val 12000"/>
            </a:avLst>
          </a:prstGeom>
          <a:solidFill>
            <a:srgbClr val="132D4A"/>
          </a:solidFill>
          <a:ln w="12383">
            <a:solidFill>
              <a:srgbClr val="FFC43D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81E422A-9DE2-4CDA-AA41-FF9F0C2663CE}"/>
              </a:ext>
            </a:extLst>
          </p:cNvPr>
          <p:cNvSpPr>
            <a:spLocks noGrp="1"/>
          </p:cNvSpPr>
          <p:nvPr/>
        </p:nvSpPr>
        <p:spPr>
          <a:xfrm>
            <a:off x="4514850" y="2076450"/>
            <a:ext cx="3371850" cy="57150"/>
          </a:xfrm>
          <a:prstGeom prst="rect">
            <a:avLst/>
          </a:prstGeom>
          <a:solidFill>
            <a:srgbClr val="FFC4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B2B6638-C0BC-41D3-AC4F-3919440B1F21}"/>
              </a:ext>
            </a:extLst>
          </p:cNvPr>
          <p:cNvSpPr>
            <a:spLocks noGrp="1"/>
          </p:cNvSpPr>
          <p:nvPr/>
        </p:nvSpPr>
        <p:spPr>
          <a:xfrm>
            <a:off x="4838700" y="2533650"/>
            <a:ext cx="514350" cy="514350"/>
          </a:xfrm>
          <a:prstGeom prst="ellipse">
            <a:avLst/>
          </a:prstGeom>
          <a:solidFill>
            <a:srgbClr val="FFC43D">
              <a:alpha val="20000"/>
            </a:srgbClr>
          </a:solidFill>
          <a:ln w="14288">
            <a:solidFill>
              <a:srgbClr val="FFC43D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71C3F3-1A78-4451-A174-CF1CEA02A6A0}"/>
              </a:ext>
            </a:extLst>
          </p:cNvPr>
          <p:cNvSpPr>
            <a:spLocks noGrp="1"/>
          </p:cNvSpPr>
          <p:nvPr/>
        </p:nvSpPr>
        <p:spPr>
          <a:xfrm>
            <a:off x="4905375" y="2676525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 fontScale="92593"/>
          </a:bodyPr>
          <a:lstStyle/>
          <a:p>
            <a:pPr algn="ctr">
              <a:defRPr sz="1350" b="1">
                <a:solidFill>
                  <a:srgbClr val="FFC43D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FFC43D"/>
                </a:solidFill>
                <a:latin typeface="Poppins"/>
                <a:ea typeface="Poppins"/>
                <a:cs typeface="Poppins"/>
              </a:rPr>
              <a:t>ML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DFD16FD-C5A9-4FFF-9017-7493BD659E05}"/>
              </a:ext>
            </a:extLst>
          </p:cNvPr>
          <p:cNvSpPr>
            <a:spLocks noGrp="1"/>
          </p:cNvSpPr>
          <p:nvPr/>
        </p:nvSpPr>
        <p:spPr>
          <a:xfrm>
            <a:off x="4838700" y="3314700"/>
            <a:ext cx="2724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950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950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ML Classifiers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A6A518D-AB5F-4DFC-9446-74F0D11CCB3A}"/>
              </a:ext>
            </a:extLst>
          </p:cNvPr>
          <p:cNvSpPr>
            <a:spLocks noGrp="1"/>
          </p:cNvSpPr>
          <p:nvPr/>
        </p:nvSpPr>
        <p:spPr>
          <a:xfrm>
            <a:off x="4838700" y="3829050"/>
            <a:ext cx="272415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9824"/>
          </a:bodyPr>
          <a:lstStyle/>
          <a:p>
            <a:pPr algn="l">
              <a:defRPr sz="1425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AFC0D3"/>
                </a:solidFill>
                <a:latin typeface="Lato"/>
                <a:ea typeface="Lato"/>
                <a:cs typeface="Lato"/>
              </a:rPr>
              <a:t>Rich profile signals align with structured role-specific requirements drawn from hiring data.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CD5FCB4-24FF-40EA-BF20-DC26EE99478E}"/>
              </a:ext>
            </a:extLst>
          </p:cNvPr>
          <p:cNvSpPr>
            <a:spLocks noGrp="1"/>
          </p:cNvSpPr>
          <p:nvPr/>
        </p:nvSpPr>
        <p:spPr>
          <a:xfrm>
            <a:off x="8362950" y="2076450"/>
            <a:ext cx="3371850" cy="2781300"/>
          </a:xfrm>
          <a:prstGeom prst="roundRect">
            <a:avLst>
              <a:gd name="adj" fmla="val 12000"/>
            </a:avLst>
          </a:prstGeom>
          <a:solidFill>
            <a:srgbClr val="132D4A"/>
          </a:solidFill>
          <a:ln w="12383">
            <a:solidFill>
              <a:srgbClr val="18C99A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F8B97AD-5DEB-41A4-9A89-9544DD7F034F}"/>
              </a:ext>
            </a:extLst>
          </p:cNvPr>
          <p:cNvSpPr>
            <a:spLocks noGrp="1"/>
          </p:cNvSpPr>
          <p:nvPr/>
        </p:nvSpPr>
        <p:spPr>
          <a:xfrm>
            <a:off x="8362950" y="2076450"/>
            <a:ext cx="3371850" cy="57150"/>
          </a:xfrm>
          <a:prstGeom prst="rect">
            <a:avLst/>
          </a:prstGeom>
          <a:solidFill>
            <a:srgbClr val="18C9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A5ABDB9-C040-4364-90BD-36F033CC42A9}"/>
              </a:ext>
            </a:extLst>
          </p:cNvPr>
          <p:cNvSpPr>
            <a:spLocks noGrp="1"/>
          </p:cNvSpPr>
          <p:nvPr/>
        </p:nvSpPr>
        <p:spPr>
          <a:xfrm>
            <a:off x="8686800" y="2533650"/>
            <a:ext cx="514350" cy="514350"/>
          </a:xfrm>
          <a:prstGeom prst="ellipse">
            <a:avLst/>
          </a:prstGeom>
          <a:solidFill>
            <a:srgbClr val="18C99A">
              <a:alpha val="20000"/>
            </a:srgbClr>
          </a:solidFill>
          <a:ln w="14288">
            <a:solidFill>
              <a:srgbClr val="18C99A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3BE3364-4D68-40FC-955C-48C1C6B85A2F}"/>
              </a:ext>
            </a:extLst>
          </p:cNvPr>
          <p:cNvSpPr>
            <a:spLocks noGrp="1"/>
          </p:cNvSpPr>
          <p:nvPr/>
        </p:nvSpPr>
        <p:spPr>
          <a:xfrm>
            <a:off x="8753475" y="2676525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 fontScale="92593"/>
          </a:bodyPr>
          <a:lstStyle/>
          <a:p>
            <a:pPr algn="ctr">
              <a:defRPr sz="1350" b="1">
                <a:solidFill>
                  <a:srgbClr val="18C99A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18C99A"/>
                </a:solidFill>
                <a:latin typeface="Poppins"/>
                <a:ea typeface="Poppins"/>
                <a:cs typeface="Poppins"/>
              </a:rPr>
              <a:t>TAX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87471E5-1BAC-484D-8C52-581298F2EF7D}"/>
              </a:ext>
            </a:extLst>
          </p:cNvPr>
          <p:cNvSpPr>
            <a:spLocks noGrp="1"/>
          </p:cNvSpPr>
          <p:nvPr/>
        </p:nvSpPr>
        <p:spPr>
          <a:xfrm>
            <a:off x="8686800" y="3314700"/>
            <a:ext cx="2724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950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950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Skill Taxonomies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39E7206-1AA5-4D7E-B84D-AAFB3319344C}"/>
              </a:ext>
            </a:extLst>
          </p:cNvPr>
          <p:cNvSpPr>
            <a:spLocks noGrp="1"/>
          </p:cNvSpPr>
          <p:nvPr/>
        </p:nvSpPr>
        <p:spPr>
          <a:xfrm>
            <a:off x="8686800" y="3829050"/>
            <a:ext cx="272415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AFC0D3"/>
                </a:solidFill>
                <a:latin typeface="Lato"/>
                <a:ea typeface="Lato"/>
                <a:cs typeface="Lato"/>
              </a:rPr>
              <a:t>Curated industry standards provide a living catalogue of what each role demands.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A54AABA4-0436-49BF-92C6-AE58D54BF099}"/>
              </a:ext>
            </a:extLst>
          </p:cNvPr>
          <p:cNvSpPr>
            <a:spLocks noGrp="1"/>
          </p:cNvSpPr>
          <p:nvPr/>
        </p:nvSpPr>
        <p:spPr>
          <a:xfrm>
            <a:off x="1352550" y="5372100"/>
            <a:ext cx="9486900" cy="571500"/>
          </a:xfrm>
          <a:prstGeom prst="roundRect">
            <a:avLst>
              <a:gd name="adj" fmla="val 12000"/>
            </a:avLst>
          </a:prstGeom>
          <a:solidFill>
            <a:srgbClr val="102D48"/>
          </a:solidFill>
          <a:ln w="9525">
            <a:solidFill>
              <a:srgbClr val="F261B4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6286974-3386-4481-ADF9-D1E3A1DE8FDB}"/>
              </a:ext>
            </a:extLst>
          </p:cNvPr>
          <p:cNvSpPr>
            <a:spLocks noGrp="1"/>
          </p:cNvSpPr>
          <p:nvPr/>
        </p:nvSpPr>
        <p:spPr>
          <a:xfrm>
            <a:off x="1752600" y="5543550"/>
            <a:ext cx="8686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1650" b="1">
                <a:solidFill>
                  <a:srgbClr val="F261B4"/>
                </a:solidFill>
                <a:latin typeface="Poppins"/>
                <a:ea typeface="Poppins"/>
                <a:cs typeface="Poppins"/>
              </a:defRPr>
            </a:pPr>
            <a:r>
              <a:rPr sz="1650" b="1">
                <a:solidFill>
                  <a:srgbClr val="F261B4"/>
                </a:solidFill>
                <a:latin typeface="Poppins"/>
                <a:ea typeface="Poppins"/>
                <a:cs typeface="Poppins"/>
              </a:rPr>
              <a:t>The opportunity: move from keyword overlap to explainable, profile-aware guidance.</a:t>
            </a:r>
          </a:p>
        </p:txBody>
      </p:sp>
    </p:spTree>
    <p:extLst>
      <p:ext uri="{BB962C8B-B14F-4D97-AF65-F5344CB8AC3E}">
        <p14:creationId xmlns:p14="http://schemas.microsoft.com/office/powerpoint/2010/main" val="74887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38B33805-B072-40A3-859A-FD875334266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9D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618F3B9-0478-4CEB-AC4E-F9756CAE0461}"/>
              </a:ext>
            </a:extLst>
          </p:cNvPr>
          <p:cNvSpPr>
            <a:spLocks noGrp="1"/>
          </p:cNvSpPr>
          <p:nvPr/>
        </p:nvSpPr>
        <p:spPr>
          <a:xfrm>
            <a:off x="-1143000" y="-1143000"/>
            <a:ext cx="3429000" cy="3429000"/>
          </a:xfrm>
          <a:prstGeom prst="ellipse">
            <a:avLst/>
          </a:prstGeom>
          <a:solidFill>
            <a:srgbClr val="123A4C">
              <a:alpha val="4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185F4DA-5948-46BE-A809-E0CEB04C6406}"/>
              </a:ext>
            </a:extLst>
          </p:cNvPr>
          <p:cNvSpPr>
            <a:spLocks noGrp="1"/>
          </p:cNvSpPr>
          <p:nvPr/>
        </p:nvSpPr>
        <p:spPr>
          <a:xfrm>
            <a:off x="10001250" y="5334000"/>
            <a:ext cx="3333750" cy="3333750"/>
          </a:xfrm>
          <a:prstGeom prst="ellipse">
            <a:avLst/>
          </a:prstGeom>
          <a:solidFill>
            <a:srgbClr val="3C2147">
              <a:alpha val="4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D07B80-D24F-4ACE-982A-8CDFD7E10803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14350" cy="419100"/>
          </a:xfrm>
          <a:prstGeom prst="rect">
            <a:avLst/>
          </a:prstGeom>
          <a:solidFill>
            <a:srgbClr val="29D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AE66A0-78CD-4424-8A99-6A6DAA687D68}"/>
              </a:ext>
            </a:extLst>
          </p:cNvPr>
          <p:cNvSpPr>
            <a:spLocks noGrp="1"/>
          </p:cNvSpPr>
          <p:nvPr/>
        </p:nvSpPr>
        <p:spPr>
          <a:xfrm>
            <a:off x="457200" y="371475"/>
            <a:ext cx="514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07111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7111F"/>
                </a:solidFill>
                <a:latin typeface="Poppins"/>
                <a:ea typeface="Poppins"/>
                <a:cs typeface="Poppins"/>
              </a:rPr>
              <a:t>07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A25489-8D09-4259-8392-D6E78C26A636}"/>
              </a:ext>
            </a:extLst>
          </p:cNvPr>
          <p:cNvSpPr>
            <a:spLocks noGrp="1"/>
          </p:cNvSpPr>
          <p:nvPr/>
        </p:nvSpPr>
        <p:spPr>
          <a:xfrm>
            <a:off x="1104900" y="371475"/>
            <a:ext cx="7524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325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2325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Existing Systems - Three Categories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C1A6B4-89AB-47F1-8E06-A97B86DD17CD}"/>
              </a:ext>
            </a:extLst>
          </p:cNvPr>
          <p:cNvSpPr>
            <a:spLocks noGrp="1"/>
          </p:cNvSpPr>
          <p:nvPr/>
        </p:nvSpPr>
        <p:spPr>
          <a:xfrm>
            <a:off x="10191750" y="41910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275" b="1">
                <a:solidFill>
                  <a:srgbClr val="AFC0D3"/>
                </a:solidFill>
                <a:latin typeface="Poppins"/>
                <a:ea typeface="Poppins"/>
                <a:cs typeface="Poppins"/>
              </a:defRPr>
            </a:pPr>
            <a:r>
              <a:rPr sz="1275" b="1">
                <a:solidFill>
                  <a:srgbClr val="AFC0D3"/>
                </a:solidFill>
                <a:latin typeface="Poppins"/>
                <a:ea typeface="Poppins"/>
                <a:cs typeface="Poppins"/>
              </a:rPr>
              <a:t>RASET 2026 - BIT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752D56-1AC8-4E55-99E8-C312A0267289}"/>
              </a:ext>
            </a:extLst>
          </p:cNvPr>
          <p:cNvSpPr>
            <a:spLocks noGrp="1"/>
          </p:cNvSpPr>
          <p:nvPr/>
        </p:nvSpPr>
        <p:spPr>
          <a:xfrm>
            <a:off x="457200" y="838200"/>
            <a:ext cx="11277600" cy="19050"/>
          </a:xfrm>
          <a:prstGeom prst="rect">
            <a:avLst/>
          </a:prstGeom>
          <a:solidFill>
            <a:srgbClr val="2855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6825977-262D-46EE-ACD6-4961C972B66C}"/>
              </a:ext>
            </a:extLst>
          </p:cNvPr>
          <p:cNvSpPr>
            <a:spLocks noGrp="1"/>
          </p:cNvSpPr>
          <p:nvPr/>
        </p:nvSpPr>
        <p:spPr>
          <a:xfrm>
            <a:off x="666750" y="1314450"/>
            <a:ext cx="3295650" cy="4495800"/>
          </a:xfrm>
          <a:prstGeom prst="roundRect">
            <a:avLst>
              <a:gd name="adj" fmla="val 12000"/>
            </a:avLst>
          </a:prstGeom>
          <a:solidFill>
            <a:srgbClr val="132D4A"/>
          </a:solidFill>
          <a:ln w="12383">
            <a:solidFill>
              <a:srgbClr val="29D6F2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BFB4E7-D839-4109-BBE1-3E65BA53C851}"/>
              </a:ext>
            </a:extLst>
          </p:cNvPr>
          <p:cNvSpPr>
            <a:spLocks noGrp="1"/>
          </p:cNvSpPr>
          <p:nvPr/>
        </p:nvSpPr>
        <p:spPr>
          <a:xfrm>
            <a:off x="666750" y="1314450"/>
            <a:ext cx="3295650" cy="57150"/>
          </a:xfrm>
          <a:prstGeom prst="rect">
            <a:avLst/>
          </a:prstGeom>
          <a:solidFill>
            <a:srgbClr val="29D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2A2F95A-B8EB-4328-92D3-2A3ED445958A}"/>
              </a:ext>
            </a:extLst>
          </p:cNvPr>
          <p:cNvSpPr>
            <a:spLocks noGrp="1"/>
          </p:cNvSpPr>
          <p:nvPr/>
        </p:nvSpPr>
        <p:spPr>
          <a:xfrm>
            <a:off x="952500" y="1752600"/>
            <a:ext cx="6096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475" b="1">
                <a:solidFill>
                  <a:srgbClr val="29D6F2"/>
                </a:solidFill>
                <a:latin typeface="Poppins"/>
                <a:ea typeface="Poppins"/>
                <a:cs typeface="Poppins"/>
              </a:defRPr>
            </a:pPr>
            <a:r>
              <a:rPr sz="2475" b="1">
                <a:solidFill>
                  <a:srgbClr val="29D6F2"/>
                </a:solidFill>
                <a:latin typeface="Poppins"/>
                <a:ea typeface="Poppins"/>
                <a:cs typeface="Poppins"/>
              </a:rPr>
              <a:t>01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33A7705-F8E9-4EB4-8268-E43EA3E28690}"/>
              </a:ext>
            </a:extLst>
          </p:cNvPr>
          <p:cNvSpPr>
            <a:spLocks noGrp="1"/>
          </p:cNvSpPr>
          <p:nvPr/>
        </p:nvSpPr>
        <p:spPr>
          <a:xfrm>
            <a:off x="952500" y="2343150"/>
            <a:ext cx="27241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875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Large Job Portals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D93DB4A-FAFA-4702-A63E-C9E54E153E9D}"/>
              </a:ext>
            </a:extLst>
          </p:cNvPr>
          <p:cNvSpPr>
            <a:spLocks noGrp="1"/>
          </p:cNvSpPr>
          <p:nvPr/>
        </p:nvSpPr>
        <p:spPr>
          <a:xfrm>
            <a:off x="952500" y="3105150"/>
            <a:ext cx="1562100" cy="323850"/>
          </a:xfrm>
          <a:prstGeom prst="roundRect">
            <a:avLst>
              <a:gd name="adj" fmla="val 12000"/>
            </a:avLst>
          </a:prstGeom>
          <a:solidFill>
            <a:srgbClr val="0E20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DDFEF73-2628-4E10-99BB-55D3ADD08BF1}"/>
              </a:ext>
            </a:extLst>
          </p:cNvPr>
          <p:cNvSpPr>
            <a:spLocks noGrp="1"/>
          </p:cNvSpPr>
          <p:nvPr/>
        </p:nvSpPr>
        <p:spPr>
          <a:xfrm>
            <a:off x="1085850" y="3181350"/>
            <a:ext cx="1295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00" b="1">
                <a:solidFill>
                  <a:srgbClr val="29D6F2"/>
                </a:solidFill>
                <a:latin typeface="Poppins"/>
                <a:ea typeface="Poppins"/>
                <a:cs typeface="Poppins"/>
              </a:defRPr>
            </a:pPr>
            <a:r>
              <a:rPr sz="1200" b="1">
                <a:solidFill>
                  <a:srgbClr val="29D6F2"/>
                </a:solidFill>
                <a:latin typeface="Poppins"/>
                <a:ea typeface="Poppins"/>
                <a:cs typeface="Poppins"/>
              </a:rPr>
              <a:t>WHAT THEY DO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5D23F6B-A39B-463C-8B20-1B3927FFAFDD}"/>
              </a:ext>
            </a:extLst>
          </p:cNvPr>
          <p:cNvSpPr>
            <a:spLocks noGrp="1"/>
          </p:cNvSpPr>
          <p:nvPr/>
        </p:nvSpPr>
        <p:spPr>
          <a:xfrm>
            <a:off x="952500" y="3600450"/>
            <a:ext cx="27241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AFC0D3"/>
                </a:solidFill>
                <a:latin typeface="Lato"/>
                <a:ea typeface="Lato"/>
                <a:cs typeface="Lato"/>
              </a:rPr>
              <a:t>Maintain massive resume databases and let employers filter by keywords.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3008C98-A671-4815-BB4A-5D1E2F2BE6BE}"/>
              </a:ext>
            </a:extLst>
          </p:cNvPr>
          <p:cNvSpPr>
            <a:spLocks noGrp="1"/>
          </p:cNvSpPr>
          <p:nvPr/>
        </p:nvSpPr>
        <p:spPr>
          <a:xfrm>
            <a:off x="952500" y="4533900"/>
            <a:ext cx="1409700" cy="323850"/>
          </a:xfrm>
          <a:prstGeom prst="roundRect">
            <a:avLst>
              <a:gd name="adj" fmla="val 12000"/>
            </a:avLst>
          </a:prstGeom>
          <a:solidFill>
            <a:srgbClr val="0E20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0C12EE7-2614-48A3-A414-9AD4652F3A80}"/>
              </a:ext>
            </a:extLst>
          </p:cNvPr>
          <p:cNvSpPr>
            <a:spLocks noGrp="1"/>
          </p:cNvSpPr>
          <p:nvPr/>
        </p:nvSpPr>
        <p:spPr>
          <a:xfrm>
            <a:off x="1085850" y="4610100"/>
            <a:ext cx="114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00" b="1">
                <a:solidFill>
                  <a:srgbClr val="FF5B6E"/>
                </a:solidFill>
                <a:latin typeface="Poppins"/>
                <a:ea typeface="Poppins"/>
                <a:cs typeface="Poppins"/>
              </a:defRPr>
            </a:pPr>
            <a:r>
              <a:rPr sz="1200" b="1">
                <a:solidFill>
                  <a:srgbClr val="FF5B6E"/>
                </a:solidFill>
                <a:latin typeface="Poppins"/>
                <a:ea typeface="Poppins"/>
                <a:cs typeface="Poppins"/>
              </a:rPr>
              <a:t>LIMITATION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9F26E9C-B1A2-4C9E-8F32-1676CA3193F1}"/>
              </a:ext>
            </a:extLst>
          </p:cNvPr>
          <p:cNvSpPr>
            <a:spLocks noGrp="1"/>
          </p:cNvSpPr>
          <p:nvPr/>
        </p:nvSpPr>
        <p:spPr>
          <a:xfrm>
            <a:off x="952500" y="5029200"/>
            <a:ext cx="27241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AFC0D3"/>
                </a:solidFill>
                <a:latin typeface="Lato"/>
                <a:ea typeface="Lato"/>
                <a:cs typeface="Lato"/>
              </a:rPr>
              <a:t>Wide reach, but recommendations are popularity-driven and rarely explain why a job was suggested.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E17E437-7E4C-40F9-AE4D-B6D322624810}"/>
              </a:ext>
            </a:extLst>
          </p:cNvPr>
          <p:cNvSpPr>
            <a:spLocks noGrp="1"/>
          </p:cNvSpPr>
          <p:nvPr/>
        </p:nvSpPr>
        <p:spPr>
          <a:xfrm>
            <a:off x="4457700" y="1314450"/>
            <a:ext cx="3295650" cy="4495800"/>
          </a:xfrm>
          <a:prstGeom prst="roundRect">
            <a:avLst>
              <a:gd name="adj" fmla="val 12000"/>
            </a:avLst>
          </a:prstGeom>
          <a:solidFill>
            <a:srgbClr val="132D4A"/>
          </a:solidFill>
          <a:ln w="12383">
            <a:solidFill>
              <a:srgbClr val="FFC43D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0F630F2-D565-49A3-AA31-28655527C67A}"/>
              </a:ext>
            </a:extLst>
          </p:cNvPr>
          <p:cNvSpPr>
            <a:spLocks noGrp="1"/>
          </p:cNvSpPr>
          <p:nvPr/>
        </p:nvSpPr>
        <p:spPr>
          <a:xfrm>
            <a:off x="4457700" y="1314450"/>
            <a:ext cx="3295650" cy="57150"/>
          </a:xfrm>
          <a:prstGeom prst="rect">
            <a:avLst/>
          </a:prstGeom>
          <a:solidFill>
            <a:srgbClr val="FFC4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9213A8D-0240-42FB-89DA-71182832B310}"/>
              </a:ext>
            </a:extLst>
          </p:cNvPr>
          <p:cNvSpPr>
            <a:spLocks noGrp="1"/>
          </p:cNvSpPr>
          <p:nvPr/>
        </p:nvSpPr>
        <p:spPr>
          <a:xfrm>
            <a:off x="4743450" y="1752600"/>
            <a:ext cx="6096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475" b="1">
                <a:solidFill>
                  <a:srgbClr val="FFC43D"/>
                </a:solidFill>
                <a:latin typeface="Poppins"/>
                <a:ea typeface="Poppins"/>
                <a:cs typeface="Poppins"/>
              </a:defRPr>
            </a:pPr>
            <a:r>
              <a:rPr sz="2475" b="1">
                <a:solidFill>
                  <a:srgbClr val="FFC43D"/>
                </a:solidFill>
                <a:latin typeface="Poppins"/>
                <a:ea typeface="Poppins"/>
                <a:cs typeface="Poppins"/>
              </a:rPr>
              <a:t>02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4F8714A-92F1-4FBC-8EAC-7B63CB27C7F3}"/>
              </a:ext>
            </a:extLst>
          </p:cNvPr>
          <p:cNvSpPr>
            <a:spLocks noGrp="1"/>
          </p:cNvSpPr>
          <p:nvPr/>
        </p:nvSpPr>
        <p:spPr>
          <a:xfrm>
            <a:off x="4743450" y="2343150"/>
            <a:ext cx="27241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875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Course Marketplaces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2F9ABDF-1471-4A1B-BE56-410D48C937E5}"/>
              </a:ext>
            </a:extLst>
          </p:cNvPr>
          <p:cNvSpPr>
            <a:spLocks noGrp="1"/>
          </p:cNvSpPr>
          <p:nvPr/>
        </p:nvSpPr>
        <p:spPr>
          <a:xfrm>
            <a:off x="4743450" y="3105150"/>
            <a:ext cx="1562100" cy="323850"/>
          </a:xfrm>
          <a:prstGeom prst="roundRect">
            <a:avLst>
              <a:gd name="adj" fmla="val 12000"/>
            </a:avLst>
          </a:prstGeom>
          <a:solidFill>
            <a:srgbClr val="0E20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0CE7AA5-7749-4383-ABB7-892A68107559}"/>
              </a:ext>
            </a:extLst>
          </p:cNvPr>
          <p:cNvSpPr>
            <a:spLocks noGrp="1"/>
          </p:cNvSpPr>
          <p:nvPr/>
        </p:nvSpPr>
        <p:spPr>
          <a:xfrm>
            <a:off x="4876800" y="3181350"/>
            <a:ext cx="1295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00" b="1">
                <a:solidFill>
                  <a:srgbClr val="FFC43D"/>
                </a:solidFill>
                <a:latin typeface="Poppins"/>
                <a:ea typeface="Poppins"/>
                <a:cs typeface="Poppins"/>
              </a:defRPr>
            </a:pPr>
            <a:r>
              <a:rPr sz="1200" b="1">
                <a:solidFill>
                  <a:srgbClr val="FFC43D"/>
                </a:solidFill>
                <a:latin typeface="Poppins"/>
                <a:ea typeface="Poppins"/>
                <a:cs typeface="Poppins"/>
              </a:rPr>
              <a:t>WHAT THEY DO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489F5D3-B059-4C43-8B52-6A08ACCA2C0D}"/>
              </a:ext>
            </a:extLst>
          </p:cNvPr>
          <p:cNvSpPr>
            <a:spLocks noGrp="1"/>
          </p:cNvSpPr>
          <p:nvPr/>
        </p:nvSpPr>
        <p:spPr>
          <a:xfrm>
            <a:off x="4743450" y="3600450"/>
            <a:ext cx="27241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AFC0D3"/>
                </a:solidFill>
                <a:latin typeface="Lato"/>
                <a:ea typeface="Lato"/>
                <a:cs typeface="Lato"/>
              </a:rPr>
              <a:t>Promote trending courses based on enrolment numbers or broad demographics.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5449299-3B27-4EA2-955C-784022FE52EB}"/>
              </a:ext>
            </a:extLst>
          </p:cNvPr>
          <p:cNvSpPr>
            <a:spLocks noGrp="1"/>
          </p:cNvSpPr>
          <p:nvPr/>
        </p:nvSpPr>
        <p:spPr>
          <a:xfrm>
            <a:off x="4743450" y="4533900"/>
            <a:ext cx="1409700" cy="323850"/>
          </a:xfrm>
          <a:prstGeom prst="roundRect">
            <a:avLst>
              <a:gd name="adj" fmla="val 12000"/>
            </a:avLst>
          </a:prstGeom>
          <a:solidFill>
            <a:srgbClr val="0E20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EBBB0AE-853B-4F50-869E-2BE7C8FBA849}"/>
              </a:ext>
            </a:extLst>
          </p:cNvPr>
          <p:cNvSpPr>
            <a:spLocks noGrp="1"/>
          </p:cNvSpPr>
          <p:nvPr/>
        </p:nvSpPr>
        <p:spPr>
          <a:xfrm>
            <a:off x="4876800" y="4610100"/>
            <a:ext cx="114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00" b="1">
                <a:solidFill>
                  <a:srgbClr val="FF5B6E"/>
                </a:solidFill>
                <a:latin typeface="Poppins"/>
                <a:ea typeface="Poppins"/>
                <a:cs typeface="Poppins"/>
              </a:defRPr>
            </a:pPr>
            <a:r>
              <a:rPr sz="1200" b="1">
                <a:solidFill>
                  <a:srgbClr val="FF5B6E"/>
                </a:solidFill>
                <a:latin typeface="Poppins"/>
                <a:ea typeface="Poppins"/>
                <a:cs typeface="Poppins"/>
              </a:rPr>
              <a:t>LIMITATION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7322A14-8231-4341-9619-9FC969A6AAFF}"/>
              </a:ext>
            </a:extLst>
          </p:cNvPr>
          <p:cNvSpPr>
            <a:spLocks noGrp="1"/>
          </p:cNvSpPr>
          <p:nvPr/>
        </p:nvSpPr>
        <p:spPr>
          <a:xfrm>
            <a:off x="4743450" y="5029200"/>
            <a:ext cx="27241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AFC0D3"/>
                </a:solidFill>
                <a:latin typeface="Lato"/>
                <a:ea typeface="Lato"/>
                <a:cs typeface="Lato"/>
              </a:rPr>
              <a:t>Strong content variety, but no check whether a course closes a personal gap.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B373CE2A-9FFB-4EA3-B474-1DB068FC3606}"/>
              </a:ext>
            </a:extLst>
          </p:cNvPr>
          <p:cNvSpPr>
            <a:spLocks noGrp="1"/>
          </p:cNvSpPr>
          <p:nvPr/>
        </p:nvSpPr>
        <p:spPr>
          <a:xfrm>
            <a:off x="8248650" y="1314450"/>
            <a:ext cx="3295650" cy="4495800"/>
          </a:xfrm>
          <a:prstGeom prst="roundRect">
            <a:avLst>
              <a:gd name="adj" fmla="val 12000"/>
            </a:avLst>
          </a:prstGeom>
          <a:solidFill>
            <a:srgbClr val="132D4A"/>
          </a:solidFill>
          <a:ln w="12383">
            <a:solidFill>
              <a:srgbClr val="F261B4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BB152FE-87B3-49F2-BEF1-B42D10BC47E4}"/>
              </a:ext>
            </a:extLst>
          </p:cNvPr>
          <p:cNvSpPr>
            <a:spLocks noGrp="1"/>
          </p:cNvSpPr>
          <p:nvPr/>
        </p:nvSpPr>
        <p:spPr>
          <a:xfrm>
            <a:off x="8248650" y="1314450"/>
            <a:ext cx="3295650" cy="57150"/>
          </a:xfrm>
          <a:prstGeom prst="rect">
            <a:avLst/>
          </a:prstGeom>
          <a:solidFill>
            <a:srgbClr val="F261B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E8A9C78-2499-45B8-A43A-B14C6E06AFD1}"/>
              </a:ext>
            </a:extLst>
          </p:cNvPr>
          <p:cNvSpPr>
            <a:spLocks noGrp="1"/>
          </p:cNvSpPr>
          <p:nvPr/>
        </p:nvSpPr>
        <p:spPr>
          <a:xfrm>
            <a:off x="8534400" y="1752600"/>
            <a:ext cx="6096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475" b="1">
                <a:solidFill>
                  <a:srgbClr val="F261B4"/>
                </a:solidFill>
                <a:latin typeface="Poppins"/>
                <a:ea typeface="Poppins"/>
                <a:cs typeface="Poppins"/>
              </a:defRPr>
            </a:pPr>
            <a:r>
              <a:rPr sz="2475" b="1">
                <a:solidFill>
                  <a:srgbClr val="F261B4"/>
                </a:solidFill>
                <a:latin typeface="Poppins"/>
                <a:ea typeface="Poppins"/>
                <a:cs typeface="Poppins"/>
              </a:rPr>
              <a:t>03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C1ED907-1A4E-4FBA-9B60-5762EA8EFE0B}"/>
              </a:ext>
            </a:extLst>
          </p:cNvPr>
          <p:cNvSpPr>
            <a:spLocks noGrp="1"/>
          </p:cNvSpPr>
          <p:nvPr/>
        </p:nvSpPr>
        <p:spPr>
          <a:xfrm>
            <a:off x="8534400" y="2343150"/>
            <a:ext cx="27241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875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Early AI Prototypes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A9F96EDC-F829-43F9-B47C-0023BAC17D4E}"/>
              </a:ext>
            </a:extLst>
          </p:cNvPr>
          <p:cNvSpPr>
            <a:spLocks noGrp="1"/>
          </p:cNvSpPr>
          <p:nvPr/>
        </p:nvSpPr>
        <p:spPr>
          <a:xfrm>
            <a:off x="8534400" y="3105150"/>
            <a:ext cx="1562100" cy="323850"/>
          </a:xfrm>
          <a:prstGeom prst="roundRect">
            <a:avLst>
              <a:gd name="adj" fmla="val 12000"/>
            </a:avLst>
          </a:prstGeom>
          <a:solidFill>
            <a:srgbClr val="0E20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8AF840B-545A-4D47-9DDE-D5F4ED4D0DFF}"/>
              </a:ext>
            </a:extLst>
          </p:cNvPr>
          <p:cNvSpPr>
            <a:spLocks noGrp="1"/>
          </p:cNvSpPr>
          <p:nvPr/>
        </p:nvSpPr>
        <p:spPr>
          <a:xfrm>
            <a:off x="8667750" y="3181350"/>
            <a:ext cx="1295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00" b="1">
                <a:solidFill>
                  <a:srgbClr val="F261B4"/>
                </a:solidFill>
                <a:latin typeface="Poppins"/>
                <a:ea typeface="Poppins"/>
                <a:cs typeface="Poppins"/>
              </a:defRPr>
            </a:pPr>
            <a:r>
              <a:rPr sz="1200" b="1">
                <a:solidFill>
                  <a:srgbClr val="F261B4"/>
                </a:solidFill>
                <a:latin typeface="Poppins"/>
                <a:ea typeface="Poppins"/>
                <a:cs typeface="Poppins"/>
              </a:rPr>
              <a:t>WHAT THEY DO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CC72DD7-C297-440F-A8B3-C7C7E3DA6F79}"/>
              </a:ext>
            </a:extLst>
          </p:cNvPr>
          <p:cNvSpPr>
            <a:spLocks noGrp="1"/>
          </p:cNvSpPr>
          <p:nvPr/>
        </p:nvSpPr>
        <p:spPr>
          <a:xfrm>
            <a:off x="8534400" y="3600450"/>
            <a:ext cx="27241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AFC0D3"/>
                </a:solidFill>
                <a:latin typeface="Lato"/>
                <a:ea typeface="Lato"/>
                <a:cs typeface="Lato"/>
              </a:rPr>
              <a:t>Use one similarity scorer trained on limited data, often without progress tracking.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526C3146-78C7-4B29-AB6C-4D208D38C936}"/>
              </a:ext>
            </a:extLst>
          </p:cNvPr>
          <p:cNvSpPr>
            <a:spLocks noGrp="1"/>
          </p:cNvSpPr>
          <p:nvPr/>
        </p:nvSpPr>
        <p:spPr>
          <a:xfrm>
            <a:off x="8534400" y="4533900"/>
            <a:ext cx="1409700" cy="323850"/>
          </a:xfrm>
          <a:prstGeom prst="roundRect">
            <a:avLst>
              <a:gd name="adj" fmla="val 12000"/>
            </a:avLst>
          </a:prstGeom>
          <a:solidFill>
            <a:srgbClr val="0E20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868F15E-E657-400A-BA1F-E59DEC55D73B}"/>
              </a:ext>
            </a:extLst>
          </p:cNvPr>
          <p:cNvSpPr>
            <a:spLocks noGrp="1"/>
          </p:cNvSpPr>
          <p:nvPr/>
        </p:nvSpPr>
        <p:spPr>
          <a:xfrm>
            <a:off x="8667750" y="4610100"/>
            <a:ext cx="114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00" b="1">
                <a:solidFill>
                  <a:srgbClr val="FF5B6E"/>
                </a:solidFill>
                <a:latin typeface="Poppins"/>
                <a:ea typeface="Poppins"/>
                <a:cs typeface="Poppins"/>
              </a:defRPr>
            </a:pPr>
            <a:r>
              <a:rPr sz="1200" b="1">
                <a:solidFill>
                  <a:srgbClr val="FF5B6E"/>
                </a:solidFill>
                <a:latin typeface="Poppins"/>
                <a:ea typeface="Poppins"/>
                <a:cs typeface="Poppins"/>
              </a:rPr>
              <a:t>LIMITATION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C945DC9-25B4-444C-B777-9F1B279835B4}"/>
              </a:ext>
            </a:extLst>
          </p:cNvPr>
          <p:cNvSpPr>
            <a:spLocks noGrp="1"/>
          </p:cNvSpPr>
          <p:nvPr/>
        </p:nvSpPr>
        <p:spPr>
          <a:xfrm>
            <a:off x="8534400" y="5029200"/>
            <a:ext cx="27241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AFC0D3"/>
                </a:solidFill>
                <a:latin typeface="Lato"/>
                <a:ea typeface="Lato"/>
                <a:cs typeface="Lato"/>
              </a:rPr>
              <a:t>Limited context, no sentiment integration, and weak use of live job descriptions.</a:t>
            </a:r>
          </a:p>
        </p:txBody>
      </p:sp>
    </p:spTree>
    <p:extLst>
      <p:ext uri="{BB962C8B-B14F-4D97-AF65-F5344CB8AC3E}">
        <p14:creationId xmlns:p14="http://schemas.microsoft.com/office/powerpoint/2010/main" val="492671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1C414503-B027-49A2-A5D7-F88AE282672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9D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3652478-C330-4EB1-9775-780E0D0CA521}"/>
              </a:ext>
            </a:extLst>
          </p:cNvPr>
          <p:cNvSpPr>
            <a:spLocks noGrp="1"/>
          </p:cNvSpPr>
          <p:nvPr/>
        </p:nvSpPr>
        <p:spPr>
          <a:xfrm>
            <a:off x="-1143000" y="-1143000"/>
            <a:ext cx="3429000" cy="3429000"/>
          </a:xfrm>
          <a:prstGeom prst="ellipse">
            <a:avLst/>
          </a:prstGeom>
          <a:solidFill>
            <a:srgbClr val="123A4C">
              <a:alpha val="4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41C6964-ADB9-4E6D-BA84-D1E75217AF95}"/>
              </a:ext>
            </a:extLst>
          </p:cNvPr>
          <p:cNvSpPr>
            <a:spLocks noGrp="1"/>
          </p:cNvSpPr>
          <p:nvPr/>
        </p:nvSpPr>
        <p:spPr>
          <a:xfrm>
            <a:off x="10001250" y="5334000"/>
            <a:ext cx="3333750" cy="3333750"/>
          </a:xfrm>
          <a:prstGeom prst="ellipse">
            <a:avLst/>
          </a:prstGeom>
          <a:solidFill>
            <a:srgbClr val="3C2147">
              <a:alpha val="4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645F4D-1C1F-457F-A164-B23DB1D3BE88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14350" cy="419100"/>
          </a:xfrm>
          <a:prstGeom prst="rect">
            <a:avLst/>
          </a:prstGeom>
          <a:solidFill>
            <a:srgbClr val="29D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C5FFE3-C95E-4122-8764-5CEDA021907E}"/>
              </a:ext>
            </a:extLst>
          </p:cNvPr>
          <p:cNvSpPr>
            <a:spLocks noGrp="1"/>
          </p:cNvSpPr>
          <p:nvPr/>
        </p:nvSpPr>
        <p:spPr>
          <a:xfrm>
            <a:off x="457200" y="371475"/>
            <a:ext cx="514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07111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7111F"/>
                </a:solidFill>
                <a:latin typeface="Poppins"/>
                <a:ea typeface="Poppins"/>
                <a:cs typeface="Poppins"/>
              </a:rPr>
              <a:t>08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35B768-4883-4BC6-85C8-AC309584BC9E}"/>
              </a:ext>
            </a:extLst>
          </p:cNvPr>
          <p:cNvSpPr>
            <a:spLocks noGrp="1"/>
          </p:cNvSpPr>
          <p:nvPr/>
        </p:nvSpPr>
        <p:spPr>
          <a:xfrm>
            <a:off x="1104900" y="371475"/>
            <a:ext cx="7524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325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2325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Consequences for the Learner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4E0CC3-FFC2-4E7E-95D3-F466C899438C}"/>
              </a:ext>
            </a:extLst>
          </p:cNvPr>
          <p:cNvSpPr>
            <a:spLocks noGrp="1"/>
          </p:cNvSpPr>
          <p:nvPr/>
        </p:nvSpPr>
        <p:spPr>
          <a:xfrm>
            <a:off x="10191750" y="41910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275" b="1">
                <a:solidFill>
                  <a:srgbClr val="AFC0D3"/>
                </a:solidFill>
                <a:latin typeface="Poppins"/>
                <a:ea typeface="Poppins"/>
                <a:cs typeface="Poppins"/>
              </a:defRPr>
            </a:pPr>
            <a:r>
              <a:rPr sz="1275" b="1">
                <a:solidFill>
                  <a:srgbClr val="AFC0D3"/>
                </a:solidFill>
                <a:latin typeface="Poppins"/>
                <a:ea typeface="Poppins"/>
                <a:cs typeface="Poppins"/>
              </a:rPr>
              <a:t>RASET 2026 - BIT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E98781-7E69-4FB5-8F39-354F3A99CCDC}"/>
              </a:ext>
            </a:extLst>
          </p:cNvPr>
          <p:cNvSpPr>
            <a:spLocks noGrp="1"/>
          </p:cNvSpPr>
          <p:nvPr/>
        </p:nvSpPr>
        <p:spPr>
          <a:xfrm>
            <a:off x="457200" y="838200"/>
            <a:ext cx="11277600" cy="19050"/>
          </a:xfrm>
          <a:prstGeom prst="rect">
            <a:avLst/>
          </a:prstGeom>
          <a:solidFill>
            <a:srgbClr val="2855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690D02-5EED-4B32-A278-AFD8E873BDF1}"/>
              </a:ext>
            </a:extLst>
          </p:cNvPr>
          <p:cNvSpPr>
            <a:spLocks noGrp="1"/>
          </p:cNvSpPr>
          <p:nvPr/>
        </p:nvSpPr>
        <p:spPr>
          <a:xfrm>
            <a:off x="1085850" y="1352550"/>
            <a:ext cx="3429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6154"/>
          </a:bodyPr>
          <a:lstStyle/>
          <a:p>
            <a:pPr algn="ctr">
              <a:defRPr sz="1950" b="1">
                <a:solidFill>
                  <a:srgbClr val="F261B4"/>
                </a:solidFill>
                <a:latin typeface="Poppins"/>
                <a:ea typeface="Poppins"/>
                <a:cs typeface="Poppins"/>
              </a:defRPr>
            </a:pPr>
            <a:r>
              <a:rPr sz="1950" b="1">
                <a:solidFill>
                  <a:srgbClr val="F261B4"/>
                </a:solidFill>
                <a:latin typeface="Poppins"/>
                <a:ea typeface="Poppins"/>
                <a:cs typeface="Poppins"/>
              </a:rPr>
              <a:t>What exists breaks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F1FAE6-6D23-4263-B630-65405C005B5A}"/>
              </a:ext>
            </a:extLst>
          </p:cNvPr>
          <p:cNvSpPr>
            <a:spLocks noGrp="1"/>
          </p:cNvSpPr>
          <p:nvPr/>
        </p:nvSpPr>
        <p:spPr>
          <a:xfrm>
            <a:off x="7715250" y="1352550"/>
            <a:ext cx="3429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6154"/>
          </a:bodyPr>
          <a:lstStyle/>
          <a:p>
            <a:pPr algn="ctr">
              <a:defRPr sz="1950" b="1">
                <a:solidFill>
                  <a:srgbClr val="18C99A"/>
                </a:solidFill>
                <a:latin typeface="Poppins"/>
                <a:ea typeface="Poppins"/>
                <a:cs typeface="Poppins"/>
              </a:defRPr>
            </a:pPr>
            <a:r>
              <a:rPr sz="1950" b="1">
                <a:solidFill>
                  <a:srgbClr val="18C99A"/>
                </a:solidFill>
                <a:latin typeface="Poppins"/>
                <a:ea typeface="Poppins"/>
                <a:cs typeface="Poppins"/>
              </a:rPr>
              <a:t>How we respond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3135551-9F06-4CC1-85EA-02982B56D1A0}"/>
              </a:ext>
            </a:extLst>
          </p:cNvPr>
          <p:cNvSpPr>
            <a:spLocks noGrp="1"/>
          </p:cNvSpPr>
          <p:nvPr/>
        </p:nvSpPr>
        <p:spPr>
          <a:xfrm>
            <a:off x="5924550" y="1504950"/>
            <a:ext cx="342900" cy="342900"/>
          </a:xfrm>
          <a:prstGeom prst="roundRect">
            <a:avLst>
              <a:gd name="adj" fmla="val 12000"/>
            </a:avLst>
          </a:prstGeom>
          <a:solidFill>
            <a:srgbClr val="102D48"/>
          </a:solidFill>
          <a:ln w="9525">
            <a:solidFill>
              <a:srgbClr val="29D6F2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9B3FFF-EFCF-490E-A60A-3934CADADB6C}"/>
              </a:ext>
            </a:extLst>
          </p:cNvPr>
          <p:cNvSpPr>
            <a:spLocks noGrp="1"/>
          </p:cNvSpPr>
          <p:nvPr/>
        </p:nvSpPr>
        <p:spPr>
          <a:xfrm>
            <a:off x="5924550" y="1600200"/>
            <a:ext cx="342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78431"/>
          </a:bodyPr>
          <a:lstStyle/>
          <a:p>
            <a:pPr algn="ctr">
              <a:defRPr sz="1275" b="1">
                <a:solidFill>
                  <a:srgbClr val="29D6F2"/>
                </a:solidFill>
                <a:latin typeface="Poppins"/>
                <a:ea typeface="Poppins"/>
                <a:cs typeface="Poppins"/>
              </a:defRPr>
            </a:pPr>
            <a:r>
              <a:rPr sz="1275" b="1">
                <a:solidFill>
                  <a:srgbClr val="29D6F2"/>
                </a:solidFill>
                <a:latin typeface="Poppins"/>
                <a:ea typeface="Poppins"/>
                <a:cs typeface="Poppins"/>
              </a:rPr>
              <a:t>VS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E7C70D3-6FCF-4DE0-AF60-580A3723E31C}"/>
              </a:ext>
            </a:extLst>
          </p:cNvPr>
          <p:cNvSpPr>
            <a:spLocks noGrp="1"/>
          </p:cNvSpPr>
          <p:nvPr/>
        </p:nvSpPr>
        <p:spPr>
          <a:xfrm>
            <a:off x="704850" y="1962150"/>
            <a:ext cx="4610100" cy="742950"/>
          </a:xfrm>
          <a:prstGeom prst="roundRect">
            <a:avLst>
              <a:gd name="adj" fmla="val 12000"/>
            </a:avLst>
          </a:prstGeom>
          <a:solidFill>
            <a:srgbClr val="2A1730"/>
          </a:solidFill>
          <a:ln w="9525">
            <a:solidFill>
              <a:srgbClr val="F261B4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0E3730D-729F-4A1A-8439-0B1AA190207A}"/>
              </a:ext>
            </a:extLst>
          </p:cNvPr>
          <p:cNvSpPr>
            <a:spLocks noGrp="1"/>
          </p:cNvSpPr>
          <p:nvPr/>
        </p:nvSpPr>
        <p:spPr>
          <a:xfrm>
            <a:off x="952500" y="2114550"/>
            <a:ext cx="3714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575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Aggregate suggestions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E3886E-319A-4BC2-9A65-7F617A1FD961}"/>
              </a:ext>
            </a:extLst>
          </p:cNvPr>
          <p:cNvSpPr>
            <a:spLocks noGrp="1"/>
          </p:cNvSpPr>
          <p:nvPr/>
        </p:nvSpPr>
        <p:spPr>
          <a:xfrm>
            <a:off x="952500" y="2419350"/>
            <a:ext cx="3810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38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238" b="0">
                <a:solidFill>
                  <a:srgbClr val="AFC0D3"/>
                </a:solidFill>
                <a:latin typeface="Lato"/>
                <a:ea typeface="Lato"/>
                <a:cs typeface="Lato"/>
              </a:rPr>
              <a:t>Top-10 lists ignore individual targets.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492CE3D-FC03-495F-ACB4-836EAA5FDCD1}"/>
              </a:ext>
            </a:extLst>
          </p:cNvPr>
          <p:cNvSpPr>
            <a:spLocks noGrp="1"/>
          </p:cNvSpPr>
          <p:nvPr/>
        </p:nvSpPr>
        <p:spPr>
          <a:xfrm>
            <a:off x="704850" y="2857500"/>
            <a:ext cx="4610100" cy="742950"/>
          </a:xfrm>
          <a:prstGeom prst="roundRect">
            <a:avLst>
              <a:gd name="adj" fmla="val 12000"/>
            </a:avLst>
          </a:prstGeom>
          <a:solidFill>
            <a:srgbClr val="2A1730"/>
          </a:solidFill>
          <a:ln w="9525">
            <a:solidFill>
              <a:srgbClr val="F261B4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287CC3C-EC37-4E98-943C-E9596F6780F4}"/>
              </a:ext>
            </a:extLst>
          </p:cNvPr>
          <p:cNvSpPr>
            <a:spLocks noGrp="1"/>
          </p:cNvSpPr>
          <p:nvPr/>
        </p:nvSpPr>
        <p:spPr>
          <a:xfrm>
            <a:off x="952500" y="3009900"/>
            <a:ext cx="3714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575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Unreliable scoring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5B09070-3986-4072-90A0-337D461C811F}"/>
              </a:ext>
            </a:extLst>
          </p:cNvPr>
          <p:cNvSpPr>
            <a:spLocks noGrp="1"/>
          </p:cNvSpPr>
          <p:nvPr/>
        </p:nvSpPr>
        <p:spPr>
          <a:xfrm>
            <a:off x="952500" y="3314700"/>
            <a:ext cx="3810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38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238" b="0">
                <a:solidFill>
                  <a:srgbClr val="AFC0D3"/>
                </a:solidFill>
                <a:latin typeface="Lato"/>
                <a:ea typeface="Lato"/>
                <a:cs typeface="Lato"/>
              </a:rPr>
              <a:t>Brief mentions look identical to deep mastery.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11EC1BD-5DF9-45F2-B4FF-CC71CA4AA0FA}"/>
              </a:ext>
            </a:extLst>
          </p:cNvPr>
          <p:cNvSpPr>
            <a:spLocks noGrp="1"/>
          </p:cNvSpPr>
          <p:nvPr/>
        </p:nvSpPr>
        <p:spPr>
          <a:xfrm>
            <a:off x="704850" y="3752850"/>
            <a:ext cx="4610100" cy="742950"/>
          </a:xfrm>
          <a:prstGeom prst="roundRect">
            <a:avLst>
              <a:gd name="adj" fmla="val 12000"/>
            </a:avLst>
          </a:prstGeom>
          <a:solidFill>
            <a:srgbClr val="2A1730"/>
          </a:solidFill>
          <a:ln w="9525">
            <a:solidFill>
              <a:srgbClr val="F261B4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4568E2F-67A3-422F-938B-962A27241A40}"/>
              </a:ext>
            </a:extLst>
          </p:cNvPr>
          <p:cNvSpPr>
            <a:spLocks noGrp="1"/>
          </p:cNvSpPr>
          <p:nvPr/>
        </p:nvSpPr>
        <p:spPr>
          <a:xfrm>
            <a:off x="952500" y="3905250"/>
            <a:ext cx="3714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575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Frustrating recommendations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8C6949C-41DF-4C76-B2D3-39E65392E6AA}"/>
              </a:ext>
            </a:extLst>
          </p:cNvPr>
          <p:cNvSpPr>
            <a:spLocks noGrp="1"/>
          </p:cNvSpPr>
          <p:nvPr/>
        </p:nvSpPr>
        <p:spPr>
          <a:xfrm>
            <a:off x="952500" y="4210050"/>
            <a:ext cx="3810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38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238" b="0">
                <a:solidFill>
                  <a:srgbClr val="AFC0D3"/>
                </a:solidFill>
                <a:latin typeface="Lato"/>
                <a:ea typeface="Lato"/>
                <a:cs typeface="Lato"/>
              </a:rPr>
              <a:t>Poor job suggestions reduce learner trust.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B45C3F3-41F6-41BE-BB33-5B7CBE8F2129}"/>
              </a:ext>
            </a:extLst>
          </p:cNvPr>
          <p:cNvSpPr>
            <a:spLocks noGrp="1"/>
          </p:cNvSpPr>
          <p:nvPr/>
        </p:nvSpPr>
        <p:spPr>
          <a:xfrm>
            <a:off x="704850" y="4648200"/>
            <a:ext cx="4610100" cy="742950"/>
          </a:xfrm>
          <a:prstGeom prst="roundRect">
            <a:avLst>
              <a:gd name="adj" fmla="val 12000"/>
            </a:avLst>
          </a:prstGeom>
          <a:solidFill>
            <a:srgbClr val="2A1730"/>
          </a:solidFill>
          <a:ln w="9525">
            <a:solidFill>
              <a:srgbClr val="F261B4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67A2DF1-0ABA-439A-ABFA-AC835FF94002}"/>
              </a:ext>
            </a:extLst>
          </p:cNvPr>
          <p:cNvSpPr>
            <a:spLocks noGrp="1"/>
          </p:cNvSpPr>
          <p:nvPr/>
        </p:nvSpPr>
        <p:spPr>
          <a:xfrm>
            <a:off x="952500" y="4800600"/>
            <a:ext cx="3714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575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One-time snapshots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379AD8C-8D31-4473-9961-C5C7E1889D55}"/>
              </a:ext>
            </a:extLst>
          </p:cNvPr>
          <p:cNvSpPr>
            <a:spLocks noGrp="1"/>
          </p:cNvSpPr>
          <p:nvPr/>
        </p:nvSpPr>
        <p:spPr>
          <a:xfrm>
            <a:off x="952500" y="5105400"/>
            <a:ext cx="3810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38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238" b="0">
                <a:solidFill>
                  <a:srgbClr val="AFC0D3"/>
                </a:solidFill>
                <a:latin typeface="Lato"/>
                <a:ea typeface="Lato"/>
                <a:cs typeface="Lato"/>
              </a:rPr>
              <a:t>No way to plan long-term growth.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E7D54C1-6697-43ED-8C59-EFF5059ABF96}"/>
              </a:ext>
            </a:extLst>
          </p:cNvPr>
          <p:cNvSpPr>
            <a:spLocks noGrp="1"/>
          </p:cNvSpPr>
          <p:nvPr/>
        </p:nvSpPr>
        <p:spPr>
          <a:xfrm>
            <a:off x="6877050" y="1962150"/>
            <a:ext cx="4610100" cy="742950"/>
          </a:xfrm>
          <a:prstGeom prst="roundRect">
            <a:avLst>
              <a:gd name="adj" fmla="val 12000"/>
            </a:avLst>
          </a:prstGeom>
          <a:solidFill>
            <a:srgbClr val="102B2D"/>
          </a:solidFill>
          <a:ln w="9525">
            <a:solidFill>
              <a:srgbClr val="18C99A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2BA1CEB-08D8-411A-94E2-5C11FF9464BF}"/>
              </a:ext>
            </a:extLst>
          </p:cNvPr>
          <p:cNvSpPr>
            <a:spLocks noGrp="1"/>
          </p:cNvSpPr>
          <p:nvPr/>
        </p:nvSpPr>
        <p:spPr>
          <a:xfrm>
            <a:off x="7143750" y="2114550"/>
            <a:ext cx="3714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575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Profile-aware analysis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DBB6793-81E0-42B8-8A8D-8CF72AD7AAF2}"/>
              </a:ext>
            </a:extLst>
          </p:cNvPr>
          <p:cNvSpPr>
            <a:spLocks noGrp="1"/>
          </p:cNvSpPr>
          <p:nvPr/>
        </p:nvSpPr>
        <p:spPr>
          <a:xfrm>
            <a:off x="7143750" y="2419350"/>
            <a:ext cx="3810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38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238" b="0">
                <a:solidFill>
                  <a:srgbClr val="AFC0D3"/>
                </a:solidFill>
                <a:latin typeface="Lato"/>
                <a:ea typeface="Lato"/>
                <a:cs typeface="Lato"/>
              </a:rPr>
              <a:t>Catalogue meets the learner's actual skills.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AAEFBE0E-B417-4811-BBAC-A8D1EB848495}"/>
              </a:ext>
            </a:extLst>
          </p:cNvPr>
          <p:cNvSpPr>
            <a:spLocks noGrp="1"/>
          </p:cNvSpPr>
          <p:nvPr/>
        </p:nvSpPr>
        <p:spPr>
          <a:xfrm>
            <a:off x="6877050" y="2857500"/>
            <a:ext cx="4610100" cy="742950"/>
          </a:xfrm>
          <a:prstGeom prst="roundRect">
            <a:avLst>
              <a:gd name="adj" fmla="val 12000"/>
            </a:avLst>
          </a:prstGeom>
          <a:solidFill>
            <a:srgbClr val="102B2D"/>
          </a:solidFill>
          <a:ln w="9525">
            <a:solidFill>
              <a:srgbClr val="18C99A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83B633D-2AA2-4EAA-9781-740E2B4F52A3}"/>
              </a:ext>
            </a:extLst>
          </p:cNvPr>
          <p:cNvSpPr>
            <a:spLocks noGrp="1"/>
          </p:cNvSpPr>
          <p:nvPr/>
        </p:nvSpPr>
        <p:spPr>
          <a:xfrm>
            <a:off x="7143750" y="3009900"/>
            <a:ext cx="3714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575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Semantic embeddings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A8DFB2C-BD8F-4F4D-95D9-16D51C70777D}"/>
              </a:ext>
            </a:extLst>
          </p:cNvPr>
          <p:cNvSpPr>
            <a:spLocks noGrp="1"/>
          </p:cNvSpPr>
          <p:nvPr/>
        </p:nvSpPr>
        <p:spPr>
          <a:xfrm>
            <a:off x="7143750" y="3314700"/>
            <a:ext cx="3810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38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238" b="0">
                <a:solidFill>
                  <a:srgbClr val="AFC0D3"/>
                </a:solidFill>
                <a:latin typeface="Lato"/>
                <a:ea typeface="Lato"/>
                <a:cs typeface="Lato"/>
              </a:rPr>
              <a:t>Cosine similarity replaces literal overlap.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49140693-46C0-4C55-A5AF-4A2C9B020829}"/>
              </a:ext>
            </a:extLst>
          </p:cNvPr>
          <p:cNvSpPr>
            <a:spLocks noGrp="1"/>
          </p:cNvSpPr>
          <p:nvPr/>
        </p:nvSpPr>
        <p:spPr>
          <a:xfrm>
            <a:off x="6877050" y="3752850"/>
            <a:ext cx="4610100" cy="742950"/>
          </a:xfrm>
          <a:prstGeom prst="roundRect">
            <a:avLst>
              <a:gd name="adj" fmla="val 12000"/>
            </a:avLst>
          </a:prstGeom>
          <a:solidFill>
            <a:srgbClr val="102B2D"/>
          </a:solidFill>
          <a:ln w="9525">
            <a:solidFill>
              <a:srgbClr val="18C99A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C013763-3C02-4784-9F7D-EC8305588028}"/>
              </a:ext>
            </a:extLst>
          </p:cNvPr>
          <p:cNvSpPr>
            <a:spLocks noGrp="1"/>
          </p:cNvSpPr>
          <p:nvPr/>
        </p:nvSpPr>
        <p:spPr>
          <a:xfrm>
            <a:off x="7143750" y="3905250"/>
            <a:ext cx="3714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575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Targeted course paths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630A281-018F-4D2D-9169-92FED188010D}"/>
              </a:ext>
            </a:extLst>
          </p:cNvPr>
          <p:cNvSpPr>
            <a:spLocks noGrp="1"/>
          </p:cNvSpPr>
          <p:nvPr/>
        </p:nvSpPr>
        <p:spPr>
          <a:xfrm>
            <a:off x="7143750" y="4210050"/>
            <a:ext cx="3810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38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238" b="0">
                <a:solidFill>
                  <a:srgbClr val="AFC0D3"/>
                </a:solidFill>
                <a:latin typeface="Lato"/>
                <a:ea typeface="Lato"/>
                <a:cs typeface="Lato"/>
              </a:rPr>
              <a:t>Each recommendation closes a verified gap.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A3A0756F-C6A4-44ED-A6EB-1CCC04F67432}"/>
              </a:ext>
            </a:extLst>
          </p:cNvPr>
          <p:cNvSpPr>
            <a:spLocks noGrp="1"/>
          </p:cNvSpPr>
          <p:nvPr/>
        </p:nvSpPr>
        <p:spPr>
          <a:xfrm>
            <a:off x="6877050" y="4648200"/>
            <a:ext cx="4610100" cy="742950"/>
          </a:xfrm>
          <a:prstGeom prst="roundRect">
            <a:avLst>
              <a:gd name="adj" fmla="val 12000"/>
            </a:avLst>
          </a:prstGeom>
          <a:solidFill>
            <a:srgbClr val="102B2D"/>
          </a:solidFill>
          <a:ln w="9525">
            <a:solidFill>
              <a:srgbClr val="18C99A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D9D29A9-614E-4824-8152-F73BF929636C}"/>
              </a:ext>
            </a:extLst>
          </p:cNvPr>
          <p:cNvSpPr>
            <a:spLocks noGrp="1"/>
          </p:cNvSpPr>
          <p:nvPr/>
        </p:nvSpPr>
        <p:spPr>
          <a:xfrm>
            <a:off x="7143750" y="4800600"/>
            <a:ext cx="3714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575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Continuous re-analysis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CE35702-BE56-48F0-B92D-92F10A558ECA}"/>
              </a:ext>
            </a:extLst>
          </p:cNvPr>
          <p:cNvSpPr>
            <a:spLocks noGrp="1"/>
          </p:cNvSpPr>
          <p:nvPr/>
        </p:nvSpPr>
        <p:spPr>
          <a:xfrm>
            <a:off x="7143750" y="5105400"/>
            <a:ext cx="3810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38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238" b="0">
                <a:solidFill>
                  <a:srgbClr val="AFC0D3"/>
                </a:solidFill>
                <a:latin typeface="Lato"/>
                <a:ea typeface="Lato"/>
                <a:cs typeface="Lato"/>
              </a:rPr>
              <a:t>Score updates every time a skill is added.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3430057-B501-443A-9F14-7F010838EAD8}"/>
              </a:ext>
            </a:extLst>
          </p:cNvPr>
          <p:cNvSpPr>
            <a:spLocks noGrp="1"/>
          </p:cNvSpPr>
          <p:nvPr/>
        </p:nvSpPr>
        <p:spPr>
          <a:xfrm>
            <a:off x="5467350" y="2324100"/>
            <a:ext cx="1276350" cy="28575"/>
          </a:xfrm>
          <a:prstGeom prst="rect">
            <a:avLst/>
          </a:prstGeom>
          <a:solidFill>
            <a:srgbClr val="29D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052E9BE0-3ADB-444B-A41F-7342835BA53B}"/>
              </a:ext>
            </a:extLst>
          </p:cNvPr>
          <p:cNvSpPr>
            <a:spLocks noGrp="1"/>
          </p:cNvSpPr>
          <p:nvPr/>
        </p:nvSpPr>
        <p:spPr>
          <a:xfrm>
            <a:off x="6591300" y="2247900"/>
            <a:ext cx="247650" cy="190500"/>
          </a:xfrm>
          <a:prstGeom prst="rightArrow">
            <a:avLst/>
          </a:prstGeom>
          <a:solidFill>
            <a:srgbClr val="29D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930C427-3C31-4959-897A-5FC3962EB806}"/>
              </a:ext>
            </a:extLst>
          </p:cNvPr>
          <p:cNvSpPr>
            <a:spLocks noGrp="1"/>
          </p:cNvSpPr>
          <p:nvPr/>
        </p:nvSpPr>
        <p:spPr>
          <a:xfrm>
            <a:off x="5467350" y="3219450"/>
            <a:ext cx="1276350" cy="28575"/>
          </a:xfrm>
          <a:prstGeom prst="rect">
            <a:avLst/>
          </a:prstGeom>
          <a:solidFill>
            <a:srgbClr val="FFC4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3EEE933C-DA4F-47DE-8303-06E534153FAE}"/>
              </a:ext>
            </a:extLst>
          </p:cNvPr>
          <p:cNvSpPr>
            <a:spLocks noGrp="1"/>
          </p:cNvSpPr>
          <p:nvPr/>
        </p:nvSpPr>
        <p:spPr>
          <a:xfrm>
            <a:off x="6591300" y="3143250"/>
            <a:ext cx="247650" cy="190500"/>
          </a:xfrm>
          <a:prstGeom prst="rightArrow">
            <a:avLst/>
          </a:prstGeom>
          <a:solidFill>
            <a:srgbClr val="FFC4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14457F5-2303-41E9-9DEC-848893972A53}"/>
              </a:ext>
            </a:extLst>
          </p:cNvPr>
          <p:cNvSpPr>
            <a:spLocks noGrp="1"/>
          </p:cNvSpPr>
          <p:nvPr/>
        </p:nvSpPr>
        <p:spPr>
          <a:xfrm>
            <a:off x="5467350" y="4114800"/>
            <a:ext cx="1276350" cy="28575"/>
          </a:xfrm>
          <a:prstGeom prst="rect">
            <a:avLst/>
          </a:prstGeom>
          <a:solidFill>
            <a:srgbClr val="29D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390347E2-34ED-4889-B0D4-1913419C8B5D}"/>
              </a:ext>
            </a:extLst>
          </p:cNvPr>
          <p:cNvSpPr>
            <a:spLocks noGrp="1"/>
          </p:cNvSpPr>
          <p:nvPr/>
        </p:nvSpPr>
        <p:spPr>
          <a:xfrm>
            <a:off x="6591300" y="4038600"/>
            <a:ext cx="247650" cy="190500"/>
          </a:xfrm>
          <a:prstGeom prst="rightArrow">
            <a:avLst/>
          </a:prstGeom>
          <a:solidFill>
            <a:srgbClr val="29D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5DC3D72-51B4-4340-97C5-319C0626564C}"/>
              </a:ext>
            </a:extLst>
          </p:cNvPr>
          <p:cNvSpPr>
            <a:spLocks noGrp="1"/>
          </p:cNvSpPr>
          <p:nvPr/>
        </p:nvSpPr>
        <p:spPr>
          <a:xfrm>
            <a:off x="5467350" y="5010150"/>
            <a:ext cx="1276350" cy="28575"/>
          </a:xfrm>
          <a:prstGeom prst="rect">
            <a:avLst/>
          </a:prstGeom>
          <a:solidFill>
            <a:srgbClr val="FFC4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Arrow: Right 43">
            <a:extLst>
              <a:ext uri="{FF2B5EF4-FFF2-40B4-BE49-F238E27FC236}">
                <a16:creationId xmlns:a16="http://schemas.microsoft.com/office/drawing/2014/main" id="{00464CC2-6104-4F69-BD11-26061054C913}"/>
              </a:ext>
            </a:extLst>
          </p:cNvPr>
          <p:cNvSpPr>
            <a:spLocks noGrp="1"/>
          </p:cNvSpPr>
          <p:nvPr/>
        </p:nvSpPr>
        <p:spPr>
          <a:xfrm>
            <a:off x="6591300" y="4933950"/>
            <a:ext cx="247650" cy="190500"/>
          </a:xfrm>
          <a:prstGeom prst="rightArrow">
            <a:avLst/>
          </a:prstGeom>
          <a:solidFill>
            <a:srgbClr val="FFC4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79915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A8D429D9-8AD9-4B52-92F4-25ECB84D8A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9D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3EBA2E8-EC7E-4B2C-948A-90873F27AFB6}"/>
              </a:ext>
            </a:extLst>
          </p:cNvPr>
          <p:cNvSpPr>
            <a:spLocks noGrp="1"/>
          </p:cNvSpPr>
          <p:nvPr/>
        </p:nvSpPr>
        <p:spPr>
          <a:xfrm>
            <a:off x="-1143000" y="-1143000"/>
            <a:ext cx="3429000" cy="3429000"/>
          </a:xfrm>
          <a:prstGeom prst="ellipse">
            <a:avLst/>
          </a:prstGeom>
          <a:solidFill>
            <a:srgbClr val="123A4C">
              <a:alpha val="4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5D6D0EB-8F10-440B-9229-EAA513DA6079}"/>
              </a:ext>
            </a:extLst>
          </p:cNvPr>
          <p:cNvSpPr>
            <a:spLocks noGrp="1"/>
          </p:cNvSpPr>
          <p:nvPr/>
        </p:nvSpPr>
        <p:spPr>
          <a:xfrm>
            <a:off x="10001250" y="5334000"/>
            <a:ext cx="3333750" cy="3333750"/>
          </a:xfrm>
          <a:prstGeom prst="ellipse">
            <a:avLst/>
          </a:prstGeom>
          <a:solidFill>
            <a:srgbClr val="3C2147">
              <a:alpha val="4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2CC5CA-2B9A-4E1B-86B7-93B6BF7B9369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14350" cy="419100"/>
          </a:xfrm>
          <a:prstGeom prst="rect">
            <a:avLst/>
          </a:prstGeom>
          <a:solidFill>
            <a:srgbClr val="29D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AFFB23-F592-4012-82F4-1FCA375C6F90}"/>
              </a:ext>
            </a:extLst>
          </p:cNvPr>
          <p:cNvSpPr>
            <a:spLocks noGrp="1"/>
          </p:cNvSpPr>
          <p:nvPr/>
        </p:nvSpPr>
        <p:spPr>
          <a:xfrm>
            <a:off x="457200" y="371475"/>
            <a:ext cx="514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07111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7111F"/>
                </a:solidFill>
                <a:latin typeface="Poppins"/>
                <a:ea typeface="Poppins"/>
                <a:cs typeface="Poppins"/>
              </a:rPr>
              <a:t>09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3811C0-2829-4935-8408-749924D09681}"/>
              </a:ext>
            </a:extLst>
          </p:cNvPr>
          <p:cNvSpPr>
            <a:spLocks noGrp="1"/>
          </p:cNvSpPr>
          <p:nvPr/>
        </p:nvSpPr>
        <p:spPr>
          <a:xfrm>
            <a:off x="1104900" y="371475"/>
            <a:ext cx="7524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325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2325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Proposed System - An Intelligent Career Companion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5BC0B8-BC17-4C9D-A414-FB95768B447E}"/>
              </a:ext>
            </a:extLst>
          </p:cNvPr>
          <p:cNvSpPr>
            <a:spLocks noGrp="1"/>
          </p:cNvSpPr>
          <p:nvPr/>
        </p:nvSpPr>
        <p:spPr>
          <a:xfrm>
            <a:off x="10191750" y="41910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275" b="1">
                <a:solidFill>
                  <a:srgbClr val="AFC0D3"/>
                </a:solidFill>
                <a:latin typeface="Poppins"/>
                <a:ea typeface="Poppins"/>
                <a:cs typeface="Poppins"/>
              </a:defRPr>
            </a:pPr>
            <a:r>
              <a:rPr sz="1275" b="1">
                <a:solidFill>
                  <a:srgbClr val="AFC0D3"/>
                </a:solidFill>
                <a:latin typeface="Poppins"/>
                <a:ea typeface="Poppins"/>
                <a:cs typeface="Poppins"/>
              </a:rPr>
              <a:t>RASET 2026 - BIT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ECF300-FDBF-481C-A097-F97EF9AF10A6}"/>
              </a:ext>
            </a:extLst>
          </p:cNvPr>
          <p:cNvSpPr>
            <a:spLocks noGrp="1"/>
          </p:cNvSpPr>
          <p:nvPr/>
        </p:nvSpPr>
        <p:spPr>
          <a:xfrm>
            <a:off x="457200" y="838200"/>
            <a:ext cx="11277600" cy="19050"/>
          </a:xfrm>
          <a:prstGeom prst="rect">
            <a:avLst/>
          </a:prstGeom>
          <a:solidFill>
            <a:srgbClr val="2855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6B63A33-0D5C-4A26-ACDA-E9333948A3E6}"/>
              </a:ext>
            </a:extLst>
          </p:cNvPr>
          <p:cNvSpPr>
            <a:spLocks noGrp="1"/>
          </p:cNvSpPr>
          <p:nvPr/>
        </p:nvSpPr>
        <p:spPr>
          <a:xfrm>
            <a:off x="819150" y="1200150"/>
            <a:ext cx="94297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9744"/>
          </a:bodyPr>
          <a:lstStyle/>
          <a:p>
            <a:pPr algn="l">
              <a:defRPr sz="1950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950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A web-based platform that merges NLP, Machine Learning, and learner-friendly UX into one cohesive guidance tool.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DE4179-118E-4F48-918F-44AD222E4E85}"/>
              </a:ext>
            </a:extLst>
          </p:cNvPr>
          <p:cNvSpPr>
            <a:spLocks noGrp="1"/>
          </p:cNvSpPr>
          <p:nvPr/>
        </p:nvSpPr>
        <p:spPr>
          <a:xfrm>
            <a:off x="819150" y="1809750"/>
            <a:ext cx="7810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AFC0D3"/>
                </a:solidFill>
                <a:latin typeface="Lato"/>
                <a:ea typeface="Lato"/>
                <a:cs typeface="Lato"/>
              </a:rPr>
              <a:t>Helping every learner know where they stand - and what to do next.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0DC5971-27B4-4E9D-A5AD-9F9953C372BF}"/>
              </a:ext>
            </a:extLst>
          </p:cNvPr>
          <p:cNvSpPr>
            <a:spLocks noGrp="1"/>
          </p:cNvSpPr>
          <p:nvPr/>
        </p:nvSpPr>
        <p:spPr>
          <a:xfrm>
            <a:off x="800100" y="2400300"/>
            <a:ext cx="3238500" cy="1143000"/>
          </a:xfrm>
          <a:prstGeom prst="roundRect">
            <a:avLst>
              <a:gd name="adj" fmla="val 12000"/>
            </a:avLst>
          </a:prstGeom>
          <a:solidFill>
            <a:srgbClr val="132D4A"/>
          </a:solidFill>
          <a:ln w="11430">
            <a:solidFill>
              <a:srgbClr val="29D6F2"/>
            </a:solidFill>
            <a:prstDash val="solid"/>
          </a:ln>
        </p:spPr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B0B3355-BB34-4520-9F05-4A7EB01580B2}"/>
              </a:ext>
            </a:extLst>
          </p:cNvPr>
          <p:cNvSpPr>
            <a:spLocks noGrp="1"/>
          </p:cNvSpPr>
          <p:nvPr/>
        </p:nvSpPr>
        <p:spPr>
          <a:xfrm>
            <a:off x="1028700" y="2705100"/>
            <a:ext cx="514350" cy="514350"/>
          </a:xfrm>
          <a:prstGeom prst="ellipse">
            <a:avLst/>
          </a:prstGeom>
          <a:solidFill>
            <a:srgbClr val="29D6F2">
              <a:alpha val="20000"/>
            </a:srgbClr>
          </a:solidFill>
          <a:ln w="14288">
            <a:solidFill>
              <a:srgbClr val="29D6F2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BD73F85-BC3A-4731-B537-1B50C5281DC6}"/>
              </a:ext>
            </a:extLst>
          </p:cNvPr>
          <p:cNvSpPr>
            <a:spLocks noGrp="1"/>
          </p:cNvSpPr>
          <p:nvPr/>
        </p:nvSpPr>
        <p:spPr>
          <a:xfrm>
            <a:off x="1095375" y="2847975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 fontScale="92593"/>
          </a:bodyPr>
          <a:lstStyle/>
          <a:p>
            <a:pPr algn="ctr">
              <a:defRPr sz="1350" b="1">
                <a:solidFill>
                  <a:srgbClr val="29D6F2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29D6F2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CE1F8E-8CAE-4A83-A706-12FB9D45ADF6}"/>
              </a:ext>
            </a:extLst>
          </p:cNvPr>
          <p:cNvSpPr>
            <a:spLocks noGrp="1"/>
          </p:cNvSpPr>
          <p:nvPr/>
        </p:nvSpPr>
        <p:spPr>
          <a:xfrm>
            <a:off x="1676400" y="2686050"/>
            <a:ext cx="2057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650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Profile Intake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618D32D-45EC-4151-BD42-535D5242C6D6}"/>
              </a:ext>
            </a:extLst>
          </p:cNvPr>
          <p:cNvSpPr>
            <a:spLocks noGrp="1"/>
          </p:cNvSpPr>
          <p:nvPr/>
        </p:nvSpPr>
        <p:spPr>
          <a:xfrm>
            <a:off x="1676400" y="3028950"/>
            <a:ext cx="21145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2593"/>
          </a:bodyPr>
          <a:lstStyle/>
          <a:p>
            <a:pPr algn="l">
              <a:defRPr sz="1350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AFC0D3"/>
                </a:solidFill>
                <a:latin typeface="Lato"/>
                <a:ea typeface="Lato"/>
                <a:cs typeface="Lato"/>
              </a:rPr>
              <a:t>Manual, paste, or upload PDF/DOCX resume.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0CFD1F5-AA96-469D-A2F2-5B36D3B8358E}"/>
              </a:ext>
            </a:extLst>
          </p:cNvPr>
          <p:cNvSpPr>
            <a:spLocks noGrp="1"/>
          </p:cNvSpPr>
          <p:nvPr/>
        </p:nvSpPr>
        <p:spPr>
          <a:xfrm>
            <a:off x="4476750" y="2400300"/>
            <a:ext cx="3238500" cy="1143000"/>
          </a:xfrm>
          <a:prstGeom prst="roundRect">
            <a:avLst>
              <a:gd name="adj" fmla="val 12000"/>
            </a:avLst>
          </a:prstGeom>
          <a:solidFill>
            <a:srgbClr val="132D4A"/>
          </a:solidFill>
          <a:ln w="11430">
            <a:solidFill>
              <a:srgbClr val="FFC43D"/>
            </a:solidFill>
            <a:prstDash val="solid"/>
          </a:ln>
        </p:spPr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88A871A-2DAF-495B-8D81-43F6E14CE068}"/>
              </a:ext>
            </a:extLst>
          </p:cNvPr>
          <p:cNvSpPr>
            <a:spLocks noGrp="1"/>
          </p:cNvSpPr>
          <p:nvPr/>
        </p:nvSpPr>
        <p:spPr>
          <a:xfrm>
            <a:off x="4705350" y="2705100"/>
            <a:ext cx="514350" cy="514350"/>
          </a:xfrm>
          <a:prstGeom prst="ellipse">
            <a:avLst/>
          </a:prstGeom>
          <a:solidFill>
            <a:srgbClr val="FFC43D">
              <a:alpha val="20000"/>
            </a:srgbClr>
          </a:solidFill>
          <a:ln w="14288">
            <a:solidFill>
              <a:srgbClr val="FFC43D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28B9641-DA7F-4D9D-8477-2EE10F210A8D}"/>
              </a:ext>
            </a:extLst>
          </p:cNvPr>
          <p:cNvSpPr>
            <a:spLocks noGrp="1"/>
          </p:cNvSpPr>
          <p:nvPr/>
        </p:nvSpPr>
        <p:spPr>
          <a:xfrm>
            <a:off x="4772025" y="2847975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 fontScale="92593"/>
          </a:bodyPr>
          <a:lstStyle/>
          <a:p>
            <a:pPr algn="ctr">
              <a:defRPr sz="1350" b="1">
                <a:solidFill>
                  <a:srgbClr val="FFC43D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FFC43D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BD1CE0E-4D8C-4282-95E3-58002AD48688}"/>
              </a:ext>
            </a:extLst>
          </p:cNvPr>
          <p:cNvSpPr>
            <a:spLocks noGrp="1"/>
          </p:cNvSpPr>
          <p:nvPr/>
        </p:nvSpPr>
        <p:spPr>
          <a:xfrm>
            <a:off x="5353050" y="2686050"/>
            <a:ext cx="2057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650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Semantic Parsing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B4817E6-CC8A-4C12-B491-27B263BF4A34}"/>
              </a:ext>
            </a:extLst>
          </p:cNvPr>
          <p:cNvSpPr>
            <a:spLocks noGrp="1"/>
          </p:cNvSpPr>
          <p:nvPr/>
        </p:nvSpPr>
        <p:spPr>
          <a:xfrm>
            <a:off x="5353050" y="3028950"/>
            <a:ext cx="21145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2593"/>
          </a:bodyPr>
          <a:lstStyle/>
          <a:p>
            <a:pPr algn="l">
              <a:defRPr sz="1350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AFC0D3"/>
                </a:solidFill>
                <a:latin typeface="Lato"/>
                <a:ea typeface="Lato"/>
                <a:cs typeface="Lato"/>
              </a:rPr>
              <a:t>spaCy + embeddings extract real skills.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6A83229-3AD2-40E5-95BD-3C0AE37313D5}"/>
              </a:ext>
            </a:extLst>
          </p:cNvPr>
          <p:cNvSpPr>
            <a:spLocks noGrp="1"/>
          </p:cNvSpPr>
          <p:nvPr/>
        </p:nvSpPr>
        <p:spPr>
          <a:xfrm>
            <a:off x="8153400" y="2400300"/>
            <a:ext cx="3238500" cy="1143000"/>
          </a:xfrm>
          <a:prstGeom prst="roundRect">
            <a:avLst>
              <a:gd name="adj" fmla="val 12000"/>
            </a:avLst>
          </a:prstGeom>
          <a:solidFill>
            <a:srgbClr val="132D4A"/>
          </a:solidFill>
          <a:ln w="11430">
            <a:solidFill>
              <a:srgbClr val="F261B4"/>
            </a:solidFill>
            <a:prstDash val="solid"/>
          </a:ln>
        </p:spPr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137DB1D-EFF9-40A5-A99E-AA63593B8F8C}"/>
              </a:ext>
            </a:extLst>
          </p:cNvPr>
          <p:cNvSpPr>
            <a:spLocks noGrp="1"/>
          </p:cNvSpPr>
          <p:nvPr/>
        </p:nvSpPr>
        <p:spPr>
          <a:xfrm>
            <a:off x="8382000" y="2705100"/>
            <a:ext cx="514350" cy="514350"/>
          </a:xfrm>
          <a:prstGeom prst="ellipse">
            <a:avLst/>
          </a:prstGeom>
          <a:solidFill>
            <a:srgbClr val="F261B4">
              <a:alpha val="20000"/>
            </a:srgbClr>
          </a:solidFill>
          <a:ln w="14288">
            <a:solidFill>
              <a:srgbClr val="F261B4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8208462-8BAF-4E70-91A3-FF705F862CA9}"/>
              </a:ext>
            </a:extLst>
          </p:cNvPr>
          <p:cNvSpPr>
            <a:spLocks noGrp="1"/>
          </p:cNvSpPr>
          <p:nvPr/>
        </p:nvSpPr>
        <p:spPr>
          <a:xfrm>
            <a:off x="8448675" y="2847975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 fontScale="92593"/>
          </a:bodyPr>
          <a:lstStyle/>
          <a:p>
            <a:pPr algn="ctr">
              <a:defRPr sz="1350" b="1">
                <a:solidFill>
                  <a:srgbClr val="F261B4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F261B4"/>
                </a:solidFill>
                <a:latin typeface="Poppins"/>
                <a:ea typeface="Poppins"/>
                <a:cs typeface="Poppins"/>
              </a:rPr>
              <a:t>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D8E9747-A9C3-4ECD-8E72-490EACE6A1F5}"/>
              </a:ext>
            </a:extLst>
          </p:cNvPr>
          <p:cNvSpPr>
            <a:spLocks noGrp="1"/>
          </p:cNvSpPr>
          <p:nvPr/>
        </p:nvSpPr>
        <p:spPr>
          <a:xfrm>
            <a:off x="9029700" y="2686050"/>
            <a:ext cx="2057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650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Gap Categorisation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A6C4975-3022-4617-9227-7010838B1837}"/>
              </a:ext>
            </a:extLst>
          </p:cNvPr>
          <p:cNvSpPr>
            <a:spLocks noGrp="1"/>
          </p:cNvSpPr>
          <p:nvPr/>
        </p:nvSpPr>
        <p:spPr>
          <a:xfrm>
            <a:off x="9029700" y="3028950"/>
            <a:ext cx="21145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2593"/>
          </a:bodyPr>
          <a:lstStyle/>
          <a:p>
            <a:pPr algn="l">
              <a:defRPr sz="1350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AFC0D3"/>
                </a:solidFill>
                <a:latin typeface="Lato"/>
                <a:ea typeface="Lato"/>
                <a:cs typeface="Lato"/>
              </a:rPr>
              <a:t>Matched, partial, and missing classes.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D1FAA17-45D6-441E-9C39-4ACFBB032805}"/>
              </a:ext>
            </a:extLst>
          </p:cNvPr>
          <p:cNvSpPr>
            <a:spLocks noGrp="1"/>
          </p:cNvSpPr>
          <p:nvPr/>
        </p:nvSpPr>
        <p:spPr>
          <a:xfrm>
            <a:off x="800100" y="3981450"/>
            <a:ext cx="3238500" cy="1143000"/>
          </a:xfrm>
          <a:prstGeom prst="roundRect">
            <a:avLst>
              <a:gd name="adj" fmla="val 12000"/>
            </a:avLst>
          </a:prstGeom>
          <a:solidFill>
            <a:srgbClr val="132D4A"/>
          </a:solidFill>
          <a:ln w="11430">
            <a:solidFill>
              <a:srgbClr val="18C99A"/>
            </a:solidFill>
            <a:prstDash val="solid"/>
          </a:ln>
        </p:spPr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0073A61-3C1E-4944-8F6B-1B79EE129388}"/>
              </a:ext>
            </a:extLst>
          </p:cNvPr>
          <p:cNvSpPr>
            <a:spLocks noGrp="1"/>
          </p:cNvSpPr>
          <p:nvPr/>
        </p:nvSpPr>
        <p:spPr>
          <a:xfrm>
            <a:off x="1028700" y="4286250"/>
            <a:ext cx="514350" cy="514350"/>
          </a:xfrm>
          <a:prstGeom prst="ellipse">
            <a:avLst/>
          </a:prstGeom>
          <a:solidFill>
            <a:srgbClr val="18C99A">
              <a:alpha val="20000"/>
            </a:srgbClr>
          </a:solidFill>
          <a:ln w="14288">
            <a:solidFill>
              <a:srgbClr val="18C99A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F764079-0D1C-44D8-9B13-59C78016051F}"/>
              </a:ext>
            </a:extLst>
          </p:cNvPr>
          <p:cNvSpPr>
            <a:spLocks noGrp="1"/>
          </p:cNvSpPr>
          <p:nvPr/>
        </p:nvSpPr>
        <p:spPr>
          <a:xfrm>
            <a:off x="1095375" y="4429125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 fontScale="92593"/>
          </a:bodyPr>
          <a:lstStyle/>
          <a:p>
            <a:pPr algn="ctr">
              <a:defRPr sz="1350" b="1">
                <a:solidFill>
                  <a:srgbClr val="18C99A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18C99A"/>
                </a:solidFill>
                <a:latin typeface="Poppins"/>
                <a:ea typeface="Poppins"/>
                <a:cs typeface="Poppins"/>
              </a:rPr>
              <a:t>4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C7A1B74-F247-4661-92B3-DD54A19B1D1E}"/>
              </a:ext>
            </a:extLst>
          </p:cNvPr>
          <p:cNvSpPr>
            <a:spLocks noGrp="1"/>
          </p:cNvSpPr>
          <p:nvPr/>
        </p:nvSpPr>
        <p:spPr>
          <a:xfrm>
            <a:off x="1676400" y="4267200"/>
            <a:ext cx="2057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650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Match Score 0-100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609E0B8-0E7F-4BC8-A026-ECA31002EDE5}"/>
              </a:ext>
            </a:extLst>
          </p:cNvPr>
          <p:cNvSpPr>
            <a:spLocks noGrp="1"/>
          </p:cNvSpPr>
          <p:nvPr/>
        </p:nvSpPr>
        <p:spPr>
          <a:xfrm>
            <a:off x="1676400" y="4610100"/>
            <a:ext cx="21145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2593"/>
          </a:bodyPr>
          <a:lstStyle/>
          <a:p>
            <a:pPr algn="l">
              <a:defRPr sz="1350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AFC0D3"/>
                </a:solidFill>
                <a:latin typeface="Lato"/>
                <a:ea typeface="Lato"/>
                <a:cs typeface="Lato"/>
              </a:rPr>
              <a:t>Weighted, transparent readiness signal.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27D62AC-19A7-4F32-815A-39CF64B24CC4}"/>
              </a:ext>
            </a:extLst>
          </p:cNvPr>
          <p:cNvSpPr>
            <a:spLocks noGrp="1"/>
          </p:cNvSpPr>
          <p:nvPr/>
        </p:nvSpPr>
        <p:spPr>
          <a:xfrm>
            <a:off x="4476750" y="3981450"/>
            <a:ext cx="3238500" cy="1143000"/>
          </a:xfrm>
          <a:prstGeom prst="roundRect">
            <a:avLst>
              <a:gd name="adj" fmla="val 12000"/>
            </a:avLst>
          </a:prstGeom>
          <a:solidFill>
            <a:srgbClr val="132D4A"/>
          </a:solidFill>
          <a:ln w="11430">
            <a:solidFill>
              <a:srgbClr val="7C61FF"/>
            </a:solidFill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F20F12E-09E9-4BB7-A8CA-B5E0BB49540C}"/>
              </a:ext>
            </a:extLst>
          </p:cNvPr>
          <p:cNvSpPr>
            <a:spLocks noGrp="1"/>
          </p:cNvSpPr>
          <p:nvPr/>
        </p:nvSpPr>
        <p:spPr>
          <a:xfrm>
            <a:off x="4705350" y="4286250"/>
            <a:ext cx="514350" cy="514350"/>
          </a:xfrm>
          <a:prstGeom prst="ellipse">
            <a:avLst/>
          </a:prstGeom>
          <a:solidFill>
            <a:srgbClr val="7C61FF">
              <a:alpha val="20000"/>
            </a:srgbClr>
          </a:solidFill>
          <a:ln w="14288">
            <a:solidFill>
              <a:srgbClr val="7C61FF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38F454C-B556-45DB-A56C-E33551352597}"/>
              </a:ext>
            </a:extLst>
          </p:cNvPr>
          <p:cNvSpPr>
            <a:spLocks noGrp="1"/>
          </p:cNvSpPr>
          <p:nvPr/>
        </p:nvSpPr>
        <p:spPr>
          <a:xfrm>
            <a:off x="4772025" y="4429125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 fontScale="92593"/>
          </a:bodyPr>
          <a:lstStyle/>
          <a:p>
            <a:pPr algn="ctr">
              <a:defRPr sz="1350" b="1">
                <a:solidFill>
                  <a:srgbClr val="7C61FF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7C61FF"/>
                </a:solidFill>
                <a:latin typeface="Poppins"/>
                <a:ea typeface="Poppins"/>
                <a:cs typeface="Poppins"/>
              </a:rPr>
              <a:t>5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451978D-69A6-426F-8C76-95BB1F317267}"/>
              </a:ext>
            </a:extLst>
          </p:cNvPr>
          <p:cNvSpPr>
            <a:spLocks noGrp="1"/>
          </p:cNvSpPr>
          <p:nvPr/>
        </p:nvSpPr>
        <p:spPr>
          <a:xfrm>
            <a:off x="5353050" y="4267200"/>
            <a:ext cx="2057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650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Learning Roadmap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7610ABF-D50F-43E9-84E1-C39E73387D6C}"/>
              </a:ext>
            </a:extLst>
          </p:cNvPr>
          <p:cNvSpPr>
            <a:spLocks noGrp="1"/>
          </p:cNvSpPr>
          <p:nvPr/>
        </p:nvSpPr>
        <p:spPr>
          <a:xfrm>
            <a:off x="5353050" y="4610100"/>
            <a:ext cx="21145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2593"/>
          </a:bodyPr>
          <a:lstStyle/>
          <a:p>
            <a:pPr algn="l">
              <a:defRPr sz="1350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AFC0D3"/>
                </a:solidFill>
                <a:latin typeface="Lato"/>
                <a:ea typeface="Lato"/>
                <a:cs typeface="Lato"/>
              </a:rPr>
              <a:t>Personalised courses and certifications.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CB3EF057-F714-4E2C-BFBC-20EE2C19E5FE}"/>
              </a:ext>
            </a:extLst>
          </p:cNvPr>
          <p:cNvSpPr>
            <a:spLocks noGrp="1"/>
          </p:cNvSpPr>
          <p:nvPr/>
        </p:nvSpPr>
        <p:spPr>
          <a:xfrm>
            <a:off x="8153400" y="3981450"/>
            <a:ext cx="3238500" cy="1143000"/>
          </a:xfrm>
          <a:prstGeom prst="roundRect">
            <a:avLst>
              <a:gd name="adj" fmla="val 12000"/>
            </a:avLst>
          </a:prstGeom>
          <a:solidFill>
            <a:srgbClr val="132D4A"/>
          </a:solidFill>
          <a:ln w="11430">
            <a:solidFill>
              <a:srgbClr val="29D6F2"/>
            </a:solidFill>
            <a:prstDash val="solid"/>
          </a:ln>
        </p:spPr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28999A7-A144-4402-8297-11B48CCBAE5D}"/>
              </a:ext>
            </a:extLst>
          </p:cNvPr>
          <p:cNvSpPr>
            <a:spLocks noGrp="1"/>
          </p:cNvSpPr>
          <p:nvPr/>
        </p:nvSpPr>
        <p:spPr>
          <a:xfrm>
            <a:off x="8382000" y="4286250"/>
            <a:ext cx="514350" cy="514350"/>
          </a:xfrm>
          <a:prstGeom prst="ellipse">
            <a:avLst/>
          </a:prstGeom>
          <a:solidFill>
            <a:srgbClr val="29D6F2">
              <a:alpha val="20000"/>
            </a:srgbClr>
          </a:solidFill>
          <a:ln w="14288">
            <a:solidFill>
              <a:srgbClr val="29D6F2"/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AC0E886-6832-466E-8C31-DCB6C87F5F08}"/>
              </a:ext>
            </a:extLst>
          </p:cNvPr>
          <p:cNvSpPr>
            <a:spLocks noGrp="1"/>
          </p:cNvSpPr>
          <p:nvPr/>
        </p:nvSpPr>
        <p:spPr>
          <a:xfrm>
            <a:off x="8448675" y="4429125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 fontScale="92593"/>
          </a:bodyPr>
          <a:lstStyle/>
          <a:p>
            <a:pPr algn="ctr">
              <a:defRPr sz="1350" b="1">
                <a:solidFill>
                  <a:srgbClr val="29D6F2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29D6F2"/>
                </a:solidFill>
                <a:latin typeface="Poppins"/>
                <a:ea typeface="Poppins"/>
                <a:cs typeface="Poppins"/>
              </a:rPr>
              <a:t>6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76820BB-6D78-4FD4-BC6C-650CA96362F4}"/>
              </a:ext>
            </a:extLst>
          </p:cNvPr>
          <p:cNvSpPr>
            <a:spLocks noGrp="1"/>
          </p:cNvSpPr>
          <p:nvPr/>
        </p:nvSpPr>
        <p:spPr>
          <a:xfrm>
            <a:off x="9029700" y="4267200"/>
            <a:ext cx="2057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650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Progress Tracking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3DCC409-FC9D-440E-9254-944536BB89A7}"/>
              </a:ext>
            </a:extLst>
          </p:cNvPr>
          <p:cNvSpPr>
            <a:spLocks noGrp="1"/>
          </p:cNvSpPr>
          <p:nvPr/>
        </p:nvSpPr>
        <p:spPr>
          <a:xfrm>
            <a:off x="9029700" y="4610100"/>
            <a:ext cx="21145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2593"/>
          </a:bodyPr>
          <a:lstStyle/>
          <a:p>
            <a:pPr algn="l">
              <a:defRPr sz="1350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AFC0D3"/>
                </a:solidFill>
                <a:latin typeface="Lato"/>
                <a:ea typeface="Lato"/>
                <a:cs typeface="Lato"/>
              </a:rPr>
              <a:t>Live re-scoring as skills are added.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7F80145C-68E6-4A12-AE11-EEBDFD0D377B}"/>
              </a:ext>
            </a:extLst>
          </p:cNvPr>
          <p:cNvSpPr>
            <a:spLocks noGrp="1"/>
          </p:cNvSpPr>
          <p:nvPr/>
        </p:nvSpPr>
        <p:spPr>
          <a:xfrm>
            <a:off x="2571750" y="5943600"/>
            <a:ext cx="7048500" cy="361950"/>
          </a:xfrm>
          <a:prstGeom prst="roundRect">
            <a:avLst>
              <a:gd name="adj" fmla="val 12000"/>
            </a:avLst>
          </a:prstGeom>
          <a:solidFill>
            <a:srgbClr val="102D48"/>
          </a:solidFill>
          <a:ln w="9525">
            <a:solidFill>
              <a:srgbClr val="29D6F2"/>
            </a:solidFill>
            <a:prstDash val="solid"/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DAD33CF-A553-4117-A8F2-13E673159206}"/>
              </a:ext>
            </a:extLst>
          </p:cNvPr>
          <p:cNvSpPr>
            <a:spLocks noGrp="1"/>
          </p:cNvSpPr>
          <p:nvPr/>
        </p:nvSpPr>
        <p:spPr>
          <a:xfrm>
            <a:off x="2705100" y="6019800"/>
            <a:ext cx="6781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350" b="1">
                <a:solidFill>
                  <a:srgbClr val="29D6F2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29D6F2"/>
                </a:solidFill>
                <a:latin typeface="Poppins"/>
                <a:ea typeface="Poppins"/>
                <a:cs typeface="Poppins"/>
              </a:rPr>
              <a:t>Personalised career guidance from resume evidence to measurable progress</a:t>
            </a:r>
          </a:p>
        </p:txBody>
      </p:sp>
    </p:spTree>
    <p:extLst>
      <p:ext uri="{BB962C8B-B14F-4D97-AF65-F5344CB8AC3E}">
        <p14:creationId xmlns:p14="http://schemas.microsoft.com/office/powerpoint/2010/main" val="11749055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39E94B8A-D0EC-45DF-95DD-D522CC1BC2C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9D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109F505E-6CFE-4FB8-B967-9712F46DC0FD}"/>
              </a:ext>
            </a:extLst>
          </p:cNvPr>
          <p:cNvSpPr>
            <a:spLocks noGrp="1"/>
          </p:cNvSpPr>
          <p:nvPr/>
        </p:nvSpPr>
        <p:spPr>
          <a:xfrm>
            <a:off x="-1143000" y="-1143000"/>
            <a:ext cx="3429000" cy="3429000"/>
          </a:xfrm>
          <a:prstGeom prst="ellipse">
            <a:avLst/>
          </a:prstGeom>
          <a:solidFill>
            <a:srgbClr val="123A4C">
              <a:alpha val="4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4D2D2D9-B29D-4F3E-A5AF-C241AC6FCC24}"/>
              </a:ext>
            </a:extLst>
          </p:cNvPr>
          <p:cNvSpPr>
            <a:spLocks noGrp="1"/>
          </p:cNvSpPr>
          <p:nvPr/>
        </p:nvSpPr>
        <p:spPr>
          <a:xfrm>
            <a:off x="10001250" y="5334000"/>
            <a:ext cx="3333750" cy="3333750"/>
          </a:xfrm>
          <a:prstGeom prst="ellipse">
            <a:avLst/>
          </a:prstGeom>
          <a:solidFill>
            <a:srgbClr val="3C2147">
              <a:alpha val="4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31B97B-89D0-4750-AB6B-3EA7CB05D04B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14350" cy="419100"/>
          </a:xfrm>
          <a:prstGeom prst="rect">
            <a:avLst/>
          </a:prstGeom>
          <a:solidFill>
            <a:srgbClr val="29D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B3FAE1-6543-4446-BCD5-894416D20FFE}"/>
              </a:ext>
            </a:extLst>
          </p:cNvPr>
          <p:cNvSpPr>
            <a:spLocks noGrp="1"/>
          </p:cNvSpPr>
          <p:nvPr/>
        </p:nvSpPr>
        <p:spPr>
          <a:xfrm>
            <a:off x="457200" y="371475"/>
            <a:ext cx="514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07111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7111F"/>
                </a:solidFill>
                <a:latin typeface="Poppins"/>
                <a:ea typeface="Poppins"/>
                <a:cs typeface="Poppins"/>
              </a:rPr>
              <a:t>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89BF73-28D1-458C-BFB4-41D9D69BBD8D}"/>
              </a:ext>
            </a:extLst>
          </p:cNvPr>
          <p:cNvSpPr>
            <a:spLocks noGrp="1"/>
          </p:cNvSpPr>
          <p:nvPr/>
        </p:nvSpPr>
        <p:spPr>
          <a:xfrm>
            <a:off x="1104900" y="371475"/>
            <a:ext cx="7524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325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2325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System Architecture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6673A8-E4BE-4802-A604-4A279655C113}"/>
              </a:ext>
            </a:extLst>
          </p:cNvPr>
          <p:cNvSpPr>
            <a:spLocks noGrp="1"/>
          </p:cNvSpPr>
          <p:nvPr/>
        </p:nvSpPr>
        <p:spPr>
          <a:xfrm>
            <a:off x="10191750" y="41910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275" b="1">
                <a:solidFill>
                  <a:srgbClr val="AFC0D3"/>
                </a:solidFill>
                <a:latin typeface="Poppins"/>
                <a:ea typeface="Poppins"/>
                <a:cs typeface="Poppins"/>
              </a:defRPr>
            </a:pPr>
            <a:r>
              <a:rPr sz="1275" b="1">
                <a:solidFill>
                  <a:srgbClr val="AFC0D3"/>
                </a:solidFill>
                <a:latin typeface="Poppins"/>
                <a:ea typeface="Poppins"/>
                <a:cs typeface="Poppins"/>
              </a:rPr>
              <a:t>RASET 2026 - BIT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44CAE8-4C7A-4269-BAD4-5598B7BA54B6}"/>
              </a:ext>
            </a:extLst>
          </p:cNvPr>
          <p:cNvSpPr>
            <a:spLocks noGrp="1"/>
          </p:cNvSpPr>
          <p:nvPr/>
        </p:nvSpPr>
        <p:spPr>
          <a:xfrm>
            <a:off x="457200" y="838200"/>
            <a:ext cx="11277600" cy="19050"/>
          </a:xfrm>
          <a:prstGeom prst="rect">
            <a:avLst/>
          </a:prstGeom>
          <a:solidFill>
            <a:srgbClr val="2855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E14DB8-4E9B-4F2C-9775-BFA890A31D89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6858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7890A8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7890A8"/>
                </a:solidFill>
                <a:latin typeface="Lato"/>
                <a:ea typeface="Lato"/>
                <a:cs typeface="Lato"/>
              </a:rPr>
              <a:t>Fig. 1 - AI-Based Skill Gap Analyzer system architecture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524B14E-5201-4FC1-9488-23FF392F332C}"/>
              </a:ext>
            </a:extLst>
          </p:cNvPr>
          <p:cNvSpPr>
            <a:spLocks noGrp="1"/>
          </p:cNvSpPr>
          <p:nvPr/>
        </p:nvSpPr>
        <p:spPr>
          <a:xfrm>
            <a:off x="457200" y="1238250"/>
            <a:ext cx="7334250" cy="4191000"/>
          </a:xfrm>
          <a:prstGeom prst="roundRect">
            <a:avLst>
              <a:gd name="adj" fmla="val 12000"/>
            </a:avLst>
          </a:prstGeom>
          <a:solidFill>
            <a:srgbClr val="EAF6F9"/>
          </a:solidFill>
          <a:ln w="19050">
            <a:solidFill>
              <a:srgbClr val="29D6F2"/>
            </a:solidFill>
            <a:prstDash val="solid"/>
          </a:ln>
        </p:spPr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1419480"/>
            <a:ext cx="7029450" cy="382854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15E8B63-6075-4149-9741-D738F7B4629B}"/>
              </a:ext>
            </a:extLst>
          </p:cNvPr>
          <p:cNvSpPr>
            <a:spLocks noGrp="1"/>
          </p:cNvSpPr>
          <p:nvPr/>
        </p:nvSpPr>
        <p:spPr>
          <a:xfrm>
            <a:off x="8134350" y="1219200"/>
            <a:ext cx="3238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29D6F2"/>
                </a:solidFill>
                <a:latin typeface="Poppins"/>
                <a:ea typeface="Poppins"/>
                <a:cs typeface="Poppins"/>
              </a:defRPr>
            </a:pPr>
            <a:r>
              <a:rPr sz="1650" b="1">
                <a:solidFill>
                  <a:srgbClr val="29D6F2"/>
                </a:solidFill>
                <a:latin typeface="Poppins"/>
                <a:ea typeface="Poppins"/>
                <a:cs typeface="Poppins"/>
              </a:rPr>
              <a:t>Three-module pipeline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6B1D5B9-5730-46F6-8FA4-909AC03D1EE1}"/>
              </a:ext>
            </a:extLst>
          </p:cNvPr>
          <p:cNvSpPr>
            <a:spLocks noGrp="1"/>
          </p:cNvSpPr>
          <p:nvPr/>
        </p:nvSpPr>
        <p:spPr>
          <a:xfrm>
            <a:off x="8058150" y="1581150"/>
            <a:ext cx="3505200" cy="1219200"/>
          </a:xfrm>
          <a:prstGeom prst="roundRect">
            <a:avLst>
              <a:gd name="adj" fmla="val 12000"/>
            </a:avLst>
          </a:prstGeom>
          <a:solidFill>
            <a:srgbClr val="132D4A"/>
          </a:solidFill>
          <a:ln w="11430">
            <a:solidFill>
              <a:srgbClr val="FFC43D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C74A020-89F8-46C1-8BB2-665547600206}"/>
              </a:ext>
            </a:extLst>
          </p:cNvPr>
          <p:cNvSpPr>
            <a:spLocks noGrp="1"/>
          </p:cNvSpPr>
          <p:nvPr/>
        </p:nvSpPr>
        <p:spPr>
          <a:xfrm>
            <a:off x="8058150" y="1581150"/>
            <a:ext cx="3505200" cy="57150"/>
          </a:xfrm>
          <a:prstGeom prst="rect">
            <a:avLst/>
          </a:prstGeom>
          <a:solidFill>
            <a:srgbClr val="FFC4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EB9C4D4-3215-4E44-BEE7-F597C743001F}"/>
              </a:ext>
            </a:extLst>
          </p:cNvPr>
          <p:cNvSpPr>
            <a:spLocks noGrp="1"/>
          </p:cNvSpPr>
          <p:nvPr/>
        </p:nvSpPr>
        <p:spPr>
          <a:xfrm>
            <a:off x="8305800" y="1943100"/>
            <a:ext cx="514350" cy="514350"/>
          </a:xfrm>
          <a:prstGeom prst="ellipse">
            <a:avLst/>
          </a:prstGeom>
          <a:solidFill>
            <a:srgbClr val="FFC43D">
              <a:alpha val="20000"/>
            </a:srgbClr>
          </a:solidFill>
          <a:ln w="14288">
            <a:solidFill>
              <a:srgbClr val="FFC43D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89F7E47-3E49-4631-AA32-3B1534BC456E}"/>
              </a:ext>
            </a:extLst>
          </p:cNvPr>
          <p:cNvSpPr>
            <a:spLocks noGrp="1"/>
          </p:cNvSpPr>
          <p:nvPr/>
        </p:nvSpPr>
        <p:spPr>
          <a:xfrm>
            <a:off x="8372475" y="2085975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 fontScale="92593"/>
          </a:bodyPr>
          <a:lstStyle/>
          <a:p>
            <a:pPr algn="ctr">
              <a:defRPr sz="1350" b="1">
                <a:solidFill>
                  <a:srgbClr val="FFC43D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FFC43D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36163FF-35DD-46D2-BA72-3F3DFF7F3DA7}"/>
              </a:ext>
            </a:extLst>
          </p:cNvPr>
          <p:cNvSpPr>
            <a:spLocks noGrp="1"/>
          </p:cNvSpPr>
          <p:nvPr/>
        </p:nvSpPr>
        <p:spPr>
          <a:xfrm>
            <a:off x="9029700" y="1866900"/>
            <a:ext cx="180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FFC43D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FFC43D"/>
                </a:solidFill>
                <a:latin typeface="Lato"/>
                <a:ea typeface="Lato"/>
                <a:cs typeface="Lato"/>
              </a:rPr>
              <a:t>Module 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4A0C6AA-A8EB-492D-B5AB-52D55AFF47A6}"/>
              </a:ext>
            </a:extLst>
          </p:cNvPr>
          <p:cNvSpPr>
            <a:spLocks noGrp="1"/>
          </p:cNvSpPr>
          <p:nvPr/>
        </p:nvSpPr>
        <p:spPr>
          <a:xfrm>
            <a:off x="9029700" y="213360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650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Data Collection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CACEC9C-F3EB-4E9D-A2D5-A30F0BDDBFF6}"/>
              </a:ext>
            </a:extLst>
          </p:cNvPr>
          <p:cNvSpPr>
            <a:spLocks noGrp="1"/>
          </p:cNvSpPr>
          <p:nvPr/>
        </p:nvSpPr>
        <p:spPr>
          <a:xfrm>
            <a:off x="9029700" y="2457450"/>
            <a:ext cx="22479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78125"/>
          </a:bodyPr>
          <a:lstStyle/>
          <a:p>
            <a:pPr algn="l">
              <a:defRPr sz="1200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AFC0D3"/>
                </a:solidFill>
                <a:latin typeface="Lato"/>
                <a:ea typeface="Lato"/>
                <a:cs typeface="Lato"/>
              </a:rPr>
              <a:t>Scrape and store JDs; pre-process with NLP/spaCy; cluster via K-Means.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70EF2FD-1E72-4C96-A385-8F77EB2F7071}"/>
              </a:ext>
            </a:extLst>
          </p:cNvPr>
          <p:cNvSpPr>
            <a:spLocks noGrp="1"/>
          </p:cNvSpPr>
          <p:nvPr/>
        </p:nvSpPr>
        <p:spPr>
          <a:xfrm>
            <a:off x="8058150" y="3009900"/>
            <a:ext cx="3505200" cy="1219200"/>
          </a:xfrm>
          <a:prstGeom prst="roundRect">
            <a:avLst>
              <a:gd name="adj" fmla="val 12000"/>
            </a:avLst>
          </a:prstGeom>
          <a:solidFill>
            <a:srgbClr val="132D4A"/>
          </a:solidFill>
          <a:ln w="11430">
            <a:solidFill>
              <a:srgbClr val="F261B4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0F548FC-0463-4850-ABB9-0C083765108D}"/>
              </a:ext>
            </a:extLst>
          </p:cNvPr>
          <p:cNvSpPr>
            <a:spLocks noGrp="1"/>
          </p:cNvSpPr>
          <p:nvPr/>
        </p:nvSpPr>
        <p:spPr>
          <a:xfrm>
            <a:off x="8058150" y="3009900"/>
            <a:ext cx="3505200" cy="57150"/>
          </a:xfrm>
          <a:prstGeom prst="rect">
            <a:avLst/>
          </a:prstGeom>
          <a:solidFill>
            <a:srgbClr val="F261B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1DC1420-5BC2-420E-AC32-0096F0B66A73}"/>
              </a:ext>
            </a:extLst>
          </p:cNvPr>
          <p:cNvSpPr>
            <a:spLocks noGrp="1"/>
          </p:cNvSpPr>
          <p:nvPr/>
        </p:nvSpPr>
        <p:spPr>
          <a:xfrm>
            <a:off x="8305800" y="3371850"/>
            <a:ext cx="514350" cy="514350"/>
          </a:xfrm>
          <a:prstGeom prst="ellipse">
            <a:avLst/>
          </a:prstGeom>
          <a:solidFill>
            <a:srgbClr val="F261B4">
              <a:alpha val="20000"/>
            </a:srgbClr>
          </a:solidFill>
          <a:ln w="14288">
            <a:solidFill>
              <a:srgbClr val="F261B4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1CD8DA7-070F-4CFA-BC40-644A73B358E5}"/>
              </a:ext>
            </a:extLst>
          </p:cNvPr>
          <p:cNvSpPr>
            <a:spLocks noGrp="1"/>
          </p:cNvSpPr>
          <p:nvPr/>
        </p:nvSpPr>
        <p:spPr>
          <a:xfrm>
            <a:off x="8372475" y="3514725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 fontScale="92593"/>
          </a:bodyPr>
          <a:lstStyle/>
          <a:p>
            <a:pPr algn="ctr">
              <a:defRPr sz="1350" b="1">
                <a:solidFill>
                  <a:srgbClr val="F261B4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F261B4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BB74098-6C6B-4C80-830F-376012B613E6}"/>
              </a:ext>
            </a:extLst>
          </p:cNvPr>
          <p:cNvSpPr>
            <a:spLocks noGrp="1"/>
          </p:cNvSpPr>
          <p:nvPr/>
        </p:nvSpPr>
        <p:spPr>
          <a:xfrm>
            <a:off x="9029700" y="3295650"/>
            <a:ext cx="180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F261B4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F261B4"/>
                </a:solidFill>
                <a:latin typeface="Lato"/>
                <a:ea typeface="Lato"/>
                <a:cs typeface="Lato"/>
              </a:rPr>
              <a:t>Module 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4B4FF90-3DD3-4D49-B8FD-6695075C4922}"/>
              </a:ext>
            </a:extLst>
          </p:cNvPr>
          <p:cNvSpPr>
            <a:spLocks noGrp="1"/>
          </p:cNvSpPr>
          <p:nvPr/>
        </p:nvSpPr>
        <p:spPr>
          <a:xfrm>
            <a:off x="9029700" y="356235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650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Resume Assessment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6926D50-A960-412B-954C-A4C67F9CB388}"/>
              </a:ext>
            </a:extLst>
          </p:cNvPr>
          <p:cNvSpPr>
            <a:spLocks noGrp="1"/>
          </p:cNvSpPr>
          <p:nvPr/>
        </p:nvSpPr>
        <p:spPr>
          <a:xfrm>
            <a:off x="9029700" y="3886200"/>
            <a:ext cx="22479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78125"/>
          </a:bodyPr>
          <a:lstStyle/>
          <a:p>
            <a:pPr algn="l">
              <a:defRPr sz="1200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AFC0D3"/>
                </a:solidFill>
                <a:latin typeface="Lato"/>
                <a:ea typeface="Lato"/>
                <a:cs typeface="Lato"/>
              </a:rPr>
              <a:t>Parse resume; extract candidate skills; build the personal profile.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2D64DAEC-CA74-4226-9B12-17D78302D42B}"/>
              </a:ext>
            </a:extLst>
          </p:cNvPr>
          <p:cNvSpPr>
            <a:spLocks noGrp="1"/>
          </p:cNvSpPr>
          <p:nvPr/>
        </p:nvSpPr>
        <p:spPr>
          <a:xfrm>
            <a:off x="8058150" y="4438650"/>
            <a:ext cx="3505200" cy="1219200"/>
          </a:xfrm>
          <a:prstGeom prst="roundRect">
            <a:avLst>
              <a:gd name="adj" fmla="val 12000"/>
            </a:avLst>
          </a:prstGeom>
          <a:solidFill>
            <a:srgbClr val="132D4A"/>
          </a:solidFill>
          <a:ln w="11430">
            <a:solidFill>
              <a:srgbClr val="18C99A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68850BF-C364-40D7-9934-43FEA99E64B7}"/>
              </a:ext>
            </a:extLst>
          </p:cNvPr>
          <p:cNvSpPr>
            <a:spLocks noGrp="1"/>
          </p:cNvSpPr>
          <p:nvPr/>
        </p:nvSpPr>
        <p:spPr>
          <a:xfrm>
            <a:off x="8058150" y="4438650"/>
            <a:ext cx="3505200" cy="57150"/>
          </a:xfrm>
          <a:prstGeom prst="rect">
            <a:avLst/>
          </a:prstGeom>
          <a:solidFill>
            <a:srgbClr val="18C9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16A5EE2-ED3B-40F4-95E8-97D241165F97}"/>
              </a:ext>
            </a:extLst>
          </p:cNvPr>
          <p:cNvSpPr>
            <a:spLocks noGrp="1"/>
          </p:cNvSpPr>
          <p:nvPr/>
        </p:nvSpPr>
        <p:spPr>
          <a:xfrm>
            <a:off x="8305800" y="4800600"/>
            <a:ext cx="514350" cy="514350"/>
          </a:xfrm>
          <a:prstGeom prst="ellipse">
            <a:avLst/>
          </a:prstGeom>
          <a:solidFill>
            <a:srgbClr val="18C99A">
              <a:alpha val="20000"/>
            </a:srgbClr>
          </a:solidFill>
          <a:ln w="14288">
            <a:solidFill>
              <a:srgbClr val="18C99A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64410D4-E2F0-4A71-8503-645A80ADD91D}"/>
              </a:ext>
            </a:extLst>
          </p:cNvPr>
          <p:cNvSpPr>
            <a:spLocks noGrp="1"/>
          </p:cNvSpPr>
          <p:nvPr/>
        </p:nvSpPr>
        <p:spPr>
          <a:xfrm>
            <a:off x="8372475" y="4943475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 fontScale="92593"/>
          </a:bodyPr>
          <a:lstStyle/>
          <a:p>
            <a:pPr algn="ctr">
              <a:defRPr sz="1350" b="1">
                <a:solidFill>
                  <a:srgbClr val="18C99A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18C99A"/>
                </a:solidFill>
                <a:latin typeface="Poppins"/>
                <a:ea typeface="Poppins"/>
                <a:cs typeface="Poppins"/>
              </a:rPr>
              <a:t>3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24919DE-F726-4F12-8951-705C180FD3C3}"/>
              </a:ext>
            </a:extLst>
          </p:cNvPr>
          <p:cNvSpPr>
            <a:spLocks noGrp="1"/>
          </p:cNvSpPr>
          <p:nvPr/>
        </p:nvSpPr>
        <p:spPr>
          <a:xfrm>
            <a:off x="9029700" y="4724400"/>
            <a:ext cx="180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8C99A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8C99A"/>
                </a:solidFill>
                <a:latin typeface="Lato"/>
                <a:ea typeface="Lato"/>
                <a:cs typeface="Lato"/>
              </a:rPr>
              <a:t>Module 3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D5CDF3D-6002-4DEF-893B-9972B9844CFA}"/>
              </a:ext>
            </a:extLst>
          </p:cNvPr>
          <p:cNvSpPr>
            <a:spLocks noGrp="1"/>
          </p:cNvSpPr>
          <p:nvPr/>
        </p:nvSpPr>
        <p:spPr>
          <a:xfrm>
            <a:off x="9029700" y="499110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650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Gap &amp; Feedback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110595A-167B-4503-9DCC-7083538E079D}"/>
              </a:ext>
            </a:extLst>
          </p:cNvPr>
          <p:cNvSpPr>
            <a:spLocks noGrp="1"/>
          </p:cNvSpPr>
          <p:nvPr/>
        </p:nvSpPr>
        <p:spPr>
          <a:xfrm>
            <a:off x="9029700" y="5314950"/>
            <a:ext cx="22479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78125"/>
          </a:bodyPr>
          <a:lstStyle/>
          <a:p>
            <a:pPr algn="l">
              <a:defRPr sz="1200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AFC0D3"/>
                </a:solidFill>
                <a:latin typeface="Lato"/>
                <a:ea typeface="Lato"/>
                <a:cs typeface="Lato"/>
              </a:rPr>
              <a:t>Generate skill gap report, learning recommendations, and dashboard.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649790FF-1515-4A4D-B765-847AA83DF204}"/>
              </a:ext>
            </a:extLst>
          </p:cNvPr>
          <p:cNvSpPr>
            <a:spLocks noGrp="1"/>
          </p:cNvSpPr>
          <p:nvPr/>
        </p:nvSpPr>
        <p:spPr>
          <a:xfrm>
            <a:off x="2266950" y="5810250"/>
            <a:ext cx="7658100" cy="361950"/>
          </a:xfrm>
          <a:prstGeom prst="roundRect">
            <a:avLst>
              <a:gd name="adj" fmla="val 12000"/>
            </a:avLst>
          </a:prstGeom>
          <a:solidFill>
            <a:srgbClr val="102D48"/>
          </a:solidFill>
          <a:ln w="9525">
            <a:solidFill>
              <a:srgbClr val="29D6F2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E7D1A26-D000-4D55-92F9-147F23DD7877}"/>
              </a:ext>
            </a:extLst>
          </p:cNvPr>
          <p:cNvSpPr>
            <a:spLocks noGrp="1"/>
          </p:cNvSpPr>
          <p:nvPr/>
        </p:nvSpPr>
        <p:spPr>
          <a:xfrm>
            <a:off x="2400300" y="5886450"/>
            <a:ext cx="7391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350" b="1">
                <a:solidFill>
                  <a:srgbClr val="29D6F2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29D6F2"/>
                </a:solidFill>
                <a:latin typeface="Poppins"/>
                <a:ea typeface="Poppins"/>
                <a:cs typeface="Poppins"/>
              </a:rPr>
              <a:t>Input data -&gt; resume profile -&gt; gap report -&gt; learning dashboard</a:t>
            </a:r>
          </a:p>
        </p:txBody>
      </p:sp>
    </p:spTree>
    <p:extLst>
      <p:ext uri="{BB962C8B-B14F-4D97-AF65-F5344CB8AC3E}">
        <p14:creationId xmlns:p14="http://schemas.microsoft.com/office/powerpoint/2010/main" val="6906825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9DD6F131-46E9-450C-91A7-50C475E7C11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9D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E6BE0CF-8CC9-4CF2-AA61-F09710C17183}"/>
              </a:ext>
            </a:extLst>
          </p:cNvPr>
          <p:cNvSpPr>
            <a:spLocks noGrp="1"/>
          </p:cNvSpPr>
          <p:nvPr/>
        </p:nvSpPr>
        <p:spPr>
          <a:xfrm>
            <a:off x="-1143000" y="-1143000"/>
            <a:ext cx="3429000" cy="3429000"/>
          </a:xfrm>
          <a:prstGeom prst="ellipse">
            <a:avLst/>
          </a:prstGeom>
          <a:solidFill>
            <a:srgbClr val="123A4C">
              <a:alpha val="4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BD6F7F1-D38D-4FAC-A0F5-0CA7E2271599}"/>
              </a:ext>
            </a:extLst>
          </p:cNvPr>
          <p:cNvSpPr>
            <a:spLocks noGrp="1"/>
          </p:cNvSpPr>
          <p:nvPr/>
        </p:nvSpPr>
        <p:spPr>
          <a:xfrm>
            <a:off x="10001250" y="5334000"/>
            <a:ext cx="3333750" cy="3333750"/>
          </a:xfrm>
          <a:prstGeom prst="ellipse">
            <a:avLst/>
          </a:prstGeom>
          <a:solidFill>
            <a:srgbClr val="3C2147">
              <a:alpha val="4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F754D7-5891-4D66-B300-6D3514D135B6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14350" cy="419100"/>
          </a:xfrm>
          <a:prstGeom prst="rect">
            <a:avLst/>
          </a:prstGeom>
          <a:solidFill>
            <a:srgbClr val="29D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ED1FF0-0807-4CC9-924A-41BAC017F8D4}"/>
              </a:ext>
            </a:extLst>
          </p:cNvPr>
          <p:cNvSpPr>
            <a:spLocks noGrp="1"/>
          </p:cNvSpPr>
          <p:nvPr/>
        </p:nvSpPr>
        <p:spPr>
          <a:xfrm>
            <a:off x="457200" y="371475"/>
            <a:ext cx="514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07111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7111F"/>
                </a:solidFill>
                <a:latin typeface="Poppins"/>
                <a:ea typeface="Poppins"/>
                <a:cs typeface="Poppins"/>
              </a:rPr>
              <a:t>11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CC6432-9B6E-45D3-84F6-931022B33F3D}"/>
              </a:ext>
            </a:extLst>
          </p:cNvPr>
          <p:cNvSpPr>
            <a:spLocks noGrp="1"/>
          </p:cNvSpPr>
          <p:nvPr/>
        </p:nvSpPr>
        <p:spPr>
          <a:xfrm>
            <a:off x="1104900" y="371475"/>
            <a:ext cx="7524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325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2325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Skill Data Acquisition &amp; Processing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F66581-ED5F-4D9B-8952-0BCD80547E89}"/>
              </a:ext>
            </a:extLst>
          </p:cNvPr>
          <p:cNvSpPr>
            <a:spLocks noGrp="1"/>
          </p:cNvSpPr>
          <p:nvPr/>
        </p:nvSpPr>
        <p:spPr>
          <a:xfrm>
            <a:off x="10191750" y="41910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275" b="1">
                <a:solidFill>
                  <a:srgbClr val="AFC0D3"/>
                </a:solidFill>
                <a:latin typeface="Poppins"/>
                <a:ea typeface="Poppins"/>
                <a:cs typeface="Poppins"/>
              </a:defRPr>
            </a:pPr>
            <a:r>
              <a:rPr sz="1275" b="1">
                <a:solidFill>
                  <a:srgbClr val="AFC0D3"/>
                </a:solidFill>
                <a:latin typeface="Poppins"/>
                <a:ea typeface="Poppins"/>
                <a:cs typeface="Poppins"/>
              </a:rPr>
              <a:t>RASET 2026 - BIT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56E134-65A7-482B-BE5C-4D36A8382F72}"/>
              </a:ext>
            </a:extLst>
          </p:cNvPr>
          <p:cNvSpPr>
            <a:spLocks noGrp="1"/>
          </p:cNvSpPr>
          <p:nvPr/>
        </p:nvSpPr>
        <p:spPr>
          <a:xfrm>
            <a:off x="457200" y="838200"/>
            <a:ext cx="11277600" cy="19050"/>
          </a:xfrm>
          <a:prstGeom prst="rect">
            <a:avLst/>
          </a:prstGeom>
          <a:solidFill>
            <a:srgbClr val="2855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8FE21E-34C5-427F-BE2E-55CB6CB0148E}"/>
              </a:ext>
            </a:extLst>
          </p:cNvPr>
          <p:cNvSpPr>
            <a:spLocks noGrp="1"/>
          </p:cNvSpPr>
          <p:nvPr/>
        </p:nvSpPr>
        <p:spPr>
          <a:xfrm>
            <a:off x="838200" y="1257300"/>
            <a:ext cx="3429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29D6F2"/>
                </a:solidFill>
                <a:latin typeface="Poppins"/>
                <a:ea typeface="Poppins"/>
                <a:cs typeface="Poppins"/>
              </a:defRPr>
            </a:pPr>
            <a:r>
              <a:rPr sz="1800" b="1">
                <a:solidFill>
                  <a:srgbClr val="29D6F2"/>
                </a:solidFill>
                <a:latin typeface="Poppins"/>
                <a:ea typeface="Poppins"/>
                <a:cs typeface="Poppins"/>
              </a:rPr>
              <a:t>The learner provides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7ED3CBD-102E-4F5D-B523-6BBC177014E6}"/>
              </a:ext>
            </a:extLst>
          </p:cNvPr>
          <p:cNvSpPr>
            <a:spLocks noGrp="1"/>
          </p:cNvSpPr>
          <p:nvPr/>
        </p:nvSpPr>
        <p:spPr>
          <a:xfrm>
            <a:off x="704850" y="1695450"/>
            <a:ext cx="3810000" cy="1009650"/>
          </a:xfrm>
          <a:prstGeom prst="roundRect">
            <a:avLst>
              <a:gd name="adj" fmla="val 12000"/>
            </a:avLst>
          </a:prstGeom>
          <a:solidFill>
            <a:srgbClr val="132D4A"/>
          </a:solidFill>
          <a:ln w="10478">
            <a:solidFill>
              <a:srgbClr val="29D6F2"/>
            </a:solidFill>
            <a:prstDash val="solid"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1AD0DC5-E421-492B-8874-88B0F29B70D2}"/>
              </a:ext>
            </a:extLst>
          </p:cNvPr>
          <p:cNvSpPr>
            <a:spLocks noGrp="1"/>
          </p:cNvSpPr>
          <p:nvPr/>
        </p:nvSpPr>
        <p:spPr>
          <a:xfrm>
            <a:off x="952500" y="1943100"/>
            <a:ext cx="514350" cy="514350"/>
          </a:xfrm>
          <a:prstGeom prst="ellipse">
            <a:avLst/>
          </a:prstGeom>
          <a:solidFill>
            <a:srgbClr val="29D6F2">
              <a:alpha val="20000"/>
            </a:srgbClr>
          </a:solidFill>
          <a:ln w="14288">
            <a:solidFill>
              <a:srgbClr val="29D6F2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B7C553-3F40-4256-873E-D6DDF61905AD}"/>
              </a:ext>
            </a:extLst>
          </p:cNvPr>
          <p:cNvSpPr>
            <a:spLocks noGrp="1"/>
          </p:cNvSpPr>
          <p:nvPr/>
        </p:nvSpPr>
        <p:spPr>
          <a:xfrm>
            <a:off x="1019175" y="2085975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 fontScale="92593"/>
          </a:bodyPr>
          <a:lstStyle/>
          <a:p>
            <a:pPr algn="ctr">
              <a:defRPr sz="1350" b="1">
                <a:solidFill>
                  <a:srgbClr val="29D6F2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29D6F2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93A7B55-3077-4406-8644-67ACB4F7DECE}"/>
              </a:ext>
            </a:extLst>
          </p:cNvPr>
          <p:cNvSpPr>
            <a:spLocks noGrp="1"/>
          </p:cNvSpPr>
          <p:nvPr/>
        </p:nvSpPr>
        <p:spPr>
          <a:xfrm>
            <a:off x="1657350" y="1905000"/>
            <a:ext cx="23431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650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Manual skill entry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564062-7B79-4747-A14C-5F661FD9E8CC}"/>
              </a:ext>
            </a:extLst>
          </p:cNvPr>
          <p:cNvSpPr>
            <a:spLocks noGrp="1"/>
          </p:cNvSpPr>
          <p:nvPr/>
        </p:nvSpPr>
        <p:spPr>
          <a:xfrm>
            <a:off x="1657350" y="2266950"/>
            <a:ext cx="2381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3333"/>
          </a:bodyPr>
          <a:lstStyle/>
          <a:p>
            <a:pPr algn="l">
              <a:defRPr sz="1350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AFC0D3"/>
                </a:solidFill>
                <a:latin typeface="Lato"/>
                <a:ea typeface="Lato"/>
                <a:cs typeface="Lato"/>
              </a:rPr>
              <a:t>Type known skills, certifications, and target role.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ECF48D4-40E5-4B3A-9BE2-C4083781DE2F}"/>
              </a:ext>
            </a:extLst>
          </p:cNvPr>
          <p:cNvSpPr>
            <a:spLocks noGrp="1"/>
          </p:cNvSpPr>
          <p:nvPr/>
        </p:nvSpPr>
        <p:spPr>
          <a:xfrm>
            <a:off x="704850" y="2952750"/>
            <a:ext cx="3810000" cy="1009650"/>
          </a:xfrm>
          <a:prstGeom prst="roundRect">
            <a:avLst>
              <a:gd name="adj" fmla="val 12000"/>
            </a:avLst>
          </a:prstGeom>
          <a:solidFill>
            <a:srgbClr val="132D4A"/>
          </a:solidFill>
          <a:ln w="10478">
            <a:solidFill>
              <a:srgbClr val="FFC43D"/>
            </a:solidFill>
            <a:prstDash val="solid"/>
          </a:ln>
        </p:spPr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F9FEF9D-0200-4738-B0F8-07A8BF62BCB4}"/>
              </a:ext>
            </a:extLst>
          </p:cNvPr>
          <p:cNvSpPr>
            <a:spLocks noGrp="1"/>
          </p:cNvSpPr>
          <p:nvPr/>
        </p:nvSpPr>
        <p:spPr>
          <a:xfrm>
            <a:off x="952500" y="3200400"/>
            <a:ext cx="514350" cy="514350"/>
          </a:xfrm>
          <a:prstGeom prst="ellipse">
            <a:avLst/>
          </a:prstGeom>
          <a:solidFill>
            <a:srgbClr val="FFC43D">
              <a:alpha val="20000"/>
            </a:srgbClr>
          </a:solidFill>
          <a:ln w="14288">
            <a:solidFill>
              <a:srgbClr val="FFC43D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B9AB81-4579-4E96-8B6B-5F1BC0448951}"/>
              </a:ext>
            </a:extLst>
          </p:cNvPr>
          <p:cNvSpPr>
            <a:spLocks noGrp="1"/>
          </p:cNvSpPr>
          <p:nvPr/>
        </p:nvSpPr>
        <p:spPr>
          <a:xfrm>
            <a:off x="1019175" y="3343275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 fontScale="92593"/>
          </a:bodyPr>
          <a:lstStyle/>
          <a:p>
            <a:pPr algn="ctr">
              <a:defRPr sz="1350" b="1">
                <a:solidFill>
                  <a:srgbClr val="FFC43D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FFC43D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5B36791-B7A5-471A-AFBB-575708A9F23E}"/>
              </a:ext>
            </a:extLst>
          </p:cNvPr>
          <p:cNvSpPr>
            <a:spLocks noGrp="1"/>
          </p:cNvSpPr>
          <p:nvPr/>
        </p:nvSpPr>
        <p:spPr>
          <a:xfrm>
            <a:off x="1657350" y="3162300"/>
            <a:ext cx="23431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650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Pasted resume text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6897244-2270-45BD-9025-0201FDC9DBFA}"/>
              </a:ext>
            </a:extLst>
          </p:cNvPr>
          <p:cNvSpPr>
            <a:spLocks noGrp="1"/>
          </p:cNvSpPr>
          <p:nvPr/>
        </p:nvSpPr>
        <p:spPr>
          <a:xfrm>
            <a:off x="1657350" y="3524250"/>
            <a:ext cx="2381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3742"/>
          </a:bodyPr>
          <a:lstStyle/>
          <a:p>
            <a:pPr algn="l">
              <a:defRPr sz="1350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AFC0D3"/>
                </a:solidFill>
                <a:latin typeface="Lato"/>
                <a:ea typeface="Lato"/>
                <a:cs typeface="Lato"/>
              </a:rPr>
              <a:t>Paste plain text from a resume or profile.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E620D60-3601-4DD1-90EC-19E2720712BD}"/>
              </a:ext>
            </a:extLst>
          </p:cNvPr>
          <p:cNvSpPr>
            <a:spLocks noGrp="1"/>
          </p:cNvSpPr>
          <p:nvPr/>
        </p:nvSpPr>
        <p:spPr>
          <a:xfrm>
            <a:off x="704850" y="4210050"/>
            <a:ext cx="3810000" cy="1009650"/>
          </a:xfrm>
          <a:prstGeom prst="roundRect">
            <a:avLst>
              <a:gd name="adj" fmla="val 12000"/>
            </a:avLst>
          </a:prstGeom>
          <a:solidFill>
            <a:srgbClr val="132D4A"/>
          </a:solidFill>
          <a:ln w="10478">
            <a:solidFill>
              <a:srgbClr val="18C99A"/>
            </a:solidFill>
            <a:prstDash val="solid"/>
          </a:ln>
        </p:spPr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40FF04E-7346-4CB3-8796-6C7BBE0FB52B}"/>
              </a:ext>
            </a:extLst>
          </p:cNvPr>
          <p:cNvSpPr>
            <a:spLocks noGrp="1"/>
          </p:cNvSpPr>
          <p:nvPr/>
        </p:nvSpPr>
        <p:spPr>
          <a:xfrm>
            <a:off x="952500" y="4457700"/>
            <a:ext cx="514350" cy="514350"/>
          </a:xfrm>
          <a:prstGeom prst="ellipse">
            <a:avLst/>
          </a:prstGeom>
          <a:solidFill>
            <a:srgbClr val="18C99A">
              <a:alpha val="20000"/>
            </a:srgbClr>
          </a:solidFill>
          <a:ln w="14288">
            <a:solidFill>
              <a:srgbClr val="18C99A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0B401EF-2C5A-498E-8C2C-F87EAF0B5973}"/>
              </a:ext>
            </a:extLst>
          </p:cNvPr>
          <p:cNvSpPr>
            <a:spLocks noGrp="1"/>
          </p:cNvSpPr>
          <p:nvPr/>
        </p:nvSpPr>
        <p:spPr>
          <a:xfrm>
            <a:off x="1019175" y="4600575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 fontScale="92593"/>
          </a:bodyPr>
          <a:lstStyle/>
          <a:p>
            <a:pPr algn="ctr">
              <a:defRPr sz="1350" b="1">
                <a:solidFill>
                  <a:srgbClr val="18C99A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18C99A"/>
                </a:solidFill>
                <a:latin typeface="Poppins"/>
                <a:ea typeface="Poppins"/>
                <a:cs typeface="Poppins"/>
              </a:rPr>
              <a:t>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816B954-845F-4FF9-8602-CF97CBFD60C8}"/>
              </a:ext>
            </a:extLst>
          </p:cNvPr>
          <p:cNvSpPr>
            <a:spLocks noGrp="1"/>
          </p:cNvSpPr>
          <p:nvPr/>
        </p:nvSpPr>
        <p:spPr>
          <a:xfrm>
            <a:off x="1657350" y="4419600"/>
            <a:ext cx="23431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650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Uploaded document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0F90D23-9712-4D24-A07D-8278BF9BDE58}"/>
              </a:ext>
            </a:extLst>
          </p:cNvPr>
          <p:cNvSpPr>
            <a:spLocks noGrp="1"/>
          </p:cNvSpPr>
          <p:nvPr/>
        </p:nvSpPr>
        <p:spPr>
          <a:xfrm>
            <a:off x="1657350" y="4781550"/>
            <a:ext cx="2381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3333"/>
          </a:bodyPr>
          <a:lstStyle/>
          <a:p>
            <a:pPr algn="l">
              <a:defRPr sz="1350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AFC0D3"/>
                </a:solidFill>
                <a:latin typeface="Lato"/>
                <a:ea typeface="Lato"/>
                <a:cs typeface="Lato"/>
              </a:rPr>
              <a:t>Upload PDF or DOCX; the parser handles both.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881D245-EC38-4BD6-A537-00DB631FE2B6}"/>
              </a:ext>
            </a:extLst>
          </p:cNvPr>
          <p:cNvSpPr>
            <a:spLocks noGrp="1"/>
          </p:cNvSpPr>
          <p:nvPr/>
        </p:nvSpPr>
        <p:spPr>
          <a:xfrm>
            <a:off x="5353050" y="1257300"/>
            <a:ext cx="3429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F261B4"/>
                </a:solidFill>
                <a:latin typeface="Poppins"/>
                <a:ea typeface="Poppins"/>
                <a:cs typeface="Poppins"/>
              </a:defRPr>
            </a:pPr>
            <a:r>
              <a:rPr sz="1800" b="1">
                <a:solidFill>
                  <a:srgbClr val="F261B4"/>
                </a:solidFill>
                <a:latin typeface="Poppins"/>
                <a:ea typeface="Poppins"/>
                <a:cs typeface="Poppins"/>
              </a:rPr>
              <a:t>NLP parser pipeline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49B4BCD-E801-427A-A5FA-BB5C3E6A9C3F}"/>
              </a:ext>
            </a:extLst>
          </p:cNvPr>
          <p:cNvSpPr>
            <a:spLocks noGrp="1"/>
          </p:cNvSpPr>
          <p:nvPr/>
        </p:nvSpPr>
        <p:spPr>
          <a:xfrm>
            <a:off x="5124450" y="1752600"/>
            <a:ext cx="2895600" cy="1428750"/>
          </a:xfrm>
          <a:prstGeom prst="roundRect">
            <a:avLst>
              <a:gd name="adj" fmla="val 12000"/>
            </a:avLst>
          </a:prstGeom>
          <a:solidFill>
            <a:srgbClr val="122945"/>
          </a:solidFill>
          <a:ln w="15240">
            <a:solidFill>
              <a:srgbClr val="29D6F2"/>
            </a:solidFill>
            <a:prstDash val="solid"/>
          </a:ln>
        </p:spPr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CF1F585-4A9A-445C-9178-749443BFD364}"/>
              </a:ext>
            </a:extLst>
          </p:cNvPr>
          <p:cNvSpPr>
            <a:spLocks noGrp="1"/>
          </p:cNvSpPr>
          <p:nvPr/>
        </p:nvSpPr>
        <p:spPr>
          <a:xfrm>
            <a:off x="5295900" y="1962150"/>
            <a:ext cx="438150" cy="438150"/>
          </a:xfrm>
          <a:prstGeom prst="ellipse">
            <a:avLst/>
          </a:prstGeom>
          <a:solidFill>
            <a:srgbClr val="29D6F2">
              <a:alpha val="20000"/>
            </a:srgbClr>
          </a:solidFill>
          <a:ln w="11430">
            <a:solidFill>
              <a:srgbClr val="29D6F2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37FCF2A-1F3E-4BD6-929E-2D87992FA238}"/>
              </a:ext>
            </a:extLst>
          </p:cNvPr>
          <p:cNvSpPr>
            <a:spLocks noGrp="1"/>
          </p:cNvSpPr>
          <p:nvPr/>
        </p:nvSpPr>
        <p:spPr>
          <a:xfrm>
            <a:off x="5295900" y="2076450"/>
            <a:ext cx="438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3333"/>
          </a:bodyPr>
          <a:lstStyle/>
          <a:p>
            <a:pPr algn="ctr">
              <a:defRPr sz="1350" b="1">
                <a:solidFill>
                  <a:srgbClr val="29D6F2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29D6F2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7D90D4F-A776-4FA4-8A11-495F4ED50E3B}"/>
              </a:ext>
            </a:extLst>
          </p:cNvPr>
          <p:cNvSpPr>
            <a:spLocks noGrp="1"/>
          </p:cNvSpPr>
          <p:nvPr/>
        </p:nvSpPr>
        <p:spPr>
          <a:xfrm>
            <a:off x="5905500" y="1924050"/>
            <a:ext cx="19431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721"/>
          </a:bodyPr>
          <a:lstStyle/>
          <a:p>
            <a:pPr algn="l">
              <a:defRPr sz="1575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575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Tokenisation &amp; cleaning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D19AA54-8B56-467E-84CF-A17B3CD3D3ED}"/>
              </a:ext>
            </a:extLst>
          </p:cNvPr>
          <p:cNvSpPr>
            <a:spLocks noGrp="1"/>
          </p:cNvSpPr>
          <p:nvPr/>
        </p:nvSpPr>
        <p:spPr>
          <a:xfrm>
            <a:off x="5905500" y="2457450"/>
            <a:ext cx="19240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5679"/>
          </a:bodyPr>
          <a:lstStyle/>
          <a:p>
            <a:pPr algn="l">
              <a:defRPr sz="1350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AFC0D3"/>
                </a:solidFill>
                <a:latin typeface="Lato"/>
                <a:ea typeface="Lato"/>
                <a:cs typeface="Lato"/>
              </a:rPr>
              <a:t>spaCy tokenises text, removes noise, and normalises casing.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8A035AC-61EB-41B4-B405-CF78FBA83698}"/>
              </a:ext>
            </a:extLst>
          </p:cNvPr>
          <p:cNvSpPr>
            <a:spLocks noGrp="1"/>
          </p:cNvSpPr>
          <p:nvPr/>
        </p:nvSpPr>
        <p:spPr>
          <a:xfrm>
            <a:off x="8286750" y="1752600"/>
            <a:ext cx="2895600" cy="1428750"/>
          </a:xfrm>
          <a:prstGeom prst="roundRect">
            <a:avLst>
              <a:gd name="adj" fmla="val 12000"/>
            </a:avLst>
          </a:prstGeom>
          <a:solidFill>
            <a:srgbClr val="122945"/>
          </a:solidFill>
          <a:ln w="15240">
            <a:solidFill>
              <a:srgbClr val="FFC43D"/>
            </a:solidFill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203E8F4-0939-41D2-82F4-D52553D37224}"/>
              </a:ext>
            </a:extLst>
          </p:cNvPr>
          <p:cNvSpPr>
            <a:spLocks noGrp="1"/>
          </p:cNvSpPr>
          <p:nvPr/>
        </p:nvSpPr>
        <p:spPr>
          <a:xfrm>
            <a:off x="8458200" y="1962150"/>
            <a:ext cx="438150" cy="438150"/>
          </a:xfrm>
          <a:prstGeom prst="ellipse">
            <a:avLst/>
          </a:prstGeom>
          <a:solidFill>
            <a:srgbClr val="FFC43D">
              <a:alpha val="20000"/>
            </a:srgbClr>
          </a:solidFill>
          <a:ln w="11430">
            <a:solidFill>
              <a:srgbClr val="FFC43D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0848C59-05DF-4DD6-8ADE-DCBFF07AE472}"/>
              </a:ext>
            </a:extLst>
          </p:cNvPr>
          <p:cNvSpPr>
            <a:spLocks noGrp="1"/>
          </p:cNvSpPr>
          <p:nvPr/>
        </p:nvSpPr>
        <p:spPr>
          <a:xfrm>
            <a:off x="8458200" y="2076450"/>
            <a:ext cx="438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3333"/>
          </a:bodyPr>
          <a:lstStyle/>
          <a:p>
            <a:pPr algn="ctr">
              <a:defRPr sz="1350" b="1">
                <a:solidFill>
                  <a:srgbClr val="FFC43D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FFC43D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09E4EFD-F88A-4A6A-BF99-FCA0DB22578F}"/>
              </a:ext>
            </a:extLst>
          </p:cNvPr>
          <p:cNvSpPr>
            <a:spLocks noGrp="1"/>
          </p:cNvSpPr>
          <p:nvPr/>
        </p:nvSpPr>
        <p:spPr>
          <a:xfrm>
            <a:off x="9067800" y="1924050"/>
            <a:ext cx="19431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575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Custom resume rules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0FB87E8-1786-429D-82D6-C97227559053}"/>
              </a:ext>
            </a:extLst>
          </p:cNvPr>
          <p:cNvSpPr>
            <a:spLocks noGrp="1"/>
          </p:cNvSpPr>
          <p:nvPr/>
        </p:nvSpPr>
        <p:spPr>
          <a:xfrm>
            <a:off x="9067800" y="2457450"/>
            <a:ext cx="19240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5679"/>
          </a:bodyPr>
          <a:lstStyle/>
          <a:p>
            <a:pPr algn="l">
              <a:defRPr sz="1350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AFC0D3"/>
                </a:solidFill>
                <a:latin typeface="Lato"/>
                <a:ea typeface="Lato"/>
                <a:cs typeface="Lato"/>
              </a:rPr>
              <a:t>Section-aware extraction for skills, certifications, projects, and experience.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2B4C0AE5-C814-4C55-A750-15AC7EE22BBC}"/>
              </a:ext>
            </a:extLst>
          </p:cNvPr>
          <p:cNvSpPr>
            <a:spLocks noGrp="1"/>
          </p:cNvSpPr>
          <p:nvPr/>
        </p:nvSpPr>
        <p:spPr>
          <a:xfrm>
            <a:off x="5124450" y="3448050"/>
            <a:ext cx="2895600" cy="1428750"/>
          </a:xfrm>
          <a:prstGeom prst="roundRect">
            <a:avLst>
              <a:gd name="adj" fmla="val 12000"/>
            </a:avLst>
          </a:prstGeom>
          <a:solidFill>
            <a:srgbClr val="122945"/>
          </a:solidFill>
          <a:ln w="15240">
            <a:solidFill>
              <a:srgbClr val="F261B4"/>
            </a:solidFill>
            <a:prstDash val="solid"/>
          </a:ln>
        </p:spPr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6122F7F2-08B1-4C58-87A0-CBD10D1328F3}"/>
              </a:ext>
            </a:extLst>
          </p:cNvPr>
          <p:cNvSpPr>
            <a:spLocks noGrp="1"/>
          </p:cNvSpPr>
          <p:nvPr/>
        </p:nvSpPr>
        <p:spPr>
          <a:xfrm>
            <a:off x="5295900" y="3657600"/>
            <a:ext cx="438150" cy="438150"/>
          </a:xfrm>
          <a:prstGeom prst="ellipse">
            <a:avLst/>
          </a:prstGeom>
          <a:solidFill>
            <a:srgbClr val="F261B4">
              <a:alpha val="20000"/>
            </a:srgbClr>
          </a:solidFill>
          <a:ln w="11430">
            <a:solidFill>
              <a:srgbClr val="F261B4"/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E8DCB36-CF22-4805-AB32-7B3A57A48AE0}"/>
              </a:ext>
            </a:extLst>
          </p:cNvPr>
          <p:cNvSpPr>
            <a:spLocks noGrp="1"/>
          </p:cNvSpPr>
          <p:nvPr/>
        </p:nvSpPr>
        <p:spPr>
          <a:xfrm>
            <a:off x="5295900" y="3771900"/>
            <a:ext cx="438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3333"/>
          </a:bodyPr>
          <a:lstStyle/>
          <a:p>
            <a:pPr algn="ctr">
              <a:defRPr sz="1350" b="1">
                <a:solidFill>
                  <a:srgbClr val="F261B4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F261B4"/>
                </a:solidFill>
                <a:latin typeface="Poppins"/>
                <a:ea typeface="Poppins"/>
                <a:cs typeface="Poppins"/>
              </a:rPr>
              <a:t>3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39BF371-B696-4129-B37D-569446688271}"/>
              </a:ext>
            </a:extLst>
          </p:cNvPr>
          <p:cNvSpPr>
            <a:spLocks noGrp="1"/>
          </p:cNvSpPr>
          <p:nvPr/>
        </p:nvSpPr>
        <p:spPr>
          <a:xfrm>
            <a:off x="5905500" y="3619500"/>
            <a:ext cx="19431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9036"/>
          </a:bodyPr>
          <a:lstStyle/>
          <a:p>
            <a:pPr algn="l">
              <a:defRPr sz="1575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575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Synonym normalisation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8CAF327-5DA2-434A-A767-7F6F1058515D}"/>
              </a:ext>
            </a:extLst>
          </p:cNvPr>
          <p:cNvSpPr>
            <a:spLocks noGrp="1"/>
          </p:cNvSpPr>
          <p:nvPr/>
        </p:nvSpPr>
        <p:spPr>
          <a:xfrm>
            <a:off x="5905500" y="4152900"/>
            <a:ext cx="19240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4297"/>
          </a:bodyPr>
          <a:lstStyle/>
          <a:p>
            <a:pPr algn="l">
              <a:defRPr sz="1350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AFC0D3"/>
                </a:solidFill>
                <a:latin typeface="Lato"/>
                <a:ea typeface="Lato"/>
                <a:cs typeface="Lato"/>
              </a:rPr>
              <a:t>ML equals Machine Learning; JS equals JavaScript; Postgres equals PostgreSQL.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A54D2A02-F728-4CB2-A20A-7679C1FCFC77}"/>
              </a:ext>
            </a:extLst>
          </p:cNvPr>
          <p:cNvSpPr>
            <a:spLocks noGrp="1"/>
          </p:cNvSpPr>
          <p:nvPr/>
        </p:nvSpPr>
        <p:spPr>
          <a:xfrm>
            <a:off x="8286750" y="3448050"/>
            <a:ext cx="2895600" cy="1428750"/>
          </a:xfrm>
          <a:prstGeom prst="roundRect">
            <a:avLst>
              <a:gd name="adj" fmla="val 12000"/>
            </a:avLst>
          </a:prstGeom>
          <a:solidFill>
            <a:srgbClr val="122945"/>
          </a:solidFill>
          <a:ln w="15240">
            <a:solidFill>
              <a:srgbClr val="18C99A"/>
            </a:solidFill>
            <a:prstDash val="solid"/>
          </a:ln>
        </p:spPr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65A9BD75-AD12-488F-9231-0F5ED00F3C99}"/>
              </a:ext>
            </a:extLst>
          </p:cNvPr>
          <p:cNvSpPr>
            <a:spLocks noGrp="1"/>
          </p:cNvSpPr>
          <p:nvPr/>
        </p:nvSpPr>
        <p:spPr>
          <a:xfrm>
            <a:off x="8458200" y="3657600"/>
            <a:ext cx="438150" cy="438150"/>
          </a:xfrm>
          <a:prstGeom prst="ellipse">
            <a:avLst/>
          </a:prstGeom>
          <a:solidFill>
            <a:srgbClr val="18C99A">
              <a:alpha val="20000"/>
            </a:srgbClr>
          </a:solidFill>
          <a:ln w="11430">
            <a:solidFill>
              <a:srgbClr val="18C99A"/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5B43F51-022F-43B6-A640-30E78A6DC065}"/>
              </a:ext>
            </a:extLst>
          </p:cNvPr>
          <p:cNvSpPr>
            <a:spLocks noGrp="1"/>
          </p:cNvSpPr>
          <p:nvPr/>
        </p:nvSpPr>
        <p:spPr>
          <a:xfrm>
            <a:off x="8458200" y="3771900"/>
            <a:ext cx="438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3333"/>
          </a:bodyPr>
          <a:lstStyle/>
          <a:p>
            <a:pPr algn="ctr">
              <a:defRPr sz="1350" b="1">
                <a:solidFill>
                  <a:srgbClr val="18C99A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18C99A"/>
                </a:solidFill>
                <a:latin typeface="Poppins"/>
                <a:ea typeface="Poppins"/>
                <a:cs typeface="Poppins"/>
              </a:rPr>
              <a:t>4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4839567-05ED-49FE-BB45-C1FC85D81479}"/>
              </a:ext>
            </a:extLst>
          </p:cNvPr>
          <p:cNvSpPr>
            <a:spLocks noGrp="1"/>
          </p:cNvSpPr>
          <p:nvPr/>
        </p:nvSpPr>
        <p:spPr>
          <a:xfrm>
            <a:off x="9067800" y="3619500"/>
            <a:ext cx="19431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3331"/>
          </a:bodyPr>
          <a:lstStyle/>
          <a:p>
            <a:pPr algn="l">
              <a:defRPr sz="1575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575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Structured profile output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69F0B2F-62E9-4178-9DDB-285731FCCD73}"/>
              </a:ext>
            </a:extLst>
          </p:cNvPr>
          <p:cNvSpPr>
            <a:spLocks noGrp="1"/>
          </p:cNvSpPr>
          <p:nvPr/>
        </p:nvSpPr>
        <p:spPr>
          <a:xfrm>
            <a:off x="9067800" y="4152900"/>
            <a:ext cx="19240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5679"/>
          </a:bodyPr>
          <a:lstStyle/>
          <a:p>
            <a:pPr algn="l">
              <a:defRPr sz="1350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AFC0D3"/>
                </a:solidFill>
                <a:latin typeface="Lato"/>
                <a:ea typeface="Lato"/>
                <a:cs typeface="Lato"/>
              </a:rPr>
              <a:t>Each skill stores confidence, source span, and evidence reference.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FED289E-784B-4D7A-A9B5-6B71BD8DA682}"/>
              </a:ext>
            </a:extLst>
          </p:cNvPr>
          <p:cNvSpPr>
            <a:spLocks noGrp="1"/>
          </p:cNvSpPr>
          <p:nvPr/>
        </p:nvSpPr>
        <p:spPr>
          <a:xfrm>
            <a:off x="4610100" y="3390900"/>
            <a:ext cx="419100" cy="28575"/>
          </a:xfrm>
          <a:prstGeom prst="rect">
            <a:avLst/>
          </a:prstGeom>
          <a:solidFill>
            <a:srgbClr val="29D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Arrow: Right 46">
            <a:extLst>
              <a:ext uri="{FF2B5EF4-FFF2-40B4-BE49-F238E27FC236}">
                <a16:creationId xmlns:a16="http://schemas.microsoft.com/office/drawing/2014/main" id="{2C4208CF-F133-471B-9B6F-AA696203B185}"/>
              </a:ext>
            </a:extLst>
          </p:cNvPr>
          <p:cNvSpPr>
            <a:spLocks noGrp="1"/>
          </p:cNvSpPr>
          <p:nvPr/>
        </p:nvSpPr>
        <p:spPr>
          <a:xfrm>
            <a:off x="4876800" y="3314700"/>
            <a:ext cx="247650" cy="190500"/>
          </a:xfrm>
          <a:prstGeom prst="rightArrow">
            <a:avLst/>
          </a:prstGeom>
          <a:solidFill>
            <a:srgbClr val="29D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552720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6F04E279-E4B0-4970-A3BB-5DDFE8350B9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9D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8850D85-E724-4853-8174-807018EA3766}"/>
              </a:ext>
            </a:extLst>
          </p:cNvPr>
          <p:cNvSpPr>
            <a:spLocks noGrp="1"/>
          </p:cNvSpPr>
          <p:nvPr/>
        </p:nvSpPr>
        <p:spPr>
          <a:xfrm>
            <a:off x="-1143000" y="-1143000"/>
            <a:ext cx="3429000" cy="3429000"/>
          </a:xfrm>
          <a:prstGeom prst="ellipse">
            <a:avLst/>
          </a:prstGeom>
          <a:solidFill>
            <a:srgbClr val="123A4C">
              <a:alpha val="4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0358809-D702-4E88-B71A-57D8513122A5}"/>
              </a:ext>
            </a:extLst>
          </p:cNvPr>
          <p:cNvSpPr>
            <a:spLocks noGrp="1"/>
          </p:cNvSpPr>
          <p:nvPr/>
        </p:nvSpPr>
        <p:spPr>
          <a:xfrm>
            <a:off x="10001250" y="5334000"/>
            <a:ext cx="3333750" cy="3333750"/>
          </a:xfrm>
          <a:prstGeom prst="ellipse">
            <a:avLst/>
          </a:prstGeom>
          <a:solidFill>
            <a:srgbClr val="3C2147">
              <a:alpha val="4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7E552C-1432-4E8B-A1C3-7AD8620D873A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14350" cy="419100"/>
          </a:xfrm>
          <a:prstGeom prst="rect">
            <a:avLst/>
          </a:prstGeom>
          <a:solidFill>
            <a:srgbClr val="29D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AEB0C1-A5E5-432D-81D5-8312B71A294D}"/>
              </a:ext>
            </a:extLst>
          </p:cNvPr>
          <p:cNvSpPr>
            <a:spLocks noGrp="1"/>
          </p:cNvSpPr>
          <p:nvPr/>
        </p:nvSpPr>
        <p:spPr>
          <a:xfrm>
            <a:off x="457200" y="371475"/>
            <a:ext cx="514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07111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7111F"/>
                </a:solidFill>
                <a:latin typeface="Poppins"/>
                <a:ea typeface="Poppins"/>
                <a:cs typeface="Poppins"/>
              </a:rPr>
              <a:t>12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6B7805-AEB5-4DDF-84B2-BAF0F4711440}"/>
              </a:ext>
            </a:extLst>
          </p:cNvPr>
          <p:cNvSpPr>
            <a:spLocks noGrp="1"/>
          </p:cNvSpPr>
          <p:nvPr/>
        </p:nvSpPr>
        <p:spPr>
          <a:xfrm>
            <a:off x="1104900" y="371475"/>
            <a:ext cx="7524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325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2325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Skill Comparison &amp; Gap Identification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ACB98D-9519-4F63-BB9F-89FDF6DD23EC}"/>
              </a:ext>
            </a:extLst>
          </p:cNvPr>
          <p:cNvSpPr>
            <a:spLocks noGrp="1"/>
          </p:cNvSpPr>
          <p:nvPr/>
        </p:nvSpPr>
        <p:spPr>
          <a:xfrm>
            <a:off x="10191750" y="41910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275" b="1">
                <a:solidFill>
                  <a:srgbClr val="AFC0D3"/>
                </a:solidFill>
                <a:latin typeface="Poppins"/>
                <a:ea typeface="Poppins"/>
                <a:cs typeface="Poppins"/>
              </a:defRPr>
            </a:pPr>
            <a:r>
              <a:rPr sz="1275" b="1">
                <a:solidFill>
                  <a:srgbClr val="AFC0D3"/>
                </a:solidFill>
                <a:latin typeface="Poppins"/>
                <a:ea typeface="Poppins"/>
                <a:cs typeface="Poppins"/>
              </a:rPr>
              <a:t>RASET 2026 - BIT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338092-E333-4794-B674-5ACBC9BCF9AA}"/>
              </a:ext>
            </a:extLst>
          </p:cNvPr>
          <p:cNvSpPr>
            <a:spLocks noGrp="1"/>
          </p:cNvSpPr>
          <p:nvPr/>
        </p:nvSpPr>
        <p:spPr>
          <a:xfrm>
            <a:off x="457200" y="838200"/>
            <a:ext cx="11277600" cy="19050"/>
          </a:xfrm>
          <a:prstGeom prst="rect">
            <a:avLst/>
          </a:prstGeom>
          <a:solidFill>
            <a:srgbClr val="2855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7B4DF0-5AF4-4DA6-A298-F79FFDB00CA0}"/>
              </a:ext>
            </a:extLst>
          </p:cNvPr>
          <p:cNvSpPr>
            <a:spLocks noGrp="1"/>
          </p:cNvSpPr>
          <p:nvPr/>
        </p:nvSpPr>
        <p:spPr>
          <a:xfrm>
            <a:off x="819150" y="1162050"/>
            <a:ext cx="9906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800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800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After a target role is selected, the engine compares the extracted profile against a curated catalogue using sentence-level embeddings rather than literal text matching.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CA71067-1770-443B-9EDC-6E580E396777}"/>
              </a:ext>
            </a:extLst>
          </p:cNvPr>
          <p:cNvSpPr>
            <a:spLocks noGrp="1"/>
          </p:cNvSpPr>
          <p:nvPr/>
        </p:nvSpPr>
        <p:spPr>
          <a:xfrm>
            <a:off x="609600" y="2038350"/>
            <a:ext cx="3448050" cy="3429000"/>
          </a:xfrm>
          <a:prstGeom prst="roundRect">
            <a:avLst>
              <a:gd name="adj" fmla="val 12000"/>
            </a:avLst>
          </a:prstGeom>
          <a:solidFill>
            <a:srgbClr val="132D4A"/>
          </a:solidFill>
          <a:ln w="13335">
            <a:solidFill>
              <a:srgbClr val="18C99A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147A34-78A0-43BC-B6C2-30399790AC28}"/>
              </a:ext>
            </a:extLst>
          </p:cNvPr>
          <p:cNvSpPr>
            <a:spLocks noGrp="1"/>
          </p:cNvSpPr>
          <p:nvPr/>
        </p:nvSpPr>
        <p:spPr>
          <a:xfrm>
            <a:off x="609600" y="2038350"/>
            <a:ext cx="3448050" cy="57150"/>
          </a:xfrm>
          <a:prstGeom prst="rect">
            <a:avLst/>
          </a:prstGeom>
          <a:solidFill>
            <a:srgbClr val="18C9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251FE2-E940-40FE-974C-3AA975D25ED9}"/>
              </a:ext>
            </a:extLst>
          </p:cNvPr>
          <p:cNvSpPr>
            <a:spLocks noGrp="1"/>
          </p:cNvSpPr>
          <p:nvPr/>
        </p:nvSpPr>
        <p:spPr>
          <a:xfrm>
            <a:off x="895350" y="2457450"/>
            <a:ext cx="266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18C99A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18C99A"/>
                </a:solidFill>
                <a:latin typeface="Poppins"/>
                <a:ea typeface="Poppins"/>
                <a:cs typeface="Poppins"/>
              </a:rPr>
              <a:t>MATCHED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D7ADB91-B39A-4596-87FA-5926E1A176CC}"/>
              </a:ext>
            </a:extLst>
          </p:cNvPr>
          <p:cNvSpPr>
            <a:spLocks noGrp="1"/>
          </p:cNvSpPr>
          <p:nvPr/>
        </p:nvSpPr>
        <p:spPr>
          <a:xfrm>
            <a:off x="895350" y="2933700"/>
            <a:ext cx="2705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75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2175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Full overlap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D5E782F-D4C0-40A1-9ED9-29F8488BFDD7}"/>
              </a:ext>
            </a:extLst>
          </p:cNvPr>
          <p:cNvSpPr>
            <a:spLocks noGrp="1"/>
          </p:cNvSpPr>
          <p:nvPr/>
        </p:nvSpPr>
        <p:spPr>
          <a:xfrm>
            <a:off x="895350" y="3638550"/>
            <a:ext cx="2876550" cy="1009650"/>
          </a:xfrm>
          <a:prstGeom prst="roundRect">
            <a:avLst>
              <a:gd name="adj" fmla="val 12000"/>
            </a:avLst>
          </a:prstGeom>
          <a:solidFill>
            <a:srgbClr val="0D2034"/>
          </a:solidFill>
          <a:ln w="9525">
            <a:solidFill>
              <a:srgbClr val="28557A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DAC69E0-A395-4E21-9887-448AFDAF0C5C}"/>
              </a:ext>
            </a:extLst>
          </p:cNvPr>
          <p:cNvSpPr>
            <a:spLocks noGrp="1"/>
          </p:cNvSpPr>
          <p:nvPr/>
        </p:nvSpPr>
        <p:spPr>
          <a:xfrm>
            <a:off x="1085850" y="38290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7890A8"/>
                </a:solidFill>
                <a:latin typeface="Poppins"/>
                <a:ea typeface="Poppins"/>
                <a:cs typeface="Poppins"/>
              </a:defRPr>
            </a:pPr>
            <a:r>
              <a:rPr sz="1200" b="1">
                <a:solidFill>
                  <a:srgbClr val="7890A8"/>
                </a:solidFill>
                <a:latin typeface="Poppins"/>
                <a:ea typeface="Poppins"/>
                <a:cs typeface="Poppins"/>
              </a:rPr>
              <a:t>Example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886901F-A1BE-4650-AAD6-5D29D4AFDA0B}"/>
              </a:ext>
            </a:extLst>
          </p:cNvPr>
          <p:cNvSpPr>
            <a:spLocks noGrp="1"/>
          </p:cNvSpPr>
          <p:nvPr/>
        </p:nvSpPr>
        <p:spPr>
          <a:xfrm>
            <a:off x="1085850" y="4133850"/>
            <a:ext cx="2476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AFC0D3"/>
                </a:solidFill>
                <a:latin typeface="Lato"/>
                <a:ea typeface="Lato"/>
                <a:cs typeface="Lato"/>
              </a:rPr>
              <a:t>Profile: Python, Pandas, SQL</a:t>
            </a:r>
          </a:p>
          <a:p>
            <a:pPr algn="l">
              <a:defRPr sz="1350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AFC0D3"/>
                </a:solidFill>
                <a:latin typeface="Lato"/>
                <a:ea typeface="Lato"/>
                <a:cs typeface="Lato"/>
              </a:rPr>
              <a:t>Role: Python, Pandas, SQL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A79087C-4665-4EB0-9500-246AE1383ED5}"/>
              </a:ext>
            </a:extLst>
          </p:cNvPr>
          <p:cNvSpPr>
            <a:spLocks noGrp="1"/>
          </p:cNvSpPr>
          <p:nvPr/>
        </p:nvSpPr>
        <p:spPr>
          <a:xfrm>
            <a:off x="1219200" y="4953000"/>
            <a:ext cx="2228850" cy="361950"/>
          </a:xfrm>
          <a:prstGeom prst="roundRect">
            <a:avLst>
              <a:gd name="adj" fmla="val 12000"/>
            </a:avLst>
          </a:prstGeom>
          <a:solidFill>
            <a:srgbClr val="18C99A">
              <a:alpha val="20000"/>
            </a:srgbClr>
          </a:solidFill>
          <a:ln w="9525">
            <a:solidFill>
              <a:srgbClr val="18C99A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1C21DF3-B4CC-4CB7-A705-AE84762F176A}"/>
              </a:ext>
            </a:extLst>
          </p:cNvPr>
          <p:cNvSpPr>
            <a:spLocks noGrp="1"/>
          </p:cNvSpPr>
          <p:nvPr/>
        </p:nvSpPr>
        <p:spPr>
          <a:xfrm>
            <a:off x="1352550" y="5029200"/>
            <a:ext cx="1962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350" b="1">
                <a:solidFill>
                  <a:srgbClr val="18C99A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18C99A"/>
                </a:solidFill>
                <a:latin typeface="Poppins"/>
                <a:ea typeface="Poppins"/>
                <a:cs typeface="Poppins"/>
              </a:rPr>
              <a:t>Contributes 100%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AE6B3AE-795A-4658-AA58-DA59F01E1BB3}"/>
              </a:ext>
            </a:extLst>
          </p:cNvPr>
          <p:cNvSpPr>
            <a:spLocks noGrp="1"/>
          </p:cNvSpPr>
          <p:nvPr/>
        </p:nvSpPr>
        <p:spPr>
          <a:xfrm>
            <a:off x="4457700" y="2038350"/>
            <a:ext cx="3448050" cy="3429000"/>
          </a:xfrm>
          <a:prstGeom prst="roundRect">
            <a:avLst>
              <a:gd name="adj" fmla="val 12000"/>
            </a:avLst>
          </a:prstGeom>
          <a:solidFill>
            <a:srgbClr val="132D4A"/>
          </a:solidFill>
          <a:ln w="13335">
            <a:solidFill>
              <a:srgbClr val="FFC43D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907CE94-31DA-4A24-BA74-7328A260F7EF}"/>
              </a:ext>
            </a:extLst>
          </p:cNvPr>
          <p:cNvSpPr>
            <a:spLocks noGrp="1"/>
          </p:cNvSpPr>
          <p:nvPr/>
        </p:nvSpPr>
        <p:spPr>
          <a:xfrm>
            <a:off x="4457700" y="2038350"/>
            <a:ext cx="3448050" cy="57150"/>
          </a:xfrm>
          <a:prstGeom prst="rect">
            <a:avLst/>
          </a:prstGeom>
          <a:solidFill>
            <a:srgbClr val="FFC4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D6AACC4-1F0E-44F8-A18D-1C54D35DC6FF}"/>
              </a:ext>
            </a:extLst>
          </p:cNvPr>
          <p:cNvSpPr>
            <a:spLocks noGrp="1"/>
          </p:cNvSpPr>
          <p:nvPr/>
        </p:nvSpPr>
        <p:spPr>
          <a:xfrm>
            <a:off x="4743450" y="2457450"/>
            <a:ext cx="266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FFC43D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FFC43D"/>
                </a:solidFill>
                <a:latin typeface="Poppins"/>
                <a:ea typeface="Poppins"/>
                <a:cs typeface="Poppins"/>
              </a:rPr>
              <a:t>PARTIALLY MATCHED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54B97F3-8357-4D19-A8E4-EA0E685D17D7}"/>
              </a:ext>
            </a:extLst>
          </p:cNvPr>
          <p:cNvSpPr>
            <a:spLocks noGrp="1"/>
          </p:cNvSpPr>
          <p:nvPr/>
        </p:nvSpPr>
        <p:spPr>
          <a:xfrm>
            <a:off x="4743450" y="2933700"/>
            <a:ext cx="2705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75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2175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Adjacent expertise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7CC8F4C-02EF-46E1-95D2-6B3D74EC0F47}"/>
              </a:ext>
            </a:extLst>
          </p:cNvPr>
          <p:cNvSpPr>
            <a:spLocks noGrp="1"/>
          </p:cNvSpPr>
          <p:nvPr/>
        </p:nvSpPr>
        <p:spPr>
          <a:xfrm>
            <a:off x="4743450" y="3638550"/>
            <a:ext cx="2876550" cy="1009650"/>
          </a:xfrm>
          <a:prstGeom prst="roundRect">
            <a:avLst>
              <a:gd name="adj" fmla="val 12000"/>
            </a:avLst>
          </a:prstGeom>
          <a:solidFill>
            <a:srgbClr val="0D2034"/>
          </a:solidFill>
          <a:ln w="9525">
            <a:solidFill>
              <a:srgbClr val="28557A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F607BF7-B836-4522-98E0-FCFDD3FB05F9}"/>
              </a:ext>
            </a:extLst>
          </p:cNvPr>
          <p:cNvSpPr>
            <a:spLocks noGrp="1"/>
          </p:cNvSpPr>
          <p:nvPr/>
        </p:nvSpPr>
        <p:spPr>
          <a:xfrm>
            <a:off x="4933950" y="38290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7890A8"/>
                </a:solidFill>
                <a:latin typeface="Poppins"/>
                <a:ea typeface="Poppins"/>
                <a:cs typeface="Poppins"/>
              </a:defRPr>
            </a:pPr>
            <a:r>
              <a:rPr sz="1200" b="1">
                <a:solidFill>
                  <a:srgbClr val="7890A8"/>
                </a:solidFill>
                <a:latin typeface="Poppins"/>
                <a:ea typeface="Poppins"/>
                <a:cs typeface="Poppins"/>
              </a:rPr>
              <a:t>Example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30624FF-388B-45F6-BB39-0994CC5906C5}"/>
              </a:ext>
            </a:extLst>
          </p:cNvPr>
          <p:cNvSpPr>
            <a:spLocks noGrp="1"/>
          </p:cNvSpPr>
          <p:nvPr/>
        </p:nvSpPr>
        <p:spPr>
          <a:xfrm>
            <a:off x="4933950" y="4133850"/>
            <a:ext cx="2476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AFC0D3"/>
                </a:solidFill>
                <a:latin typeface="Lato"/>
                <a:ea typeface="Lato"/>
                <a:cs typeface="Lato"/>
              </a:rPr>
              <a:t>Profile: Python</a:t>
            </a:r>
          </a:p>
          <a:p>
            <a:pPr algn="l">
              <a:defRPr sz="1350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AFC0D3"/>
                </a:solidFill>
                <a:latin typeface="Lato"/>
                <a:ea typeface="Lato"/>
                <a:cs typeface="Lato"/>
              </a:rPr>
              <a:t>Role: Python, Pandas, NumPy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6B47C79-D211-403D-809C-98995353FB24}"/>
              </a:ext>
            </a:extLst>
          </p:cNvPr>
          <p:cNvSpPr>
            <a:spLocks noGrp="1"/>
          </p:cNvSpPr>
          <p:nvPr/>
        </p:nvSpPr>
        <p:spPr>
          <a:xfrm>
            <a:off x="5067300" y="4953000"/>
            <a:ext cx="2228850" cy="361950"/>
          </a:xfrm>
          <a:prstGeom prst="roundRect">
            <a:avLst>
              <a:gd name="adj" fmla="val 12000"/>
            </a:avLst>
          </a:prstGeom>
          <a:solidFill>
            <a:srgbClr val="FFC43D">
              <a:alpha val="20000"/>
            </a:srgbClr>
          </a:solidFill>
          <a:ln w="9525">
            <a:solidFill>
              <a:srgbClr val="FFC43D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C45FCCA-1C22-450E-8A70-0FDDF6C31847}"/>
              </a:ext>
            </a:extLst>
          </p:cNvPr>
          <p:cNvSpPr>
            <a:spLocks noGrp="1"/>
          </p:cNvSpPr>
          <p:nvPr/>
        </p:nvSpPr>
        <p:spPr>
          <a:xfrm>
            <a:off x="5200650" y="5029200"/>
            <a:ext cx="1962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350" b="1">
                <a:solidFill>
                  <a:srgbClr val="FFC43D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FFC43D"/>
                </a:solidFill>
                <a:latin typeface="Poppins"/>
                <a:ea typeface="Poppins"/>
                <a:cs typeface="Poppins"/>
              </a:rPr>
              <a:t>Contributes about 50%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A5332F9D-CC19-42A6-8200-2AD040CB7022}"/>
              </a:ext>
            </a:extLst>
          </p:cNvPr>
          <p:cNvSpPr>
            <a:spLocks noGrp="1"/>
          </p:cNvSpPr>
          <p:nvPr/>
        </p:nvSpPr>
        <p:spPr>
          <a:xfrm>
            <a:off x="8305800" y="2038350"/>
            <a:ext cx="3448050" cy="3429000"/>
          </a:xfrm>
          <a:prstGeom prst="roundRect">
            <a:avLst>
              <a:gd name="adj" fmla="val 12000"/>
            </a:avLst>
          </a:prstGeom>
          <a:solidFill>
            <a:srgbClr val="132D4A"/>
          </a:solidFill>
          <a:ln w="13335">
            <a:solidFill>
              <a:srgbClr val="F261B4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77DD8C0-40BC-403C-BC9A-68D6A90D13EE}"/>
              </a:ext>
            </a:extLst>
          </p:cNvPr>
          <p:cNvSpPr>
            <a:spLocks noGrp="1"/>
          </p:cNvSpPr>
          <p:nvPr/>
        </p:nvSpPr>
        <p:spPr>
          <a:xfrm>
            <a:off x="8305800" y="2038350"/>
            <a:ext cx="3448050" cy="57150"/>
          </a:xfrm>
          <a:prstGeom prst="rect">
            <a:avLst/>
          </a:prstGeom>
          <a:solidFill>
            <a:srgbClr val="F261B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11C42BC-D9C0-46F8-A04F-DC26085013A8}"/>
              </a:ext>
            </a:extLst>
          </p:cNvPr>
          <p:cNvSpPr>
            <a:spLocks noGrp="1"/>
          </p:cNvSpPr>
          <p:nvPr/>
        </p:nvSpPr>
        <p:spPr>
          <a:xfrm>
            <a:off x="8591550" y="2457450"/>
            <a:ext cx="266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F261B4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F261B4"/>
                </a:solidFill>
                <a:latin typeface="Poppins"/>
                <a:ea typeface="Poppins"/>
                <a:cs typeface="Poppins"/>
              </a:rPr>
              <a:t>MISSING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83E04B0-3CC3-4227-B489-D0FB39EA5687}"/>
              </a:ext>
            </a:extLst>
          </p:cNvPr>
          <p:cNvSpPr>
            <a:spLocks noGrp="1"/>
          </p:cNvSpPr>
          <p:nvPr/>
        </p:nvSpPr>
        <p:spPr>
          <a:xfrm>
            <a:off x="8591550" y="2933700"/>
            <a:ext cx="2705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75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2175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Genuine gap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EAA15D40-E251-4356-ABC2-37DCC80EE017}"/>
              </a:ext>
            </a:extLst>
          </p:cNvPr>
          <p:cNvSpPr>
            <a:spLocks noGrp="1"/>
          </p:cNvSpPr>
          <p:nvPr/>
        </p:nvSpPr>
        <p:spPr>
          <a:xfrm>
            <a:off x="8591550" y="3638550"/>
            <a:ext cx="2876550" cy="1009650"/>
          </a:xfrm>
          <a:prstGeom prst="roundRect">
            <a:avLst>
              <a:gd name="adj" fmla="val 12000"/>
            </a:avLst>
          </a:prstGeom>
          <a:solidFill>
            <a:srgbClr val="0D2034"/>
          </a:solidFill>
          <a:ln w="9525">
            <a:solidFill>
              <a:srgbClr val="28557A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3C0CA50-DE0E-43FE-85D1-DD0862A7B7E6}"/>
              </a:ext>
            </a:extLst>
          </p:cNvPr>
          <p:cNvSpPr>
            <a:spLocks noGrp="1"/>
          </p:cNvSpPr>
          <p:nvPr/>
        </p:nvSpPr>
        <p:spPr>
          <a:xfrm>
            <a:off x="8782050" y="38290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7890A8"/>
                </a:solidFill>
                <a:latin typeface="Poppins"/>
                <a:ea typeface="Poppins"/>
                <a:cs typeface="Poppins"/>
              </a:defRPr>
            </a:pPr>
            <a:r>
              <a:rPr sz="1200" b="1">
                <a:solidFill>
                  <a:srgbClr val="7890A8"/>
                </a:solidFill>
                <a:latin typeface="Poppins"/>
                <a:ea typeface="Poppins"/>
                <a:cs typeface="Poppins"/>
              </a:rPr>
              <a:t>Example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9919F38-624B-4698-A8DC-81E3E80F88B1}"/>
              </a:ext>
            </a:extLst>
          </p:cNvPr>
          <p:cNvSpPr>
            <a:spLocks noGrp="1"/>
          </p:cNvSpPr>
          <p:nvPr/>
        </p:nvSpPr>
        <p:spPr>
          <a:xfrm>
            <a:off x="8782050" y="4133850"/>
            <a:ext cx="2476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AFC0D3"/>
                </a:solidFill>
                <a:latin typeface="Lato"/>
                <a:ea typeface="Lato"/>
                <a:cs typeface="Lato"/>
              </a:rPr>
              <a:t>Profile: none</a:t>
            </a:r>
          </a:p>
          <a:p>
            <a:pPr algn="l">
              <a:defRPr sz="1350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AFC0D3"/>
                </a:solidFill>
                <a:latin typeface="Lato"/>
                <a:ea typeface="Lato"/>
                <a:cs typeface="Lato"/>
              </a:rPr>
              <a:t>Role: Machine Learning, Statistics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2DFCD35D-4D56-4421-B857-80BC2F9C7866}"/>
              </a:ext>
            </a:extLst>
          </p:cNvPr>
          <p:cNvSpPr>
            <a:spLocks noGrp="1"/>
          </p:cNvSpPr>
          <p:nvPr/>
        </p:nvSpPr>
        <p:spPr>
          <a:xfrm>
            <a:off x="8915400" y="4953000"/>
            <a:ext cx="2228850" cy="361950"/>
          </a:xfrm>
          <a:prstGeom prst="roundRect">
            <a:avLst>
              <a:gd name="adj" fmla="val 12000"/>
            </a:avLst>
          </a:prstGeom>
          <a:solidFill>
            <a:srgbClr val="F261B4">
              <a:alpha val="20000"/>
            </a:srgbClr>
          </a:solidFill>
          <a:ln w="9525">
            <a:solidFill>
              <a:srgbClr val="F261B4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9E14BE5-2C31-482F-980F-D9BC1721AF02}"/>
              </a:ext>
            </a:extLst>
          </p:cNvPr>
          <p:cNvSpPr>
            <a:spLocks noGrp="1"/>
          </p:cNvSpPr>
          <p:nvPr/>
        </p:nvSpPr>
        <p:spPr>
          <a:xfrm>
            <a:off x="9048750" y="5029200"/>
            <a:ext cx="1962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350" b="1">
                <a:solidFill>
                  <a:srgbClr val="F261B4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F261B4"/>
                </a:solidFill>
                <a:latin typeface="Poppins"/>
                <a:ea typeface="Poppins"/>
                <a:cs typeface="Poppins"/>
              </a:rPr>
              <a:t>Contributes 0%</a:t>
            </a:r>
          </a:p>
        </p:txBody>
      </p:sp>
    </p:spTree>
    <p:extLst>
      <p:ext uri="{BB962C8B-B14F-4D97-AF65-F5344CB8AC3E}">
        <p14:creationId xmlns:p14="http://schemas.microsoft.com/office/powerpoint/2010/main" val="841884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E3E29AD5-6614-40FE-9447-08670B73CAA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9D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FD8E4E5-FD62-4435-B5D7-1BE021183E33}"/>
              </a:ext>
            </a:extLst>
          </p:cNvPr>
          <p:cNvSpPr>
            <a:spLocks noGrp="1"/>
          </p:cNvSpPr>
          <p:nvPr/>
        </p:nvSpPr>
        <p:spPr>
          <a:xfrm>
            <a:off x="-1143000" y="-1143000"/>
            <a:ext cx="3429000" cy="3429000"/>
          </a:xfrm>
          <a:prstGeom prst="ellipse">
            <a:avLst/>
          </a:prstGeom>
          <a:solidFill>
            <a:srgbClr val="123A4C">
              <a:alpha val="4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A06FE91-5802-4A33-806A-407B67573261}"/>
              </a:ext>
            </a:extLst>
          </p:cNvPr>
          <p:cNvSpPr>
            <a:spLocks noGrp="1"/>
          </p:cNvSpPr>
          <p:nvPr/>
        </p:nvSpPr>
        <p:spPr>
          <a:xfrm>
            <a:off x="10001250" y="5334000"/>
            <a:ext cx="3333750" cy="3333750"/>
          </a:xfrm>
          <a:prstGeom prst="ellipse">
            <a:avLst/>
          </a:prstGeom>
          <a:solidFill>
            <a:srgbClr val="3C2147">
              <a:alpha val="4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0F3AD6-3807-4C90-A921-5EFCDD14A3F5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14350" cy="419100"/>
          </a:xfrm>
          <a:prstGeom prst="rect">
            <a:avLst/>
          </a:prstGeom>
          <a:solidFill>
            <a:srgbClr val="29D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D0347F-E6B1-4135-9D7D-52813160ADC8}"/>
              </a:ext>
            </a:extLst>
          </p:cNvPr>
          <p:cNvSpPr>
            <a:spLocks noGrp="1"/>
          </p:cNvSpPr>
          <p:nvPr/>
        </p:nvSpPr>
        <p:spPr>
          <a:xfrm>
            <a:off x="457200" y="371475"/>
            <a:ext cx="514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07111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7111F"/>
                </a:solidFill>
                <a:latin typeface="Poppins"/>
                <a:ea typeface="Poppins"/>
                <a:cs typeface="Poppins"/>
              </a:rPr>
              <a:t>13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324F44-3B1F-40FD-A4D2-BC8B657117FD}"/>
              </a:ext>
            </a:extLst>
          </p:cNvPr>
          <p:cNvSpPr>
            <a:spLocks noGrp="1"/>
          </p:cNvSpPr>
          <p:nvPr/>
        </p:nvSpPr>
        <p:spPr>
          <a:xfrm>
            <a:off x="1104900" y="371475"/>
            <a:ext cx="7524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325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2325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Match Score - Weighted, Transparent, 0-100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A6081B-8E21-4DAD-8EC7-79A13AE4D884}"/>
              </a:ext>
            </a:extLst>
          </p:cNvPr>
          <p:cNvSpPr>
            <a:spLocks noGrp="1"/>
          </p:cNvSpPr>
          <p:nvPr/>
        </p:nvSpPr>
        <p:spPr>
          <a:xfrm>
            <a:off x="10191750" y="41910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275" b="1">
                <a:solidFill>
                  <a:srgbClr val="AFC0D3"/>
                </a:solidFill>
                <a:latin typeface="Poppins"/>
                <a:ea typeface="Poppins"/>
                <a:cs typeface="Poppins"/>
              </a:defRPr>
            </a:pPr>
            <a:r>
              <a:rPr sz="1275" b="1">
                <a:solidFill>
                  <a:srgbClr val="AFC0D3"/>
                </a:solidFill>
                <a:latin typeface="Poppins"/>
                <a:ea typeface="Poppins"/>
                <a:cs typeface="Poppins"/>
              </a:rPr>
              <a:t>RASET 2026 - BIT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948D5C-7E73-49C8-9030-C1FCA81BAC68}"/>
              </a:ext>
            </a:extLst>
          </p:cNvPr>
          <p:cNvSpPr>
            <a:spLocks noGrp="1"/>
          </p:cNvSpPr>
          <p:nvPr/>
        </p:nvSpPr>
        <p:spPr>
          <a:xfrm>
            <a:off x="457200" y="838200"/>
            <a:ext cx="11277600" cy="19050"/>
          </a:xfrm>
          <a:prstGeom prst="rect">
            <a:avLst/>
          </a:prstGeom>
          <a:solidFill>
            <a:srgbClr val="2855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129A1F-A749-4B16-9B0D-19EA2A4B9789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F261B4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F261B4"/>
                </a:solidFill>
                <a:latin typeface="Poppins"/>
                <a:ea typeface="Poppins"/>
                <a:cs typeface="Poppins"/>
              </a:rPr>
              <a:t>Formula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82BBBD-17AD-455C-8084-CC0E0F7B1D5E}"/>
              </a:ext>
            </a:extLst>
          </p:cNvPr>
          <p:cNvSpPr>
            <a:spLocks noGrp="1"/>
          </p:cNvSpPr>
          <p:nvPr/>
        </p:nvSpPr>
        <p:spPr>
          <a:xfrm>
            <a:off x="685800" y="1504950"/>
            <a:ext cx="5429250" cy="628650"/>
          </a:xfrm>
          <a:prstGeom prst="rect">
            <a:avLst/>
          </a:prstGeom>
          <a:solidFill>
            <a:srgbClr val="10253E"/>
          </a:solidFill>
          <a:ln w="11430">
            <a:solidFill>
              <a:srgbClr val="28557A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DA632A-C4B5-4363-8B0E-403CAD513173}"/>
              </a:ext>
            </a:extLst>
          </p:cNvPr>
          <p:cNvSpPr>
            <a:spLocks noGrp="1"/>
          </p:cNvSpPr>
          <p:nvPr/>
        </p:nvSpPr>
        <p:spPr>
          <a:xfrm>
            <a:off x="914400" y="1724025"/>
            <a:ext cx="4972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6956"/>
          </a:bodyPr>
          <a:lstStyle/>
          <a:p>
            <a:pPr algn="ctr">
              <a:defRPr sz="1725" b="1">
                <a:solidFill>
                  <a:srgbClr val="29D6F2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1">
                <a:solidFill>
                  <a:srgbClr val="29D6F2"/>
                </a:solidFill>
                <a:latin typeface="Cascadia Mono"/>
                <a:ea typeface="Cascadia Mono"/>
                <a:cs typeface="Cascadia Mono"/>
              </a:rPr>
              <a:t>score = sum(wi x contributioni) / sum(wi)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E984555-94FF-46E4-B255-559BC36EAD1F}"/>
              </a:ext>
            </a:extLst>
          </p:cNvPr>
          <p:cNvSpPr>
            <a:spLocks noGrp="1"/>
          </p:cNvSpPr>
          <p:nvPr/>
        </p:nvSpPr>
        <p:spPr>
          <a:xfrm>
            <a:off x="1619250" y="2400300"/>
            <a:ext cx="3105150" cy="3105150"/>
          </a:xfrm>
          <a:prstGeom prst="ellipse">
            <a:avLst/>
          </a:prstGeom>
          <a:solidFill>
            <a:srgbClr val="183A5B"/>
          </a:solidFill>
          <a:ln w="57150">
            <a:solidFill>
              <a:srgbClr val="29D6F2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5ECCE2B-A928-49E9-9551-23A5058A936E}"/>
              </a:ext>
            </a:extLst>
          </p:cNvPr>
          <p:cNvSpPr>
            <a:spLocks noGrp="1"/>
          </p:cNvSpPr>
          <p:nvPr/>
        </p:nvSpPr>
        <p:spPr>
          <a:xfrm>
            <a:off x="2247900" y="3371850"/>
            <a:ext cx="19050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 fontScale="89431"/>
          </a:bodyPr>
          <a:lstStyle/>
          <a:p>
            <a:pPr algn="ctr">
              <a:defRPr sz="6150" b="1">
                <a:solidFill>
                  <a:srgbClr val="29D6F2"/>
                </a:solidFill>
                <a:latin typeface="Poppins"/>
                <a:ea typeface="Poppins"/>
                <a:cs typeface="Poppins"/>
              </a:defRPr>
            </a:pPr>
            <a:r>
              <a:rPr sz="6150" b="1">
                <a:solidFill>
                  <a:srgbClr val="29D6F2"/>
                </a:solidFill>
                <a:latin typeface="Poppins"/>
                <a:ea typeface="Poppins"/>
                <a:cs typeface="Poppins"/>
              </a:rPr>
              <a:t>82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5F6C30D-202D-49AF-A1A0-839B071B6920}"/>
              </a:ext>
            </a:extLst>
          </p:cNvPr>
          <p:cNvSpPr>
            <a:spLocks noGrp="1"/>
          </p:cNvSpPr>
          <p:nvPr/>
        </p:nvSpPr>
        <p:spPr>
          <a:xfrm>
            <a:off x="2190750" y="558165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0">
                <a:solidFill>
                  <a:srgbClr val="F7FAFC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F7FAFC"/>
                </a:solidFill>
                <a:latin typeface="Lato"/>
                <a:ea typeface="Lato"/>
                <a:cs typeface="Lato"/>
              </a:rPr>
              <a:t>MATCH SCORE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09BF72-6C54-4786-9C5D-FC7789FF8A5A}"/>
              </a:ext>
            </a:extLst>
          </p:cNvPr>
          <p:cNvSpPr>
            <a:spLocks noGrp="1"/>
          </p:cNvSpPr>
          <p:nvPr/>
        </p:nvSpPr>
        <p:spPr>
          <a:xfrm>
            <a:off x="1943100" y="59055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75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AFC0D3"/>
                </a:solidFill>
                <a:latin typeface="Lato"/>
                <a:ea typeface="Lato"/>
                <a:cs typeface="Lato"/>
              </a:rPr>
              <a:t>Sample - Data Scientist Role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6AE666E-8B75-484E-8288-9AC886325494}"/>
              </a:ext>
            </a:extLst>
          </p:cNvPr>
          <p:cNvSpPr>
            <a:spLocks noGrp="1"/>
          </p:cNvSpPr>
          <p:nvPr/>
        </p:nvSpPr>
        <p:spPr>
          <a:xfrm>
            <a:off x="6534150" y="1200150"/>
            <a:ext cx="5257800" cy="4686300"/>
          </a:xfrm>
          <a:prstGeom prst="roundRect">
            <a:avLst>
              <a:gd name="adj" fmla="val 12000"/>
            </a:avLst>
          </a:prstGeom>
          <a:solidFill>
            <a:srgbClr val="132D4A"/>
          </a:solidFill>
          <a:ln w="11430">
            <a:solidFill>
              <a:srgbClr val="28557A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F77E3F7-339A-4189-A314-ED5055E05728}"/>
              </a:ext>
            </a:extLst>
          </p:cNvPr>
          <p:cNvSpPr>
            <a:spLocks noGrp="1"/>
          </p:cNvSpPr>
          <p:nvPr/>
        </p:nvSpPr>
        <p:spPr>
          <a:xfrm>
            <a:off x="6896100" y="160020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29D6F2"/>
                </a:solidFill>
                <a:latin typeface="Poppins"/>
                <a:ea typeface="Poppins"/>
                <a:cs typeface="Poppins"/>
              </a:defRPr>
            </a:pPr>
            <a:r>
              <a:rPr sz="1650" b="1">
                <a:solidFill>
                  <a:srgbClr val="29D6F2"/>
                </a:solidFill>
                <a:latin typeface="Poppins"/>
                <a:ea typeface="Poppins"/>
                <a:cs typeface="Poppins"/>
              </a:rPr>
              <a:t>How it is computed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369B004-3F4A-411D-B3C8-F3251C5C08D3}"/>
              </a:ext>
            </a:extLst>
          </p:cNvPr>
          <p:cNvSpPr>
            <a:spLocks noGrp="1"/>
          </p:cNvSpPr>
          <p:nvPr/>
        </p:nvSpPr>
        <p:spPr>
          <a:xfrm>
            <a:off x="6934200" y="2190750"/>
            <a:ext cx="209550" cy="209550"/>
          </a:xfrm>
          <a:prstGeom prst="ellipse">
            <a:avLst/>
          </a:prstGeom>
          <a:solidFill>
            <a:srgbClr val="FFC4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B79C4ED-B8F2-4A15-80EE-D6B1EF1AB108}"/>
              </a:ext>
            </a:extLst>
          </p:cNvPr>
          <p:cNvSpPr>
            <a:spLocks noGrp="1"/>
          </p:cNvSpPr>
          <p:nvPr/>
        </p:nvSpPr>
        <p:spPr>
          <a:xfrm>
            <a:off x="7277100" y="2114550"/>
            <a:ext cx="4038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650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Each skill carries a weight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B534930-84F1-4109-AC00-9A2DAA0AF46E}"/>
              </a:ext>
            </a:extLst>
          </p:cNvPr>
          <p:cNvSpPr>
            <a:spLocks noGrp="1"/>
          </p:cNvSpPr>
          <p:nvPr/>
        </p:nvSpPr>
        <p:spPr>
          <a:xfrm>
            <a:off x="7277100" y="2438400"/>
            <a:ext cx="40386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AFC0D3"/>
                </a:solidFill>
                <a:latin typeface="Lato"/>
                <a:ea typeface="Lato"/>
                <a:cs typeface="Lato"/>
              </a:rPr>
              <a:t>Weights mirror how often the skill appears in role-specific job descriptions.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8677AC5-F0A3-4AA0-AE0D-6038810BA969}"/>
              </a:ext>
            </a:extLst>
          </p:cNvPr>
          <p:cNvSpPr>
            <a:spLocks noGrp="1"/>
          </p:cNvSpPr>
          <p:nvPr/>
        </p:nvSpPr>
        <p:spPr>
          <a:xfrm>
            <a:off x="6934200" y="3086100"/>
            <a:ext cx="209550" cy="209550"/>
          </a:xfrm>
          <a:prstGeom prst="ellipse">
            <a:avLst/>
          </a:prstGeom>
          <a:solidFill>
            <a:srgbClr val="18C9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7FD1CF6-2B12-4503-B99C-96238450D38B}"/>
              </a:ext>
            </a:extLst>
          </p:cNvPr>
          <p:cNvSpPr>
            <a:spLocks noGrp="1"/>
          </p:cNvSpPr>
          <p:nvPr/>
        </p:nvSpPr>
        <p:spPr>
          <a:xfrm>
            <a:off x="7277100" y="3009900"/>
            <a:ext cx="4038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650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Matched skills contribute fully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82156B9-3D3B-4067-80A8-4661D8F036C2}"/>
              </a:ext>
            </a:extLst>
          </p:cNvPr>
          <p:cNvSpPr>
            <a:spLocks noGrp="1"/>
          </p:cNvSpPr>
          <p:nvPr/>
        </p:nvSpPr>
        <p:spPr>
          <a:xfrm>
            <a:off x="7277100" y="3333750"/>
            <a:ext cx="40386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AFC0D3"/>
                </a:solidFill>
                <a:latin typeface="Lato"/>
                <a:ea typeface="Lato"/>
                <a:cs typeface="Lato"/>
              </a:rPr>
              <a:t>Their full weight is added to the numerator.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45632EB-067D-48F8-AEF7-3F4FFE202DAB}"/>
              </a:ext>
            </a:extLst>
          </p:cNvPr>
          <p:cNvSpPr>
            <a:spLocks noGrp="1"/>
          </p:cNvSpPr>
          <p:nvPr/>
        </p:nvSpPr>
        <p:spPr>
          <a:xfrm>
            <a:off x="6934200" y="3981450"/>
            <a:ext cx="209550" cy="209550"/>
          </a:xfrm>
          <a:prstGeom prst="ellipse">
            <a:avLst/>
          </a:prstGeom>
          <a:solidFill>
            <a:srgbClr val="29D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7658C3C-6AD5-4777-9BAE-19A9001DB3C4}"/>
              </a:ext>
            </a:extLst>
          </p:cNvPr>
          <p:cNvSpPr>
            <a:spLocks noGrp="1"/>
          </p:cNvSpPr>
          <p:nvPr/>
        </p:nvSpPr>
        <p:spPr>
          <a:xfrm>
            <a:off x="7277100" y="3905250"/>
            <a:ext cx="4038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650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Partial skills contribute proportionally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59DE2DF-34DE-41F8-BA19-1F7691D98CDC}"/>
              </a:ext>
            </a:extLst>
          </p:cNvPr>
          <p:cNvSpPr>
            <a:spLocks noGrp="1"/>
          </p:cNvSpPr>
          <p:nvPr/>
        </p:nvSpPr>
        <p:spPr>
          <a:xfrm>
            <a:off x="7277100" y="4438650"/>
            <a:ext cx="4038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350" b="0" dirty="0">
                <a:solidFill>
                  <a:srgbClr val="AFC0D3"/>
                </a:solidFill>
                <a:latin typeface="Lato"/>
                <a:ea typeface="Lato"/>
                <a:cs typeface="Lato"/>
              </a:rPr>
              <a:t>Only a fraction is credited to reflect partial coverage.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94CA505-C037-4DD7-979D-77A790F2FFDB}"/>
              </a:ext>
            </a:extLst>
          </p:cNvPr>
          <p:cNvSpPr>
            <a:spLocks noGrp="1"/>
          </p:cNvSpPr>
          <p:nvPr/>
        </p:nvSpPr>
        <p:spPr>
          <a:xfrm>
            <a:off x="6934200" y="4876800"/>
            <a:ext cx="209550" cy="209550"/>
          </a:xfrm>
          <a:prstGeom prst="ellipse">
            <a:avLst/>
          </a:prstGeom>
          <a:solidFill>
            <a:srgbClr val="F261B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02ECE8C-7EB6-42C5-9942-E0F6C8F0DF4C}"/>
              </a:ext>
            </a:extLst>
          </p:cNvPr>
          <p:cNvSpPr>
            <a:spLocks noGrp="1"/>
          </p:cNvSpPr>
          <p:nvPr/>
        </p:nvSpPr>
        <p:spPr>
          <a:xfrm>
            <a:off x="7277100" y="4800600"/>
            <a:ext cx="4038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650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Missing skills reduce the score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0760008-B372-4CB3-9A4C-8D0965F9857C}"/>
              </a:ext>
            </a:extLst>
          </p:cNvPr>
          <p:cNvSpPr>
            <a:spLocks noGrp="1"/>
          </p:cNvSpPr>
          <p:nvPr/>
        </p:nvSpPr>
        <p:spPr>
          <a:xfrm>
            <a:off x="7277100" y="5124450"/>
            <a:ext cx="40386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AFC0D3"/>
                </a:solidFill>
                <a:latin typeface="Lato"/>
                <a:ea typeface="Lato"/>
                <a:cs typeface="Lato"/>
              </a:rPr>
              <a:t>Their weight stays in the denominator but adds nothing to the numerator.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D57B55C3-195D-4147-97C7-137EFE5903BC}"/>
              </a:ext>
            </a:extLst>
          </p:cNvPr>
          <p:cNvSpPr>
            <a:spLocks noGrp="1"/>
          </p:cNvSpPr>
          <p:nvPr/>
        </p:nvSpPr>
        <p:spPr>
          <a:xfrm>
            <a:off x="781050" y="6172200"/>
            <a:ext cx="4953000" cy="361950"/>
          </a:xfrm>
          <a:prstGeom prst="roundRect">
            <a:avLst>
              <a:gd name="adj" fmla="val 12000"/>
            </a:avLst>
          </a:prstGeom>
          <a:solidFill>
            <a:srgbClr val="102D48"/>
          </a:solidFill>
          <a:ln w="9525">
            <a:solidFill>
              <a:srgbClr val="F261B4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95574D9-A4C3-41FD-850D-E349A6DA7C3B}"/>
              </a:ext>
            </a:extLst>
          </p:cNvPr>
          <p:cNvSpPr>
            <a:spLocks noGrp="1"/>
          </p:cNvSpPr>
          <p:nvPr/>
        </p:nvSpPr>
        <p:spPr>
          <a:xfrm>
            <a:off x="914400" y="6248400"/>
            <a:ext cx="468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350" b="1">
                <a:solidFill>
                  <a:srgbClr val="F261B4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F261B4"/>
                </a:solidFill>
                <a:latin typeface="Poppins"/>
                <a:ea typeface="Poppins"/>
                <a:cs typeface="Poppins"/>
              </a:rPr>
              <a:t>Readable baseline for tracking improvement over time</a:t>
            </a:r>
          </a:p>
        </p:txBody>
      </p:sp>
    </p:spTree>
    <p:extLst>
      <p:ext uri="{BB962C8B-B14F-4D97-AF65-F5344CB8AC3E}">
        <p14:creationId xmlns:p14="http://schemas.microsoft.com/office/powerpoint/2010/main" val="13664975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6956D715-062B-4B70-B115-CAD2640CA7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9D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8A52070-9C93-47E9-9F81-CA0611AFFF34}"/>
              </a:ext>
            </a:extLst>
          </p:cNvPr>
          <p:cNvSpPr>
            <a:spLocks noGrp="1"/>
          </p:cNvSpPr>
          <p:nvPr/>
        </p:nvSpPr>
        <p:spPr>
          <a:xfrm>
            <a:off x="-1143000" y="-1143000"/>
            <a:ext cx="3429000" cy="3429000"/>
          </a:xfrm>
          <a:prstGeom prst="ellipse">
            <a:avLst/>
          </a:prstGeom>
          <a:solidFill>
            <a:srgbClr val="123A4C">
              <a:alpha val="4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94F2D32-BAA9-4F13-A2BC-89E4DCF437F9}"/>
              </a:ext>
            </a:extLst>
          </p:cNvPr>
          <p:cNvSpPr>
            <a:spLocks noGrp="1"/>
          </p:cNvSpPr>
          <p:nvPr/>
        </p:nvSpPr>
        <p:spPr>
          <a:xfrm>
            <a:off x="10001250" y="5334000"/>
            <a:ext cx="3333750" cy="3333750"/>
          </a:xfrm>
          <a:prstGeom prst="ellipse">
            <a:avLst/>
          </a:prstGeom>
          <a:solidFill>
            <a:srgbClr val="3C2147">
              <a:alpha val="4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7F3569-8529-4602-9B54-3AA907289B70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14350" cy="419100"/>
          </a:xfrm>
          <a:prstGeom prst="rect">
            <a:avLst/>
          </a:prstGeom>
          <a:solidFill>
            <a:srgbClr val="29D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94F4FD-34AE-4607-9972-80656A348FB2}"/>
              </a:ext>
            </a:extLst>
          </p:cNvPr>
          <p:cNvSpPr>
            <a:spLocks noGrp="1"/>
          </p:cNvSpPr>
          <p:nvPr/>
        </p:nvSpPr>
        <p:spPr>
          <a:xfrm>
            <a:off x="457200" y="371475"/>
            <a:ext cx="514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07111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7111F"/>
                </a:solidFill>
                <a:latin typeface="Poppins"/>
                <a:ea typeface="Poppins"/>
                <a:cs typeface="Poppins"/>
              </a:rPr>
              <a:t>14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9F13F6-D4A9-471C-B011-0114178F7D0B}"/>
              </a:ext>
            </a:extLst>
          </p:cNvPr>
          <p:cNvSpPr>
            <a:spLocks noGrp="1"/>
          </p:cNvSpPr>
          <p:nvPr/>
        </p:nvSpPr>
        <p:spPr>
          <a:xfrm>
            <a:off x="1104900" y="371475"/>
            <a:ext cx="7524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325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2325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Recommendation Engine - Personalised Learning Path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3E050F-929B-4B25-AFAC-5924206BCAF0}"/>
              </a:ext>
            </a:extLst>
          </p:cNvPr>
          <p:cNvSpPr>
            <a:spLocks noGrp="1"/>
          </p:cNvSpPr>
          <p:nvPr/>
        </p:nvSpPr>
        <p:spPr>
          <a:xfrm>
            <a:off x="10191750" y="41910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275" b="1">
                <a:solidFill>
                  <a:srgbClr val="AFC0D3"/>
                </a:solidFill>
                <a:latin typeface="Poppins"/>
                <a:ea typeface="Poppins"/>
                <a:cs typeface="Poppins"/>
              </a:defRPr>
            </a:pPr>
            <a:r>
              <a:rPr sz="1275" b="1">
                <a:solidFill>
                  <a:srgbClr val="AFC0D3"/>
                </a:solidFill>
                <a:latin typeface="Poppins"/>
                <a:ea typeface="Poppins"/>
                <a:cs typeface="Poppins"/>
              </a:rPr>
              <a:t>RASET 2026 - BIT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47FFE1-F01D-42A9-9719-69F4A2AEAC87}"/>
              </a:ext>
            </a:extLst>
          </p:cNvPr>
          <p:cNvSpPr>
            <a:spLocks noGrp="1"/>
          </p:cNvSpPr>
          <p:nvPr/>
        </p:nvSpPr>
        <p:spPr>
          <a:xfrm>
            <a:off x="457200" y="838200"/>
            <a:ext cx="11277600" cy="19050"/>
          </a:xfrm>
          <a:prstGeom prst="rect">
            <a:avLst/>
          </a:prstGeom>
          <a:solidFill>
            <a:srgbClr val="2855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3120002-C3CC-4084-9522-D5537D59C082}"/>
              </a:ext>
            </a:extLst>
          </p:cNvPr>
          <p:cNvSpPr>
            <a:spLocks noGrp="1"/>
          </p:cNvSpPr>
          <p:nvPr/>
        </p:nvSpPr>
        <p:spPr>
          <a:xfrm>
            <a:off x="704850" y="1200150"/>
            <a:ext cx="4000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9485"/>
          </a:bodyPr>
          <a:lstStyle/>
          <a:p>
            <a:pPr algn="l">
              <a:defRPr sz="1800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800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For every gap, the engine assembles a justified, prioritised plan - not a generic course list.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89E928B-A298-41C0-AE97-CE6DF0F6AD40}"/>
              </a:ext>
            </a:extLst>
          </p:cNvPr>
          <p:cNvSpPr>
            <a:spLocks noGrp="1"/>
          </p:cNvSpPr>
          <p:nvPr/>
        </p:nvSpPr>
        <p:spPr>
          <a:xfrm>
            <a:off x="685800" y="2038350"/>
            <a:ext cx="3886200" cy="876300"/>
          </a:xfrm>
          <a:prstGeom prst="roundRect">
            <a:avLst>
              <a:gd name="adj" fmla="val 12000"/>
            </a:avLst>
          </a:prstGeom>
          <a:solidFill>
            <a:srgbClr val="132D4A"/>
          </a:solidFill>
          <a:ln w="10478">
            <a:solidFill>
              <a:srgbClr val="29D6F2"/>
            </a:solidFill>
            <a:prstDash val="solid"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87670A9-9C41-4BA3-B706-2875785345AE}"/>
              </a:ext>
            </a:extLst>
          </p:cNvPr>
          <p:cNvSpPr>
            <a:spLocks noGrp="1"/>
          </p:cNvSpPr>
          <p:nvPr/>
        </p:nvSpPr>
        <p:spPr>
          <a:xfrm>
            <a:off x="914400" y="2219325"/>
            <a:ext cx="514350" cy="514350"/>
          </a:xfrm>
          <a:prstGeom prst="ellipse">
            <a:avLst/>
          </a:prstGeom>
          <a:solidFill>
            <a:srgbClr val="29D6F2">
              <a:alpha val="20000"/>
            </a:srgbClr>
          </a:solidFill>
          <a:ln w="14288">
            <a:solidFill>
              <a:srgbClr val="29D6F2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9F7A8B-AA3C-49F6-8777-0E1D1D9F14E2}"/>
              </a:ext>
            </a:extLst>
          </p:cNvPr>
          <p:cNvSpPr>
            <a:spLocks noGrp="1"/>
          </p:cNvSpPr>
          <p:nvPr/>
        </p:nvSpPr>
        <p:spPr>
          <a:xfrm>
            <a:off x="981075" y="236220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 fontScale="92593"/>
          </a:bodyPr>
          <a:lstStyle/>
          <a:p>
            <a:pPr algn="ctr">
              <a:defRPr sz="1350" b="1">
                <a:solidFill>
                  <a:srgbClr val="29D6F2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29D6F2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CAFCA6-785B-4FCD-A9D9-676A384BD4B6}"/>
              </a:ext>
            </a:extLst>
          </p:cNvPr>
          <p:cNvSpPr>
            <a:spLocks noGrp="1"/>
          </p:cNvSpPr>
          <p:nvPr/>
        </p:nvSpPr>
        <p:spPr>
          <a:xfrm>
            <a:off x="1581150" y="2209800"/>
            <a:ext cx="2476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650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Skill Importance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CFA45C6-D4CC-4330-8E9D-CE8D71E97616}"/>
              </a:ext>
            </a:extLst>
          </p:cNvPr>
          <p:cNvSpPr>
            <a:spLocks noGrp="1"/>
          </p:cNvSpPr>
          <p:nvPr/>
        </p:nvSpPr>
        <p:spPr>
          <a:xfrm>
            <a:off x="1581150" y="2552700"/>
            <a:ext cx="25336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76769"/>
          </a:bodyPr>
          <a:lstStyle/>
          <a:p>
            <a:pPr algn="l">
              <a:defRPr sz="1350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AFC0D3"/>
                </a:solidFill>
                <a:latin typeface="Lato"/>
                <a:ea typeface="Lato"/>
                <a:cs typeface="Lato"/>
              </a:rPr>
              <a:t>Higher role weights get earlier slots in the path.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4DC6518-2F3E-487D-8894-73E7673E1573}"/>
              </a:ext>
            </a:extLst>
          </p:cNvPr>
          <p:cNvSpPr>
            <a:spLocks noGrp="1"/>
          </p:cNvSpPr>
          <p:nvPr/>
        </p:nvSpPr>
        <p:spPr>
          <a:xfrm>
            <a:off x="685800" y="3162300"/>
            <a:ext cx="3886200" cy="876300"/>
          </a:xfrm>
          <a:prstGeom prst="roundRect">
            <a:avLst>
              <a:gd name="adj" fmla="val 12000"/>
            </a:avLst>
          </a:prstGeom>
          <a:solidFill>
            <a:srgbClr val="132D4A"/>
          </a:solidFill>
          <a:ln w="10478">
            <a:solidFill>
              <a:srgbClr val="FFC43D"/>
            </a:solidFill>
            <a:prstDash val="solid"/>
          </a:ln>
        </p:spPr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732CCF0-1ADC-4A74-A86D-86AE7FD9ACD3}"/>
              </a:ext>
            </a:extLst>
          </p:cNvPr>
          <p:cNvSpPr>
            <a:spLocks noGrp="1"/>
          </p:cNvSpPr>
          <p:nvPr/>
        </p:nvSpPr>
        <p:spPr>
          <a:xfrm>
            <a:off x="914400" y="3343275"/>
            <a:ext cx="514350" cy="514350"/>
          </a:xfrm>
          <a:prstGeom prst="ellipse">
            <a:avLst/>
          </a:prstGeom>
          <a:solidFill>
            <a:srgbClr val="FFC43D">
              <a:alpha val="20000"/>
            </a:srgbClr>
          </a:solidFill>
          <a:ln w="14288">
            <a:solidFill>
              <a:srgbClr val="FFC43D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6408820-7681-4A29-90FE-D08B4B20AA30}"/>
              </a:ext>
            </a:extLst>
          </p:cNvPr>
          <p:cNvSpPr>
            <a:spLocks noGrp="1"/>
          </p:cNvSpPr>
          <p:nvPr/>
        </p:nvSpPr>
        <p:spPr>
          <a:xfrm>
            <a:off x="981075" y="348615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 fontScale="92593"/>
          </a:bodyPr>
          <a:lstStyle/>
          <a:p>
            <a:pPr algn="ctr">
              <a:defRPr sz="1350" b="1">
                <a:solidFill>
                  <a:srgbClr val="FFC43D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FFC43D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E302E1B-97AD-40ED-92ED-6C82AF8CC14D}"/>
              </a:ext>
            </a:extLst>
          </p:cNvPr>
          <p:cNvSpPr>
            <a:spLocks noGrp="1"/>
          </p:cNvSpPr>
          <p:nvPr/>
        </p:nvSpPr>
        <p:spPr>
          <a:xfrm>
            <a:off x="1581150" y="3333750"/>
            <a:ext cx="2476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650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Learning Effort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0677F97-B30B-4BFC-A939-12D1DCD22BF2}"/>
              </a:ext>
            </a:extLst>
          </p:cNvPr>
          <p:cNvSpPr>
            <a:spLocks noGrp="1"/>
          </p:cNvSpPr>
          <p:nvPr/>
        </p:nvSpPr>
        <p:spPr>
          <a:xfrm>
            <a:off x="1581150" y="3676650"/>
            <a:ext cx="25336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0730"/>
          </a:bodyPr>
          <a:lstStyle/>
          <a:p>
            <a:pPr algn="l">
              <a:defRPr sz="1350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AFC0D3"/>
                </a:solidFill>
                <a:latin typeface="Lato"/>
                <a:ea typeface="Lato"/>
                <a:cs typeface="Lato"/>
              </a:rPr>
              <a:t>Estimated study time keeps the plan realistic.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043AEA4-3758-4883-B939-C2FB8E97E21B}"/>
              </a:ext>
            </a:extLst>
          </p:cNvPr>
          <p:cNvSpPr>
            <a:spLocks noGrp="1"/>
          </p:cNvSpPr>
          <p:nvPr/>
        </p:nvSpPr>
        <p:spPr>
          <a:xfrm>
            <a:off x="685800" y="4286250"/>
            <a:ext cx="3886200" cy="876300"/>
          </a:xfrm>
          <a:prstGeom prst="roundRect">
            <a:avLst>
              <a:gd name="adj" fmla="val 12000"/>
            </a:avLst>
          </a:prstGeom>
          <a:solidFill>
            <a:srgbClr val="132D4A"/>
          </a:solidFill>
          <a:ln w="10478">
            <a:solidFill>
              <a:srgbClr val="18C99A"/>
            </a:solidFill>
            <a:prstDash val="solid"/>
          </a:ln>
        </p:spPr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D1DC8C8-F26D-4E25-B312-344EC29816ED}"/>
              </a:ext>
            </a:extLst>
          </p:cNvPr>
          <p:cNvSpPr>
            <a:spLocks noGrp="1"/>
          </p:cNvSpPr>
          <p:nvPr/>
        </p:nvSpPr>
        <p:spPr>
          <a:xfrm>
            <a:off x="914400" y="4467225"/>
            <a:ext cx="514350" cy="514350"/>
          </a:xfrm>
          <a:prstGeom prst="ellipse">
            <a:avLst/>
          </a:prstGeom>
          <a:solidFill>
            <a:srgbClr val="18C99A">
              <a:alpha val="20000"/>
            </a:srgbClr>
          </a:solidFill>
          <a:ln w="14288">
            <a:solidFill>
              <a:srgbClr val="18C99A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66FEACF-82F9-4FB6-B4F5-B00ABDE294A1}"/>
              </a:ext>
            </a:extLst>
          </p:cNvPr>
          <p:cNvSpPr>
            <a:spLocks noGrp="1"/>
          </p:cNvSpPr>
          <p:nvPr/>
        </p:nvSpPr>
        <p:spPr>
          <a:xfrm>
            <a:off x="981075" y="461010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 fontScale="92593"/>
          </a:bodyPr>
          <a:lstStyle/>
          <a:p>
            <a:pPr algn="ctr">
              <a:defRPr sz="1350" b="1">
                <a:solidFill>
                  <a:srgbClr val="18C99A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18C99A"/>
                </a:solidFill>
                <a:latin typeface="Poppins"/>
                <a:ea typeface="Poppins"/>
                <a:cs typeface="Poppins"/>
              </a:rPr>
              <a:t>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74BE9A5-9BF8-49F2-AA0C-E2A571EC2017}"/>
              </a:ext>
            </a:extLst>
          </p:cNvPr>
          <p:cNvSpPr>
            <a:spLocks noGrp="1"/>
          </p:cNvSpPr>
          <p:nvPr/>
        </p:nvSpPr>
        <p:spPr>
          <a:xfrm>
            <a:off x="1581150" y="4457700"/>
            <a:ext cx="2476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650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Learner Preference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6D6C011-A2D9-4D5F-A252-213F9387247D}"/>
              </a:ext>
            </a:extLst>
          </p:cNvPr>
          <p:cNvSpPr>
            <a:spLocks noGrp="1"/>
          </p:cNvSpPr>
          <p:nvPr/>
        </p:nvSpPr>
        <p:spPr>
          <a:xfrm>
            <a:off x="1581150" y="4800600"/>
            <a:ext cx="25336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69444"/>
          </a:bodyPr>
          <a:lstStyle/>
          <a:p>
            <a:pPr algn="l">
              <a:defRPr sz="1350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AFC0D3"/>
                </a:solidFill>
                <a:latin typeface="Lato"/>
                <a:ea typeface="Lato"/>
                <a:cs typeface="Lato"/>
              </a:rPr>
              <a:t>Free vs paid, video vs reading, self-paced or cohort-based.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4C2628A-527E-42A5-903A-A0B80194DE05}"/>
              </a:ext>
            </a:extLst>
          </p:cNvPr>
          <p:cNvSpPr>
            <a:spLocks noGrp="1"/>
          </p:cNvSpPr>
          <p:nvPr/>
        </p:nvSpPr>
        <p:spPr>
          <a:xfrm>
            <a:off x="4953000" y="1409700"/>
            <a:ext cx="6419850" cy="3733800"/>
          </a:xfrm>
          <a:prstGeom prst="roundRect">
            <a:avLst>
              <a:gd name="adj" fmla="val 12000"/>
            </a:avLst>
          </a:prstGeom>
          <a:solidFill>
            <a:srgbClr val="0D2034"/>
          </a:solidFill>
          <a:ln w="13335">
            <a:solidFill>
              <a:srgbClr val="29D6F2"/>
            </a:solidFill>
            <a:prstDash val="solid"/>
          </a:ln>
        </p:spPr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rcRect l="8263" r="8263"/>
          <a:stretch>
            <a:fillRect/>
          </a:stretch>
        </p:blipFill>
        <p:spPr>
          <a:xfrm>
            <a:off x="5124450" y="1581150"/>
            <a:ext cx="6076950" cy="3390900"/>
          </a:xfrm>
          <a:prstGeom prst="round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DC410E70-E2BC-4164-97A8-524CB3DA53BB}"/>
              </a:ext>
            </a:extLst>
          </p:cNvPr>
          <p:cNvSpPr>
            <a:spLocks noGrp="1"/>
          </p:cNvSpPr>
          <p:nvPr/>
        </p:nvSpPr>
        <p:spPr>
          <a:xfrm>
            <a:off x="5219700" y="5295900"/>
            <a:ext cx="3524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261B4"/>
                </a:solidFill>
                <a:latin typeface="Poppins"/>
                <a:ea typeface="Poppins"/>
                <a:cs typeface="Poppins"/>
              </a:defRPr>
            </a:pPr>
            <a:r>
              <a:rPr sz="1650" b="1">
                <a:solidFill>
                  <a:srgbClr val="F261B4"/>
                </a:solidFill>
                <a:latin typeface="Poppins"/>
                <a:ea typeface="Poppins"/>
                <a:cs typeface="Poppins"/>
              </a:rPr>
              <a:t>What the learner receives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064C477B-6D5C-488E-9F48-11A113C9E032}"/>
              </a:ext>
            </a:extLst>
          </p:cNvPr>
          <p:cNvSpPr>
            <a:spLocks noGrp="1"/>
          </p:cNvSpPr>
          <p:nvPr/>
        </p:nvSpPr>
        <p:spPr>
          <a:xfrm>
            <a:off x="5219700" y="5657850"/>
            <a:ext cx="2571750" cy="400050"/>
          </a:xfrm>
          <a:prstGeom prst="roundRect">
            <a:avLst>
              <a:gd name="adj" fmla="val 12000"/>
            </a:avLst>
          </a:prstGeom>
          <a:solidFill>
            <a:srgbClr val="29D6F2">
              <a:alpha val="13333"/>
            </a:srgbClr>
          </a:solidFill>
          <a:ln w="9525">
            <a:solidFill>
              <a:srgbClr val="29D6F2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2AB3275-19C3-466D-914B-225D7EB6E04B}"/>
              </a:ext>
            </a:extLst>
          </p:cNvPr>
          <p:cNvSpPr>
            <a:spLocks noGrp="1"/>
          </p:cNvSpPr>
          <p:nvPr/>
        </p:nvSpPr>
        <p:spPr>
          <a:xfrm>
            <a:off x="5334000" y="5753100"/>
            <a:ext cx="2343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 fontScale="92593"/>
          </a:bodyPr>
          <a:lstStyle/>
          <a:p>
            <a:pPr algn="ctr">
              <a:defRPr sz="1350" b="1">
                <a:solidFill>
                  <a:srgbClr val="29D6F2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29D6F2"/>
                </a:solidFill>
                <a:latin typeface="Poppins"/>
                <a:ea typeface="Poppins"/>
                <a:cs typeface="Poppins"/>
              </a:rPr>
              <a:t>Curated courses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C1909DBC-E150-47B2-B5C5-30747F071577}"/>
              </a:ext>
            </a:extLst>
          </p:cNvPr>
          <p:cNvSpPr>
            <a:spLocks noGrp="1"/>
          </p:cNvSpPr>
          <p:nvPr/>
        </p:nvSpPr>
        <p:spPr>
          <a:xfrm>
            <a:off x="8115300" y="5657850"/>
            <a:ext cx="2571750" cy="400050"/>
          </a:xfrm>
          <a:prstGeom prst="roundRect">
            <a:avLst>
              <a:gd name="adj" fmla="val 12000"/>
            </a:avLst>
          </a:prstGeom>
          <a:solidFill>
            <a:srgbClr val="FFC43D">
              <a:alpha val="13333"/>
            </a:srgbClr>
          </a:solidFill>
          <a:ln w="9525">
            <a:solidFill>
              <a:srgbClr val="FFC43D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399985A-82D6-40F2-BEB3-E977264D666B}"/>
              </a:ext>
            </a:extLst>
          </p:cNvPr>
          <p:cNvSpPr>
            <a:spLocks noGrp="1"/>
          </p:cNvSpPr>
          <p:nvPr/>
        </p:nvSpPr>
        <p:spPr>
          <a:xfrm>
            <a:off x="8229600" y="5753100"/>
            <a:ext cx="2343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 fontScale="92593"/>
          </a:bodyPr>
          <a:lstStyle/>
          <a:p>
            <a:pPr algn="ctr">
              <a:defRPr sz="1350" b="1">
                <a:solidFill>
                  <a:srgbClr val="FFC43D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FFC43D"/>
                </a:solidFill>
                <a:latin typeface="Poppins"/>
                <a:ea typeface="Poppins"/>
                <a:cs typeface="Poppins"/>
              </a:rPr>
              <a:t>Certification tracks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E3285A9D-7592-4C78-8B19-C63EBC76356F}"/>
              </a:ext>
            </a:extLst>
          </p:cNvPr>
          <p:cNvSpPr>
            <a:spLocks noGrp="1"/>
          </p:cNvSpPr>
          <p:nvPr/>
        </p:nvSpPr>
        <p:spPr>
          <a:xfrm>
            <a:off x="5219700" y="6134100"/>
            <a:ext cx="2571750" cy="400050"/>
          </a:xfrm>
          <a:prstGeom prst="roundRect">
            <a:avLst>
              <a:gd name="adj" fmla="val 12000"/>
            </a:avLst>
          </a:prstGeom>
          <a:solidFill>
            <a:srgbClr val="18C99A">
              <a:alpha val="13333"/>
            </a:srgbClr>
          </a:solidFill>
          <a:ln w="9525">
            <a:solidFill>
              <a:srgbClr val="18C99A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0782937-C49F-41E4-8992-939E8FFFDE44}"/>
              </a:ext>
            </a:extLst>
          </p:cNvPr>
          <p:cNvSpPr>
            <a:spLocks noGrp="1"/>
          </p:cNvSpPr>
          <p:nvPr/>
        </p:nvSpPr>
        <p:spPr>
          <a:xfrm>
            <a:off x="5334000" y="6229350"/>
            <a:ext cx="2343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 fontScale="92593"/>
          </a:bodyPr>
          <a:lstStyle/>
          <a:p>
            <a:pPr algn="ctr">
              <a:defRPr sz="1350" b="1">
                <a:solidFill>
                  <a:srgbClr val="18C99A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18C99A"/>
                </a:solidFill>
                <a:latin typeface="Poppins"/>
                <a:ea typeface="Poppins"/>
                <a:cs typeface="Poppins"/>
              </a:rPr>
              <a:t>Structured learning path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9D9EDA0C-94EA-4936-8573-BEF2B0CC264E}"/>
              </a:ext>
            </a:extLst>
          </p:cNvPr>
          <p:cNvSpPr>
            <a:spLocks noGrp="1"/>
          </p:cNvSpPr>
          <p:nvPr/>
        </p:nvSpPr>
        <p:spPr>
          <a:xfrm>
            <a:off x="8115300" y="6134100"/>
            <a:ext cx="2571750" cy="400050"/>
          </a:xfrm>
          <a:prstGeom prst="roundRect">
            <a:avLst>
              <a:gd name="adj" fmla="val 12000"/>
            </a:avLst>
          </a:prstGeom>
          <a:solidFill>
            <a:srgbClr val="F261B4">
              <a:alpha val="13333"/>
            </a:srgbClr>
          </a:solidFill>
          <a:ln w="9525">
            <a:solidFill>
              <a:srgbClr val="F261B4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0506BAC-1CF8-43E9-B466-8B1890B552CD}"/>
              </a:ext>
            </a:extLst>
          </p:cNvPr>
          <p:cNvSpPr>
            <a:spLocks noGrp="1"/>
          </p:cNvSpPr>
          <p:nvPr/>
        </p:nvSpPr>
        <p:spPr>
          <a:xfrm>
            <a:off x="8229600" y="6229350"/>
            <a:ext cx="2343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 fontScale="92593"/>
          </a:bodyPr>
          <a:lstStyle/>
          <a:p>
            <a:pPr algn="ctr">
              <a:defRPr sz="1350" b="1">
                <a:solidFill>
                  <a:srgbClr val="F261B4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F261B4"/>
                </a:solidFill>
                <a:latin typeface="Poppins"/>
                <a:ea typeface="Poppins"/>
                <a:cs typeface="Poppins"/>
              </a:rPr>
              <a:t>Live re-ranking</a:t>
            </a:r>
          </a:p>
        </p:txBody>
      </p:sp>
    </p:spTree>
    <p:extLst>
      <p:ext uri="{BB962C8B-B14F-4D97-AF65-F5344CB8AC3E}">
        <p14:creationId xmlns:p14="http://schemas.microsoft.com/office/powerpoint/2010/main" val="20718508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1755D1F7-E887-4666-B92C-326DE55B404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9D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8C92315-F2C8-47E2-88B6-A62327FC1849}"/>
              </a:ext>
            </a:extLst>
          </p:cNvPr>
          <p:cNvSpPr>
            <a:spLocks noGrp="1"/>
          </p:cNvSpPr>
          <p:nvPr/>
        </p:nvSpPr>
        <p:spPr>
          <a:xfrm>
            <a:off x="-1143000" y="-1143000"/>
            <a:ext cx="3429000" cy="3429000"/>
          </a:xfrm>
          <a:prstGeom prst="ellipse">
            <a:avLst/>
          </a:prstGeom>
          <a:solidFill>
            <a:srgbClr val="123A4C">
              <a:alpha val="4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EA39E4D-FCE8-4C7D-A755-5E7660CF10A7}"/>
              </a:ext>
            </a:extLst>
          </p:cNvPr>
          <p:cNvSpPr>
            <a:spLocks noGrp="1"/>
          </p:cNvSpPr>
          <p:nvPr/>
        </p:nvSpPr>
        <p:spPr>
          <a:xfrm>
            <a:off x="10001250" y="5334000"/>
            <a:ext cx="3333750" cy="3333750"/>
          </a:xfrm>
          <a:prstGeom prst="ellipse">
            <a:avLst/>
          </a:prstGeom>
          <a:solidFill>
            <a:srgbClr val="3C2147">
              <a:alpha val="4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DD9D8E-310B-4719-A28D-80ECF0D5C8CD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14350" cy="419100"/>
          </a:xfrm>
          <a:prstGeom prst="rect">
            <a:avLst/>
          </a:prstGeom>
          <a:solidFill>
            <a:srgbClr val="29D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AF827A-9D23-450D-A15F-EFD49685A7C1}"/>
              </a:ext>
            </a:extLst>
          </p:cNvPr>
          <p:cNvSpPr>
            <a:spLocks noGrp="1"/>
          </p:cNvSpPr>
          <p:nvPr/>
        </p:nvSpPr>
        <p:spPr>
          <a:xfrm>
            <a:off x="457200" y="371475"/>
            <a:ext cx="514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07111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7111F"/>
                </a:solidFill>
                <a:latin typeface="Poppins"/>
                <a:ea typeface="Poppins"/>
                <a:cs typeface="Poppins"/>
              </a:rPr>
              <a:t>15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0B890E-E23F-4B29-81D7-4F946DF9DF8E}"/>
              </a:ext>
            </a:extLst>
          </p:cNvPr>
          <p:cNvSpPr>
            <a:spLocks noGrp="1"/>
          </p:cNvSpPr>
          <p:nvPr/>
        </p:nvSpPr>
        <p:spPr>
          <a:xfrm>
            <a:off x="1104900" y="371475"/>
            <a:ext cx="7524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325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2325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Methodology - End-to-End Workflow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9E0EB8-DB00-4AA1-B235-7DAB2FB98111}"/>
              </a:ext>
            </a:extLst>
          </p:cNvPr>
          <p:cNvSpPr>
            <a:spLocks noGrp="1"/>
          </p:cNvSpPr>
          <p:nvPr/>
        </p:nvSpPr>
        <p:spPr>
          <a:xfrm>
            <a:off x="10191750" y="41910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275" b="1">
                <a:solidFill>
                  <a:srgbClr val="AFC0D3"/>
                </a:solidFill>
                <a:latin typeface="Poppins"/>
                <a:ea typeface="Poppins"/>
                <a:cs typeface="Poppins"/>
              </a:defRPr>
            </a:pPr>
            <a:r>
              <a:rPr sz="1275" b="1">
                <a:solidFill>
                  <a:srgbClr val="AFC0D3"/>
                </a:solidFill>
                <a:latin typeface="Poppins"/>
                <a:ea typeface="Poppins"/>
                <a:cs typeface="Poppins"/>
              </a:rPr>
              <a:t>RASET 2026 - BIT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0FE48B-2BF1-42B1-8273-F02B996343EA}"/>
              </a:ext>
            </a:extLst>
          </p:cNvPr>
          <p:cNvSpPr>
            <a:spLocks noGrp="1"/>
          </p:cNvSpPr>
          <p:nvPr/>
        </p:nvSpPr>
        <p:spPr>
          <a:xfrm>
            <a:off x="457200" y="838200"/>
            <a:ext cx="11277600" cy="19050"/>
          </a:xfrm>
          <a:prstGeom prst="rect">
            <a:avLst/>
          </a:prstGeom>
          <a:solidFill>
            <a:srgbClr val="2855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E631F7-F131-464C-96CD-DA315B038763}"/>
              </a:ext>
            </a:extLst>
          </p:cNvPr>
          <p:cNvSpPr>
            <a:spLocks noGrp="1"/>
          </p:cNvSpPr>
          <p:nvPr/>
        </p:nvSpPr>
        <p:spPr>
          <a:xfrm>
            <a:off x="819150" y="1200150"/>
            <a:ext cx="4953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325" b="1">
                <a:solidFill>
                  <a:srgbClr val="29D6F2"/>
                </a:solidFill>
                <a:latin typeface="Poppins"/>
                <a:ea typeface="Poppins"/>
                <a:cs typeface="Poppins"/>
              </a:defRPr>
            </a:pPr>
            <a:r>
              <a:rPr sz="2325" b="1">
                <a:solidFill>
                  <a:srgbClr val="29D6F2"/>
                </a:solidFill>
                <a:latin typeface="Poppins"/>
                <a:ea typeface="Poppins"/>
                <a:cs typeface="Poppins"/>
              </a:rPr>
              <a:t>From profile to progress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09BA9B3-ACEB-4B36-901B-E3C8D104E3B3}"/>
              </a:ext>
            </a:extLst>
          </p:cNvPr>
          <p:cNvSpPr>
            <a:spLocks noGrp="1"/>
          </p:cNvSpPr>
          <p:nvPr/>
        </p:nvSpPr>
        <p:spPr>
          <a:xfrm>
            <a:off x="628650" y="1828800"/>
            <a:ext cx="3352800" cy="1333500"/>
          </a:xfrm>
          <a:prstGeom prst="roundRect">
            <a:avLst>
              <a:gd name="adj" fmla="val 12000"/>
            </a:avLst>
          </a:prstGeom>
          <a:solidFill>
            <a:srgbClr val="122945"/>
          </a:solidFill>
          <a:ln w="15240">
            <a:solidFill>
              <a:srgbClr val="29D6F2"/>
            </a:solidFill>
            <a:prstDash val="solid"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46D89C3-39D8-4038-BA56-9B454CF11001}"/>
              </a:ext>
            </a:extLst>
          </p:cNvPr>
          <p:cNvSpPr>
            <a:spLocks noGrp="1"/>
          </p:cNvSpPr>
          <p:nvPr/>
        </p:nvSpPr>
        <p:spPr>
          <a:xfrm>
            <a:off x="800100" y="2038350"/>
            <a:ext cx="438150" cy="438150"/>
          </a:xfrm>
          <a:prstGeom prst="ellipse">
            <a:avLst/>
          </a:prstGeom>
          <a:solidFill>
            <a:srgbClr val="29D6F2">
              <a:alpha val="20000"/>
            </a:srgbClr>
          </a:solidFill>
          <a:ln w="11430">
            <a:solidFill>
              <a:srgbClr val="29D6F2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4939A3-1ECA-48B0-BBDB-7316891A4396}"/>
              </a:ext>
            </a:extLst>
          </p:cNvPr>
          <p:cNvSpPr>
            <a:spLocks noGrp="1"/>
          </p:cNvSpPr>
          <p:nvPr/>
        </p:nvSpPr>
        <p:spPr>
          <a:xfrm>
            <a:off x="800100" y="2152650"/>
            <a:ext cx="438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3333"/>
          </a:bodyPr>
          <a:lstStyle/>
          <a:p>
            <a:pPr algn="ctr">
              <a:defRPr sz="1350" b="1">
                <a:solidFill>
                  <a:srgbClr val="29D6F2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29D6F2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5EA6CA6-1E44-4CE5-838E-8DB4A21AC6AA}"/>
              </a:ext>
            </a:extLst>
          </p:cNvPr>
          <p:cNvSpPr>
            <a:spLocks noGrp="1"/>
          </p:cNvSpPr>
          <p:nvPr/>
        </p:nvSpPr>
        <p:spPr>
          <a:xfrm>
            <a:off x="1409700" y="2000250"/>
            <a:ext cx="24003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575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Profile creation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A417610-5942-4766-AF4C-2A3B6CBF4767}"/>
              </a:ext>
            </a:extLst>
          </p:cNvPr>
          <p:cNvSpPr>
            <a:spLocks noGrp="1"/>
          </p:cNvSpPr>
          <p:nvPr/>
        </p:nvSpPr>
        <p:spPr>
          <a:xfrm>
            <a:off x="1409700" y="2533650"/>
            <a:ext cx="2381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AFC0D3"/>
                </a:solidFill>
                <a:latin typeface="Lato"/>
                <a:ea typeface="Lato"/>
                <a:cs typeface="Lato"/>
              </a:rPr>
              <a:t>User registers, enters skills, uploads or pastes resume.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F9490DD-C19F-47A1-BD50-E5C63D4DF199}"/>
              </a:ext>
            </a:extLst>
          </p:cNvPr>
          <p:cNvSpPr>
            <a:spLocks noGrp="1"/>
          </p:cNvSpPr>
          <p:nvPr/>
        </p:nvSpPr>
        <p:spPr>
          <a:xfrm>
            <a:off x="3981450" y="2486025"/>
            <a:ext cx="457200" cy="28575"/>
          </a:xfrm>
          <a:prstGeom prst="rect">
            <a:avLst/>
          </a:prstGeom>
          <a:solidFill>
            <a:srgbClr val="29D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7A225769-410F-49B6-84D4-28B4EE30198C}"/>
              </a:ext>
            </a:extLst>
          </p:cNvPr>
          <p:cNvSpPr>
            <a:spLocks noGrp="1"/>
          </p:cNvSpPr>
          <p:nvPr/>
        </p:nvSpPr>
        <p:spPr>
          <a:xfrm>
            <a:off x="4286250" y="2409825"/>
            <a:ext cx="247650" cy="190500"/>
          </a:xfrm>
          <a:prstGeom prst="rightArrow">
            <a:avLst/>
          </a:prstGeom>
          <a:solidFill>
            <a:srgbClr val="29D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333B5E0-11A8-4C4F-8FCC-32AF9D435ED5}"/>
              </a:ext>
            </a:extLst>
          </p:cNvPr>
          <p:cNvSpPr>
            <a:spLocks noGrp="1"/>
          </p:cNvSpPr>
          <p:nvPr/>
        </p:nvSpPr>
        <p:spPr>
          <a:xfrm>
            <a:off x="4476750" y="1828800"/>
            <a:ext cx="3352800" cy="1333500"/>
          </a:xfrm>
          <a:prstGeom prst="roundRect">
            <a:avLst>
              <a:gd name="adj" fmla="val 12000"/>
            </a:avLst>
          </a:prstGeom>
          <a:solidFill>
            <a:srgbClr val="122945"/>
          </a:solidFill>
          <a:ln w="15240">
            <a:solidFill>
              <a:srgbClr val="FFC43D"/>
            </a:solidFill>
            <a:prstDash val="solid"/>
          </a:ln>
        </p:spPr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C0112D7-BE44-4F70-A2C1-B7488D239C06}"/>
              </a:ext>
            </a:extLst>
          </p:cNvPr>
          <p:cNvSpPr>
            <a:spLocks noGrp="1"/>
          </p:cNvSpPr>
          <p:nvPr/>
        </p:nvSpPr>
        <p:spPr>
          <a:xfrm>
            <a:off x="4648200" y="2038350"/>
            <a:ext cx="438150" cy="438150"/>
          </a:xfrm>
          <a:prstGeom prst="ellipse">
            <a:avLst/>
          </a:prstGeom>
          <a:solidFill>
            <a:srgbClr val="FFC43D">
              <a:alpha val="20000"/>
            </a:srgbClr>
          </a:solidFill>
          <a:ln w="11430">
            <a:solidFill>
              <a:srgbClr val="FFC43D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8A57A43-F62A-463C-B75B-7041602A5814}"/>
              </a:ext>
            </a:extLst>
          </p:cNvPr>
          <p:cNvSpPr>
            <a:spLocks noGrp="1"/>
          </p:cNvSpPr>
          <p:nvPr/>
        </p:nvSpPr>
        <p:spPr>
          <a:xfrm>
            <a:off x="4648200" y="2152650"/>
            <a:ext cx="438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3333"/>
          </a:bodyPr>
          <a:lstStyle/>
          <a:p>
            <a:pPr algn="ctr">
              <a:defRPr sz="1350" b="1">
                <a:solidFill>
                  <a:srgbClr val="FFC43D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FFC43D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55A2FC8-773D-4CB4-A531-3CB4118F2C58}"/>
              </a:ext>
            </a:extLst>
          </p:cNvPr>
          <p:cNvSpPr>
            <a:spLocks noGrp="1"/>
          </p:cNvSpPr>
          <p:nvPr/>
        </p:nvSpPr>
        <p:spPr>
          <a:xfrm>
            <a:off x="5257800" y="2000250"/>
            <a:ext cx="24003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575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AI extraction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C9B26D6-0760-4840-A7DE-AE4F88C024E8}"/>
              </a:ext>
            </a:extLst>
          </p:cNvPr>
          <p:cNvSpPr>
            <a:spLocks noGrp="1"/>
          </p:cNvSpPr>
          <p:nvPr/>
        </p:nvSpPr>
        <p:spPr>
          <a:xfrm>
            <a:off x="5257800" y="2533650"/>
            <a:ext cx="2381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AFC0D3"/>
                </a:solidFill>
                <a:latin typeface="Lato"/>
                <a:ea typeface="Lato"/>
                <a:cs typeface="Lato"/>
              </a:rPr>
              <a:t>Backend extracts structured information and cleans it.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7848629-5277-4F48-973D-140E4ABBF936}"/>
              </a:ext>
            </a:extLst>
          </p:cNvPr>
          <p:cNvSpPr>
            <a:spLocks noGrp="1"/>
          </p:cNvSpPr>
          <p:nvPr/>
        </p:nvSpPr>
        <p:spPr>
          <a:xfrm>
            <a:off x="7829550" y="2486025"/>
            <a:ext cx="457200" cy="28575"/>
          </a:xfrm>
          <a:prstGeom prst="rect">
            <a:avLst/>
          </a:prstGeom>
          <a:solidFill>
            <a:srgbClr val="FFC4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5BE96A30-A098-4715-A4D1-E308CC01C976}"/>
              </a:ext>
            </a:extLst>
          </p:cNvPr>
          <p:cNvSpPr>
            <a:spLocks noGrp="1"/>
          </p:cNvSpPr>
          <p:nvPr/>
        </p:nvSpPr>
        <p:spPr>
          <a:xfrm>
            <a:off x="8134350" y="2409825"/>
            <a:ext cx="247650" cy="190500"/>
          </a:xfrm>
          <a:prstGeom prst="rightArrow">
            <a:avLst/>
          </a:prstGeom>
          <a:solidFill>
            <a:srgbClr val="FFC4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619963C-32DF-479B-A7BB-47E28C8364F9}"/>
              </a:ext>
            </a:extLst>
          </p:cNvPr>
          <p:cNvSpPr>
            <a:spLocks noGrp="1"/>
          </p:cNvSpPr>
          <p:nvPr/>
        </p:nvSpPr>
        <p:spPr>
          <a:xfrm>
            <a:off x="8324850" y="1828800"/>
            <a:ext cx="3352800" cy="1333500"/>
          </a:xfrm>
          <a:prstGeom prst="roundRect">
            <a:avLst>
              <a:gd name="adj" fmla="val 12000"/>
            </a:avLst>
          </a:prstGeom>
          <a:solidFill>
            <a:srgbClr val="122945"/>
          </a:solidFill>
          <a:ln w="15240">
            <a:solidFill>
              <a:srgbClr val="F261B4"/>
            </a:solidFill>
            <a:prstDash val="solid"/>
          </a:ln>
        </p:spPr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E9095D9-0B7E-49E7-B4AF-42D6695A7B2A}"/>
              </a:ext>
            </a:extLst>
          </p:cNvPr>
          <p:cNvSpPr>
            <a:spLocks noGrp="1"/>
          </p:cNvSpPr>
          <p:nvPr/>
        </p:nvSpPr>
        <p:spPr>
          <a:xfrm>
            <a:off x="8496300" y="2038350"/>
            <a:ext cx="438150" cy="438150"/>
          </a:xfrm>
          <a:prstGeom prst="ellipse">
            <a:avLst/>
          </a:prstGeom>
          <a:solidFill>
            <a:srgbClr val="F261B4">
              <a:alpha val="20000"/>
            </a:srgbClr>
          </a:solidFill>
          <a:ln w="11430">
            <a:solidFill>
              <a:srgbClr val="F261B4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387B2D2-A6E1-434D-A81A-4015D77254CC}"/>
              </a:ext>
            </a:extLst>
          </p:cNvPr>
          <p:cNvSpPr>
            <a:spLocks noGrp="1"/>
          </p:cNvSpPr>
          <p:nvPr/>
        </p:nvSpPr>
        <p:spPr>
          <a:xfrm>
            <a:off x="8496300" y="2152650"/>
            <a:ext cx="438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3333"/>
          </a:bodyPr>
          <a:lstStyle/>
          <a:p>
            <a:pPr algn="ctr">
              <a:defRPr sz="1350" b="1">
                <a:solidFill>
                  <a:srgbClr val="F261B4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F261B4"/>
                </a:solidFill>
                <a:latin typeface="Poppins"/>
                <a:ea typeface="Poppins"/>
                <a:cs typeface="Poppins"/>
              </a:rPr>
              <a:t>3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CEED65C-8EBA-4367-8B6D-D11F3709B0A4}"/>
              </a:ext>
            </a:extLst>
          </p:cNvPr>
          <p:cNvSpPr>
            <a:spLocks noGrp="1"/>
          </p:cNvSpPr>
          <p:nvPr/>
        </p:nvSpPr>
        <p:spPr>
          <a:xfrm>
            <a:off x="9105900" y="2000250"/>
            <a:ext cx="24003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575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Industry comparison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BCC241B-F539-4149-8F1E-344883F33E96}"/>
              </a:ext>
            </a:extLst>
          </p:cNvPr>
          <p:cNvSpPr>
            <a:spLocks noGrp="1"/>
          </p:cNvSpPr>
          <p:nvPr/>
        </p:nvSpPr>
        <p:spPr>
          <a:xfrm>
            <a:off x="9105900" y="2533650"/>
            <a:ext cx="2381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4931"/>
          </a:bodyPr>
          <a:lstStyle/>
          <a:p>
            <a:pPr algn="l">
              <a:defRPr sz="1350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AFC0D3"/>
                </a:solidFill>
                <a:latin typeface="Lato"/>
                <a:ea typeface="Lato"/>
                <a:cs typeface="Lato"/>
              </a:rPr>
              <a:t>Profile is matched against role catalogue with transformer embeddings.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BB470F5A-0F8C-4937-8025-C0DCB57CD923}"/>
              </a:ext>
            </a:extLst>
          </p:cNvPr>
          <p:cNvSpPr>
            <a:spLocks noGrp="1"/>
          </p:cNvSpPr>
          <p:nvPr/>
        </p:nvSpPr>
        <p:spPr>
          <a:xfrm>
            <a:off x="628650" y="3619500"/>
            <a:ext cx="3352800" cy="1333500"/>
          </a:xfrm>
          <a:prstGeom prst="roundRect">
            <a:avLst>
              <a:gd name="adj" fmla="val 12000"/>
            </a:avLst>
          </a:prstGeom>
          <a:solidFill>
            <a:srgbClr val="122945"/>
          </a:solidFill>
          <a:ln w="15240">
            <a:solidFill>
              <a:srgbClr val="18C99A"/>
            </a:solidFill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7E59D19-6772-472A-8E64-89431B83FD35}"/>
              </a:ext>
            </a:extLst>
          </p:cNvPr>
          <p:cNvSpPr>
            <a:spLocks noGrp="1"/>
          </p:cNvSpPr>
          <p:nvPr/>
        </p:nvSpPr>
        <p:spPr>
          <a:xfrm>
            <a:off x="800100" y="3829050"/>
            <a:ext cx="438150" cy="438150"/>
          </a:xfrm>
          <a:prstGeom prst="ellipse">
            <a:avLst/>
          </a:prstGeom>
          <a:solidFill>
            <a:srgbClr val="18C99A">
              <a:alpha val="20000"/>
            </a:srgbClr>
          </a:solidFill>
          <a:ln w="11430">
            <a:solidFill>
              <a:srgbClr val="18C99A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AA51212-4521-4909-9891-0E4A99B3A2B4}"/>
              </a:ext>
            </a:extLst>
          </p:cNvPr>
          <p:cNvSpPr>
            <a:spLocks noGrp="1"/>
          </p:cNvSpPr>
          <p:nvPr/>
        </p:nvSpPr>
        <p:spPr>
          <a:xfrm>
            <a:off x="800100" y="3943350"/>
            <a:ext cx="438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3333"/>
          </a:bodyPr>
          <a:lstStyle/>
          <a:p>
            <a:pPr algn="ctr">
              <a:defRPr sz="1350" b="1">
                <a:solidFill>
                  <a:srgbClr val="18C99A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18C99A"/>
                </a:solidFill>
                <a:latin typeface="Poppins"/>
                <a:ea typeface="Poppins"/>
                <a:cs typeface="Poppins"/>
              </a:rPr>
              <a:t>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B25FFD1-A69E-4558-A4BA-DA4994115EFD}"/>
              </a:ext>
            </a:extLst>
          </p:cNvPr>
          <p:cNvSpPr>
            <a:spLocks noGrp="1"/>
          </p:cNvSpPr>
          <p:nvPr/>
        </p:nvSpPr>
        <p:spPr>
          <a:xfrm>
            <a:off x="1409700" y="3790950"/>
            <a:ext cx="24003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575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Gap identification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8321EA7-0F67-4509-8BDB-A17FAAF9F042}"/>
              </a:ext>
            </a:extLst>
          </p:cNvPr>
          <p:cNvSpPr>
            <a:spLocks noGrp="1"/>
          </p:cNvSpPr>
          <p:nvPr/>
        </p:nvSpPr>
        <p:spPr>
          <a:xfrm>
            <a:off x="1409700" y="4324350"/>
            <a:ext cx="2381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AFC0D3"/>
                </a:solidFill>
                <a:latin typeface="Lato"/>
                <a:ea typeface="Lato"/>
                <a:cs typeface="Lato"/>
              </a:rPr>
              <a:t>Cosine thresholds classify each skill as match, partial, or missing.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157F15B-3578-4262-9DBC-DC51B860EE2B}"/>
              </a:ext>
            </a:extLst>
          </p:cNvPr>
          <p:cNvSpPr>
            <a:spLocks noGrp="1"/>
          </p:cNvSpPr>
          <p:nvPr/>
        </p:nvSpPr>
        <p:spPr>
          <a:xfrm>
            <a:off x="3981450" y="4276725"/>
            <a:ext cx="457200" cy="28575"/>
          </a:xfrm>
          <a:prstGeom prst="rect">
            <a:avLst/>
          </a:prstGeom>
          <a:solidFill>
            <a:srgbClr val="18C9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4DEC7467-1C55-40B6-859C-7D167C2B710E}"/>
              </a:ext>
            </a:extLst>
          </p:cNvPr>
          <p:cNvSpPr>
            <a:spLocks noGrp="1"/>
          </p:cNvSpPr>
          <p:nvPr/>
        </p:nvSpPr>
        <p:spPr>
          <a:xfrm>
            <a:off x="4286250" y="4200525"/>
            <a:ext cx="247650" cy="190500"/>
          </a:xfrm>
          <a:prstGeom prst="rightArrow">
            <a:avLst/>
          </a:prstGeom>
          <a:solidFill>
            <a:srgbClr val="18C9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10E8DEA7-8D5E-4E66-8236-49A9E41C43D4}"/>
              </a:ext>
            </a:extLst>
          </p:cNvPr>
          <p:cNvSpPr>
            <a:spLocks noGrp="1"/>
          </p:cNvSpPr>
          <p:nvPr/>
        </p:nvSpPr>
        <p:spPr>
          <a:xfrm>
            <a:off x="4476750" y="3619500"/>
            <a:ext cx="3352800" cy="1333500"/>
          </a:xfrm>
          <a:prstGeom prst="roundRect">
            <a:avLst>
              <a:gd name="adj" fmla="val 12000"/>
            </a:avLst>
          </a:prstGeom>
          <a:solidFill>
            <a:srgbClr val="122945"/>
          </a:solidFill>
          <a:ln w="15240">
            <a:solidFill>
              <a:srgbClr val="7C61FF"/>
            </a:solidFill>
            <a:prstDash val="solid"/>
          </a:ln>
        </p:spPr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33B0AD10-B30B-43EA-B7B8-C1E539CBB29A}"/>
              </a:ext>
            </a:extLst>
          </p:cNvPr>
          <p:cNvSpPr>
            <a:spLocks noGrp="1"/>
          </p:cNvSpPr>
          <p:nvPr/>
        </p:nvSpPr>
        <p:spPr>
          <a:xfrm>
            <a:off x="4648200" y="3829050"/>
            <a:ext cx="438150" cy="438150"/>
          </a:xfrm>
          <a:prstGeom prst="ellipse">
            <a:avLst/>
          </a:prstGeom>
          <a:solidFill>
            <a:srgbClr val="7C61FF">
              <a:alpha val="20000"/>
            </a:srgbClr>
          </a:solidFill>
          <a:ln w="11430">
            <a:solidFill>
              <a:srgbClr val="7C61FF"/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D98AA48-4BDF-46B6-8C09-D2A1598843D4}"/>
              </a:ext>
            </a:extLst>
          </p:cNvPr>
          <p:cNvSpPr>
            <a:spLocks noGrp="1"/>
          </p:cNvSpPr>
          <p:nvPr/>
        </p:nvSpPr>
        <p:spPr>
          <a:xfrm>
            <a:off x="4648200" y="3943350"/>
            <a:ext cx="438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3333"/>
          </a:bodyPr>
          <a:lstStyle/>
          <a:p>
            <a:pPr algn="ctr">
              <a:defRPr sz="1350" b="1">
                <a:solidFill>
                  <a:srgbClr val="7C61FF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7C61FF"/>
                </a:solidFill>
                <a:latin typeface="Poppins"/>
                <a:ea typeface="Poppins"/>
                <a:cs typeface="Poppins"/>
              </a:rPr>
              <a:t>5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7485C3D-0034-4E88-A0CC-3FF4F653E576}"/>
              </a:ext>
            </a:extLst>
          </p:cNvPr>
          <p:cNvSpPr>
            <a:spLocks noGrp="1"/>
          </p:cNvSpPr>
          <p:nvPr/>
        </p:nvSpPr>
        <p:spPr>
          <a:xfrm>
            <a:off x="5257800" y="3790950"/>
            <a:ext cx="24003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575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Personalised suggestions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5F35A51-B5D5-4DE7-9483-5F8450EB54E5}"/>
              </a:ext>
            </a:extLst>
          </p:cNvPr>
          <p:cNvSpPr>
            <a:spLocks noGrp="1"/>
          </p:cNvSpPr>
          <p:nvPr/>
        </p:nvSpPr>
        <p:spPr>
          <a:xfrm>
            <a:off x="5257800" y="4324350"/>
            <a:ext cx="2381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AFC0D3"/>
                </a:solidFill>
                <a:latin typeface="Lato"/>
                <a:ea typeface="Lato"/>
                <a:cs typeface="Lato"/>
              </a:rPr>
              <a:t>Recommendation engine builds the learning path with priorities.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7CD482E-3C47-41ED-88A8-71D11FB4343A}"/>
              </a:ext>
            </a:extLst>
          </p:cNvPr>
          <p:cNvSpPr>
            <a:spLocks noGrp="1"/>
          </p:cNvSpPr>
          <p:nvPr/>
        </p:nvSpPr>
        <p:spPr>
          <a:xfrm>
            <a:off x="7829550" y="4276725"/>
            <a:ext cx="457200" cy="28575"/>
          </a:xfrm>
          <a:prstGeom prst="rect">
            <a:avLst/>
          </a:prstGeom>
          <a:solidFill>
            <a:srgbClr val="7C61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252F6F01-FE56-4F41-A487-5A6EB2327091}"/>
              </a:ext>
            </a:extLst>
          </p:cNvPr>
          <p:cNvSpPr>
            <a:spLocks noGrp="1"/>
          </p:cNvSpPr>
          <p:nvPr/>
        </p:nvSpPr>
        <p:spPr>
          <a:xfrm>
            <a:off x="8134350" y="4200525"/>
            <a:ext cx="247650" cy="190500"/>
          </a:xfrm>
          <a:prstGeom prst="rightArrow">
            <a:avLst/>
          </a:prstGeom>
          <a:solidFill>
            <a:srgbClr val="7C61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0366D81F-9330-4408-B8AC-EB4907E92D61}"/>
              </a:ext>
            </a:extLst>
          </p:cNvPr>
          <p:cNvSpPr>
            <a:spLocks noGrp="1"/>
          </p:cNvSpPr>
          <p:nvPr/>
        </p:nvSpPr>
        <p:spPr>
          <a:xfrm>
            <a:off x="8324850" y="3619500"/>
            <a:ext cx="3352800" cy="1333500"/>
          </a:xfrm>
          <a:prstGeom prst="roundRect">
            <a:avLst>
              <a:gd name="adj" fmla="val 12000"/>
            </a:avLst>
          </a:prstGeom>
          <a:solidFill>
            <a:srgbClr val="122945"/>
          </a:solidFill>
          <a:ln w="15240">
            <a:solidFill>
              <a:srgbClr val="29D6F2"/>
            </a:solidFill>
            <a:prstDash val="solid"/>
          </a:ln>
        </p:spPr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89D8EEC-4185-4736-88A1-B619E2D3DB46}"/>
              </a:ext>
            </a:extLst>
          </p:cNvPr>
          <p:cNvSpPr>
            <a:spLocks noGrp="1"/>
          </p:cNvSpPr>
          <p:nvPr/>
        </p:nvSpPr>
        <p:spPr>
          <a:xfrm>
            <a:off x="8496300" y="3829050"/>
            <a:ext cx="438150" cy="438150"/>
          </a:xfrm>
          <a:prstGeom prst="ellipse">
            <a:avLst/>
          </a:prstGeom>
          <a:solidFill>
            <a:srgbClr val="29D6F2">
              <a:alpha val="20000"/>
            </a:srgbClr>
          </a:solidFill>
          <a:ln w="11430">
            <a:solidFill>
              <a:srgbClr val="29D6F2"/>
            </a:solidFill>
            <a:prstDash val="solid"/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DDA0814-3576-48C6-9C11-9BE4AB4CAE71}"/>
              </a:ext>
            </a:extLst>
          </p:cNvPr>
          <p:cNvSpPr>
            <a:spLocks noGrp="1"/>
          </p:cNvSpPr>
          <p:nvPr/>
        </p:nvSpPr>
        <p:spPr>
          <a:xfrm>
            <a:off x="8496300" y="3943350"/>
            <a:ext cx="438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3333"/>
          </a:bodyPr>
          <a:lstStyle/>
          <a:p>
            <a:pPr algn="ctr">
              <a:defRPr sz="1350" b="1">
                <a:solidFill>
                  <a:srgbClr val="29D6F2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29D6F2"/>
                </a:solidFill>
                <a:latin typeface="Poppins"/>
                <a:ea typeface="Poppins"/>
                <a:cs typeface="Poppins"/>
              </a:rPr>
              <a:t>6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A545AF8-C8C9-4D84-B642-5383BFBFD46F}"/>
              </a:ext>
            </a:extLst>
          </p:cNvPr>
          <p:cNvSpPr>
            <a:spLocks noGrp="1"/>
          </p:cNvSpPr>
          <p:nvPr/>
        </p:nvSpPr>
        <p:spPr>
          <a:xfrm>
            <a:off x="9105900" y="3790950"/>
            <a:ext cx="24003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575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Continuous tracking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6505D43-045A-458E-97D6-8B14FE3528BA}"/>
              </a:ext>
            </a:extLst>
          </p:cNvPr>
          <p:cNvSpPr>
            <a:spLocks noGrp="1"/>
          </p:cNvSpPr>
          <p:nvPr/>
        </p:nvSpPr>
        <p:spPr>
          <a:xfrm>
            <a:off x="9105900" y="4324350"/>
            <a:ext cx="2381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AFC0D3"/>
                </a:solidFill>
                <a:latin typeface="Lato"/>
                <a:ea typeface="Lato"/>
                <a:cs typeface="Lato"/>
              </a:rPr>
              <a:t>Score, dashboard, and timeline update as the learner studies.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8A0526E1-0944-4CA8-980D-3B9C6721F192}"/>
              </a:ext>
            </a:extLst>
          </p:cNvPr>
          <p:cNvSpPr>
            <a:spLocks noGrp="1"/>
          </p:cNvSpPr>
          <p:nvPr/>
        </p:nvSpPr>
        <p:spPr>
          <a:xfrm>
            <a:off x="2038350" y="5753100"/>
            <a:ext cx="8115300" cy="495300"/>
          </a:xfrm>
          <a:prstGeom prst="roundRect">
            <a:avLst>
              <a:gd name="adj" fmla="val 12000"/>
            </a:avLst>
          </a:prstGeom>
          <a:solidFill>
            <a:srgbClr val="102D48"/>
          </a:solidFill>
          <a:ln w="9525">
            <a:solidFill>
              <a:srgbClr val="29D6F2"/>
            </a:solidFill>
            <a:prstDash val="solid"/>
          </a:ln>
        </p:spPr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8B63848-C78B-48AA-8C96-4F538F1FC6C7}"/>
              </a:ext>
            </a:extLst>
          </p:cNvPr>
          <p:cNvSpPr>
            <a:spLocks noGrp="1"/>
          </p:cNvSpPr>
          <p:nvPr/>
        </p:nvSpPr>
        <p:spPr>
          <a:xfrm>
            <a:off x="2400300" y="5905500"/>
            <a:ext cx="7391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1667"/>
          </a:bodyPr>
          <a:lstStyle/>
          <a:p>
            <a:pPr algn="ctr">
              <a:defRPr sz="1500" b="0">
                <a:solidFill>
                  <a:srgbClr val="29D6F2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29D6F2"/>
                </a:solidFill>
                <a:latin typeface="Lato"/>
                <a:ea typeface="Lato"/>
                <a:cs typeface="Lato"/>
              </a:rPr>
              <a:t>The loop matters: each completed skill can trigger re-analysis and updated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14189967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E1516097-795E-40D0-9A94-21B71A76A99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9D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38A47C2-920F-4482-BA5A-61CDBBD65B59}"/>
              </a:ext>
            </a:extLst>
          </p:cNvPr>
          <p:cNvSpPr>
            <a:spLocks noGrp="1"/>
          </p:cNvSpPr>
          <p:nvPr/>
        </p:nvSpPr>
        <p:spPr>
          <a:xfrm>
            <a:off x="-1143000" y="-1143000"/>
            <a:ext cx="3429000" cy="3429000"/>
          </a:xfrm>
          <a:prstGeom prst="ellipse">
            <a:avLst/>
          </a:prstGeom>
          <a:solidFill>
            <a:srgbClr val="123A4C">
              <a:alpha val="4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6BD1CA9-DDC9-457A-BB26-4CBF98343832}"/>
              </a:ext>
            </a:extLst>
          </p:cNvPr>
          <p:cNvSpPr>
            <a:spLocks noGrp="1"/>
          </p:cNvSpPr>
          <p:nvPr/>
        </p:nvSpPr>
        <p:spPr>
          <a:xfrm>
            <a:off x="10001250" y="5334000"/>
            <a:ext cx="3333750" cy="3333750"/>
          </a:xfrm>
          <a:prstGeom prst="ellipse">
            <a:avLst/>
          </a:prstGeom>
          <a:solidFill>
            <a:srgbClr val="3C2147">
              <a:alpha val="4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94029D-1A4D-496D-9DC3-A16AD2C8E914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14350" cy="419100"/>
          </a:xfrm>
          <a:prstGeom prst="rect">
            <a:avLst/>
          </a:prstGeom>
          <a:solidFill>
            <a:srgbClr val="29D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FAED99-D274-4E46-9462-E70A45F0A150}"/>
              </a:ext>
            </a:extLst>
          </p:cNvPr>
          <p:cNvSpPr>
            <a:spLocks noGrp="1"/>
          </p:cNvSpPr>
          <p:nvPr/>
        </p:nvSpPr>
        <p:spPr>
          <a:xfrm>
            <a:off x="457200" y="371475"/>
            <a:ext cx="514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07111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7111F"/>
                </a:solidFill>
                <a:latin typeface="Poppins"/>
                <a:ea typeface="Poppins"/>
                <a:cs typeface="Poppins"/>
              </a:rPr>
              <a:t>16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6E2D30-01E8-46CE-A79C-DBF9B213EA2F}"/>
              </a:ext>
            </a:extLst>
          </p:cNvPr>
          <p:cNvSpPr>
            <a:spLocks noGrp="1"/>
          </p:cNvSpPr>
          <p:nvPr/>
        </p:nvSpPr>
        <p:spPr>
          <a:xfrm>
            <a:off x="1104900" y="371475"/>
            <a:ext cx="7524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325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2325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Implementation Stack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6F7401-3930-4A5E-B01C-DC67EDDA2756}"/>
              </a:ext>
            </a:extLst>
          </p:cNvPr>
          <p:cNvSpPr>
            <a:spLocks noGrp="1"/>
          </p:cNvSpPr>
          <p:nvPr/>
        </p:nvSpPr>
        <p:spPr>
          <a:xfrm>
            <a:off x="10191750" y="41910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275" b="1">
                <a:solidFill>
                  <a:srgbClr val="AFC0D3"/>
                </a:solidFill>
                <a:latin typeface="Poppins"/>
                <a:ea typeface="Poppins"/>
                <a:cs typeface="Poppins"/>
              </a:defRPr>
            </a:pPr>
            <a:r>
              <a:rPr sz="1275" b="1">
                <a:solidFill>
                  <a:srgbClr val="AFC0D3"/>
                </a:solidFill>
                <a:latin typeface="Poppins"/>
                <a:ea typeface="Poppins"/>
                <a:cs typeface="Poppins"/>
              </a:rPr>
              <a:t>RASET 2026 - BIT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33DAE0-1954-4ECB-8CBC-D72D7271512C}"/>
              </a:ext>
            </a:extLst>
          </p:cNvPr>
          <p:cNvSpPr>
            <a:spLocks noGrp="1"/>
          </p:cNvSpPr>
          <p:nvPr/>
        </p:nvSpPr>
        <p:spPr>
          <a:xfrm>
            <a:off x="457200" y="838200"/>
            <a:ext cx="11277600" cy="19050"/>
          </a:xfrm>
          <a:prstGeom prst="rect">
            <a:avLst/>
          </a:prstGeom>
          <a:solidFill>
            <a:srgbClr val="2855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9FF163-5E60-4675-85EE-83CA2CADA786}"/>
              </a:ext>
            </a:extLst>
          </p:cNvPr>
          <p:cNvSpPr>
            <a:spLocks noGrp="1"/>
          </p:cNvSpPr>
          <p:nvPr/>
        </p:nvSpPr>
        <p:spPr>
          <a:xfrm>
            <a:off x="819150" y="1200150"/>
            <a:ext cx="8909736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5000" lnSpcReduction="10000"/>
          </a:bodyPr>
          <a:lstStyle/>
          <a:p>
            <a:pPr algn="l">
              <a:defRPr sz="1950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950" b="1" dirty="0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A modular, </a:t>
            </a:r>
            <a:r>
              <a:rPr sz="1950" b="1" dirty="0" err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containerised</a:t>
            </a:r>
            <a:r>
              <a:rPr sz="1950" b="1" dirty="0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 architecture lets each layer evolve independently.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34D8E94-FFB8-41B8-B157-F4E2FEA0CF86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3314700" cy="4000500"/>
          </a:xfrm>
          <a:prstGeom prst="roundRect">
            <a:avLst>
              <a:gd name="adj" fmla="val 12000"/>
            </a:avLst>
          </a:prstGeom>
          <a:solidFill>
            <a:srgbClr val="132D4A"/>
          </a:solidFill>
          <a:ln w="12383">
            <a:solidFill>
              <a:srgbClr val="29D6F2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7E8260-784C-44FA-8C24-1AB831480839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3314700" cy="57150"/>
          </a:xfrm>
          <a:prstGeom prst="rect">
            <a:avLst/>
          </a:prstGeom>
          <a:solidFill>
            <a:srgbClr val="29D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2755733-80CE-462B-97B6-E84F67C526F4}"/>
              </a:ext>
            </a:extLst>
          </p:cNvPr>
          <p:cNvSpPr>
            <a:spLocks noGrp="1"/>
          </p:cNvSpPr>
          <p:nvPr/>
        </p:nvSpPr>
        <p:spPr>
          <a:xfrm>
            <a:off x="952500" y="2266950"/>
            <a:ext cx="2457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025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2025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Frontend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A9156B6-B9B9-4655-82BE-161DC3AE2DE2}"/>
              </a:ext>
            </a:extLst>
          </p:cNvPr>
          <p:cNvSpPr>
            <a:spLocks noGrp="1"/>
          </p:cNvSpPr>
          <p:nvPr/>
        </p:nvSpPr>
        <p:spPr>
          <a:xfrm>
            <a:off x="952500" y="2686050"/>
            <a:ext cx="2362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29D6F2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29D6F2"/>
                </a:solidFill>
                <a:latin typeface="Lato"/>
                <a:ea typeface="Lato"/>
                <a:cs typeface="Lato"/>
              </a:rPr>
              <a:t>Layer 1/3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6F962DA-9098-43FB-A350-B288D0CDBC06}"/>
              </a:ext>
            </a:extLst>
          </p:cNvPr>
          <p:cNvSpPr>
            <a:spLocks noGrp="1"/>
          </p:cNvSpPr>
          <p:nvPr/>
        </p:nvSpPr>
        <p:spPr>
          <a:xfrm>
            <a:off x="952500" y="3143250"/>
            <a:ext cx="2743200" cy="19050"/>
          </a:xfrm>
          <a:prstGeom prst="rect">
            <a:avLst/>
          </a:prstGeom>
          <a:solidFill>
            <a:srgbClr val="2855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883D61-018A-4466-8F76-2A70E6DF8144}"/>
              </a:ext>
            </a:extLst>
          </p:cNvPr>
          <p:cNvSpPr>
            <a:spLocks noGrp="1"/>
          </p:cNvSpPr>
          <p:nvPr/>
        </p:nvSpPr>
        <p:spPr>
          <a:xfrm>
            <a:off x="952500" y="3314700"/>
            <a:ext cx="2552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React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2EA9D1-7280-4819-A617-D3D422C3EF79}"/>
              </a:ext>
            </a:extLst>
          </p:cNvPr>
          <p:cNvSpPr>
            <a:spLocks noGrp="1"/>
          </p:cNvSpPr>
          <p:nvPr/>
        </p:nvSpPr>
        <p:spPr>
          <a:xfrm>
            <a:off x="952500" y="3638550"/>
            <a:ext cx="2552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AFC0D3"/>
                </a:solidFill>
                <a:latin typeface="Lato"/>
                <a:ea typeface="Lato"/>
                <a:cs typeface="Lato"/>
              </a:rPr>
              <a:t>Component-driven SPA dashboard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B303936-E148-47D4-A560-AD162C0D1B92}"/>
              </a:ext>
            </a:extLst>
          </p:cNvPr>
          <p:cNvSpPr>
            <a:spLocks noGrp="1"/>
          </p:cNvSpPr>
          <p:nvPr/>
        </p:nvSpPr>
        <p:spPr>
          <a:xfrm>
            <a:off x="952500" y="4000500"/>
            <a:ext cx="2743200" cy="19050"/>
          </a:xfrm>
          <a:prstGeom prst="rect">
            <a:avLst/>
          </a:prstGeom>
          <a:solidFill>
            <a:srgbClr val="2855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E19C027-4FEC-407E-9397-FD2161908154}"/>
              </a:ext>
            </a:extLst>
          </p:cNvPr>
          <p:cNvSpPr>
            <a:spLocks noGrp="1"/>
          </p:cNvSpPr>
          <p:nvPr/>
        </p:nvSpPr>
        <p:spPr>
          <a:xfrm>
            <a:off x="952500" y="4171950"/>
            <a:ext cx="2552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TailwindCSS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8B3125C-3429-4F78-9798-7752996F004C}"/>
              </a:ext>
            </a:extLst>
          </p:cNvPr>
          <p:cNvSpPr>
            <a:spLocks noGrp="1"/>
          </p:cNvSpPr>
          <p:nvPr/>
        </p:nvSpPr>
        <p:spPr>
          <a:xfrm>
            <a:off x="952500" y="4495800"/>
            <a:ext cx="2552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AFC0D3"/>
                </a:solidFill>
                <a:latin typeface="Lato"/>
                <a:ea typeface="Lato"/>
                <a:cs typeface="Lato"/>
              </a:rPr>
              <a:t>Responsive utility styling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997A156-6F16-4896-9ACC-C587100495E5}"/>
              </a:ext>
            </a:extLst>
          </p:cNvPr>
          <p:cNvSpPr>
            <a:spLocks noGrp="1"/>
          </p:cNvSpPr>
          <p:nvPr/>
        </p:nvSpPr>
        <p:spPr>
          <a:xfrm>
            <a:off x="952500" y="4857750"/>
            <a:ext cx="2743200" cy="19050"/>
          </a:xfrm>
          <a:prstGeom prst="rect">
            <a:avLst/>
          </a:prstGeom>
          <a:solidFill>
            <a:srgbClr val="2855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49FC879-67C6-4C95-BF53-A2F08C6A47A4}"/>
              </a:ext>
            </a:extLst>
          </p:cNvPr>
          <p:cNvSpPr>
            <a:spLocks noGrp="1"/>
          </p:cNvSpPr>
          <p:nvPr/>
        </p:nvSpPr>
        <p:spPr>
          <a:xfrm>
            <a:off x="952500" y="5029200"/>
            <a:ext cx="2552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Chart libraries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2E744D4-F8A8-48CF-8EA8-E984AFF42F02}"/>
              </a:ext>
            </a:extLst>
          </p:cNvPr>
          <p:cNvSpPr>
            <a:spLocks noGrp="1"/>
          </p:cNvSpPr>
          <p:nvPr/>
        </p:nvSpPr>
        <p:spPr>
          <a:xfrm>
            <a:off x="952500" y="5353050"/>
            <a:ext cx="2552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AFC0D3"/>
                </a:solidFill>
                <a:latin typeface="Lato"/>
                <a:ea typeface="Lato"/>
                <a:cs typeface="Lato"/>
              </a:rPr>
              <a:t>Donut, bar, and roadmap visuals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CC5F6D9-4599-4F39-B247-23610E97A82E}"/>
              </a:ext>
            </a:extLst>
          </p:cNvPr>
          <p:cNvSpPr>
            <a:spLocks noGrp="1"/>
          </p:cNvSpPr>
          <p:nvPr/>
        </p:nvSpPr>
        <p:spPr>
          <a:xfrm>
            <a:off x="4457700" y="1809750"/>
            <a:ext cx="3314700" cy="4000500"/>
          </a:xfrm>
          <a:prstGeom prst="roundRect">
            <a:avLst>
              <a:gd name="adj" fmla="val 12000"/>
            </a:avLst>
          </a:prstGeom>
          <a:solidFill>
            <a:srgbClr val="132D4A"/>
          </a:solidFill>
          <a:ln w="12383">
            <a:solidFill>
              <a:srgbClr val="F261B4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BD8A09F-0B74-4CB6-9CCC-2A79B089B20D}"/>
              </a:ext>
            </a:extLst>
          </p:cNvPr>
          <p:cNvSpPr>
            <a:spLocks noGrp="1"/>
          </p:cNvSpPr>
          <p:nvPr/>
        </p:nvSpPr>
        <p:spPr>
          <a:xfrm>
            <a:off x="4457700" y="1809750"/>
            <a:ext cx="3314700" cy="57150"/>
          </a:xfrm>
          <a:prstGeom prst="rect">
            <a:avLst/>
          </a:prstGeom>
          <a:solidFill>
            <a:srgbClr val="F261B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17A65B6-4CC2-4CCD-A0F5-9960A0B7F291}"/>
              </a:ext>
            </a:extLst>
          </p:cNvPr>
          <p:cNvSpPr>
            <a:spLocks noGrp="1"/>
          </p:cNvSpPr>
          <p:nvPr/>
        </p:nvSpPr>
        <p:spPr>
          <a:xfrm>
            <a:off x="4743450" y="2266950"/>
            <a:ext cx="2457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025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2025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Backend - AI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36E0B57-B3AC-4633-9419-C5E22CD5431B}"/>
              </a:ext>
            </a:extLst>
          </p:cNvPr>
          <p:cNvSpPr>
            <a:spLocks noGrp="1"/>
          </p:cNvSpPr>
          <p:nvPr/>
        </p:nvSpPr>
        <p:spPr>
          <a:xfrm>
            <a:off x="4743450" y="2686050"/>
            <a:ext cx="2362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F261B4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F261B4"/>
                </a:solidFill>
                <a:latin typeface="Lato"/>
                <a:ea typeface="Lato"/>
                <a:cs typeface="Lato"/>
              </a:rPr>
              <a:t>Layer 2/3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AE6AA01-02F6-406F-9D30-33EBCA07D29E}"/>
              </a:ext>
            </a:extLst>
          </p:cNvPr>
          <p:cNvSpPr>
            <a:spLocks noGrp="1"/>
          </p:cNvSpPr>
          <p:nvPr/>
        </p:nvSpPr>
        <p:spPr>
          <a:xfrm>
            <a:off x="4743450" y="3143250"/>
            <a:ext cx="2743200" cy="19050"/>
          </a:xfrm>
          <a:prstGeom prst="rect">
            <a:avLst/>
          </a:prstGeom>
          <a:solidFill>
            <a:srgbClr val="2855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DB664ED-B02C-4F6F-AB81-29F6ADC06E6B}"/>
              </a:ext>
            </a:extLst>
          </p:cNvPr>
          <p:cNvSpPr>
            <a:spLocks noGrp="1"/>
          </p:cNvSpPr>
          <p:nvPr/>
        </p:nvSpPr>
        <p:spPr>
          <a:xfrm>
            <a:off x="4743450" y="3314700"/>
            <a:ext cx="2552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Python - Flask/FastAPI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4476706-36A5-43DC-933D-3B7E435EA1B5}"/>
              </a:ext>
            </a:extLst>
          </p:cNvPr>
          <p:cNvSpPr>
            <a:spLocks noGrp="1"/>
          </p:cNvSpPr>
          <p:nvPr/>
        </p:nvSpPr>
        <p:spPr>
          <a:xfrm>
            <a:off x="4743450" y="3638550"/>
            <a:ext cx="2552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AFC0D3"/>
                </a:solidFill>
                <a:latin typeface="Lato"/>
                <a:ea typeface="Lato"/>
                <a:cs typeface="Lato"/>
              </a:rPr>
              <a:t>REST APIs for parsing and scoring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CD8EC66-C323-4E17-93AC-3BF0AA4ED8B2}"/>
              </a:ext>
            </a:extLst>
          </p:cNvPr>
          <p:cNvSpPr>
            <a:spLocks noGrp="1"/>
          </p:cNvSpPr>
          <p:nvPr/>
        </p:nvSpPr>
        <p:spPr>
          <a:xfrm>
            <a:off x="4743450" y="4000500"/>
            <a:ext cx="2743200" cy="19050"/>
          </a:xfrm>
          <a:prstGeom prst="rect">
            <a:avLst/>
          </a:prstGeom>
          <a:solidFill>
            <a:srgbClr val="2855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05ADBBE-ED68-4F79-B650-BA8630EE38C2}"/>
              </a:ext>
            </a:extLst>
          </p:cNvPr>
          <p:cNvSpPr>
            <a:spLocks noGrp="1"/>
          </p:cNvSpPr>
          <p:nvPr/>
        </p:nvSpPr>
        <p:spPr>
          <a:xfrm>
            <a:off x="4743450" y="4171950"/>
            <a:ext cx="2552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spaCy + custom rules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884C99D-0F0A-4AAA-AA8F-D7ADDAC4CFE7}"/>
              </a:ext>
            </a:extLst>
          </p:cNvPr>
          <p:cNvSpPr>
            <a:spLocks noGrp="1"/>
          </p:cNvSpPr>
          <p:nvPr/>
        </p:nvSpPr>
        <p:spPr>
          <a:xfrm>
            <a:off x="4743450" y="4495800"/>
            <a:ext cx="2552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AFC0D3"/>
                </a:solidFill>
                <a:latin typeface="Lato"/>
                <a:ea typeface="Lato"/>
                <a:cs typeface="Lato"/>
              </a:rPr>
              <a:t>Resume parsing and skill extraction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D3C8348-D948-4ADC-9A05-75F437A23696}"/>
              </a:ext>
            </a:extLst>
          </p:cNvPr>
          <p:cNvSpPr>
            <a:spLocks noGrp="1"/>
          </p:cNvSpPr>
          <p:nvPr/>
        </p:nvSpPr>
        <p:spPr>
          <a:xfrm>
            <a:off x="4743450" y="4857750"/>
            <a:ext cx="2743200" cy="19050"/>
          </a:xfrm>
          <a:prstGeom prst="rect">
            <a:avLst/>
          </a:prstGeom>
          <a:solidFill>
            <a:srgbClr val="2855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3A68E2B-689E-4E04-A3B4-40698C4A6E3F}"/>
              </a:ext>
            </a:extLst>
          </p:cNvPr>
          <p:cNvSpPr>
            <a:spLocks noGrp="1"/>
          </p:cNvSpPr>
          <p:nvPr/>
        </p:nvSpPr>
        <p:spPr>
          <a:xfrm>
            <a:off x="4743450" y="4895850"/>
            <a:ext cx="2250474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2500" lnSpcReduction="10000"/>
          </a:bodyPr>
          <a:lstStyle/>
          <a:p>
            <a:pPr algn="l">
              <a:defRPr sz="1500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500" b="1" dirty="0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Transformers - Sentence-BERT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1F93B93-5AE8-4743-9D46-771B9261D2C6}"/>
              </a:ext>
            </a:extLst>
          </p:cNvPr>
          <p:cNvSpPr>
            <a:spLocks noGrp="1"/>
          </p:cNvSpPr>
          <p:nvPr/>
        </p:nvSpPr>
        <p:spPr>
          <a:xfrm>
            <a:off x="4743450" y="5353050"/>
            <a:ext cx="2552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2362"/>
          </a:bodyPr>
          <a:lstStyle/>
          <a:p>
            <a:pPr algn="l">
              <a:defRPr sz="1275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275" b="0" dirty="0">
                <a:solidFill>
                  <a:srgbClr val="AFC0D3"/>
                </a:solidFill>
                <a:latin typeface="Lato"/>
                <a:ea typeface="Lato"/>
                <a:cs typeface="Lato"/>
              </a:rPr>
              <a:t>Semantic embedding and cosine similarity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3ADFE11A-8521-4E61-AD6D-1AC112E7EE4B}"/>
              </a:ext>
            </a:extLst>
          </p:cNvPr>
          <p:cNvSpPr>
            <a:spLocks noGrp="1"/>
          </p:cNvSpPr>
          <p:nvPr/>
        </p:nvSpPr>
        <p:spPr>
          <a:xfrm>
            <a:off x="8248650" y="1809750"/>
            <a:ext cx="3314700" cy="4000500"/>
          </a:xfrm>
          <a:prstGeom prst="roundRect">
            <a:avLst>
              <a:gd name="adj" fmla="val 12000"/>
            </a:avLst>
          </a:prstGeom>
          <a:solidFill>
            <a:srgbClr val="132D4A"/>
          </a:solidFill>
          <a:ln w="12383">
            <a:solidFill>
              <a:srgbClr val="18C99A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97F242F-3C13-4536-B1A2-8E4154D7C2F2}"/>
              </a:ext>
            </a:extLst>
          </p:cNvPr>
          <p:cNvSpPr>
            <a:spLocks noGrp="1"/>
          </p:cNvSpPr>
          <p:nvPr/>
        </p:nvSpPr>
        <p:spPr>
          <a:xfrm>
            <a:off x="8248650" y="1809750"/>
            <a:ext cx="3314700" cy="57150"/>
          </a:xfrm>
          <a:prstGeom prst="rect">
            <a:avLst/>
          </a:prstGeom>
          <a:solidFill>
            <a:srgbClr val="18C9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CD2B341-3843-4EC4-94AA-36A3703974EC}"/>
              </a:ext>
            </a:extLst>
          </p:cNvPr>
          <p:cNvSpPr>
            <a:spLocks noGrp="1"/>
          </p:cNvSpPr>
          <p:nvPr/>
        </p:nvSpPr>
        <p:spPr>
          <a:xfrm>
            <a:off x="8534400" y="2266950"/>
            <a:ext cx="2457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025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2025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Data - Infra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2DA6075-740C-486C-9FD7-D94FBE144C4E}"/>
              </a:ext>
            </a:extLst>
          </p:cNvPr>
          <p:cNvSpPr>
            <a:spLocks noGrp="1"/>
          </p:cNvSpPr>
          <p:nvPr/>
        </p:nvSpPr>
        <p:spPr>
          <a:xfrm>
            <a:off x="8534400" y="2686050"/>
            <a:ext cx="2362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8C99A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8C99A"/>
                </a:solidFill>
                <a:latin typeface="Lato"/>
                <a:ea typeface="Lato"/>
                <a:cs typeface="Lato"/>
              </a:rPr>
              <a:t>Layer 3/3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92C4CFC-DFE1-4E37-BF34-D21C163D9DB6}"/>
              </a:ext>
            </a:extLst>
          </p:cNvPr>
          <p:cNvSpPr>
            <a:spLocks noGrp="1"/>
          </p:cNvSpPr>
          <p:nvPr/>
        </p:nvSpPr>
        <p:spPr>
          <a:xfrm>
            <a:off x="8534400" y="3143250"/>
            <a:ext cx="2743200" cy="19050"/>
          </a:xfrm>
          <a:prstGeom prst="rect">
            <a:avLst/>
          </a:prstGeom>
          <a:solidFill>
            <a:srgbClr val="2855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A09663E-049D-49D0-9633-3B69ADAAED17}"/>
              </a:ext>
            </a:extLst>
          </p:cNvPr>
          <p:cNvSpPr>
            <a:spLocks noGrp="1"/>
          </p:cNvSpPr>
          <p:nvPr/>
        </p:nvSpPr>
        <p:spPr>
          <a:xfrm>
            <a:off x="8534400" y="3314700"/>
            <a:ext cx="2552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PostgreSQL / MongoDB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489AED1-AF20-4FAD-8284-63F4596F8C2E}"/>
              </a:ext>
            </a:extLst>
          </p:cNvPr>
          <p:cNvSpPr>
            <a:spLocks noGrp="1"/>
          </p:cNvSpPr>
          <p:nvPr/>
        </p:nvSpPr>
        <p:spPr>
          <a:xfrm>
            <a:off x="8534400" y="3638550"/>
            <a:ext cx="2552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AFC0D3"/>
                </a:solidFill>
                <a:latin typeface="Lato"/>
                <a:ea typeface="Lato"/>
                <a:cs typeface="Lato"/>
              </a:rPr>
              <a:t>Profile and catalogue storage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99D6604-9706-4E10-B516-95184850593D}"/>
              </a:ext>
            </a:extLst>
          </p:cNvPr>
          <p:cNvSpPr>
            <a:spLocks noGrp="1"/>
          </p:cNvSpPr>
          <p:nvPr/>
        </p:nvSpPr>
        <p:spPr>
          <a:xfrm>
            <a:off x="8534400" y="4000500"/>
            <a:ext cx="2743200" cy="19050"/>
          </a:xfrm>
          <a:prstGeom prst="rect">
            <a:avLst/>
          </a:prstGeom>
          <a:solidFill>
            <a:srgbClr val="2855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98DC0FD-B4EB-4E96-9496-C833F1A177DC}"/>
              </a:ext>
            </a:extLst>
          </p:cNvPr>
          <p:cNvSpPr>
            <a:spLocks noGrp="1"/>
          </p:cNvSpPr>
          <p:nvPr/>
        </p:nvSpPr>
        <p:spPr>
          <a:xfrm>
            <a:off x="8534400" y="4171950"/>
            <a:ext cx="2552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Live JD scraper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187D277-DFD5-4954-A043-80367A6915F0}"/>
              </a:ext>
            </a:extLst>
          </p:cNvPr>
          <p:cNvSpPr>
            <a:spLocks noGrp="1"/>
          </p:cNvSpPr>
          <p:nvPr/>
        </p:nvSpPr>
        <p:spPr>
          <a:xfrm>
            <a:off x="8534400" y="4495800"/>
            <a:ext cx="2552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AFC0D3"/>
                </a:solidFill>
                <a:latin typeface="Lato"/>
                <a:ea typeface="Lato"/>
                <a:cs typeface="Lato"/>
              </a:rPr>
              <a:t>Role weight signals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8E77888-6750-4864-8D72-736D63006B9F}"/>
              </a:ext>
            </a:extLst>
          </p:cNvPr>
          <p:cNvSpPr>
            <a:spLocks noGrp="1"/>
          </p:cNvSpPr>
          <p:nvPr/>
        </p:nvSpPr>
        <p:spPr>
          <a:xfrm>
            <a:off x="8534400" y="4857750"/>
            <a:ext cx="2743200" cy="19050"/>
          </a:xfrm>
          <a:prstGeom prst="rect">
            <a:avLst/>
          </a:prstGeom>
          <a:solidFill>
            <a:srgbClr val="2855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1E5DD16-E266-4B18-A5BC-D73B88C11ABA}"/>
              </a:ext>
            </a:extLst>
          </p:cNvPr>
          <p:cNvSpPr>
            <a:spLocks noGrp="1"/>
          </p:cNvSpPr>
          <p:nvPr/>
        </p:nvSpPr>
        <p:spPr>
          <a:xfrm>
            <a:off x="8534400" y="5029200"/>
            <a:ext cx="2552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Docker containers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03A4AE1-37E1-4618-A5FA-45BD651E0FBC}"/>
              </a:ext>
            </a:extLst>
          </p:cNvPr>
          <p:cNvSpPr>
            <a:spLocks noGrp="1"/>
          </p:cNvSpPr>
          <p:nvPr/>
        </p:nvSpPr>
        <p:spPr>
          <a:xfrm>
            <a:off x="8534400" y="5353050"/>
            <a:ext cx="2552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AFC0D3"/>
                </a:solidFill>
                <a:latin typeface="Lato"/>
                <a:ea typeface="Lato"/>
                <a:cs typeface="Lato"/>
              </a:rPr>
              <a:t>Horizontal scaling and deployment</a:t>
            </a:r>
          </a:p>
        </p:txBody>
      </p:sp>
    </p:spTree>
    <p:extLst>
      <p:ext uri="{BB962C8B-B14F-4D97-AF65-F5344CB8AC3E}">
        <p14:creationId xmlns:p14="http://schemas.microsoft.com/office/powerpoint/2010/main" val="169435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C1D31B89-B5E8-459F-B72B-230316F10ED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9D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385167BB-EA4A-4FF8-86CF-5386E53C9BAD}"/>
              </a:ext>
            </a:extLst>
          </p:cNvPr>
          <p:cNvSpPr>
            <a:spLocks noGrp="1"/>
          </p:cNvSpPr>
          <p:nvPr/>
        </p:nvSpPr>
        <p:spPr>
          <a:xfrm>
            <a:off x="-1143000" y="-1143000"/>
            <a:ext cx="3429000" cy="3429000"/>
          </a:xfrm>
          <a:prstGeom prst="ellipse">
            <a:avLst/>
          </a:prstGeom>
          <a:solidFill>
            <a:srgbClr val="123A4C">
              <a:alpha val="4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7D89DA2-BB65-4AF0-844C-DCCD051D74D5}"/>
              </a:ext>
            </a:extLst>
          </p:cNvPr>
          <p:cNvSpPr>
            <a:spLocks noGrp="1"/>
          </p:cNvSpPr>
          <p:nvPr/>
        </p:nvSpPr>
        <p:spPr>
          <a:xfrm>
            <a:off x="10001250" y="5334000"/>
            <a:ext cx="3333750" cy="3333750"/>
          </a:xfrm>
          <a:prstGeom prst="ellipse">
            <a:avLst/>
          </a:prstGeom>
          <a:solidFill>
            <a:srgbClr val="3C2147">
              <a:alpha val="4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EE7676-5800-4CAB-B627-24FD24E9037A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14350" cy="419100"/>
          </a:xfrm>
          <a:prstGeom prst="rect">
            <a:avLst/>
          </a:prstGeom>
          <a:solidFill>
            <a:srgbClr val="29D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979FD3-4232-45F9-83C6-1244588BBC8C}"/>
              </a:ext>
            </a:extLst>
          </p:cNvPr>
          <p:cNvSpPr>
            <a:spLocks noGrp="1"/>
          </p:cNvSpPr>
          <p:nvPr/>
        </p:nvSpPr>
        <p:spPr>
          <a:xfrm>
            <a:off x="457200" y="371475"/>
            <a:ext cx="514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07111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7111F"/>
                </a:solidFill>
                <a:latin typeface="Poppins"/>
                <a:ea typeface="Poppins"/>
                <a:cs typeface="Poppins"/>
              </a:rPr>
              <a:t>17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00AB6A-066E-4ABC-BF09-DBB6660ABC37}"/>
              </a:ext>
            </a:extLst>
          </p:cNvPr>
          <p:cNvSpPr>
            <a:spLocks noGrp="1"/>
          </p:cNvSpPr>
          <p:nvPr/>
        </p:nvSpPr>
        <p:spPr>
          <a:xfrm>
            <a:off x="1104900" y="371475"/>
            <a:ext cx="7524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325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2325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Results - Learner Dashboard in Action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6D984E-F9B6-431D-A993-D7D32C8BCC19}"/>
              </a:ext>
            </a:extLst>
          </p:cNvPr>
          <p:cNvSpPr>
            <a:spLocks noGrp="1"/>
          </p:cNvSpPr>
          <p:nvPr/>
        </p:nvSpPr>
        <p:spPr>
          <a:xfrm>
            <a:off x="10191750" y="41910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275" b="1">
                <a:solidFill>
                  <a:srgbClr val="AFC0D3"/>
                </a:solidFill>
                <a:latin typeface="Poppins"/>
                <a:ea typeface="Poppins"/>
                <a:cs typeface="Poppins"/>
              </a:defRPr>
            </a:pPr>
            <a:r>
              <a:rPr sz="1275" b="1">
                <a:solidFill>
                  <a:srgbClr val="AFC0D3"/>
                </a:solidFill>
                <a:latin typeface="Poppins"/>
                <a:ea typeface="Poppins"/>
                <a:cs typeface="Poppins"/>
              </a:rPr>
              <a:t>RASET 2026 - BIT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B1DBA6-9D96-48BB-BD4F-9BD8549DDFFB}"/>
              </a:ext>
            </a:extLst>
          </p:cNvPr>
          <p:cNvSpPr>
            <a:spLocks noGrp="1"/>
          </p:cNvSpPr>
          <p:nvPr/>
        </p:nvSpPr>
        <p:spPr>
          <a:xfrm>
            <a:off x="457200" y="838200"/>
            <a:ext cx="11277600" cy="19050"/>
          </a:xfrm>
          <a:prstGeom prst="rect">
            <a:avLst/>
          </a:prstGeom>
          <a:solidFill>
            <a:srgbClr val="2855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6BB09AE-4D02-434D-8AD6-1748D8DDFA17}"/>
              </a:ext>
            </a:extLst>
          </p:cNvPr>
          <p:cNvSpPr>
            <a:spLocks noGrp="1"/>
          </p:cNvSpPr>
          <p:nvPr/>
        </p:nvSpPr>
        <p:spPr>
          <a:xfrm>
            <a:off x="476250" y="1143000"/>
            <a:ext cx="3486150" cy="1752600"/>
          </a:xfrm>
          <a:prstGeom prst="roundRect">
            <a:avLst>
              <a:gd name="adj" fmla="val 12000"/>
            </a:avLst>
          </a:prstGeom>
          <a:solidFill>
            <a:srgbClr val="0D2034"/>
          </a:solidFill>
          <a:ln w="19050">
            <a:solidFill>
              <a:srgbClr val="29D6F2"/>
            </a:solidFill>
            <a:prstDash val="solid"/>
          </a:ln>
        </p:spPr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rcRect t="7295" b="7295"/>
          <a:stretch>
            <a:fillRect/>
          </a:stretch>
        </p:blipFill>
        <p:spPr>
          <a:xfrm>
            <a:off x="552450" y="1219200"/>
            <a:ext cx="3333750" cy="1333500"/>
          </a:xfrm>
          <a:prstGeom prst="round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D8BEF90-9C6D-445D-A415-0978EF0A75BC}"/>
              </a:ext>
            </a:extLst>
          </p:cNvPr>
          <p:cNvSpPr>
            <a:spLocks noGrp="1"/>
          </p:cNvSpPr>
          <p:nvPr/>
        </p:nvSpPr>
        <p:spPr>
          <a:xfrm>
            <a:off x="476250" y="2552700"/>
            <a:ext cx="3486150" cy="514350"/>
          </a:xfrm>
          <a:prstGeom prst="rect">
            <a:avLst/>
          </a:prstGeom>
          <a:solidFill>
            <a:srgbClr val="29D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F064722-8E1C-4D18-B56F-FBFB29FDED56}"/>
              </a:ext>
            </a:extLst>
          </p:cNvPr>
          <p:cNvSpPr>
            <a:spLocks noGrp="1"/>
          </p:cNvSpPr>
          <p:nvPr/>
        </p:nvSpPr>
        <p:spPr>
          <a:xfrm>
            <a:off x="628650" y="2724150"/>
            <a:ext cx="3181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07111F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07111F"/>
                </a:solidFill>
                <a:latin typeface="Poppins"/>
                <a:ea typeface="Poppins"/>
                <a:cs typeface="Poppins"/>
              </a:rPr>
              <a:t>Account creation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63FF28C-52DC-4254-822F-56D44452CD97}"/>
              </a:ext>
            </a:extLst>
          </p:cNvPr>
          <p:cNvSpPr>
            <a:spLocks noGrp="1"/>
          </p:cNvSpPr>
          <p:nvPr/>
        </p:nvSpPr>
        <p:spPr>
          <a:xfrm>
            <a:off x="4210050" y="1143000"/>
            <a:ext cx="3486150" cy="1752600"/>
          </a:xfrm>
          <a:prstGeom prst="roundRect">
            <a:avLst>
              <a:gd name="adj" fmla="val 12000"/>
            </a:avLst>
          </a:prstGeom>
          <a:solidFill>
            <a:srgbClr val="0D2034"/>
          </a:solidFill>
          <a:ln w="19050">
            <a:solidFill>
              <a:srgbClr val="FFC43D"/>
            </a:solidFill>
            <a:prstDash val="solid"/>
          </a:ln>
        </p:spPr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rcRect t="7367" b="7367"/>
          <a:stretch>
            <a:fillRect/>
          </a:stretch>
        </p:blipFill>
        <p:spPr>
          <a:xfrm>
            <a:off x="4286250" y="1219200"/>
            <a:ext cx="3333750" cy="1333500"/>
          </a:xfrm>
          <a:prstGeom prst="round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EFC1253-70F8-46D8-AACB-38BB6C788BD1}"/>
              </a:ext>
            </a:extLst>
          </p:cNvPr>
          <p:cNvSpPr>
            <a:spLocks noGrp="1"/>
          </p:cNvSpPr>
          <p:nvPr/>
        </p:nvSpPr>
        <p:spPr>
          <a:xfrm>
            <a:off x="4210050" y="2552700"/>
            <a:ext cx="3486150" cy="514350"/>
          </a:xfrm>
          <a:prstGeom prst="rect">
            <a:avLst/>
          </a:prstGeom>
          <a:solidFill>
            <a:srgbClr val="FFC4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C4EF32-E8D6-437F-8C53-EF86F9E1C481}"/>
              </a:ext>
            </a:extLst>
          </p:cNvPr>
          <p:cNvSpPr>
            <a:spLocks noGrp="1"/>
          </p:cNvSpPr>
          <p:nvPr/>
        </p:nvSpPr>
        <p:spPr>
          <a:xfrm>
            <a:off x="4362450" y="2724150"/>
            <a:ext cx="3181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07111F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07111F"/>
                </a:solidFill>
                <a:latin typeface="Poppins"/>
                <a:ea typeface="Poppins"/>
                <a:cs typeface="Poppins"/>
              </a:rPr>
              <a:t>Resume upload + target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DE16356-5018-4521-A3FC-32BE81059BFA}"/>
              </a:ext>
            </a:extLst>
          </p:cNvPr>
          <p:cNvSpPr>
            <a:spLocks noGrp="1"/>
          </p:cNvSpPr>
          <p:nvPr/>
        </p:nvSpPr>
        <p:spPr>
          <a:xfrm>
            <a:off x="476250" y="3543300"/>
            <a:ext cx="3486150" cy="1752600"/>
          </a:xfrm>
          <a:prstGeom prst="roundRect">
            <a:avLst>
              <a:gd name="adj" fmla="val 12000"/>
            </a:avLst>
          </a:prstGeom>
          <a:solidFill>
            <a:srgbClr val="0D2034"/>
          </a:solidFill>
          <a:ln w="19050">
            <a:solidFill>
              <a:srgbClr val="18C99A"/>
            </a:solidFill>
            <a:prstDash val="solid"/>
          </a:ln>
        </p:spPr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5"/>
          <a:srcRect t="7518" b="7518"/>
          <a:stretch>
            <a:fillRect/>
          </a:stretch>
        </p:blipFill>
        <p:spPr>
          <a:xfrm>
            <a:off x="552450" y="3619500"/>
            <a:ext cx="3333750" cy="1333500"/>
          </a:xfrm>
          <a:prstGeom prst="round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C4F6D507-D8BB-451D-9E91-38DE26BDEFC9}"/>
              </a:ext>
            </a:extLst>
          </p:cNvPr>
          <p:cNvSpPr>
            <a:spLocks noGrp="1"/>
          </p:cNvSpPr>
          <p:nvPr/>
        </p:nvSpPr>
        <p:spPr>
          <a:xfrm>
            <a:off x="476250" y="4953000"/>
            <a:ext cx="3486150" cy="514350"/>
          </a:xfrm>
          <a:prstGeom prst="rect">
            <a:avLst/>
          </a:prstGeom>
          <a:solidFill>
            <a:srgbClr val="18C9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3B5E508-AA70-414C-9976-E64D54357559}"/>
              </a:ext>
            </a:extLst>
          </p:cNvPr>
          <p:cNvSpPr>
            <a:spLocks noGrp="1"/>
          </p:cNvSpPr>
          <p:nvPr/>
        </p:nvSpPr>
        <p:spPr>
          <a:xfrm>
            <a:off x="628650" y="5124450"/>
            <a:ext cx="3181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07111F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07111F"/>
                </a:solidFill>
                <a:latin typeface="Poppins"/>
                <a:ea typeface="Poppins"/>
                <a:cs typeface="Poppins"/>
              </a:rPr>
              <a:t>Match score dashboard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3EB4B2F-85DA-44DC-81C5-178B9496C604}"/>
              </a:ext>
            </a:extLst>
          </p:cNvPr>
          <p:cNvSpPr>
            <a:spLocks noGrp="1"/>
          </p:cNvSpPr>
          <p:nvPr/>
        </p:nvSpPr>
        <p:spPr>
          <a:xfrm>
            <a:off x="4210050" y="3543300"/>
            <a:ext cx="3486150" cy="1752600"/>
          </a:xfrm>
          <a:prstGeom prst="roundRect">
            <a:avLst>
              <a:gd name="adj" fmla="val 12000"/>
            </a:avLst>
          </a:prstGeom>
          <a:solidFill>
            <a:srgbClr val="0D2034"/>
          </a:solidFill>
          <a:ln w="19050">
            <a:solidFill>
              <a:srgbClr val="F261B4"/>
            </a:solidFill>
            <a:prstDash val="solid"/>
          </a:ln>
        </p:spPr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6"/>
          <a:srcRect t="7367" b="7367"/>
          <a:stretch>
            <a:fillRect/>
          </a:stretch>
        </p:blipFill>
        <p:spPr>
          <a:xfrm>
            <a:off x="4286250" y="3619500"/>
            <a:ext cx="3333750" cy="1333500"/>
          </a:xfrm>
          <a:prstGeom prst="round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EFFD912B-E462-4940-9D9E-E2DFB1743A44}"/>
              </a:ext>
            </a:extLst>
          </p:cNvPr>
          <p:cNvSpPr>
            <a:spLocks noGrp="1"/>
          </p:cNvSpPr>
          <p:nvPr/>
        </p:nvSpPr>
        <p:spPr>
          <a:xfrm>
            <a:off x="4210050" y="4953000"/>
            <a:ext cx="3486150" cy="514350"/>
          </a:xfrm>
          <a:prstGeom prst="rect">
            <a:avLst/>
          </a:prstGeom>
          <a:solidFill>
            <a:srgbClr val="F261B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DF87353-625A-4339-9611-B9BF912DCB68}"/>
              </a:ext>
            </a:extLst>
          </p:cNvPr>
          <p:cNvSpPr>
            <a:spLocks noGrp="1"/>
          </p:cNvSpPr>
          <p:nvPr/>
        </p:nvSpPr>
        <p:spPr>
          <a:xfrm>
            <a:off x="4362450" y="5124450"/>
            <a:ext cx="3181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07111F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07111F"/>
                </a:solidFill>
                <a:latin typeface="Poppins"/>
                <a:ea typeface="Poppins"/>
                <a:cs typeface="Poppins"/>
              </a:rPr>
              <a:t>Skill analysis - bridge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758C3C7-C341-45B4-A486-FFCD59C4E65E}"/>
              </a:ext>
            </a:extLst>
          </p:cNvPr>
          <p:cNvSpPr>
            <a:spLocks noGrp="1"/>
          </p:cNvSpPr>
          <p:nvPr/>
        </p:nvSpPr>
        <p:spPr>
          <a:xfrm>
            <a:off x="7943850" y="1143000"/>
            <a:ext cx="3790950" cy="4991100"/>
          </a:xfrm>
          <a:prstGeom prst="roundRect">
            <a:avLst>
              <a:gd name="adj" fmla="val 12000"/>
            </a:avLst>
          </a:prstGeom>
          <a:solidFill>
            <a:srgbClr val="132D4A"/>
          </a:solidFill>
          <a:ln w="11430">
            <a:solidFill>
              <a:srgbClr val="29D6F2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BEEB97-A981-4137-8A7C-C34D311FDC9B}"/>
              </a:ext>
            </a:extLst>
          </p:cNvPr>
          <p:cNvSpPr>
            <a:spLocks noGrp="1"/>
          </p:cNvSpPr>
          <p:nvPr/>
        </p:nvSpPr>
        <p:spPr>
          <a:xfrm>
            <a:off x="8667750" y="160020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650" b="1">
                <a:solidFill>
                  <a:srgbClr val="29D6F2"/>
                </a:solidFill>
                <a:latin typeface="Poppins"/>
                <a:ea typeface="Poppins"/>
                <a:cs typeface="Poppins"/>
              </a:defRPr>
            </a:pPr>
            <a:r>
              <a:rPr sz="1650" b="1">
                <a:solidFill>
                  <a:srgbClr val="29D6F2"/>
                </a:solidFill>
                <a:latin typeface="Poppins"/>
                <a:ea typeface="Poppins"/>
                <a:cs typeface="Poppins"/>
              </a:rPr>
              <a:t>Evaluation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A3E7A4C-C3A8-46D0-92CE-11AFBD3558E9}"/>
              </a:ext>
            </a:extLst>
          </p:cNvPr>
          <p:cNvSpPr>
            <a:spLocks noGrp="1"/>
          </p:cNvSpPr>
          <p:nvPr/>
        </p:nvSpPr>
        <p:spPr>
          <a:xfrm>
            <a:off x="8524875" y="2152650"/>
            <a:ext cx="2667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2325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2325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Tested across</a:t>
            </a:r>
          </a:p>
          <a:p>
            <a:pPr algn="ctr">
              <a:defRPr sz="2325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2325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4 domains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BF00575-B6CF-419C-A3C6-12717C6376C4}"/>
              </a:ext>
            </a:extLst>
          </p:cNvPr>
          <p:cNvSpPr>
            <a:spLocks noGrp="1"/>
          </p:cNvSpPr>
          <p:nvPr/>
        </p:nvSpPr>
        <p:spPr>
          <a:xfrm>
            <a:off x="8324850" y="3295650"/>
            <a:ext cx="209550" cy="209550"/>
          </a:xfrm>
          <a:prstGeom prst="ellipse">
            <a:avLst/>
          </a:prstGeom>
          <a:solidFill>
            <a:srgbClr val="18C9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27E5E7A-2F69-4307-BE54-7A669079F1C7}"/>
              </a:ext>
            </a:extLst>
          </p:cNvPr>
          <p:cNvSpPr>
            <a:spLocks noGrp="1"/>
          </p:cNvSpPr>
          <p:nvPr/>
        </p:nvSpPr>
        <p:spPr>
          <a:xfrm>
            <a:off x="8667750" y="3219450"/>
            <a:ext cx="2781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650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Software Engineering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2855308-4099-464E-B63D-1A58EA9B86C2}"/>
              </a:ext>
            </a:extLst>
          </p:cNvPr>
          <p:cNvSpPr>
            <a:spLocks noGrp="1"/>
          </p:cNvSpPr>
          <p:nvPr/>
        </p:nvSpPr>
        <p:spPr>
          <a:xfrm>
            <a:off x="8324850" y="3790950"/>
            <a:ext cx="209550" cy="209550"/>
          </a:xfrm>
          <a:prstGeom prst="ellipse">
            <a:avLst/>
          </a:prstGeom>
          <a:solidFill>
            <a:srgbClr val="18C9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903D626-1464-4E74-B3DA-891FFAB2E4D0}"/>
              </a:ext>
            </a:extLst>
          </p:cNvPr>
          <p:cNvSpPr>
            <a:spLocks noGrp="1"/>
          </p:cNvSpPr>
          <p:nvPr/>
        </p:nvSpPr>
        <p:spPr>
          <a:xfrm>
            <a:off x="8667750" y="3714750"/>
            <a:ext cx="2781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650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Data Analytics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5E6AE0F-F759-4E98-9543-358322CBB894}"/>
              </a:ext>
            </a:extLst>
          </p:cNvPr>
          <p:cNvSpPr>
            <a:spLocks noGrp="1"/>
          </p:cNvSpPr>
          <p:nvPr/>
        </p:nvSpPr>
        <p:spPr>
          <a:xfrm>
            <a:off x="8324850" y="4286250"/>
            <a:ext cx="209550" cy="209550"/>
          </a:xfrm>
          <a:prstGeom prst="ellipse">
            <a:avLst/>
          </a:prstGeom>
          <a:solidFill>
            <a:srgbClr val="18C9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A476F27-0C8C-4199-8AC6-245FBFF63BBC}"/>
              </a:ext>
            </a:extLst>
          </p:cNvPr>
          <p:cNvSpPr>
            <a:spLocks noGrp="1"/>
          </p:cNvSpPr>
          <p:nvPr/>
        </p:nvSpPr>
        <p:spPr>
          <a:xfrm>
            <a:off x="8667750" y="4210050"/>
            <a:ext cx="2781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650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Cybersecurity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40352B6E-126F-4B65-9E07-B52B4B9DE012}"/>
              </a:ext>
            </a:extLst>
          </p:cNvPr>
          <p:cNvSpPr>
            <a:spLocks noGrp="1"/>
          </p:cNvSpPr>
          <p:nvPr/>
        </p:nvSpPr>
        <p:spPr>
          <a:xfrm>
            <a:off x="8324850" y="4781550"/>
            <a:ext cx="209550" cy="209550"/>
          </a:xfrm>
          <a:prstGeom prst="ellipse">
            <a:avLst/>
          </a:prstGeom>
          <a:solidFill>
            <a:srgbClr val="18C9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A8946CC-F7C4-4499-AC2B-655B9D821A8B}"/>
              </a:ext>
            </a:extLst>
          </p:cNvPr>
          <p:cNvSpPr>
            <a:spLocks noGrp="1"/>
          </p:cNvSpPr>
          <p:nvPr/>
        </p:nvSpPr>
        <p:spPr>
          <a:xfrm>
            <a:off x="8667750" y="4705350"/>
            <a:ext cx="2781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650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UI / UX Design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743C000-57B4-4531-8934-C5023974EAC0}"/>
              </a:ext>
            </a:extLst>
          </p:cNvPr>
          <p:cNvSpPr>
            <a:spLocks noGrp="1"/>
          </p:cNvSpPr>
          <p:nvPr/>
        </p:nvSpPr>
        <p:spPr>
          <a:xfrm>
            <a:off x="8820150" y="5162550"/>
            <a:ext cx="200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75" b="1">
                <a:solidFill>
                  <a:srgbClr val="F261B4"/>
                </a:solidFill>
                <a:latin typeface="Poppins"/>
                <a:ea typeface="Poppins"/>
                <a:cs typeface="Poppins"/>
              </a:defRPr>
            </a:pPr>
            <a:r>
              <a:rPr sz="1275" b="1">
                <a:solidFill>
                  <a:srgbClr val="F261B4"/>
                </a:solidFill>
                <a:latin typeface="Poppins"/>
                <a:ea typeface="Poppins"/>
                <a:cs typeface="Poppins"/>
              </a:rPr>
              <a:t>Key finding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C632DBB-F95A-4E0C-B1D3-D760C3EF5A0A}"/>
              </a:ext>
            </a:extLst>
          </p:cNvPr>
          <p:cNvSpPr>
            <a:spLocks noGrp="1"/>
          </p:cNvSpPr>
          <p:nvPr/>
        </p:nvSpPr>
        <p:spPr>
          <a:xfrm>
            <a:off x="8305800" y="5429250"/>
            <a:ext cx="3260124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5638" lnSpcReduction="10000"/>
          </a:bodyPr>
          <a:lstStyle/>
          <a:p>
            <a:pPr algn="ctr">
              <a:defRPr sz="1275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275" b="0" dirty="0">
                <a:solidFill>
                  <a:srgbClr val="AFC0D3"/>
                </a:solidFill>
                <a:latin typeface="Lato"/>
                <a:ea typeface="Lato"/>
                <a:cs typeface="Lato"/>
              </a:rPr>
              <a:t>Match scores correlated strongly with independent expert assessments, including tricky equivalence cases such as Django vs Flask and Power BI vs data </a:t>
            </a:r>
            <a:r>
              <a:rPr sz="1275" b="0" dirty="0" err="1">
                <a:solidFill>
                  <a:srgbClr val="AFC0D3"/>
                </a:solidFill>
                <a:latin typeface="Lato"/>
                <a:ea typeface="Lato"/>
                <a:cs typeface="Lato"/>
              </a:rPr>
              <a:t>visualisation</a:t>
            </a:r>
            <a:r>
              <a:rPr sz="1275" b="0" dirty="0">
                <a:solidFill>
                  <a:srgbClr val="AFC0D3"/>
                </a:solidFill>
                <a:latin typeface="Lato"/>
                <a:ea typeface="Lato"/>
                <a:cs typeface="Lat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79040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BC0D8B7E-3928-49FD-A8E8-AE0E9D9F020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9D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D406AAC-3FC6-49D2-85BD-76EDA06951A2}"/>
              </a:ext>
            </a:extLst>
          </p:cNvPr>
          <p:cNvSpPr>
            <a:spLocks noGrp="1"/>
          </p:cNvSpPr>
          <p:nvPr/>
        </p:nvSpPr>
        <p:spPr>
          <a:xfrm>
            <a:off x="-1143000" y="-1143000"/>
            <a:ext cx="3429000" cy="3429000"/>
          </a:xfrm>
          <a:prstGeom prst="ellipse">
            <a:avLst/>
          </a:prstGeom>
          <a:solidFill>
            <a:srgbClr val="123A4C">
              <a:alpha val="4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2A8522F-62A9-4CDF-B2B9-72F27C352AA3}"/>
              </a:ext>
            </a:extLst>
          </p:cNvPr>
          <p:cNvSpPr>
            <a:spLocks noGrp="1"/>
          </p:cNvSpPr>
          <p:nvPr/>
        </p:nvSpPr>
        <p:spPr>
          <a:xfrm>
            <a:off x="10001250" y="5334000"/>
            <a:ext cx="3333750" cy="3333750"/>
          </a:xfrm>
          <a:prstGeom prst="ellipse">
            <a:avLst/>
          </a:prstGeom>
          <a:solidFill>
            <a:srgbClr val="3C2147">
              <a:alpha val="4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5D4A18-9C13-44E3-8CDF-67D361BC0FF0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14350" cy="419100"/>
          </a:xfrm>
          <a:prstGeom prst="rect">
            <a:avLst/>
          </a:prstGeom>
          <a:solidFill>
            <a:srgbClr val="29D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DB28EB-EB87-4CB6-827E-2D61A9F7B7DD}"/>
              </a:ext>
            </a:extLst>
          </p:cNvPr>
          <p:cNvSpPr>
            <a:spLocks noGrp="1"/>
          </p:cNvSpPr>
          <p:nvPr/>
        </p:nvSpPr>
        <p:spPr>
          <a:xfrm>
            <a:off x="457200" y="371475"/>
            <a:ext cx="514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07111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7111F"/>
                </a:solidFill>
                <a:latin typeface="Poppins"/>
                <a:ea typeface="Poppins"/>
                <a:cs typeface="Poppins"/>
              </a:rPr>
              <a:t>18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56EADF-40CF-4717-AD34-0955DC64FD64}"/>
              </a:ext>
            </a:extLst>
          </p:cNvPr>
          <p:cNvSpPr>
            <a:spLocks noGrp="1"/>
          </p:cNvSpPr>
          <p:nvPr/>
        </p:nvSpPr>
        <p:spPr>
          <a:xfrm>
            <a:off x="1104900" y="371475"/>
            <a:ext cx="7524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325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2325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Advantages of the Proposed System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A1823B-2E81-4AE2-A682-15145B1876D4}"/>
              </a:ext>
            </a:extLst>
          </p:cNvPr>
          <p:cNvSpPr>
            <a:spLocks noGrp="1"/>
          </p:cNvSpPr>
          <p:nvPr/>
        </p:nvSpPr>
        <p:spPr>
          <a:xfrm>
            <a:off x="10191750" y="41910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275" b="1">
                <a:solidFill>
                  <a:srgbClr val="AFC0D3"/>
                </a:solidFill>
                <a:latin typeface="Poppins"/>
                <a:ea typeface="Poppins"/>
                <a:cs typeface="Poppins"/>
              </a:defRPr>
            </a:pPr>
            <a:r>
              <a:rPr sz="1275" b="1">
                <a:solidFill>
                  <a:srgbClr val="AFC0D3"/>
                </a:solidFill>
                <a:latin typeface="Poppins"/>
                <a:ea typeface="Poppins"/>
                <a:cs typeface="Poppins"/>
              </a:rPr>
              <a:t>RASET 2026 - BIT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6AD6CF-4944-465D-852C-5C5454227417}"/>
              </a:ext>
            </a:extLst>
          </p:cNvPr>
          <p:cNvSpPr>
            <a:spLocks noGrp="1"/>
          </p:cNvSpPr>
          <p:nvPr/>
        </p:nvSpPr>
        <p:spPr>
          <a:xfrm>
            <a:off x="457200" y="838200"/>
            <a:ext cx="11277600" cy="19050"/>
          </a:xfrm>
          <a:prstGeom prst="rect">
            <a:avLst/>
          </a:prstGeom>
          <a:solidFill>
            <a:srgbClr val="2855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7D147F-49D9-41BA-8BA0-9E4A8BC96969}"/>
              </a:ext>
            </a:extLst>
          </p:cNvPr>
          <p:cNvSpPr>
            <a:spLocks noGrp="1"/>
          </p:cNvSpPr>
          <p:nvPr/>
        </p:nvSpPr>
        <p:spPr>
          <a:xfrm>
            <a:off x="781050" y="1200150"/>
            <a:ext cx="4953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475" b="1">
                <a:solidFill>
                  <a:srgbClr val="29D6F2"/>
                </a:solidFill>
                <a:latin typeface="Poppins"/>
                <a:ea typeface="Poppins"/>
                <a:cs typeface="Poppins"/>
              </a:defRPr>
            </a:pPr>
            <a:r>
              <a:rPr sz="2475" b="1">
                <a:solidFill>
                  <a:srgbClr val="29D6F2"/>
                </a:solidFill>
                <a:latin typeface="Poppins"/>
                <a:ea typeface="Poppins"/>
                <a:cs typeface="Poppins"/>
              </a:rPr>
              <a:t>What makes it different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6213F1A-6D42-4119-9548-F3EE83397C07}"/>
              </a:ext>
            </a:extLst>
          </p:cNvPr>
          <p:cNvSpPr>
            <a:spLocks noGrp="1"/>
          </p:cNvSpPr>
          <p:nvPr/>
        </p:nvSpPr>
        <p:spPr>
          <a:xfrm>
            <a:off x="704850" y="1809750"/>
            <a:ext cx="3314700" cy="1200150"/>
          </a:xfrm>
          <a:prstGeom prst="roundRect">
            <a:avLst>
              <a:gd name="adj" fmla="val 12000"/>
            </a:avLst>
          </a:prstGeom>
          <a:solidFill>
            <a:srgbClr val="132D4A"/>
          </a:solidFill>
          <a:ln w="11430">
            <a:solidFill>
              <a:srgbClr val="29D6F2"/>
            </a:solidFill>
            <a:prstDash val="solid"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7512408-B164-46F6-8998-14D33EC3C608}"/>
              </a:ext>
            </a:extLst>
          </p:cNvPr>
          <p:cNvSpPr>
            <a:spLocks noGrp="1"/>
          </p:cNvSpPr>
          <p:nvPr/>
        </p:nvSpPr>
        <p:spPr>
          <a:xfrm>
            <a:off x="933450" y="2152650"/>
            <a:ext cx="514350" cy="514350"/>
          </a:xfrm>
          <a:prstGeom prst="ellipse">
            <a:avLst/>
          </a:prstGeom>
          <a:solidFill>
            <a:srgbClr val="29D6F2">
              <a:alpha val="20000"/>
            </a:srgbClr>
          </a:solidFill>
          <a:ln w="14288">
            <a:solidFill>
              <a:srgbClr val="29D6F2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F31D15-A427-4D10-9D37-3D24289C0236}"/>
              </a:ext>
            </a:extLst>
          </p:cNvPr>
          <p:cNvSpPr>
            <a:spLocks noGrp="1"/>
          </p:cNvSpPr>
          <p:nvPr/>
        </p:nvSpPr>
        <p:spPr>
          <a:xfrm>
            <a:off x="1000125" y="2295525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 fontScale="92593"/>
          </a:bodyPr>
          <a:lstStyle/>
          <a:p>
            <a:pPr algn="ctr">
              <a:defRPr sz="1350" b="1">
                <a:solidFill>
                  <a:srgbClr val="29D6F2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29D6F2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75D8A06-3C4B-4ECE-B542-C8BF1262E7C0}"/>
              </a:ext>
            </a:extLst>
          </p:cNvPr>
          <p:cNvSpPr>
            <a:spLocks noGrp="1"/>
          </p:cNvSpPr>
          <p:nvPr/>
        </p:nvSpPr>
        <p:spPr>
          <a:xfrm>
            <a:off x="1581150" y="2095500"/>
            <a:ext cx="24384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575" b="1" dirty="0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Semantic over keyword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AFA6BD-E595-4E2B-BCA9-3E7CEA3100E7}"/>
              </a:ext>
            </a:extLst>
          </p:cNvPr>
          <p:cNvSpPr>
            <a:spLocks noGrp="1"/>
          </p:cNvSpPr>
          <p:nvPr/>
        </p:nvSpPr>
        <p:spPr>
          <a:xfrm>
            <a:off x="1581150" y="2457450"/>
            <a:ext cx="21145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1269"/>
          </a:bodyPr>
          <a:lstStyle/>
          <a:p>
            <a:pPr algn="l">
              <a:defRPr sz="1350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AFC0D3"/>
                </a:solidFill>
                <a:latin typeface="Lato"/>
                <a:ea typeface="Lato"/>
                <a:cs typeface="Lato"/>
              </a:rPr>
              <a:t>Embedding-driven matching captures meaning, not just literal text.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C644921-6BCC-4960-BE78-7EDEA8269D0E}"/>
              </a:ext>
            </a:extLst>
          </p:cNvPr>
          <p:cNvSpPr>
            <a:spLocks noGrp="1"/>
          </p:cNvSpPr>
          <p:nvPr/>
        </p:nvSpPr>
        <p:spPr>
          <a:xfrm>
            <a:off x="4495800" y="1809750"/>
            <a:ext cx="3314700" cy="1200150"/>
          </a:xfrm>
          <a:prstGeom prst="roundRect">
            <a:avLst>
              <a:gd name="adj" fmla="val 12000"/>
            </a:avLst>
          </a:prstGeom>
          <a:solidFill>
            <a:srgbClr val="132D4A"/>
          </a:solidFill>
          <a:ln w="11430">
            <a:solidFill>
              <a:srgbClr val="FFC43D"/>
            </a:solidFill>
            <a:prstDash val="solid"/>
          </a:ln>
        </p:spPr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521E7C5-43B3-4348-B81B-E4FFB118FDEC}"/>
              </a:ext>
            </a:extLst>
          </p:cNvPr>
          <p:cNvSpPr>
            <a:spLocks noGrp="1"/>
          </p:cNvSpPr>
          <p:nvPr/>
        </p:nvSpPr>
        <p:spPr>
          <a:xfrm>
            <a:off x="4724400" y="2152650"/>
            <a:ext cx="514350" cy="514350"/>
          </a:xfrm>
          <a:prstGeom prst="ellipse">
            <a:avLst/>
          </a:prstGeom>
          <a:solidFill>
            <a:srgbClr val="FFC43D">
              <a:alpha val="20000"/>
            </a:srgbClr>
          </a:solidFill>
          <a:ln w="14288">
            <a:solidFill>
              <a:srgbClr val="FFC43D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8416342-46B9-4FA5-8F73-1941B45FB134}"/>
              </a:ext>
            </a:extLst>
          </p:cNvPr>
          <p:cNvSpPr>
            <a:spLocks noGrp="1"/>
          </p:cNvSpPr>
          <p:nvPr/>
        </p:nvSpPr>
        <p:spPr>
          <a:xfrm>
            <a:off x="4791075" y="2295525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 fontScale="92593"/>
          </a:bodyPr>
          <a:lstStyle/>
          <a:p>
            <a:pPr algn="ctr">
              <a:defRPr sz="1350" b="1">
                <a:solidFill>
                  <a:srgbClr val="FFC43D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FFC43D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2D7A195-0759-41C5-A885-1E2F77998907}"/>
              </a:ext>
            </a:extLst>
          </p:cNvPr>
          <p:cNvSpPr>
            <a:spLocks noGrp="1"/>
          </p:cNvSpPr>
          <p:nvPr/>
        </p:nvSpPr>
        <p:spPr>
          <a:xfrm>
            <a:off x="5372100" y="2095500"/>
            <a:ext cx="22479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575" b="1" dirty="0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Transparent scoring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1F0676F-831E-4691-A0AA-57F83A003E9C}"/>
              </a:ext>
            </a:extLst>
          </p:cNvPr>
          <p:cNvSpPr>
            <a:spLocks noGrp="1"/>
          </p:cNvSpPr>
          <p:nvPr/>
        </p:nvSpPr>
        <p:spPr>
          <a:xfrm>
            <a:off x="5372100" y="2457450"/>
            <a:ext cx="21145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7222"/>
          </a:bodyPr>
          <a:lstStyle/>
          <a:p>
            <a:pPr algn="l">
              <a:defRPr sz="1350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AFC0D3"/>
                </a:solidFill>
                <a:latin typeface="Lato"/>
                <a:ea typeface="Lato"/>
                <a:cs typeface="Lato"/>
              </a:rPr>
              <a:t>A 0-100 score is intuitive and easy to interpret.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289CBEA-C937-493C-BA8A-309D61DB213C}"/>
              </a:ext>
            </a:extLst>
          </p:cNvPr>
          <p:cNvSpPr>
            <a:spLocks noGrp="1"/>
          </p:cNvSpPr>
          <p:nvPr/>
        </p:nvSpPr>
        <p:spPr>
          <a:xfrm>
            <a:off x="8286750" y="1809750"/>
            <a:ext cx="3314700" cy="1200150"/>
          </a:xfrm>
          <a:prstGeom prst="roundRect">
            <a:avLst>
              <a:gd name="adj" fmla="val 12000"/>
            </a:avLst>
          </a:prstGeom>
          <a:solidFill>
            <a:srgbClr val="132D4A"/>
          </a:solidFill>
          <a:ln w="11430">
            <a:solidFill>
              <a:srgbClr val="18C99A"/>
            </a:solidFill>
            <a:prstDash val="solid"/>
          </a:ln>
        </p:spPr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82BE34F-9925-4E06-BCCA-5B4AFA76E6A1}"/>
              </a:ext>
            </a:extLst>
          </p:cNvPr>
          <p:cNvSpPr>
            <a:spLocks noGrp="1"/>
          </p:cNvSpPr>
          <p:nvPr/>
        </p:nvSpPr>
        <p:spPr>
          <a:xfrm>
            <a:off x="8515350" y="2152650"/>
            <a:ext cx="514350" cy="514350"/>
          </a:xfrm>
          <a:prstGeom prst="ellipse">
            <a:avLst/>
          </a:prstGeom>
          <a:solidFill>
            <a:srgbClr val="18C99A">
              <a:alpha val="20000"/>
            </a:srgbClr>
          </a:solidFill>
          <a:ln w="14288">
            <a:solidFill>
              <a:srgbClr val="18C99A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77A66A7-4B86-4DA3-82C1-944B101236F1}"/>
              </a:ext>
            </a:extLst>
          </p:cNvPr>
          <p:cNvSpPr>
            <a:spLocks noGrp="1"/>
          </p:cNvSpPr>
          <p:nvPr/>
        </p:nvSpPr>
        <p:spPr>
          <a:xfrm>
            <a:off x="8582025" y="2295525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 fontScale="92593"/>
          </a:bodyPr>
          <a:lstStyle/>
          <a:p>
            <a:pPr algn="ctr">
              <a:defRPr sz="1350" b="1">
                <a:solidFill>
                  <a:srgbClr val="18C99A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18C99A"/>
                </a:solidFill>
                <a:latin typeface="Poppins"/>
                <a:ea typeface="Poppins"/>
                <a:cs typeface="Poppins"/>
              </a:rPr>
              <a:t>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449E76B-3E38-461A-BDB9-0F6E497C50D2}"/>
              </a:ext>
            </a:extLst>
          </p:cNvPr>
          <p:cNvSpPr>
            <a:spLocks noGrp="1"/>
          </p:cNvSpPr>
          <p:nvPr/>
        </p:nvSpPr>
        <p:spPr>
          <a:xfrm>
            <a:off x="9163050" y="2095500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575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Personalised plans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B86D71B-72F1-4949-ADDB-A98F718C3642}"/>
              </a:ext>
            </a:extLst>
          </p:cNvPr>
          <p:cNvSpPr>
            <a:spLocks noGrp="1"/>
          </p:cNvSpPr>
          <p:nvPr/>
        </p:nvSpPr>
        <p:spPr>
          <a:xfrm>
            <a:off x="9163050" y="2457450"/>
            <a:ext cx="21145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7222"/>
          </a:bodyPr>
          <a:lstStyle/>
          <a:p>
            <a:pPr algn="l">
              <a:defRPr sz="1350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AFC0D3"/>
                </a:solidFill>
                <a:latin typeface="Lato"/>
                <a:ea typeface="Lato"/>
                <a:cs typeface="Lato"/>
              </a:rPr>
              <a:t>Each course targets a real identified gap.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B8398F8-C3E0-4742-A775-1814DE9706D5}"/>
              </a:ext>
            </a:extLst>
          </p:cNvPr>
          <p:cNvSpPr>
            <a:spLocks noGrp="1"/>
          </p:cNvSpPr>
          <p:nvPr/>
        </p:nvSpPr>
        <p:spPr>
          <a:xfrm>
            <a:off x="704850" y="3333750"/>
            <a:ext cx="3314700" cy="1200150"/>
          </a:xfrm>
          <a:prstGeom prst="roundRect">
            <a:avLst>
              <a:gd name="adj" fmla="val 12000"/>
            </a:avLst>
          </a:prstGeom>
          <a:solidFill>
            <a:srgbClr val="132D4A"/>
          </a:solidFill>
          <a:ln w="11430">
            <a:solidFill>
              <a:srgbClr val="F261B4"/>
            </a:solidFill>
            <a:prstDash val="solid"/>
          </a:ln>
        </p:spPr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C8A6831-D7E4-4A74-92E7-B1E85389BE26}"/>
              </a:ext>
            </a:extLst>
          </p:cNvPr>
          <p:cNvSpPr>
            <a:spLocks noGrp="1"/>
          </p:cNvSpPr>
          <p:nvPr/>
        </p:nvSpPr>
        <p:spPr>
          <a:xfrm>
            <a:off x="933450" y="3676650"/>
            <a:ext cx="514350" cy="514350"/>
          </a:xfrm>
          <a:prstGeom prst="ellipse">
            <a:avLst/>
          </a:prstGeom>
          <a:solidFill>
            <a:srgbClr val="F261B4">
              <a:alpha val="20000"/>
            </a:srgbClr>
          </a:solidFill>
          <a:ln w="14288">
            <a:solidFill>
              <a:srgbClr val="F261B4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28D6BA5-3016-434D-85DF-0FD38A1DE8C1}"/>
              </a:ext>
            </a:extLst>
          </p:cNvPr>
          <p:cNvSpPr>
            <a:spLocks noGrp="1"/>
          </p:cNvSpPr>
          <p:nvPr/>
        </p:nvSpPr>
        <p:spPr>
          <a:xfrm>
            <a:off x="1000125" y="3819525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 fontScale="92593"/>
          </a:bodyPr>
          <a:lstStyle/>
          <a:p>
            <a:pPr algn="ctr">
              <a:defRPr sz="1350" b="1">
                <a:solidFill>
                  <a:srgbClr val="F261B4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F261B4"/>
                </a:solidFill>
                <a:latin typeface="Poppins"/>
                <a:ea typeface="Poppins"/>
                <a:cs typeface="Poppins"/>
              </a:rPr>
              <a:t>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3228998-4B84-40F0-AA2F-482D54336203}"/>
              </a:ext>
            </a:extLst>
          </p:cNvPr>
          <p:cNvSpPr>
            <a:spLocks noGrp="1"/>
          </p:cNvSpPr>
          <p:nvPr/>
        </p:nvSpPr>
        <p:spPr>
          <a:xfrm>
            <a:off x="1581150" y="3619500"/>
            <a:ext cx="2200018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575" b="1" dirty="0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Continuous tracking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BEBC2E1-51F0-4627-8ED9-EDA70CD8FBE8}"/>
              </a:ext>
            </a:extLst>
          </p:cNvPr>
          <p:cNvSpPr>
            <a:spLocks noGrp="1"/>
          </p:cNvSpPr>
          <p:nvPr/>
        </p:nvSpPr>
        <p:spPr>
          <a:xfrm>
            <a:off x="1581150" y="3981450"/>
            <a:ext cx="21145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7222"/>
          </a:bodyPr>
          <a:lstStyle/>
          <a:p>
            <a:pPr algn="l">
              <a:defRPr sz="1350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AFC0D3"/>
                </a:solidFill>
                <a:latin typeface="Lato"/>
                <a:ea typeface="Lato"/>
                <a:cs typeface="Lato"/>
              </a:rPr>
              <a:t>Progress timeline visualises improvement over weeks.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DE0FDD6D-C8F5-45FF-8B0C-B1D42462E6D4}"/>
              </a:ext>
            </a:extLst>
          </p:cNvPr>
          <p:cNvSpPr>
            <a:spLocks noGrp="1"/>
          </p:cNvSpPr>
          <p:nvPr/>
        </p:nvSpPr>
        <p:spPr>
          <a:xfrm>
            <a:off x="4476750" y="3362325"/>
            <a:ext cx="3314700" cy="1200150"/>
          </a:xfrm>
          <a:prstGeom prst="roundRect">
            <a:avLst>
              <a:gd name="adj" fmla="val 12000"/>
            </a:avLst>
          </a:prstGeom>
          <a:solidFill>
            <a:srgbClr val="132D4A"/>
          </a:solidFill>
          <a:ln w="11430">
            <a:solidFill>
              <a:srgbClr val="7C61FF"/>
            </a:solidFill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94E6F4C-4371-4DF5-A913-F9A7E3395C29}"/>
              </a:ext>
            </a:extLst>
          </p:cNvPr>
          <p:cNvSpPr>
            <a:spLocks noGrp="1"/>
          </p:cNvSpPr>
          <p:nvPr/>
        </p:nvSpPr>
        <p:spPr>
          <a:xfrm>
            <a:off x="4724400" y="3676650"/>
            <a:ext cx="514350" cy="514350"/>
          </a:xfrm>
          <a:prstGeom prst="ellipse">
            <a:avLst/>
          </a:prstGeom>
          <a:solidFill>
            <a:srgbClr val="7C61FF">
              <a:alpha val="20000"/>
            </a:srgbClr>
          </a:solidFill>
          <a:ln w="14288">
            <a:solidFill>
              <a:srgbClr val="7C61FF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7CB3B64-1AC9-4F19-9703-7AEC3E81F95F}"/>
              </a:ext>
            </a:extLst>
          </p:cNvPr>
          <p:cNvSpPr>
            <a:spLocks noGrp="1"/>
          </p:cNvSpPr>
          <p:nvPr/>
        </p:nvSpPr>
        <p:spPr>
          <a:xfrm>
            <a:off x="4791075" y="3819525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 fontScale="92593"/>
          </a:bodyPr>
          <a:lstStyle/>
          <a:p>
            <a:pPr algn="ctr">
              <a:defRPr sz="1350" b="1">
                <a:solidFill>
                  <a:srgbClr val="7C61FF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7C61FF"/>
                </a:solidFill>
                <a:latin typeface="Poppins"/>
                <a:ea typeface="Poppins"/>
                <a:cs typeface="Poppins"/>
              </a:rPr>
              <a:t>5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454509C-2CE5-4306-BB2E-F6FF8BDA97D4}"/>
              </a:ext>
            </a:extLst>
          </p:cNvPr>
          <p:cNvSpPr>
            <a:spLocks noGrp="1"/>
          </p:cNvSpPr>
          <p:nvPr/>
        </p:nvSpPr>
        <p:spPr>
          <a:xfrm>
            <a:off x="5372100" y="3619500"/>
            <a:ext cx="22479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575" b="1" dirty="0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Browser-only access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4221B0F-BD5D-4EDF-8002-1DF5F1FB8D94}"/>
              </a:ext>
            </a:extLst>
          </p:cNvPr>
          <p:cNvSpPr>
            <a:spLocks noGrp="1"/>
          </p:cNvSpPr>
          <p:nvPr/>
        </p:nvSpPr>
        <p:spPr>
          <a:xfrm>
            <a:off x="5372100" y="3981450"/>
            <a:ext cx="21145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7222"/>
          </a:bodyPr>
          <a:lstStyle/>
          <a:p>
            <a:pPr algn="l">
              <a:defRPr sz="1350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AFC0D3"/>
                </a:solidFill>
                <a:latin typeface="Lato"/>
                <a:ea typeface="Lato"/>
                <a:cs typeface="Lato"/>
              </a:rPr>
              <a:t>No installation friction; works on any device.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034690E-29E9-4303-B4BA-63E1BB9011D7}"/>
              </a:ext>
            </a:extLst>
          </p:cNvPr>
          <p:cNvSpPr>
            <a:spLocks noGrp="1"/>
          </p:cNvSpPr>
          <p:nvPr/>
        </p:nvSpPr>
        <p:spPr>
          <a:xfrm>
            <a:off x="8286750" y="3333750"/>
            <a:ext cx="3314700" cy="1200150"/>
          </a:xfrm>
          <a:prstGeom prst="roundRect">
            <a:avLst>
              <a:gd name="adj" fmla="val 12000"/>
            </a:avLst>
          </a:prstGeom>
          <a:solidFill>
            <a:srgbClr val="132D4A"/>
          </a:solidFill>
          <a:ln w="11430">
            <a:solidFill>
              <a:srgbClr val="29D6F2"/>
            </a:solidFill>
            <a:prstDash val="solid"/>
          </a:ln>
        </p:spPr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3313B6AE-E8B4-4695-ADAD-27CA09121EFA}"/>
              </a:ext>
            </a:extLst>
          </p:cNvPr>
          <p:cNvSpPr>
            <a:spLocks noGrp="1"/>
          </p:cNvSpPr>
          <p:nvPr/>
        </p:nvSpPr>
        <p:spPr>
          <a:xfrm>
            <a:off x="8515350" y="3676650"/>
            <a:ext cx="514350" cy="514350"/>
          </a:xfrm>
          <a:prstGeom prst="ellipse">
            <a:avLst/>
          </a:prstGeom>
          <a:solidFill>
            <a:srgbClr val="29D6F2">
              <a:alpha val="20000"/>
            </a:srgbClr>
          </a:solidFill>
          <a:ln w="14288">
            <a:solidFill>
              <a:srgbClr val="29D6F2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A14C936-B49B-4162-B75F-406B6C5F994B}"/>
              </a:ext>
            </a:extLst>
          </p:cNvPr>
          <p:cNvSpPr>
            <a:spLocks noGrp="1"/>
          </p:cNvSpPr>
          <p:nvPr/>
        </p:nvSpPr>
        <p:spPr>
          <a:xfrm>
            <a:off x="8582025" y="3819525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 fontScale="92593"/>
          </a:bodyPr>
          <a:lstStyle/>
          <a:p>
            <a:pPr algn="ctr">
              <a:defRPr sz="1350" b="1">
                <a:solidFill>
                  <a:srgbClr val="29D6F2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29D6F2"/>
                </a:solidFill>
                <a:latin typeface="Poppins"/>
                <a:ea typeface="Poppins"/>
                <a:cs typeface="Poppins"/>
              </a:rPr>
              <a:t>6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61DA74E-E24E-4FE8-84BA-F38701EB3EEE}"/>
              </a:ext>
            </a:extLst>
          </p:cNvPr>
          <p:cNvSpPr>
            <a:spLocks noGrp="1"/>
          </p:cNvSpPr>
          <p:nvPr/>
        </p:nvSpPr>
        <p:spPr>
          <a:xfrm>
            <a:off x="9163050" y="3619500"/>
            <a:ext cx="21145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2500"/>
          </a:bodyPr>
          <a:lstStyle/>
          <a:p>
            <a:pPr algn="l">
              <a:defRPr sz="1575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575" b="1" dirty="0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Horizontal scalability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48B4AA1-D3E2-4C75-A9EF-2CEE9439299D}"/>
              </a:ext>
            </a:extLst>
          </p:cNvPr>
          <p:cNvSpPr>
            <a:spLocks noGrp="1"/>
          </p:cNvSpPr>
          <p:nvPr/>
        </p:nvSpPr>
        <p:spPr>
          <a:xfrm>
            <a:off x="9163050" y="3981450"/>
            <a:ext cx="21145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7222"/>
          </a:bodyPr>
          <a:lstStyle/>
          <a:p>
            <a:pPr algn="l">
              <a:defRPr sz="1350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350" b="0" dirty="0" err="1">
                <a:solidFill>
                  <a:srgbClr val="AFC0D3"/>
                </a:solidFill>
                <a:latin typeface="Lato"/>
                <a:ea typeface="Lato"/>
                <a:cs typeface="Lato"/>
              </a:rPr>
              <a:t>Containerised</a:t>
            </a:r>
            <a:r>
              <a:rPr sz="1350" b="0" dirty="0">
                <a:solidFill>
                  <a:srgbClr val="AFC0D3"/>
                </a:solidFill>
                <a:latin typeface="Lato"/>
                <a:ea typeface="Lato"/>
                <a:cs typeface="Lato"/>
              </a:rPr>
              <a:t> microservices grow with demand.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C06AD655-A1E9-4784-A17A-87211CFE1C80}"/>
              </a:ext>
            </a:extLst>
          </p:cNvPr>
          <p:cNvSpPr>
            <a:spLocks noGrp="1"/>
          </p:cNvSpPr>
          <p:nvPr/>
        </p:nvSpPr>
        <p:spPr>
          <a:xfrm>
            <a:off x="1371600" y="5676900"/>
            <a:ext cx="9448800" cy="552450"/>
          </a:xfrm>
          <a:prstGeom prst="roundRect">
            <a:avLst>
              <a:gd name="adj" fmla="val 12000"/>
            </a:avLst>
          </a:prstGeom>
          <a:solidFill>
            <a:srgbClr val="102D48"/>
          </a:solidFill>
          <a:ln w="9525">
            <a:solidFill>
              <a:srgbClr val="F261B4"/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3FCB5BC-C361-41CC-AB3C-175F25F18FF2}"/>
              </a:ext>
            </a:extLst>
          </p:cNvPr>
          <p:cNvSpPr>
            <a:spLocks noGrp="1"/>
          </p:cNvSpPr>
          <p:nvPr/>
        </p:nvSpPr>
        <p:spPr>
          <a:xfrm>
            <a:off x="1847850" y="5829300"/>
            <a:ext cx="8496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7669"/>
          </a:bodyPr>
          <a:lstStyle/>
          <a:p>
            <a:pPr algn="ctr">
              <a:defRPr sz="1350" b="0">
                <a:solidFill>
                  <a:srgbClr val="F261B4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F261B4"/>
                </a:solidFill>
                <a:latin typeface="Lato"/>
                <a:ea typeface="Lato"/>
                <a:cs typeface="Lato"/>
              </a:rPr>
              <a:t>Informal feedback: users appreciated the clarity of the match score and the way the roadmap broke long-term goals into manageable steps.</a:t>
            </a:r>
          </a:p>
        </p:txBody>
      </p:sp>
    </p:spTree>
    <p:extLst>
      <p:ext uri="{BB962C8B-B14F-4D97-AF65-F5344CB8AC3E}">
        <p14:creationId xmlns:p14="http://schemas.microsoft.com/office/powerpoint/2010/main" val="15920682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D88A6ACB-1B6E-4349-8324-CA8DC5C2A80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9D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1618CA98-AC2F-479C-914F-874F0459C604}"/>
              </a:ext>
            </a:extLst>
          </p:cNvPr>
          <p:cNvSpPr>
            <a:spLocks noGrp="1"/>
          </p:cNvSpPr>
          <p:nvPr/>
        </p:nvSpPr>
        <p:spPr>
          <a:xfrm>
            <a:off x="-1143000" y="-1143000"/>
            <a:ext cx="3429000" cy="3429000"/>
          </a:xfrm>
          <a:prstGeom prst="ellipse">
            <a:avLst/>
          </a:prstGeom>
          <a:solidFill>
            <a:srgbClr val="123A4C">
              <a:alpha val="4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52B0124-8449-4EC1-A7A9-E84A5FE48E8D}"/>
              </a:ext>
            </a:extLst>
          </p:cNvPr>
          <p:cNvSpPr>
            <a:spLocks noGrp="1"/>
          </p:cNvSpPr>
          <p:nvPr/>
        </p:nvSpPr>
        <p:spPr>
          <a:xfrm>
            <a:off x="10001250" y="5334000"/>
            <a:ext cx="3333750" cy="3333750"/>
          </a:xfrm>
          <a:prstGeom prst="ellipse">
            <a:avLst/>
          </a:prstGeom>
          <a:solidFill>
            <a:srgbClr val="3C2147">
              <a:alpha val="4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D55E13-34B3-43C1-9DC7-B795E1593301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14350" cy="419100"/>
          </a:xfrm>
          <a:prstGeom prst="rect">
            <a:avLst/>
          </a:prstGeom>
          <a:solidFill>
            <a:srgbClr val="29D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003768-871E-4FE2-B8F9-714D0E977965}"/>
              </a:ext>
            </a:extLst>
          </p:cNvPr>
          <p:cNvSpPr>
            <a:spLocks noGrp="1"/>
          </p:cNvSpPr>
          <p:nvPr/>
        </p:nvSpPr>
        <p:spPr>
          <a:xfrm>
            <a:off x="457200" y="371475"/>
            <a:ext cx="514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07111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7111F"/>
                </a:solidFill>
                <a:latin typeface="Poppins"/>
                <a:ea typeface="Poppins"/>
                <a:cs typeface="Poppins"/>
              </a:rPr>
              <a:t>19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C3FE8A-90B9-48D5-8344-10BD0C7E77FB}"/>
              </a:ext>
            </a:extLst>
          </p:cNvPr>
          <p:cNvSpPr>
            <a:spLocks noGrp="1"/>
          </p:cNvSpPr>
          <p:nvPr/>
        </p:nvSpPr>
        <p:spPr>
          <a:xfrm>
            <a:off x="1104900" y="371475"/>
            <a:ext cx="7524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325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2325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Limitations &amp; Future Work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C58C10-7449-4DD7-B0C3-5149B73CA1CE}"/>
              </a:ext>
            </a:extLst>
          </p:cNvPr>
          <p:cNvSpPr>
            <a:spLocks noGrp="1"/>
          </p:cNvSpPr>
          <p:nvPr/>
        </p:nvSpPr>
        <p:spPr>
          <a:xfrm>
            <a:off x="10191750" y="41910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275" b="1">
                <a:solidFill>
                  <a:srgbClr val="AFC0D3"/>
                </a:solidFill>
                <a:latin typeface="Poppins"/>
                <a:ea typeface="Poppins"/>
                <a:cs typeface="Poppins"/>
              </a:defRPr>
            </a:pPr>
            <a:r>
              <a:rPr sz="1275" b="1">
                <a:solidFill>
                  <a:srgbClr val="AFC0D3"/>
                </a:solidFill>
                <a:latin typeface="Poppins"/>
                <a:ea typeface="Poppins"/>
                <a:cs typeface="Poppins"/>
              </a:rPr>
              <a:t>RASET 2026 - BIT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37C426-08D8-4E89-A6D7-CE115E28BFD1}"/>
              </a:ext>
            </a:extLst>
          </p:cNvPr>
          <p:cNvSpPr>
            <a:spLocks noGrp="1"/>
          </p:cNvSpPr>
          <p:nvPr/>
        </p:nvSpPr>
        <p:spPr>
          <a:xfrm>
            <a:off x="457200" y="838200"/>
            <a:ext cx="11277600" cy="19050"/>
          </a:xfrm>
          <a:prstGeom prst="rect">
            <a:avLst/>
          </a:prstGeom>
          <a:solidFill>
            <a:srgbClr val="2855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BA7D9B-6CE5-4CE2-B9DE-67F241F6FDD6}"/>
              </a:ext>
            </a:extLst>
          </p:cNvPr>
          <p:cNvSpPr>
            <a:spLocks noGrp="1"/>
          </p:cNvSpPr>
          <p:nvPr/>
        </p:nvSpPr>
        <p:spPr>
          <a:xfrm>
            <a:off x="914400" y="1219200"/>
            <a:ext cx="3429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250" b="1">
                <a:solidFill>
                  <a:srgbClr val="F261B4"/>
                </a:solidFill>
                <a:latin typeface="Poppins"/>
                <a:ea typeface="Poppins"/>
                <a:cs typeface="Poppins"/>
              </a:defRPr>
            </a:pPr>
            <a:r>
              <a:rPr sz="2250" b="1">
                <a:solidFill>
                  <a:srgbClr val="F261B4"/>
                </a:solidFill>
                <a:latin typeface="Poppins"/>
                <a:ea typeface="Poppins"/>
                <a:cs typeface="Poppins"/>
              </a:rPr>
              <a:t>Limitations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3804464-A9A8-45CB-8E7E-1C8F36DBC5E5}"/>
              </a:ext>
            </a:extLst>
          </p:cNvPr>
          <p:cNvSpPr>
            <a:spLocks noGrp="1"/>
          </p:cNvSpPr>
          <p:nvPr/>
        </p:nvSpPr>
        <p:spPr>
          <a:xfrm>
            <a:off x="6705600" y="1219200"/>
            <a:ext cx="3810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250" b="1">
                <a:solidFill>
                  <a:srgbClr val="18C99A"/>
                </a:solidFill>
                <a:latin typeface="Poppins"/>
                <a:ea typeface="Poppins"/>
                <a:cs typeface="Poppins"/>
              </a:defRPr>
            </a:pPr>
            <a:r>
              <a:rPr sz="2250" b="1">
                <a:solidFill>
                  <a:srgbClr val="18C99A"/>
                </a:solidFill>
                <a:latin typeface="Poppins"/>
                <a:ea typeface="Poppins"/>
                <a:cs typeface="Poppins"/>
              </a:rPr>
              <a:t>Future roadmap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3603E5E-A958-417D-9218-A58B6D8FA28F}"/>
              </a:ext>
            </a:extLst>
          </p:cNvPr>
          <p:cNvSpPr>
            <a:spLocks noGrp="1"/>
          </p:cNvSpPr>
          <p:nvPr/>
        </p:nvSpPr>
        <p:spPr>
          <a:xfrm>
            <a:off x="800100" y="1809750"/>
            <a:ext cx="4762500" cy="971550"/>
          </a:xfrm>
          <a:prstGeom prst="roundRect">
            <a:avLst>
              <a:gd name="adj" fmla="val 12000"/>
            </a:avLst>
          </a:prstGeom>
          <a:solidFill>
            <a:srgbClr val="2A1730"/>
          </a:solidFill>
          <a:ln w="11430">
            <a:solidFill>
              <a:srgbClr val="F261B4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D010EB-DA8D-4DAA-A6A2-D199C331A78A}"/>
              </a:ext>
            </a:extLst>
          </p:cNvPr>
          <p:cNvSpPr>
            <a:spLocks noGrp="1"/>
          </p:cNvSpPr>
          <p:nvPr/>
        </p:nvSpPr>
        <p:spPr>
          <a:xfrm>
            <a:off x="1066800" y="2076450"/>
            <a:ext cx="3714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650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Static role catalogue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DFDAC8-600A-4B26-9CC9-894D79947A84}"/>
              </a:ext>
            </a:extLst>
          </p:cNvPr>
          <p:cNvSpPr>
            <a:spLocks noGrp="1"/>
          </p:cNvSpPr>
          <p:nvPr/>
        </p:nvSpPr>
        <p:spPr>
          <a:xfrm>
            <a:off x="1066800" y="2400300"/>
            <a:ext cx="3905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3738"/>
          </a:bodyPr>
          <a:lstStyle/>
          <a:p>
            <a:pPr algn="l">
              <a:defRPr sz="1275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AFC0D3"/>
                </a:solidFill>
                <a:latin typeface="Lato"/>
                <a:ea typeface="Lato"/>
                <a:cs typeface="Lato"/>
              </a:rPr>
              <a:t>Catalogue refresh is periodic, so short-lived role trends may lag.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8F148CD-1E0C-46F6-8447-B698616CF5AA}"/>
              </a:ext>
            </a:extLst>
          </p:cNvPr>
          <p:cNvSpPr>
            <a:spLocks noGrp="1"/>
          </p:cNvSpPr>
          <p:nvPr/>
        </p:nvSpPr>
        <p:spPr>
          <a:xfrm>
            <a:off x="800100" y="3067050"/>
            <a:ext cx="4762500" cy="971550"/>
          </a:xfrm>
          <a:prstGeom prst="roundRect">
            <a:avLst>
              <a:gd name="adj" fmla="val 12000"/>
            </a:avLst>
          </a:prstGeom>
          <a:solidFill>
            <a:srgbClr val="2A1730"/>
          </a:solidFill>
          <a:ln w="11430">
            <a:solidFill>
              <a:srgbClr val="F261B4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1B1D704-C77E-4D53-A996-D179B12A7E65}"/>
              </a:ext>
            </a:extLst>
          </p:cNvPr>
          <p:cNvSpPr>
            <a:spLocks noGrp="1"/>
          </p:cNvSpPr>
          <p:nvPr/>
        </p:nvSpPr>
        <p:spPr>
          <a:xfrm>
            <a:off x="1066800" y="3333750"/>
            <a:ext cx="3714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650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Browser-only experience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128011-7F29-456A-96FE-36316C287298}"/>
              </a:ext>
            </a:extLst>
          </p:cNvPr>
          <p:cNvSpPr>
            <a:spLocks noGrp="1"/>
          </p:cNvSpPr>
          <p:nvPr/>
        </p:nvSpPr>
        <p:spPr>
          <a:xfrm>
            <a:off x="1066800" y="3657600"/>
            <a:ext cx="3905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AFC0D3"/>
                </a:solidFill>
                <a:latin typeface="Lato"/>
                <a:ea typeface="Lato"/>
                <a:cs typeface="Lato"/>
              </a:rPr>
              <a:t>No offline study planner or push reminders yet.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556C84A-5EE8-4482-876A-14D51A3C3ACE}"/>
              </a:ext>
            </a:extLst>
          </p:cNvPr>
          <p:cNvSpPr>
            <a:spLocks noGrp="1"/>
          </p:cNvSpPr>
          <p:nvPr/>
        </p:nvSpPr>
        <p:spPr>
          <a:xfrm>
            <a:off x="800100" y="4324350"/>
            <a:ext cx="4762500" cy="971550"/>
          </a:xfrm>
          <a:prstGeom prst="roundRect">
            <a:avLst>
              <a:gd name="adj" fmla="val 12000"/>
            </a:avLst>
          </a:prstGeom>
          <a:solidFill>
            <a:srgbClr val="2A1730"/>
          </a:solidFill>
          <a:ln w="11430">
            <a:solidFill>
              <a:srgbClr val="F261B4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2636E7D-FB40-41D4-9353-BF4F966D861D}"/>
              </a:ext>
            </a:extLst>
          </p:cNvPr>
          <p:cNvSpPr>
            <a:spLocks noGrp="1"/>
          </p:cNvSpPr>
          <p:nvPr/>
        </p:nvSpPr>
        <p:spPr>
          <a:xfrm>
            <a:off x="1066800" y="4591050"/>
            <a:ext cx="3714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650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Single-learner focus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2878E1E-F3EE-4D08-A3F1-0C69D554F6ED}"/>
              </a:ext>
            </a:extLst>
          </p:cNvPr>
          <p:cNvSpPr>
            <a:spLocks noGrp="1"/>
          </p:cNvSpPr>
          <p:nvPr/>
        </p:nvSpPr>
        <p:spPr>
          <a:xfrm>
            <a:off x="1066800" y="4914900"/>
            <a:ext cx="3905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6144"/>
          </a:bodyPr>
          <a:lstStyle/>
          <a:p>
            <a:pPr algn="l">
              <a:defRPr sz="1275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AFC0D3"/>
                </a:solidFill>
                <a:latin typeface="Lato"/>
                <a:ea typeface="Lato"/>
                <a:cs typeface="Lato"/>
              </a:rPr>
              <a:t>Cohort comparison and peer motivation are outside v1 scope.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D08AE3E-6127-41D4-B2BF-CE4B3335CCFA}"/>
              </a:ext>
            </a:extLst>
          </p:cNvPr>
          <p:cNvSpPr>
            <a:spLocks noGrp="1"/>
          </p:cNvSpPr>
          <p:nvPr/>
        </p:nvSpPr>
        <p:spPr>
          <a:xfrm>
            <a:off x="6477000" y="1809750"/>
            <a:ext cx="4953000" cy="666750"/>
          </a:xfrm>
          <a:prstGeom prst="roundRect">
            <a:avLst>
              <a:gd name="adj" fmla="val 12000"/>
            </a:avLst>
          </a:prstGeom>
          <a:solidFill>
            <a:srgbClr val="102B2D"/>
          </a:solidFill>
          <a:ln w="9525">
            <a:solidFill>
              <a:srgbClr val="18C99A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0A7AED9-F370-401A-9751-4EAC88714B27}"/>
              </a:ext>
            </a:extLst>
          </p:cNvPr>
          <p:cNvSpPr>
            <a:spLocks noGrp="1"/>
          </p:cNvSpPr>
          <p:nvPr/>
        </p:nvSpPr>
        <p:spPr>
          <a:xfrm>
            <a:off x="6762750" y="2019300"/>
            <a:ext cx="457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1">
                <a:solidFill>
                  <a:srgbClr val="18C99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18C99A"/>
                </a:solidFill>
                <a:latin typeface="Poppins"/>
                <a:ea typeface="Poppins"/>
                <a:cs typeface="Poppins"/>
              </a:rPr>
              <a:t>01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994DE2A-A8A1-44F8-8FCB-6AC388F2953B}"/>
              </a:ext>
            </a:extLst>
          </p:cNvPr>
          <p:cNvSpPr>
            <a:spLocks noGrp="1"/>
          </p:cNvSpPr>
          <p:nvPr/>
        </p:nvSpPr>
        <p:spPr>
          <a:xfrm>
            <a:off x="7334250" y="1924050"/>
            <a:ext cx="3619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Live job-portal integration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E91A460-536D-4623-8E3E-DF92F5F886D8}"/>
              </a:ext>
            </a:extLst>
          </p:cNvPr>
          <p:cNvSpPr>
            <a:spLocks noGrp="1"/>
          </p:cNvSpPr>
          <p:nvPr/>
        </p:nvSpPr>
        <p:spPr>
          <a:xfrm>
            <a:off x="7334250" y="2209800"/>
            <a:ext cx="3714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38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238" b="0">
                <a:solidFill>
                  <a:srgbClr val="AFC0D3"/>
                </a:solidFill>
                <a:latin typeface="Lato"/>
                <a:ea typeface="Lato"/>
                <a:cs typeface="Lato"/>
              </a:rPr>
              <a:t>Real-time role catalogues for up-to-minute weights.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CB7FA5D-90E9-4850-A63A-5B2D4B8DF2BE}"/>
              </a:ext>
            </a:extLst>
          </p:cNvPr>
          <p:cNvSpPr>
            <a:spLocks noGrp="1"/>
          </p:cNvSpPr>
          <p:nvPr/>
        </p:nvSpPr>
        <p:spPr>
          <a:xfrm>
            <a:off x="6477000" y="2590800"/>
            <a:ext cx="4953000" cy="666750"/>
          </a:xfrm>
          <a:prstGeom prst="roundRect">
            <a:avLst>
              <a:gd name="adj" fmla="val 12000"/>
            </a:avLst>
          </a:prstGeom>
          <a:solidFill>
            <a:srgbClr val="102B2D"/>
          </a:solidFill>
          <a:ln w="9525">
            <a:solidFill>
              <a:srgbClr val="18C99A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40826A4-21CD-475D-B4EA-65CAC8D2DC97}"/>
              </a:ext>
            </a:extLst>
          </p:cNvPr>
          <p:cNvSpPr>
            <a:spLocks noGrp="1"/>
          </p:cNvSpPr>
          <p:nvPr/>
        </p:nvSpPr>
        <p:spPr>
          <a:xfrm>
            <a:off x="6762750" y="2800350"/>
            <a:ext cx="457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1">
                <a:solidFill>
                  <a:srgbClr val="18C99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18C99A"/>
                </a:solidFill>
                <a:latin typeface="Poppins"/>
                <a:ea typeface="Poppins"/>
                <a:cs typeface="Poppins"/>
              </a:rPr>
              <a:t>02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484A1EA-127E-4B50-BBE7-41DF012C601B}"/>
              </a:ext>
            </a:extLst>
          </p:cNvPr>
          <p:cNvSpPr>
            <a:spLocks noGrp="1"/>
          </p:cNvSpPr>
          <p:nvPr/>
        </p:nvSpPr>
        <p:spPr>
          <a:xfrm>
            <a:off x="7334250" y="2705100"/>
            <a:ext cx="3619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Mobile companion app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4BF642F-AFB7-4B94-9E2F-098568A151E4}"/>
              </a:ext>
            </a:extLst>
          </p:cNvPr>
          <p:cNvSpPr>
            <a:spLocks noGrp="1"/>
          </p:cNvSpPr>
          <p:nvPr/>
        </p:nvSpPr>
        <p:spPr>
          <a:xfrm>
            <a:off x="7334249" y="2990850"/>
            <a:ext cx="4025729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38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238" b="0" dirty="0">
                <a:solidFill>
                  <a:srgbClr val="AFC0D3"/>
                </a:solidFill>
                <a:latin typeface="Lato"/>
                <a:ea typeface="Lato"/>
                <a:cs typeface="Lato"/>
              </a:rPr>
              <a:t>Offline planning, push notifications, on-the-go progress.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1E185580-8EDF-4F46-8839-AD40FDD6E2FA}"/>
              </a:ext>
            </a:extLst>
          </p:cNvPr>
          <p:cNvSpPr>
            <a:spLocks noGrp="1"/>
          </p:cNvSpPr>
          <p:nvPr/>
        </p:nvSpPr>
        <p:spPr>
          <a:xfrm>
            <a:off x="6477000" y="3371850"/>
            <a:ext cx="4953000" cy="666750"/>
          </a:xfrm>
          <a:prstGeom prst="roundRect">
            <a:avLst>
              <a:gd name="adj" fmla="val 12000"/>
            </a:avLst>
          </a:prstGeom>
          <a:solidFill>
            <a:srgbClr val="102B2D"/>
          </a:solidFill>
          <a:ln w="9525">
            <a:solidFill>
              <a:srgbClr val="18C99A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F8A622D-9B0B-4B26-9806-514B656784A7}"/>
              </a:ext>
            </a:extLst>
          </p:cNvPr>
          <p:cNvSpPr>
            <a:spLocks noGrp="1"/>
          </p:cNvSpPr>
          <p:nvPr/>
        </p:nvSpPr>
        <p:spPr>
          <a:xfrm>
            <a:off x="6762750" y="3581400"/>
            <a:ext cx="457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1">
                <a:solidFill>
                  <a:srgbClr val="18C99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18C99A"/>
                </a:solidFill>
                <a:latin typeface="Poppins"/>
                <a:ea typeface="Poppins"/>
                <a:cs typeface="Poppins"/>
              </a:rPr>
              <a:t>03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36D58EE-F13A-4A4E-B697-3500DF361720}"/>
              </a:ext>
            </a:extLst>
          </p:cNvPr>
          <p:cNvSpPr>
            <a:spLocks noGrp="1"/>
          </p:cNvSpPr>
          <p:nvPr/>
        </p:nvSpPr>
        <p:spPr>
          <a:xfrm>
            <a:off x="7334250" y="3486150"/>
            <a:ext cx="3619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Cohort-based learning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60ECB3F-D4A8-4958-8D0D-51FF97C9C83B}"/>
              </a:ext>
            </a:extLst>
          </p:cNvPr>
          <p:cNvSpPr>
            <a:spLocks noGrp="1"/>
          </p:cNvSpPr>
          <p:nvPr/>
        </p:nvSpPr>
        <p:spPr>
          <a:xfrm>
            <a:off x="7334250" y="3771900"/>
            <a:ext cx="3714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38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238" b="0" dirty="0">
                <a:solidFill>
                  <a:srgbClr val="AFC0D3"/>
                </a:solidFill>
                <a:latin typeface="Lato"/>
                <a:ea typeface="Lato"/>
                <a:cs typeface="Lato"/>
              </a:rPr>
              <a:t>Peer comparison, study groups, and team challenges.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DBD2BBE8-2F89-49DC-8E3E-0F393FC755A0}"/>
              </a:ext>
            </a:extLst>
          </p:cNvPr>
          <p:cNvSpPr>
            <a:spLocks noGrp="1"/>
          </p:cNvSpPr>
          <p:nvPr/>
        </p:nvSpPr>
        <p:spPr>
          <a:xfrm>
            <a:off x="6477000" y="4152900"/>
            <a:ext cx="4953000" cy="666750"/>
          </a:xfrm>
          <a:prstGeom prst="roundRect">
            <a:avLst>
              <a:gd name="adj" fmla="val 12000"/>
            </a:avLst>
          </a:prstGeom>
          <a:solidFill>
            <a:srgbClr val="102B2D"/>
          </a:solidFill>
          <a:ln w="9525">
            <a:solidFill>
              <a:srgbClr val="18C99A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3E0FAC4-86A5-41A6-A590-9E9A90C44787}"/>
              </a:ext>
            </a:extLst>
          </p:cNvPr>
          <p:cNvSpPr>
            <a:spLocks noGrp="1"/>
          </p:cNvSpPr>
          <p:nvPr/>
        </p:nvSpPr>
        <p:spPr>
          <a:xfrm>
            <a:off x="6762750" y="4362450"/>
            <a:ext cx="457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1">
                <a:solidFill>
                  <a:srgbClr val="18C99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18C99A"/>
                </a:solidFill>
                <a:latin typeface="Poppins"/>
                <a:ea typeface="Poppins"/>
                <a:cs typeface="Poppins"/>
              </a:rPr>
              <a:t>04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E9512B8-3A9C-4ED7-BF61-C82664A9F051}"/>
              </a:ext>
            </a:extLst>
          </p:cNvPr>
          <p:cNvSpPr>
            <a:spLocks noGrp="1"/>
          </p:cNvSpPr>
          <p:nvPr/>
        </p:nvSpPr>
        <p:spPr>
          <a:xfrm>
            <a:off x="7334250" y="4267200"/>
            <a:ext cx="3619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Employer collaboration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91BEC55-51C0-493E-8C5A-AA3B6B285BEA}"/>
              </a:ext>
            </a:extLst>
          </p:cNvPr>
          <p:cNvSpPr>
            <a:spLocks noGrp="1"/>
          </p:cNvSpPr>
          <p:nvPr/>
        </p:nvSpPr>
        <p:spPr>
          <a:xfrm>
            <a:off x="7334250" y="4552950"/>
            <a:ext cx="3714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38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238" b="0">
                <a:solidFill>
                  <a:srgbClr val="AFC0D3"/>
                </a:solidFill>
                <a:latin typeface="Lato"/>
                <a:ea typeface="Lato"/>
                <a:cs typeface="Lato"/>
              </a:rPr>
              <a:t>Dashboards for upskilling programmes.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E68E227D-5BAF-4BB3-9CF5-E8212460E507}"/>
              </a:ext>
            </a:extLst>
          </p:cNvPr>
          <p:cNvSpPr>
            <a:spLocks noGrp="1"/>
          </p:cNvSpPr>
          <p:nvPr/>
        </p:nvSpPr>
        <p:spPr>
          <a:xfrm>
            <a:off x="6477000" y="4933950"/>
            <a:ext cx="4953000" cy="666750"/>
          </a:xfrm>
          <a:prstGeom prst="roundRect">
            <a:avLst>
              <a:gd name="adj" fmla="val 12000"/>
            </a:avLst>
          </a:prstGeom>
          <a:solidFill>
            <a:srgbClr val="102B2D"/>
          </a:solidFill>
          <a:ln w="9525">
            <a:solidFill>
              <a:srgbClr val="18C99A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395B02C-18F9-478E-89CC-CF025C3B60C3}"/>
              </a:ext>
            </a:extLst>
          </p:cNvPr>
          <p:cNvSpPr>
            <a:spLocks noGrp="1"/>
          </p:cNvSpPr>
          <p:nvPr/>
        </p:nvSpPr>
        <p:spPr>
          <a:xfrm>
            <a:off x="6762750" y="5143500"/>
            <a:ext cx="457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1">
                <a:solidFill>
                  <a:srgbClr val="18C99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18C99A"/>
                </a:solidFill>
                <a:latin typeface="Poppins"/>
                <a:ea typeface="Poppins"/>
                <a:cs typeface="Poppins"/>
              </a:rPr>
              <a:t>05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9AA7A7D-3E3E-40CD-9096-1F8EA116BB7D}"/>
              </a:ext>
            </a:extLst>
          </p:cNvPr>
          <p:cNvSpPr>
            <a:spLocks noGrp="1"/>
          </p:cNvSpPr>
          <p:nvPr/>
        </p:nvSpPr>
        <p:spPr>
          <a:xfrm>
            <a:off x="7334250" y="5048250"/>
            <a:ext cx="3619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Explainability layer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6CC0C38-0D91-4706-95E0-1337F4CC95A9}"/>
              </a:ext>
            </a:extLst>
          </p:cNvPr>
          <p:cNvSpPr>
            <a:spLocks noGrp="1"/>
          </p:cNvSpPr>
          <p:nvPr/>
        </p:nvSpPr>
        <p:spPr>
          <a:xfrm>
            <a:off x="7334250" y="5334000"/>
            <a:ext cx="4025728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38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238" b="0" dirty="0">
                <a:solidFill>
                  <a:srgbClr val="AFC0D3"/>
                </a:solidFill>
                <a:latin typeface="Lato"/>
                <a:ea typeface="Lato"/>
                <a:cs typeface="Lato"/>
              </a:rPr>
              <a:t>Why this course? justifications for every recommendation.</a:t>
            </a:r>
          </a:p>
        </p:txBody>
      </p:sp>
    </p:spTree>
    <p:extLst>
      <p:ext uri="{BB962C8B-B14F-4D97-AF65-F5344CB8AC3E}">
        <p14:creationId xmlns:p14="http://schemas.microsoft.com/office/powerpoint/2010/main" val="15287920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Oval 27">
            <a:extLst>
              <a:ext uri="{FF2B5EF4-FFF2-40B4-BE49-F238E27FC236}">
                <a16:creationId xmlns:a16="http://schemas.microsoft.com/office/drawing/2014/main" id="{8D94A71C-CD92-43C1-9DB6-2F7C4BAD78BD}"/>
              </a:ext>
            </a:extLst>
          </p:cNvPr>
          <p:cNvSpPr>
            <a:spLocks noGrp="1"/>
          </p:cNvSpPr>
          <p:nvPr/>
        </p:nvSpPr>
        <p:spPr>
          <a:xfrm>
            <a:off x="-1524000" y="4000500"/>
            <a:ext cx="4000500" cy="4000500"/>
          </a:xfrm>
          <a:prstGeom prst="ellipse">
            <a:avLst/>
          </a:prstGeom>
          <a:solidFill>
            <a:srgbClr val="11475D">
              <a:alpha val="5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12CFD10-1F14-4EE0-910C-D210438E4C34}"/>
              </a:ext>
            </a:extLst>
          </p:cNvPr>
          <p:cNvSpPr>
            <a:spLocks noGrp="1"/>
          </p:cNvSpPr>
          <p:nvPr/>
        </p:nvSpPr>
        <p:spPr>
          <a:xfrm>
            <a:off x="8382000" y="-1524000"/>
            <a:ext cx="4953000" cy="4953000"/>
          </a:xfrm>
          <a:prstGeom prst="ellipse">
            <a:avLst/>
          </a:prstGeom>
          <a:solidFill>
            <a:srgbClr val="3C2147">
              <a:alpha val="5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4F61FD-A751-44CE-ACA8-96663B18B429}"/>
              </a:ext>
            </a:extLst>
          </p:cNvPr>
          <p:cNvSpPr>
            <a:spLocks noGrp="1"/>
          </p:cNvSpPr>
          <p:nvPr/>
        </p:nvSpPr>
        <p:spPr>
          <a:xfrm>
            <a:off x="762000" y="876300"/>
            <a:ext cx="3810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600" b="1">
                <a:solidFill>
                  <a:srgbClr val="29D6F2"/>
                </a:solidFill>
                <a:latin typeface="Poppins"/>
                <a:ea typeface="Poppins"/>
                <a:cs typeface="Poppins"/>
              </a:defRPr>
            </a:pPr>
            <a:r>
              <a:rPr sz="3600" b="1">
                <a:solidFill>
                  <a:srgbClr val="29D6F2"/>
                </a:solidFill>
                <a:latin typeface="Poppins"/>
                <a:ea typeface="Poppins"/>
                <a:cs typeface="Poppins"/>
              </a:rPr>
              <a:t>Conclusion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643AB9-1ED6-473D-8DBD-321F49297C0E}"/>
              </a:ext>
            </a:extLst>
          </p:cNvPr>
          <p:cNvSpPr>
            <a:spLocks noGrp="1"/>
          </p:cNvSpPr>
          <p:nvPr/>
        </p:nvSpPr>
        <p:spPr>
          <a:xfrm>
            <a:off x="762000" y="1600200"/>
            <a:ext cx="6286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75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2175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A long-term partner for every learner.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018A32C-F509-470C-9194-3C713C8B9C94}"/>
              </a:ext>
            </a:extLst>
          </p:cNvPr>
          <p:cNvSpPr>
            <a:spLocks noGrp="1"/>
          </p:cNvSpPr>
          <p:nvPr/>
        </p:nvSpPr>
        <p:spPr>
          <a:xfrm>
            <a:off x="762000" y="2305050"/>
            <a:ext cx="4476750" cy="1047750"/>
          </a:xfrm>
          <a:prstGeom prst="roundRect">
            <a:avLst>
              <a:gd name="adj" fmla="val 12000"/>
            </a:avLst>
          </a:prstGeom>
          <a:solidFill>
            <a:srgbClr val="132D4A"/>
          </a:solidFill>
          <a:ln w="11430">
            <a:solidFill>
              <a:srgbClr val="29D6F2"/>
            </a:solidFill>
            <a:prstDash val="solid"/>
          </a:ln>
        </p:spPr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6478A4A-F26A-4759-BE5C-E0863F73AC4F}"/>
              </a:ext>
            </a:extLst>
          </p:cNvPr>
          <p:cNvSpPr>
            <a:spLocks noGrp="1"/>
          </p:cNvSpPr>
          <p:nvPr/>
        </p:nvSpPr>
        <p:spPr>
          <a:xfrm>
            <a:off x="990600" y="2571750"/>
            <a:ext cx="514350" cy="514350"/>
          </a:xfrm>
          <a:prstGeom prst="ellipse">
            <a:avLst/>
          </a:prstGeom>
          <a:solidFill>
            <a:srgbClr val="29D6F2">
              <a:alpha val="20000"/>
            </a:srgbClr>
          </a:solidFill>
          <a:ln w="14288">
            <a:solidFill>
              <a:srgbClr val="29D6F2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4F273E-B63F-4D95-9338-5B0BA3477B70}"/>
              </a:ext>
            </a:extLst>
          </p:cNvPr>
          <p:cNvSpPr>
            <a:spLocks noGrp="1"/>
          </p:cNvSpPr>
          <p:nvPr/>
        </p:nvSpPr>
        <p:spPr>
          <a:xfrm>
            <a:off x="1057275" y="2714625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 fontScale="92593"/>
          </a:bodyPr>
          <a:lstStyle/>
          <a:p>
            <a:pPr algn="ctr">
              <a:defRPr sz="1350" b="1">
                <a:solidFill>
                  <a:srgbClr val="29D6F2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29D6F2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E48A09-5063-4C72-87B5-02BA071EFEAF}"/>
              </a:ext>
            </a:extLst>
          </p:cNvPr>
          <p:cNvSpPr>
            <a:spLocks noGrp="1"/>
          </p:cNvSpPr>
          <p:nvPr/>
        </p:nvSpPr>
        <p:spPr>
          <a:xfrm>
            <a:off x="1676400" y="2552700"/>
            <a:ext cx="3028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650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NLP-driven understanding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337B1B-56E0-4DD6-AA37-91EB497FACC6}"/>
              </a:ext>
            </a:extLst>
          </p:cNvPr>
          <p:cNvSpPr>
            <a:spLocks noGrp="1"/>
          </p:cNvSpPr>
          <p:nvPr/>
        </p:nvSpPr>
        <p:spPr>
          <a:xfrm>
            <a:off x="1676400" y="2914650"/>
            <a:ext cx="31051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264"/>
          </a:bodyPr>
          <a:lstStyle/>
          <a:p>
            <a:pPr algn="l">
              <a:defRPr sz="1350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AFC0D3"/>
                </a:solidFill>
                <a:latin typeface="Lato"/>
                <a:ea typeface="Lato"/>
                <a:cs typeface="Lato"/>
              </a:rPr>
              <a:t>Reads resumes the way a human reviewer would.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6969479-D734-4506-850E-ABEE736D39FB}"/>
              </a:ext>
            </a:extLst>
          </p:cNvPr>
          <p:cNvSpPr>
            <a:spLocks noGrp="1"/>
          </p:cNvSpPr>
          <p:nvPr/>
        </p:nvSpPr>
        <p:spPr>
          <a:xfrm>
            <a:off x="5715000" y="2305050"/>
            <a:ext cx="4476750" cy="1047750"/>
          </a:xfrm>
          <a:prstGeom prst="roundRect">
            <a:avLst>
              <a:gd name="adj" fmla="val 12000"/>
            </a:avLst>
          </a:prstGeom>
          <a:solidFill>
            <a:srgbClr val="132D4A"/>
          </a:solidFill>
          <a:ln w="11430">
            <a:solidFill>
              <a:srgbClr val="FFC43D"/>
            </a:solidFill>
            <a:prstDash val="solid"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E222A20-A7C1-49E9-BE44-3CEF88839A39}"/>
              </a:ext>
            </a:extLst>
          </p:cNvPr>
          <p:cNvSpPr>
            <a:spLocks noGrp="1"/>
          </p:cNvSpPr>
          <p:nvPr/>
        </p:nvSpPr>
        <p:spPr>
          <a:xfrm>
            <a:off x="5943600" y="2571750"/>
            <a:ext cx="514350" cy="514350"/>
          </a:xfrm>
          <a:prstGeom prst="ellipse">
            <a:avLst/>
          </a:prstGeom>
          <a:solidFill>
            <a:srgbClr val="FFC43D">
              <a:alpha val="20000"/>
            </a:srgbClr>
          </a:solidFill>
          <a:ln w="14288">
            <a:solidFill>
              <a:srgbClr val="FFC43D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A901A44-A5B3-45A1-BE02-4499474B1182}"/>
              </a:ext>
            </a:extLst>
          </p:cNvPr>
          <p:cNvSpPr>
            <a:spLocks noGrp="1"/>
          </p:cNvSpPr>
          <p:nvPr/>
        </p:nvSpPr>
        <p:spPr>
          <a:xfrm>
            <a:off x="6010275" y="2714625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 fontScale="92593"/>
          </a:bodyPr>
          <a:lstStyle/>
          <a:p>
            <a:pPr algn="ctr">
              <a:defRPr sz="1350" b="1">
                <a:solidFill>
                  <a:srgbClr val="FFC43D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FFC43D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FBB44EE-275D-4BE9-90D2-3578182457CE}"/>
              </a:ext>
            </a:extLst>
          </p:cNvPr>
          <p:cNvSpPr>
            <a:spLocks noGrp="1"/>
          </p:cNvSpPr>
          <p:nvPr/>
        </p:nvSpPr>
        <p:spPr>
          <a:xfrm>
            <a:off x="6629400" y="2552700"/>
            <a:ext cx="3028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650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Quantifiable match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A835188-BDA9-4E76-A9D8-92476F0F5774}"/>
              </a:ext>
            </a:extLst>
          </p:cNvPr>
          <p:cNvSpPr>
            <a:spLocks noGrp="1"/>
          </p:cNvSpPr>
          <p:nvPr/>
        </p:nvSpPr>
        <p:spPr>
          <a:xfrm>
            <a:off x="6629400" y="2914650"/>
            <a:ext cx="31051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597"/>
          </a:bodyPr>
          <a:lstStyle/>
          <a:p>
            <a:pPr algn="l">
              <a:defRPr sz="1350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AFC0D3"/>
                </a:solidFill>
                <a:latin typeface="Lato"/>
                <a:ea typeface="Lato"/>
                <a:cs typeface="Lato"/>
              </a:rPr>
              <a:t>A transparent score the learner can act upon.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9389204-B6AE-4901-8470-2E2EC16BC015}"/>
              </a:ext>
            </a:extLst>
          </p:cNvPr>
          <p:cNvSpPr>
            <a:spLocks noGrp="1"/>
          </p:cNvSpPr>
          <p:nvPr/>
        </p:nvSpPr>
        <p:spPr>
          <a:xfrm>
            <a:off x="762000" y="3695700"/>
            <a:ext cx="4476750" cy="1047750"/>
          </a:xfrm>
          <a:prstGeom prst="roundRect">
            <a:avLst>
              <a:gd name="adj" fmla="val 12000"/>
            </a:avLst>
          </a:prstGeom>
          <a:solidFill>
            <a:srgbClr val="132D4A"/>
          </a:solidFill>
          <a:ln w="11430">
            <a:solidFill>
              <a:srgbClr val="18C99A"/>
            </a:solidFill>
            <a:prstDash val="solid"/>
          </a:ln>
        </p:spPr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603DC81-1243-4F09-A238-B16AC064A4DC}"/>
              </a:ext>
            </a:extLst>
          </p:cNvPr>
          <p:cNvSpPr>
            <a:spLocks noGrp="1"/>
          </p:cNvSpPr>
          <p:nvPr/>
        </p:nvSpPr>
        <p:spPr>
          <a:xfrm>
            <a:off x="990600" y="3962400"/>
            <a:ext cx="514350" cy="514350"/>
          </a:xfrm>
          <a:prstGeom prst="ellipse">
            <a:avLst/>
          </a:prstGeom>
          <a:solidFill>
            <a:srgbClr val="18C99A">
              <a:alpha val="20000"/>
            </a:srgbClr>
          </a:solidFill>
          <a:ln w="14288">
            <a:solidFill>
              <a:srgbClr val="18C99A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D2FECD6-92E2-4D5A-B416-018C8EDD8615}"/>
              </a:ext>
            </a:extLst>
          </p:cNvPr>
          <p:cNvSpPr>
            <a:spLocks noGrp="1"/>
          </p:cNvSpPr>
          <p:nvPr/>
        </p:nvSpPr>
        <p:spPr>
          <a:xfrm>
            <a:off x="1057275" y="4105275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 fontScale="92593"/>
          </a:bodyPr>
          <a:lstStyle/>
          <a:p>
            <a:pPr algn="ctr">
              <a:defRPr sz="1350" b="1">
                <a:solidFill>
                  <a:srgbClr val="18C99A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18C99A"/>
                </a:solidFill>
                <a:latin typeface="Poppins"/>
                <a:ea typeface="Poppins"/>
                <a:cs typeface="Poppins"/>
              </a:rPr>
              <a:t>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FB0E306-8C3B-400E-B63D-784FFC21CD61}"/>
              </a:ext>
            </a:extLst>
          </p:cNvPr>
          <p:cNvSpPr>
            <a:spLocks noGrp="1"/>
          </p:cNvSpPr>
          <p:nvPr/>
        </p:nvSpPr>
        <p:spPr>
          <a:xfrm>
            <a:off x="1676400" y="3943350"/>
            <a:ext cx="3028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650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Actionable guidance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D885FC7-CFF5-4B1E-8D0C-EA1FD129BA4C}"/>
              </a:ext>
            </a:extLst>
          </p:cNvPr>
          <p:cNvSpPr>
            <a:spLocks noGrp="1"/>
          </p:cNvSpPr>
          <p:nvPr/>
        </p:nvSpPr>
        <p:spPr>
          <a:xfrm>
            <a:off x="1676400" y="4305300"/>
            <a:ext cx="31051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AFC0D3"/>
                </a:solidFill>
                <a:latin typeface="Lato"/>
                <a:ea typeface="Lato"/>
                <a:cs typeface="Lato"/>
              </a:rPr>
              <a:t>Each recommendation closes a verified gap.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414E344-06D9-480A-A05E-D5C487B29291}"/>
              </a:ext>
            </a:extLst>
          </p:cNvPr>
          <p:cNvSpPr>
            <a:spLocks noGrp="1"/>
          </p:cNvSpPr>
          <p:nvPr/>
        </p:nvSpPr>
        <p:spPr>
          <a:xfrm>
            <a:off x="5715000" y="3695700"/>
            <a:ext cx="4476750" cy="1047750"/>
          </a:xfrm>
          <a:prstGeom prst="roundRect">
            <a:avLst>
              <a:gd name="adj" fmla="val 12000"/>
            </a:avLst>
          </a:prstGeom>
          <a:solidFill>
            <a:srgbClr val="132D4A"/>
          </a:solidFill>
          <a:ln w="11430">
            <a:solidFill>
              <a:srgbClr val="F261B4"/>
            </a:solidFill>
            <a:prstDash val="solid"/>
          </a:ln>
        </p:spPr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E93E33E-6EB2-4515-B4DC-C4AEC61A0E99}"/>
              </a:ext>
            </a:extLst>
          </p:cNvPr>
          <p:cNvSpPr>
            <a:spLocks noGrp="1"/>
          </p:cNvSpPr>
          <p:nvPr/>
        </p:nvSpPr>
        <p:spPr>
          <a:xfrm>
            <a:off x="5943600" y="3962400"/>
            <a:ext cx="514350" cy="514350"/>
          </a:xfrm>
          <a:prstGeom prst="ellipse">
            <a:avLst/>
          </a:prstGeom>
          <a:solidFill>
            <a:srgbClr val="F261B4">
              <a:alpha val="20000"/>
            </a:srgbClr>
          </a:solidFill>
          <a:ln w="14288">
            <a:solidFill>
              <a:srgbClr val="F261B4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2C3044B-C8F0-4D05-A36F-B8C78AF70706}"/>
              </a:ext>
            </a:extLst>
          </p:cNvPr>
          <p:cNvSpPr>
            <a:spLocks noGrp="1"/>
          </p:cNvSpPr>
          <p:nvPr/>
        </p:nvSpPr>
        <p:spPr>
          <a:xfrm>
            <a:off x="6010275" y="4105275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 fontScale="92593"/>
          </a:bodyPr>
          <a:lstStyle/>
          <a:p>
            <a:pPr algn="ctr">
              <a:defRPr sz="1350" b="1">
                <a:solidFill>
                  <a:srgbClr val="F261B4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F261B4"/>
                </a:solidFill>
                <a:latin typeface="Poppins"/>
                <a:ea typeface="Poppins"/>
                <a:cs typeface="Poppins"/>
              </a:rPr>
              <a:t>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84F2C7A-E8C2-48AF-8F6A-018AE9103359}"/>
              </a:ext>
            </a:extLst>
          </p:cNvPr>
          <p:cNvSpPr>
            <a:spLocks noGrp="1"/>
          </p:cNvSpPr>
          <p:nvPr/>
        </p:nvSpPr>
        <p:spPr>
          <a:xfrm>
            <a:off x="6629400" y="3943350"/>
            <a:ext cx="3028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7FAFC"/>
                </a:solidFill>
                <a:latin typeface="Poppins"/>
                <a:ea typeface="Poppins"/>
                <a:cs typeface="Poppins"/>
              </a:defRPr>
            </a:pPr>
            <a:r>
              <a:rPr sz="1650" b="1">
                <a:solidFill>
                  <a:srgbClr val="F7FAFC"/>
                </a:solidFill>
                <a:latin typeface="Poppins"/>
                <a:ea typeface="Poppins"/>
                <a:cs typeface="Poppins"/>
              </a:rPr>
              <a:t>Living progress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C23A9F3-E7A5-458E-AB5D-31EDB96DBBC8}"/>
              </a:ext>
            </a:extLst>
          </p:cNvPr>
          <p:cNvSpPr>
            <a:spLocks noGrp="1"/>
          </p:cNvSpPr>
          <p:nvPr/>
        </p:nvSpPr>
        <p:spPr>
          <a:xfrm>
            <a:off x="6629400" y="4305300"/>
            <a:ext cx="31051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AFC0D3"/>
                </a:solidFill>
                <a:latin typeface="Lato"/>
                <a:ea typeface="Lato"/>
                <a:cs typeface="Lato"/>
              </a:rPr>
              <a:t>Improvement is visible and continuous.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E3944BC-A49A-4D22-9BB2-FE48DDFE429E}"/>
              </a:ext>
            </a:extLst>
          </p:cNvPr>
          <p:cNvSpPr>
            <a:spLocks noGrp="1"/>
          </p:cNvSpPr>
          <p:nvPr/>
        </p:nvSpPr>
        <p:spPr>
          <a:xfrm>
            <a:off x="0" y="5429250"/>
            <a:ext cx="12192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34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34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Thank you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8DC3F5E-DB2D-46D7-8A88-E357A82394E0}"/>
              </a:ext>
            </a:extLst>
          </p:cNvPr>
          <p:cNvSpPr>
            <a:spLocks noGrp="1"/>
          </p:cNvSpPr>
          <p:nvPr/>
        </p:nvSpPr>
        <p:spPr>
          <a:xfrm>
            <a:off x="0" y="6057900"/>
            <a:ext cx="12192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ctr">
              <a:defRPr sz="1650" b="0">
                <a:solidFill>
                  <a:srgbClr val="AFC0D3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AFC0D3"/>
                </a:solidFill>
                <a:latin typeface="Lato"/>
                <a:ea typeface="Lato"/>
                <a:cs typeface="Lato"/>
              </a:rPr>
              <a:t>Questions, ideas, and collaboration are warmly welcomed.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A28E64B-B1A7-4F5D-BFAF-9FFB9FC5D5A4}"/>
              </a:ext>
            </a:extLst>
          </p:cNvPr>
          <p:cNvSpPr>
            <a:spLocks noGrp="1"/>
          </p:cNvSpPr>
          <p:nvPr/>
        </p:nvSpPr>
        <p:spPr>
          <a:xfrm>
            <a:off x="0" y="6515100"/>
            <a:ext cx="1219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75" b="0">
                <a:solidFill>
                  <a:srgbClr val="7890A8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7890A8"/>
                </a:solidFill>
                <a:latin typeface="Lato"/>
                <a:ea typeface="Lato"/>
                <a:cs typeface="Lato"/>
              </a:rPr>
              <a:t>RASET 2026 - Bannari Amman Institute of Technology, Sathyamangalam</a:t>
            </a:r>
          </a:p>
        </p:txBody>
      </p:sp>
    </p:spTree>
    <p:extLst>
      <p:ext uri="{BB962C8B-B14F-4D97-AF65-F5344CB8AC3E}">
        <p14:creationId xmlns:p14="http://schemas.microsoft.com/office/powerpoint/2010/main" val="8851812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1901</Words>
  <Application>Microsoft Office PowerPoint</Application>
  <DocSecurity>0</DocSecurity>
  <PresentationFormat>Widescreen</PresentationFormat>
  <Paragraphs>430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Cascadia Mono</vt:lpstr>
      <vt:lpstr>Lato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akashs0206@outlook.com</cp:lastModifiedBy>
  <cp:revision>1</cp:revision>
  <dcterms:created xsi:type="dcterms:W3CDTF">2026-05-01T12:55:31Z</dcterms:created>
  <dcterms:modified xsi:type="dcterms:W3CDTF">2026-05-01T13:01:39Z</dcterms:modified>
</cp:coreProperties>
</file>