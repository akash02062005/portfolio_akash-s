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56" r:id="rId2"/>
    <p:sldId id="264" r:id="rId3"/>
    <p:sldId id="265" r:id="rId4"/>
    <p:sldId id="266" r:id="rId5"/>
    <p:sldId id="267" r:id="rId6"/>
    <p:sldId id="270" r:id="rId7"/>
    <p:sldId id="269" r:id="rId8"/>
    <p:sldId id="273" r:id="rId9"/>
    <p:sldId id="271" r:id="rId10"/>
    <p:sldId id="272" r:id="rId11"/>
    <p:sldId id="268" r:id="rId12"/>
  </p:sldIdLst>
  <p:sldSz cx="9906000" cy="6858000" type="A4"/>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0065"/>
    <a:srgbClr val="11AF9C"/>
    <a:srgbClr val="FFFFFF"/>
    <a:srgbClr val="D60057"/>
    <a:srgbClr val="0000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95" d="100"/>
          <a:sy n="95" d="100"/>
        </p:scale>
        <p:origin x="662" y="-5"/>
      </p:cViewPr>
      <p:guideLst>
        <p:guide orient="horz" pos="2160"/>
        <p:guide pos="3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7E734B-3C9A-85C7-9E7E-5A5FA45AE3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E322E97B-B7C5-8C76-5875-B9A00EE8D01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1495B33-6E74-4DD5-8253-DE69ED14EF10}" type="datetimeFigureOut">
              <a:rPr lang="en-US"/>
              <a:pPr>
                <a:defRPr/>
              </a:pPr>
              <a:t>4/28/2026</a:t>
            </a:fld>
            <a:endParaRPr lang="en-US"/>
          </a:p>
        </p:txBody>
      </p:sp>
      <p:sp>
        <p:nvSpPr>
          <p:cNvPr id="4" name="Slide Image Placeholder 3">
            <a:extLst>
              <a:ext uri="{FF2B5EF4-FFF2-40B4-BE49-F238E27FC236}">
                <a16:creationId xmlns:a16="http://schemas.microsoft.com/office/drawing/2014/main" id="{A9443D6A-1F50-B965-E10F-47E6CD8919CE}"/>
              </a:ext>
            </a:extLst>
          </p:cNvPr>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98EB35F4-CC03-0578-C614-6727FAB4B4E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97DB21D-8F41-989E-9C1D-A3B11816C251}"/>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78E79928-E414-6BA7-D399-3AB253EC4E06}"/>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B30B4B2C-51FB-4EAA-8DBC-38486149C08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C3C924A7-994B-0D7A-F953-4AB28B7AA3F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5E7821C5-0A9A-DB25-B505-030CE1D2FF6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sz="1200">
                <a:latin typeface="Calibri"/>
              </a:rPr>
              <a:t>[~30 sec]
Good [morning/afternoon] everyone, and thank you to the ICECSM-2026 organisers for the opportunity to present.</a:t>
            </a:r>
            <a:endParaRPr lang="en-US" altLang="en-US"/>
          </a:p>
          <a:p>
            <a:r>
              <a:rPr sz="1200">
                <a:latin typeface="Calibri"/>
              </a:rPr>
              <a:t>I am [name], and on behalf of my team — Aaron Marshall, Akash S, Akash S M, and Chandru — I'll be presenting our work titled "AI-Based Skill Gap Analyzer", an NLP and Machine Learning framework for intelligent skill assessment and personalised career guidance, carried out under the guidance of Ms. S. Aadhitya, Department of CSE at PSNA College of Engineering and Technology.</a:t>
            </a:r>
          </a:p>
          <a:p>
            <a:r>
              <a:rPr sz="1200">
                <a:latin typeface="Calibri"/>
              </a:rPr>
              <a:t>In the next fifteen minutes I'll walk you through the problem, the system we built, the results, and where we plan to take this next.</a:t>
            </a:r>
          </a:p>
        </p:txBody>
      </p:sp>
      <p:sp>
        <p:nvSpPr>
          <p:cNvPr id="4100" name="Slide Number Placeholder 3">
            <a:extLst>
              <a:ext uri="{FF2B5EF4-FFF2-40B4-BE49-F238E27FC236}">
                <a16:creationId xmlns:a16="http://schemas.microsoft.com/office/drawing/2014/main" id="{CB81D6DD-463B-A804-52AC-EF8F31CE45B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17A5868F-ECEA-49AC-A070-5291D8607CF1}" type="slidenum">
              <a:rPr lang="en-US" altLang="en-US" smtClean="0"/>
              <a:pPr fontAlgn="base">
                <a:spcBef>
                  <a:spcPct val="0"/>
                </a:spcBef>
                <a:spcAft>
                  <a:spcPct val="0"/>
                </a:spcAft>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B857DF8D-A6C3-B481-5BB4-8FEFC9E30D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B7CFA63D-4CB8-D1BF-DE2A-64A2FA86C0E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sz="1200">
                <a:latin typeface="Calibri"/>
              </a:rPr>
              <a:t>[~30 sec]
Here is the roadmap for the talk.</a:t>
            </a:r>
            <a:endParaRPr lang="en-US" altLang="en-US"/>
          </a:p>
          <a:p>
            <a:r>
              <a:rPr sz="1200">
                <a:latin typeface="Calibri"/>
              </a:rPr>
              <a:t>We start with the introduction — why skill gaps matter today. Then I'll cover materials and methods, walking through our architecture and the technology stack. After that we get to the results — the match score, the categorisation of skills, and the dashboard experience the end user sees.</a:t>
            </a:r>
          </a:p>
          <a:p>
            <a:r>
              <a:rPr sz="1200">
                <a:latin typeface="Calibri"/>
              </a:rPr>
              <a:t>We then compare our system against existing keyword-based platforms, look at how we turn a gap report into a real learning path, summarise our key contributions, and close with references, acknowledgements, and your questions. Each section has an indicative time budget so we stay on schedule.</a:t>
            </a:r>
          </a:p>
        </p:txBody>
      </p:sp>
      <p:sp>
        <p:nvSpPr>
          <p:cNvPr id="6148" name="Slide Number Placeholder 3">
            <a:extLst>
              <a:ext uri="{FF2B5EF4-FFF2-40B4-BE49-F238E27FC236}">
                <a16:creationId xmlns:a16="http://schemas.microsoft.com/office/drawing/2014/main" id="{65D18DC7-2473-4759-57B9-784661A938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E5C71BC-4CE8-4EDD-AAF7-FEB9084D496E}" type="slidenum">
              <a:rPr lang="en-US" altLang="en-US" smtClean="0"/>
              <a:pPr fontAlgn="base">
                <a:spcBef>
                  <a:spcPct val="0"/>
                </a:spcBef>
                <a:spcAft>
                  <a:spcPct val="0"/>
                </a:spcAft>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Let's start with the motivation.</a:t>
            </a:r>
          </a:p>
          <a:p>
            <a:r>
              <a:rPr sz="1200">
                <a:latin typeface="Calibri"/>
              </a:rPr>
              <a:t>Today's job market is changing faster than most learners can keep up with — eighty-five percent of job seekers say they are unsure which skills they actually need, and nearly seventy percent of career platforms still rely on shallow keyword matching. This produces generic, one-size-fits-all suggestions that don't reflect a learner's true profile.</a:t>
            </a:r>
          </a:p>
          <a:p>
            <a:r>
              <a:rPr sz="1200">
                <a:latin typeface="Calibri"/>
              </a:rPr>
              <a:t>The cost of that mismatch is real: students finish multiple courses and still feel unprepared because none of them targeted their actual weaknesses. There is a clear need for something more intelligent — a tool that reads a profile the way a human reviewer would, understands context, and gives a measurable, role-specific picture of where the learner stands.</a:t>
            </a:r>
          </a:p>
          <a:p>
            <a:r>
              <a:rPr sz="1200">
                <a:latin typeface="Calibri"/>
              </a:rPr>
              <a:t>Our research approach, shown in the panel below, has four pillars. First, semantic NLP using sentence embeddings, so we recognise skills from project descriptions and not just literal keywords. Second, a weighted match score from zero to one hundred, where weights come from how often a skill appears in real job postings. Third, a dynamic recommendation layer that turns each gap into a concrete, prioritised learning action. And fourth, continuous tracking — every time a learner finishes a course, the analysis is re-run and the score updates. The promise is roughly three times faster upskilling because the learner is now spending time on what actually matters for their target role.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[~150 sec]
This slide shows what is under the hood.</a:t>
            </a:r>
          </a:p>
          <a:p>
            <a:r>
              <a:rPr sz="1200">
                <a:latin typeface="Calibri"/>
              </a:rPr>
              <a:t>The pipeline at the top is the core flow. In Step 1 the user supplies their profile — typed skills, a pasted resume, or an uploaded PDF or DOCX. In Step 2 our NLP layer, built on spaCy and custom resume rules, extracts and normalises skills, certifications and projects so that 'ML' and 'Machine Learning', or 'JS' and 'JavaScript', map to the same concept. Step 3 is semantic comparison: we use sentence-level transformer embeddings and cosine similarity to compare every extracted skill against the curated requirements for the chosen role. Step 4 is the gap model — we classify each required skill as matched, partially matched, or missing, and compute a single weighted match score. Step 5 is the recommendation engine, which converts those gaps into a prioritised learning path with curated courses, certification tracks, and an ordered roadmap.</a:t>
            </a:r>
          </a:p>
          <a:p>
            <a:r>
              <a:rPr sz="1200">
                <a:latin typeface="Calibri"/>
              </a:rPr>
              <a:t>The technology stack on the lower half tells you how each layer is realised. The frontend is React with HTML5, CSS3, and JavaScript — that powers the dashboard you'll see in two slides' time. The backend is Node.js and Express with REST APIs. MongoDB stores user profiles, job catalogues, and progress events. The AI/ML layer runs in Python with spaCy, NLP libraries, and scikit-learn. K-Means clustering groups similar profiles so we can transfer recommendations between learners with comparable backgrounds. The whole stack runs on a Node.js runtime and is responsive across desktop, tablet, and mobile.</a:t>
            </a:r>
          </a:p>
          <a:p>
            <a:r>
              <a:rPr sz="1200">
                <a:latin typeface="Calibri"/>
              </a:rPr>
              <a:t>A key design choice: every layer is modular. Parsing, analysis, recommendation, and visualisation can each evolve independently as better techniques become available — for example we can swap spaCy for a transformer parser without touching the recommendation engine.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[~120 sec]
Now to the central artefact the user takes away — the match score.</a:t>
            </a:r>
          </a:p>
          <a:p>
            <a:r>
              <a:rPr sz="1200">
                <a:latin typeface="Calibri"/>
              </a:rPr>
              <a:t>On the left you can see a sample run for a learner targeting the Data Scientist role. The system has produced a match score of seventy-two percent. That number is a weighted aggregate: every required skill carries a weight derived from how often it appears in real job postings for that role. Matched skills contribute fully, partially matched skills contribute proportionally, and missing skills reduce the score.</a:t>
            </a:r>
          </a:p>
          <a:p>
            <a:r>
              <a:rPr sz="1200">
                <a:latin typeface="Calibri"/>
              </a:rPr>
              <a:t>On the right we show the structured gap report. Seven skills are fully matched — the learner already has Python, SQL, and Pandas. One skill is partially matched — Statistics and Machine Learning — meaning the profile shows exposure but not depth. And eleven skills are flagged as missing — TensorFlow, Deep Learning, NLP, Docker and so on. This three-way categorisation is what makes the report actionable: 'Missing' tells the learner where to invest first, 'Partially Matched' tells them where to deepen, and 'Matched' confirms strengths.</a:t>
            </a:r>
          </a:p>
          <a:p>
            <a:r>
              <a:rPr sz="1200">
                <a:latin typeface="Calibri"/>
              </a:rPr>
              <a:t>The validation snapshot below the circle is important: we tested the system on profiles drawn from software engineering, data analytics, cybersecurity, and UI design. The match scores correlated well with independent assessments by subject experts, and the embedding model handled tricky semantic cases — for example, distinguishing Django from Flask experience, or recognising that someone with Power BI exposure has a partial overlap with general data-visualisation requirements. Those are precisely the cases that traditional keyword matchers miss.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This is what the end user actually sees.</a:t>
            </a:r>
          </a:p>
          <a:p>
            <a:r>
              <a:rPr sz="1200">
                <a:latin typeface="Calibri"/>
              </a:rPr>
              <a:t>The left rail is the navigation: Dashboard, Skill Analysis, Learning Path, Courses, Progress, Reports. Up top there is a context line showing the target role — here Data Scientist — and the user's name.</a:t>
            </a:r>
          </a:p>
          <a:p>
            <a:r>
              <a:rPr sz="1200">
                <a:latin typeface="Calibri"/>
              </a:rPr>
              <a:t>The three header tiles surface the most important numbers at a glance. Readiness is the live match score — seventy-two percent, with a friendly 'great progress' message so motivation stays high. The middle tile shows seven matched skills as the strong core; the right tile flags eleven missing skills as the focus area for the next learning sprint.</a:t>
            </a:r>
          </a:p>
          <a:p>
            <a:r>
              <a:rPr sz="1200">
                <a:latin typeface="Calibri"/>
              </a:rPr>
              <a:t>Below that is the Competency Analysis bar chart — Python at ninety percent, SQL eighty-two, Pandas sixty-five, Statistics forty-eight, Deep Learning eighteen. The bar colour encodes status: green for matched, amber for partially matched, red for missing. The whole dashboard is built in React with Tailwind, so it stays fast and responsive on phones and tablets — which matters because students often check progress on the go.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Let's talk about why this is different from what's already out there.</a:t>
            </a:r>
          </a:p>
          <a:p>
            <a:r>
              <a:rPr sz="1200">
                <a:latin typeface="Calibri"/>
              </a:rPr>
              <a:t>On the left we have the limitations of existing systems. They use keyword-only matching, which misses semantic relationships between skills. They give generic, one-size-fits-all career suggestions because they don't analyse the individual profile in depth. They don't structure skill gaps, they don't give a personalised learning path, they don't track progress over time, and they leave the user juggling four or five separate tools — one for resume scoring, one for courses, one for jobs, and so on.</a:t>
            </a:r>
          </a:p>
          <a:p>
            <a:r>
              <a:rPr sz="1200">
                <a:latin typeface="Calibri"/>
              </a:rPr>
              <a:t>On the right is what our analyser delivers. Our NLP layer captures semantic relationships, so a learner who described a project in natural language gets credit for the skills implied by that description. Recommendations are tailored to the individual profile. Skills are explicitly categorised — matched, partially matched, missing. The learning path is structured, with curated courses. The match score updates dynamically as progress is logged. And everything lives in a single unified dashboard.</a:t>
            </a:r>
          </a:p>
          <a:p>
            <a:r>
              <a:rPr sz="1200">
                <a:latin typeface="Calibri"/>
              </a:rPr>
              <a:t>The contrast is the central thesis of the paper: semantic skill analysis isn't a marginal improvement over keyword matching — it is the difference between generic advice and a real, personalised plan.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A gap report is only useful if it leads to action — so this slide shows the four-step learning journey we generate.</a:t>
            </a:r>
          </a:p>
          <a:p>
            <a:r>
              <a:rPr sz="1200">
                <a:latin typeface="Calibri"/>
              </a:rPr>
              <a:t>Step one, Identify Gap: the system flags eleven missing and one partially matched skill for the Data Scientist target.</a:t>
            </a:r>
          </a:p>
          <a:p>
            <a:r>
              <a:rPr sz="1200">
                <a:latin typeface="Calibri"/>
              </a:rPr>
              <a:t>Step two, Prioritise: we rank those skills by match weight, so high-impact items like Statistics and Machine Learning come first instead of being lost in a long generic list.</a:t>
            </a:r>
          </a:p>
          <a:p>
            <a:r>
              <a:rPr sz="1200">
                <a:latin typeface="Calibri"/>
              </a:rPr>
              <a:t>Step three, Curated Courses: for each gap we surface free and paid course recommendations enriched with provider, rating, and difficulty. The bottom strip shows three sample picks — Master Statistics on Coursera, eight weeks; Andrew Ng's Intro to Machine Learning, eleven weeks; and the Deep Learning Specialization on DeepLearning.AI, five months.</a:t>
            </a:r>
          </a:p>
          <a:p>
            <a:r>
              <a:rPr sz="1200">
                <a:latin typeface="Calibri"/>
              </a:rPr>
              <a:t>Step four, Track and Re-score: when the learner marks a course as complete or adds a certification, the analysis re-runs automatically, the match score updates, and the change is logged in a progress timeline.</a:t>
            </a:r>
          </a:p>
          <a:p>
            <a:r>
              <a:rPr sz="1200">
                <a:latin typeface="Calibri"/>
              </a:rPr>
              <a:t>That loop — gap, prioritise, learn, re-score — is what turns the analyser from a one-time report into a living career companion.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To summarise the contributions:</a:t>
            </a:r>
          </a:p>
          <a:p>
            <a:r>
              <a:rPr sz="1200">
                <a:latin typeface="Calibri"/>
              </a:rPr>
              <a:t>First, intelligent and personalised analysis — NLP plus ML replaces crude keyword matching with true semantic interpretation of the profile. Second, structured skill-gap insight — every required skill lands cleanly in matched, partially matched, or missing, and that classification is paired with a quantitative match score. Third, actionable career guidance — curated courses, certifications and ordered learning paths instead of trending-skills lists. And fourth, a continuous growth loop — dynamic re-scoring, a progress timeline, and gentle reminders that keep the user moving.</a:t>
            </a:r>
          </a:p>
          <a:p>
            <a:r>
              <a:rPr sz="1200">
                <a:latin typeface="Calibri"/>
              </a:rPr>
              <a:t>Looking ahead, our future scope is on the bottom strip. We plan to integrate real-time job-market APIs so the role catalogue updates itself from live postings. We're moving the recommendation engine to a transformer-based architecture for richer reasoning. A native mobile app is on the roadmap. And finally, knowledge-graph-based matching, which will let the system reason about skill relationships, prerequisites, and substitutes in a more structured way.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[~30 sec]
These are the ten peer-reviewed sources that informed our work — spanning resume analysis, semantic matching, fair hiring, and conference papers from 2021 to 2026.</a:t>
            </a:r>
          </a:p>
          <a:p>
            <a:r>
              <a:rPr sz="1200">
                <a:latin typeface="Calibri"/>
              </a:rPr>
              <a:t>I'd like to sincerely thank our project guide Ms. S. Aadhitya, our project coordinator and HOD-CSE, our institution PSNA College of Engineering and Technology, and the ICECSM-2026 organising committee for this platform.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a:latin typeface="Calibri"/>
              </a:rPr>
              <a:t>[~90 sec]
That brings us to the end of the talk — thank you for your kind attention.</a:t>
            </a:r>
          </a:p>
          <a:p>
            <a:r>
              <a:rPr sz="1200">
                <a:latin typeface="Calibri"/>
              </a:rPr>
              <a:t>To recap in one breath: we built an NLP-plus-ML web platform that produces a live readiness score, classifies skills as matched / partial / missing, generates a tailored learning path, and re-scores in real time as the learner progresses.</a:t>
            </a:r>
          </a:p>
          <a:p>
            <a:r>
              <a:rPr sz="1200">
                <a:latin typeface="Calibri"/>
              </a:rPr>
              <a:t>I'd be glad to take questions on any aspect — the embedding model, the weighting scheme for the match score, the recommendation engine, the dataset we used to validate, or the future-scope items.</a:t>
            </a:r>
          </a:p>
          <a:p>
            <a:r>
              <a:rPr sz="1200">
                <a:latin typeface="Calibri"/>
              </a:rPr>
              <a:t>Our contact details are at the bottom of the slide. Thank you again.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3EA7B1A-29E4-A0E4-41DC-78BACABA579D}"/>
              </a:ext>
            </a:extLst>
          </p:cNvPr>
          <p:cNvSpPr>
            <a:spLocks noGrp="1"/>
          </p:cNvSpPr>
          <p:nvPr>
            <p:ph type="dt" sz="half" idx="10"/>
          </p:nvPr>
        </p:nvSpPr>
        <p:spPr/>
        <p:txBody>
          <a:bodyPr/>
          <a:lstStyle>
            <a:lvl1pPr>
              <a:defRPr/>
            </a:lvl1pPr>
          </a:lstStyle>
          <a:p>
            <a:pPr>
              <a:defRPr/>
            </a:pPr>
            <a:fld id="{75CFE082-CE9D-44CE-9AE5-AEE1826AAA76}" type="datetime1">
              <a:rPr lang="en-US"/>
              <a:pPr>
                <a:defRPr/>
              </a:pPr>
              <a:t>4/28/2026</a:t>
            </a:fld>
            <a:endParaRPr lang="en-US"/>
          </a:p>
        </p:txBody>
      </p:sp>
      <p:sp>
        <p:nvSpPr>
          <p:cNvPr id="5" name="Footer Placeholder 4">
            <a:extLst>
              <a:ext uri="{FF2B5EF4-FFF2-40B4-BE49-F238E27FC236}">
                <a16:creationId xmlns:a16="http://schemas.microsoft.com/office/drawing/2014/main" id="{573944C8-2933-D441-70ED-F072ACC7B6E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478F676-C315-68ED-7178-D5E2FD32B7CB}"/>
              </a:ext>
            </a:extLst>
          </p:cNvPr>
          <p:cNvSpPr>
            <a:spLocks noGrp="1"/>
          </p:cNvSpPr>
          <p:nvPr>
            <p:ph type="sldNum" sz="quarter" idx="12"/>
          </p:nvPr>
        </p:nvSpPr>
        <p:spPr/>
        <p:txBody>
          <a:bodyPr/>
          <a:lstStyle>
            <a:lvl1pPr>
              <a:defRPr/>
            </a:lvl1pPr>
          </a:lstStyle>
          <a:p>
            <a:pPr>
              <a:defRPr/>
            </a:pPr>
            <a:fld id="{00A47A07-F504-45A8-8016-4AFC0B71A0A7}" type="slidenum">
              <a:rPr lang="en-US"/>
              <a:pPr>
                <a:defRPr/>
              </a:pPr>
              <a:t>‹#›</a:t>
            </a:fld>
            <a:endParaRPr lang="en-US"/>
          </a:p>
        </p:txBody>
      </p:sp>
    </p:spTree>
    <p:extLst>
      <p:ext uri="{BB962C8B-B14F-4D97-AF65-F5344CB8AC3E}">
        <p14:creationId xmlns:p14="http://schemas.microsoft.com/office/powerpoint/2010/main" val="4109230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100F05-E957-10EE-0130-9CEDD2019B28}"/>
              </a:ext>
            </a:extLst>
          </p:cNvPr>
          <p:cNvSpPr>
            <a:spLocks noGrp="1"/>
          </p:cNvSpPr>
          <p:nvPr>
            <p:ph type="dt" sz="half" idx="10"/>
          </p:nvPr>
        </p:nvSpPr>
        <p:spPr/>
        <p:txBody>
          <a:bodyPr/>
          <a:lstStyle>
            <a:lvl1pPr>
              <a:defRPr/>
            </a:lvl1pPr>
          </a:lstStyle>
          <a:p>
            <a:pPr>
              <a:defRPr/>
            </a:pPr>
            <a:fld id="{8EF7BBAE-109E-424E-8AF3-77A59715A46B}" type="datetime1">
              <a:rPr lang="en-US"/>
              <a:pPr>
                <a:defRPr/>
              </a:pPr>
              <a:t>4/28/2026</a:t>
            </a:fld>
            <a:endParaRPr lang="en-US"/>
          </a:p>
        </p:txBody>
      </p:sp>
      <p:sp>
        <p:nvSpPr>
          <p:cNvPr id="5" name="Footer Placeholder 4">
            <a:extLst>
              <a:ext uri="{FF2B5EF4-FFF2-40B4-BE49-F238E27FC236}">
                <a16:creationId xmlns:a16="http://schemas.microsoft.com/office/drawing/2014/main" id="{8EFB3464-BE6C-6C50-3348-6122987871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26B073E-BB03-2CC5-8F9C-CEF136273565}"/>
              </a:ext>
            </a:extLst>
          </p:cNvPr>
          <p:cNvSpPr>
            <a:spLocks noGrp="1"/>
          </p:cNvSpPr>
          <p:nvPr>
            <p:ph type="sldNum" sz="quarter" idx="12"/>
          </p:nvPr>
        </p:nvSpPr>
        <p:spPr/>
        <p:txBody>
          <a:bodyPr/>
          <a:lstStyle>
            <a:lvl1pPr>
              <a:defRPr/>
            </a:lvl1pPr>
          </a:lstStyle>
          <a:p>
            <a:pPr>
              <a:defRPr/>
            </a:pPr>
            <a:fld id="{062A7D7F-00DE-40E1-B361-B95AD0979885}" type="slidenum">
              <a:rPr lang="en-US"/>
              <a:pPr>
                <a:defRPr/>
              </a:pPr>
              <a:t>‹#›</a:t>
            </a:fld>
            <a:endParaRPr lang="en-US"/>
          </a:p>
        </p:txBody>
      </p:sp>
    </p:spTree>
    <p:extLst>
      <p:ext uri="{BB962C8B-B14F-4D97-AF65-F5344CB8AC3E}">
        <p14:creationId xmlns:p14="http://schemas.microsoft.com/office/powerpoint/2010/main" val="1707682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32BFAD-0A08-6437-8988-277BE9E8CD12}"/>
              </a:ext>
            </a:extLst>
          </p:cNvPr>
          <p:cNvSpPr>
            <a:spLocks noGrp="1"/>
          </p:cNvSpPr>
          <p:nvPr>
            <p:ph type="dt" sz="half" idx="10"/>
          </p:nvPr>
        </p:nvSpPr>
        <p:spPr/>
        <p:txBody>
          <a:bodyPr/>
          <a:lstStyle>
            <a:lvl1pPr>
              <a:defRPr/>
            </a:lvl1pPr>
          </a:lstStyle>
          <a:p>
            <a:pPr>
              <a:defRPr/>
            </a:pPr>
            <a:fld id="{C2DA17D7-4A33-448C-8605-D7B4BC5AE2C3}" type="datetime1">
              <a:rPr lang="en-US"/>
              <a:pPr>
                <a:defRPr/>
              </a:pPr>
              <a:t>4/28/2026</a:t>
            </a:fld>
            <a:endParaRPr lang="en-US"/>
          </a:p>
        </p:txBody>
      </p:sp>
      <p:sp>
        <p:nvSpPr>
          <p:cNvPr id="5" name="Footer Placeholder 4">
            <a:extLst>
              <a:ext uri="{FF2B5EF4-FFF2-40B4-BE49-F238E27FC236}">
                <a16:creationId xmlns:a16="http://schemas.microsoft.com/office/drawing/2014/main" id="{E840C188-4CC5-4D48-E06F-ED04915B390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06A0CDB-9ED5-7401-0311-28270BE40853}"/>
              </a:ext>
            </a:extLst>
          </p:cNvPr>
          <p:cNvSpPr>
            <a:spLocks noGrp="1"/>
          </p:cNvSpPr>
          <p:nvPr>
            <p:ph type="sldNum" sz="quarter" idx="12"/>
          </p:nvPr>
        </p:nvSpPr>
        <p:spPr/>
        <p:txBody>
          <a:bodyPr/>
          <a:lstStyle>
            <a:lvl1pPr>
              <a:defRPr/>
            </a:lvl1pPr>
          </a:lstStyle>
          <a:p>
            <a:pPr>
              <a:defRPr/>
            </a:pPr>
            <a:fld id="{D2C45BDB-870B-416C-A013-A2B6F28FB690}" type="slidenum">
              <a:rPr lang="en-US"/>
              <a:pPr>
                <a:defRPr/>
              </a:pPr>
              <a:t>‹#›</a:t>
            </a:fld>
            <a:endParaRPr lang="en-US"/>
          </a:p>
        </p:txBody>
      </p:sp>
    </p:spTree>
    <p:extLst>
      <p:ext uri="{BB962C8B-B14F-4D97-AF65-F5344CB8AC3E}">
        <p14:creationId xmlns:p14="http://schemas.microsoft.com/office/powerpoint/2010/main" val="34999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28BFEE4E-90DF-A437-4708-9447611701A2}"/>
              </a:ext>
            </a:extLst>
          </p:cNvPr>
          <p:cNvSpPr>
            <a:spLocks noGrp="1"/>
          </p:cNvSpPr>
          <p:nvPr>
            <p:ph type="dt" sz="half" idx="10"/>
          </p:nvPr>
        </p:nvSpPr>
        <p:spPr/>
        <p:txBody>
          <a:bodyPr/>
          <a:lstStyle>
            <a:lvl1pPr>
              <a:defRPr/>
            </a:lvl1pPr>
          </a:lstStyle>
          <a:p>
            <a:pPr>
              <a:defRPr/>
            </a:pPr>
            <a:fld id="{A2BCC985-07EA-4E25-928E-E4B5712C2653}" type="datetime1">
              <a:rPr lang="en-US"/>
              <a:pPr>
                <a:defRPr/>
              </a:pPr>
              <a:t>4/28/2026</a:t>
            </a:fld>
            <a:endParaRPr lang="en-US"/>
          </a:p>
        </p:txBody>
      </p:sp>
      <p:sp>
        <p:nvSpPr>
          <p:cNvPr id="6" name="Footer Placeholder 4">
            <a:extLst>
              <a:ext uri="{FF2B5EF4-FFF2-40B4-BE49-F238E27FC236}">
                <a16:creationId xmlns:a16="http://schemas.microsoft.com/office/drawing/2014/main" id="{B07AA6E5-75DB-6C0B-48C3-2A09774A39D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F68DA0D-AA1F-3C21-6AAA-4A389B5C0AAC}"/>
              </a:ext>
            </a:extLst>
          </p:cNvPr>
          <p:cNvSpPr>
            <a:spLocks noGrp="1"/>
          </p:cNvSpPr>
          <p:nvPr>
            <p:ph type="sldNum" sz="quarter" idx="12"/>
          </p:nvPr>
        </p:nvSpPr>
        <p:spPr/>
        <p:txBody>
          <a:bodyPr/>
          <a:lstStyle>
            <a:lvl1pPr>
              <a:defRPr/>
            </a:lvl1pPr>
          </a:lstStyle>
          <a:p>
            <a:pPr>
              <a:defRPr/>
            </a:pPr>
            <a:fld id="{679C977E-4666-4056-8361-82C6EC97097A}" type="slidenum">
              <a:rPr lang="en-US"/>
              <a:pPr>
                <a:defRPr/>
              </a:pPr>
              <a:t>‹#›</a:t>
            </a:fld>
            <a:endParaRPr lang="en-US"/>
          </a:p>
        </p:txBody>
      </p:sp>
    </p:spTree>
    <p:extLst>
      <p:ext uri="{BB962C8B-B14F-4D97-AF65-F5344CB8AC3E}">
        <p14:creationId xmlns:p14="http://schemas.microsoft.com/office/powerpoint/2010/main" val="142870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63E9E187-22D4-53A0-FDCA-B0D01BF57EB5}"/>
              </a:ext>
            </a:extLst>
          </p:cNvPr>
          <p:cNvSpPr>
            <a:spLocks noGrp="1"/>
          </p:cNvSpPr>
          <p:nvPr>
            <p:ph type="dt" sz="half" idx="10"/>
          </p:nvPr>
        </p:nvSpPr>
        <p:spPr/>
        <p:txBody>
          <a:bodyPr/>
          <a:lstStyle>
            <a:lvl1pPr>
              <a:defRPr/>
            </a:lvl1pPr>
          </a:lstStyle>
          <a:p>
            <a:pPr>
              <a:defRPr/>
            </a:pPr>
            <a:fld id="{B04DC50F-3AF1-442E-ABF9-9FEB555157A7}" type="datetime1">
              <a:rPr lang="en-US"/>
              <a:pPr>
                <a:defRPr/>
              </a:pPr>
              <a:t>4/28/2026</a:t>
            </a:fld>
            <a:endParaRPr lang="en-US"/>
          </a:p>
        </p:txBody>
      </p:sp>
      <p:sp>
        <p:nvSpPr>
          <p:cNvPr id="8" name="Footer Placeholder 4">
            <a:extLst>
              <a:ext uri="{FF2B5EF4-FFF2-40B4-BE49-F238E27FC236}">
                <a16:creationId xmlns:a16="http://schemas.microsoft.com/office/drawing/2014/main" id="{87DB6EBE-31C0-4F55-6789-424D6870612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DA909A1-B13E-BFE7-BBE6-EA1D3B824B5C}"/>
              </a:ext>
            </a:extLst>
          </p:cNvPr>
          <p:cNvSpPr>
            <a:spLocks noGrp="1"/>
          </p:cNvSpPr>
          <p:nvPr>
            <p:ph type="sldNum" sz="quarter" idx="12"/>
          </p:nvPr>
        </p:nvSpPr>
        <p:spPr/>
        <p:txBody>
          <a:bodyPr/>
          <a:lstStyle>
            <a:lvl1pPr>
              <a:defRPr/>
            </a:lvl1pPr>
          </a:lstStyle>
          <a:p>
            <a:pPr>
              <a:defRPr/>
            </a:pPr>
            <a:fld id="{D28519D7-277A-4F09-BA9E-50800137EB34}" type="slidenum">
              <a:rPr lang="en-US"/>
              <a:pPr>
                <a:defRPr/>
              </a:pPr>
              <a:t>‹#›</a:t>
            </a:fld>
            <a:endParaRPr lang="en-US"/>
          </a:p>
        </p:txBody>
      </p:sp>
    </p:spTree>
    <p:extLst>
      <p:ext uri="{BB962C8B-B14F-4D97-AF65-F5344CB8AC3E}">
        <p14:creationId xmlns:p14="http://schemas.microsoft.com/office/powerpoint/2010/main" val="118834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2E31CA2A-49B0-3850-FB68-9F3CE0FC99FE}"/>
              </a:ext>
            </a:extLst>
          </p:cNvPr>
          <p:cNvSpPr>
            <a:spLocks noGrp="1"/>
          </p:cNvSpPr>
          <p:nvPr>
            <p:ph type="dt" sz="half" idx="10"/>
          </p:nvPr>
        </p:nvSpPr>
        <p:spPr/>
        <p:txBody>
          <a:bodyPr/>
          <a:lstStyle>
            <a:lvl1pPr>
              <a:defRPr/>
            </a:lvl1pPr>
          </a:lstStyle>
          <a:p>
            <a:pPr>
              <a:defRPr/>
            </a:pPr>
            <a:fld id="{69217802-F338-4D2D-8AEE-BAA1B3DC590B}" type="datetime1">
              <a:rPr lang="en-US"/>
              <a:pPr>
                <a:defRPr/>
              </a:pPr>
              <a:t>4/28/2026</a:t>
            </a:fld>
            <a:endParaRPr lang="en-US"/>
          </a:p>
        </p:txBody>
      </p:sp>
      <p:sp>
        <p:nvSpPr>
          <p:cNvPr id="4" name="Footer Placeholder 4">
            <a:extLst>
              <a:ext uri="{FF2B5EF4-FFF2-40B4-BE49-F238E27FC236}">
                <a16:creationId xmlns:a16="http://schemas.microsoft.com/office/drawing/2014/main" id="{01954F49-1C5B-D0B6-66BF-4B5DA6C7D84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0883657-4D06-326A-E110-824B89457E65}"/>
              </a:ext>
            </a:extLst>
          </p:cNvPr>
          <p:cNvSpPr>
            <a:spLocks noGrp="1"/>
          </p:cNvSpPr>
          <p:nvPr>
            <p:ph type="sldNum" sz="quarter" idx="12"/>
          </p:nvPr>
        </p:nvSpPr>
        <p:spPr/>
        <p:txBody>
          <a:bodyPr/>
          <a:lstStyle>
            <a:lvl1pPr>
              <a:defRPr/>
            </a:lvl1pPr>
          </a:lstStyle>
          <a:p>
            <a:pPr>
              <a:defRPr/>
            </a:pPr>
            <a:fld id="{7C8D0D82-6358-44AA-AC11-4E37A4518C23}" type="slidenum">
              <a:rPr lang="en-US"/>
              <a:pPr>
                <a:defRPr/>
              </a:pPr>
              <a:t>‹#›</a:t>
            </a:fld>
            <a:endParaRPr lang="en-US"/>
          </a:p>
        </p:txBody>
      </p:sp>
    </p:spTree>
    <p:extLst>
      <p:ext uri="{BB962C8B-B14F-4D97-AF65-F5344CB8AC3E}">
        <p14:creationId xmlns:p14="http://schemas.microsoft.com/office/powerpoint/2010/main" val="3165529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7F1CBA4-24E7-0CD3-36BA-F1C4C2A87F1E}"/>
              </a:ext>
            </a:extLst>
          </p:cNvPr>
          <p:cNvSpPr>
            <a:spLocks noGrp="1"/>
          </p:cNvSpPr>
          <p:nvPr>
            <p:ph type="dt" sz="half" idx="10"/>
          </p:nvPr>
        </p:nvSpPr>
        <p:spPr/>
        <p:txBody>
          <a:bodyPr/>
          <a:lstStyle>
            <a:lvl1pPr>
              <a:defRPr/>
            </a:lvl1pPr>
          </a:lstStyle>
          <a:p>
            <a:pPr>
              <a:defRPr/>
            </a:pPr>
            <a:fld id="{BCF2ACB5-B3F6-4CFC-AB27-45921C52B74C}" type="datetime1">
              <a:rPr lang="en-US"/>
              <a:pPr>
                <a:defRPr/>
              </a:pPr>
              <a:t>4/28/2026</a:t>
            </a:fld>
            <a:endParaRPr lang="en-US"/>
          </a:p>
        </p:txBody>
      </p:sp>
      <p:sp>
        <p:nvSpPr>
          <p:cNvPr id="3" name="Footer Placeholder 4">
            <a:extLst>
              <a:ext uri="{FF2B5EF4-FFF2-40B4-BE49-F238E27FC236}">
                <a16:creationId xmlns:a16="http://schemas.microsoft.com/office/drawing/2014/main" id="{BC451AFA-BF87-DF6B-781F-66CDCEC206F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A1ABCCC5-5347-7D8D-988A-CDC07F7D7B31}"/>
              </a:ext>
            </a:extLst>
          </p:cNvPr>
          <p:cNvSpPr>
            <a:spLocks noGrp="1"/>
          </p:cNvSpPr>
          <p:nvPr>
            <p:ph type="sldNum" sz="quarter" idx="12"/>
          </p:nvPr>
        </p:nvSpPr>
        <p:spPr/>
        <p:txBody>
          <a:bodyPr/>
          <a:lstStyle>
            <a:lvl1pPr>
              <a:defRPr/>
            </a:lvl1pPr>
          </a:lstStyle>
          <a:p>
            <a:pPr>
              <a:defRPr/>
            </a:pPr>
            <a:fld id="{CEE7D7F3-8BFB-4C94-A895-D8BD5EE162A0}" type="slidenum">
              <a:rPr lang="en-US"/>
              <a:pPr>
                <a:defRPr/>
              </a:pPr>
              <a:t>‹#›</a:t>
            </a:fld>
            <a:endParaRPr lang="en-US"/>
          </a:p>
        </p:txBody>
      </p:sp>
    </p:spTree>
    <p:extLst>
      <p:ext uri="{BB962C8B-B14F-4D97-AF65-F5344CB8AC3E}">
        <p14:creationId xmlns:p14="http://schemas.microsoft.com/office/powerpoint/2010/main" val="1402559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A2FDF16-51A2-D6A4-ECCC-0C11941701AF}"/>
              </a:ext>
            </a:extLst>
          </p:cNvPr>
          <p:cNvSpPr>
            <a:spLocks noGrp="1"/>
          </p:cNvSpPr>
          <p:nvPr>
            <p:ph type="dt" sz="half" idx="10"/>
          </p:nvPr>
        </p:nvSpPr>
        <p:spPr/>
        <p:txBody>
          <a:bodyPr/>
          <a:lstStyle>
            <a:lvl1pPr>
              <a:defRPr/>
            </a:lvl1pPr>
          </a:lstStyle>
          <a:p>
            <a:pPr>
              <a:defRPr/>
            </a:pPr>
            <a:fld id="{3099036B-63D1-4CD1-BFB9-75CB6EAD89F2}" type="datetime1">
              <a:rPr lang="en-US"/>
              <a:pPr>
                <a:defRPr/>
              </a:pPr>
              <a:t>4/28/2026</a:t>
            </a:fld>
            <a:endParaRPr lang="en-US"/>
          </a:p>
        </p:txBody>
      </p:sp>
      <p:sp>
        <p:nvSpPr>
          <p:cNvPr id="6" name="Footer Placeholder 4">
            <a:extLst>
              <a:ext uri="{FF2B5EF4-FFF2-40B4-BE49-F238E27FC236}">
                <a16:creationId xmlns:a16="http://schemas.microsoft.com/office/drawing/2014/main" id="{6AC88171-7E0B-DD08-4920-058A849D0DB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4328F78-E9B7-E078-480E-D5EACD06221D}"/>
              </a:ext>
            </a:extLst>
          </p:cNvPr>
          <p:cNvSpPr>
            <a:spLocks noGrp="1"/>
          </p:cNvSpPr>
          <p:nvPr>
            <p:ph type="sldNum" sz="quarter" idx="12"/>
          </p:nvPr>
        </p:nvSpPr>
        <p:spPr/>
        <p:txBody>
          <a:bodyPr/>
          <a:lstStyle>
            <a:lvl1pPr>
              <a:defRPr/>
            </a:lvl1pPr>
          </a:lstStyle>
          <a:p>
            <a:pPr>
              <a:defRPr/>
            </a:pPr>
            <a:fld id="{59153AD7-1D59-45C7-A8ED-8532D5D61934}" type="slidenum">
              <a:rPr lang="en-US"/>
              <a:pPr>
                <a:defRPr/>
              </a:pPr>
              <a:t>‹#›</a:t>
            </a:fld>
            <a:endParaRPr lang="en-US"/>
          </a:p>
        </p:txBody>
      </p:sp>
    </p:spTree>
    <p:extLst>
      <p:ext uri="{BB962C8B-B14F-4D97-AF65-F5344CB8AC3E}">
        <p14:creationId xmlns:p14="http://schemas.microsoft.com/office/powerpoint/2010/main" val="1947269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9A858688-9D28-8E17-17D6-1B17EDFF91EE}"/>
              </a:ext>
            </a:extLst>
          </p:cNvPr>
          <p:cNvSpPr>
            <a:spLocks noGrp="1"/>
          </p:cNvSpPr>
          <p:nvPr>
            <p:ph type="dt" sz="half" idx="10"/>
          </p:nvPr>
        </p:nvSpPr>
        <p:spPr/>
        <p:txBody>
          <a:bodyPr/>
          <a:lstStyle>
            <a:lvl1pPr>
              <a:defRPr/>
            </a:lvl1pPr>
          </a:lstStyle>
          <a:p>
            <a:pPr>
              <a:defRPr/>
            </a:pPr>
            <a:fld id="{43E8C5E5-D080-4B50-84A5-3ECFF0BBF115}" type="datetime1">
              <a:rPr lang="en-US"/>
              <a:pPr>
                <a:defRPr/>
              </a:pPr>
              <a:t>4/28/2026</a:t>
            </a:fld>
            <a:endParaRPr lang="en-US"/>
          </a:p>
        </p:txBody>
      </p:sp>
      <p:sp>
        <p:nvSpPr>
          <p:cNvPr id="6" name="Footer Placeholder 4">
            <a:extLst>
              <a:ext uri="{FF2B5EF4-FFF2-40B4-BE49-F238E27FC236}">
                <a16:creationId xmlns:a16="http://schemas.microsoft.com/office/drawing/2014/main" id="{FA02F133-1D45-AA9F-4876-B6823BFB9FD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9E47A04-4DA0-99C4-31F0-0DC257C9BC13}"/>
              </a:ext>
            </a:extLst>
          </p:cNvPr>
          <p:cNvSpPr>
            <a:spLocks noGrp="1"/>
          </p:cNvSpPr>
          <p:nvPr>
            <p:ph type="sldNum" sz="quarter" idx="12"/>
          </p:nvPr>
        </p:nvSpPr>
        <p:spPr/>
        <p:txBody>
          <a:bodyPr/>
          <a:lstStyle>
            <a:lvl1pPr>
              <a:defRPr/>
            </a:lvl1pPr>
          </a:lstStyle>
          <a:p>
            <a:pPr>
              <a:defRPr/>
            </a:pPr>
            <a:fld id="{04966FA3-226A-4AE4-A12E-4C5DE1211598}" type="slidenum">
              <a:rPr lang="en-US"/>
              <a:pPr>
                <a:defRPr/>
              </a:pPr>
              <a:t>‹#›</a:t>
            </a:fld>
            <a:endParaRPr lang="en-US"/>
          </a:p>
        </p:txBody>
      </p:sp>
    </p:spTree>
    <p:extLst>
      <p:ext uri="{BB962C8B-B14F-4D97-AF65-F5344CB8AC3E}">
        <p14:creationId xmlns:p14="http://schemas.microsoft.com/office/powerpoint/2010/main" val="1385241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6D9F70-BE43-169E-818D-19F3986D6A44}"/>
              </a:ext>
            </a:extLst>
          </p:cNvPr>
          <p:cNvSpPr>
            <a:spLocks noGrp="1"/>
          </p:cNvSpPr>
          <p:nvPr>
            <p:ph type="dt" sz="half" idx="10"/>
          </p:nvPr>
        </p:nvSpPr>
        <p:spPr/>
        <p:txBody>
          <a:bodyPr/>
          <a:lstStyle>
            <a:lvl1pPr>
              <a:defRPr/>
            </a:lvl1pPr>
          </a:lstStyle>
          <a:p>
            <a:pPr>
              <a:defRPr/>
            </a:pPr>
            <a:fld id="{6AC5D0BC-CF13-4BE5-A230-4A64E791501F}" type="datetime1">
              <a:rPr lang="en-US"/>
              <a:pPr>
                <a:defRPr/>
              </a:pPr>
              <a:t>4/28/2026</a:t>
            </a:fld>
            <a:endParaRPr lang="en-US"/>
          </a:p>
        </p:txBody>
      </p:sp>
      <p:sp>
        <p:nvSpPr>
          <p:cNvPr id="5" name="Footer Placeholder 4">
            <a:extLst>
              <a:ext uri="{FF2B5EF4-FFF2-40B4-BE49-F238E27FC236}">
                <a16:creationId xmlns:a16="http://schemas.microsoft.com/office/drawing/2014/main" id="{A55C56F0-C87A-3DC3-A29C-2B094B6484F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53F3058-005E-EE4F-35C2-A098D0ADD4D7}"/>
              </a:ext>
            </a:extLst>
          </p:cNvPr>
          <p:cNvSpPr>
            <a:spLocks noGrp="1"/>
          </p:cNvSpPr>
          <p:nvPr>
            <p:ph type="sldNum" sz="quarter" idx="12"/>
          </p:nvPr>
        </p:nvSpPr>
        <p:spPr/>
        <p:txBody>
          <a:bodyPr/>
          <a:lstStyle>
            <a:lvl1pPr>
              <a:defRPr/>
            </a:lvl1pPr>
          </a:lstStyle>
          <a:p>
            <a:pPr>
              <a:defRPr/>
            </a:pPr>
            <a:fld id="{74479F98-51E8-4FAC-93CF-7480FD492929}" type="slidenum">
              <a:rPr lang="en-US"/>
              <a:pPr>
                <a:defRPr/>
              </a:pPr>
              <a:t>‹#›</a:t>
            </a:fld>
            <a:endParaRPr lang="en-US"/>
          </a:p>
        </p:txBody>
      </p:sp>
    </p:spTree>
    <p:extLst>
      <p:ext uri="{BB962C8B-B14F-4D97-AF65-F5344CB8AC3E}">
        <p14:creationId xmlns:p14="http://schemas.microsoft.com/office/powerpoint/2010/main" val="453113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906B37-6FAE-59D7-E3A1-7D6A6FA7A9E3}"/>
              </a:ext>
            </a:extLst>
          </p:cNvPr>
          <p:cNvSpPr>
            <a:spLocks noGrp="1"/>
          </p:cNvSpPr>
          <p:nvPr>
            <p:ph type="dt" sz="half" idx="10"/>
          </p:nvPr>
        </p:nvSpPr>
        <p:spPr/>
        <p:txBody>
          <a:bodyPr/>
          <a:lstStyle>
            <a:lvl1pPr>
              <a:defRPr/>
            </a:lvl1pPr>
          </a:lstStyle>
          <a:p>
            <a:pPr>
              <a:defRPr/>
            </a:pPr>
            <a:fld id="{87349193-94D4-4B54-8CD5-33E71265E223}" type="datetime1">
              <a:rPr lang="en-US"/>
              <a:pPr>
                <a:defRPr/>
              </a:pPr>
              <a:t>4/28/2026</a:t>
            </a:fld>
            <a:endParaRPr lang="en-US"/>
          </a:p>
        </p:txBody>
      </p:sp>
      <p:sp>
        <p:nvSpPr>
          <p:cNvPr id="5" name="Footer Placeholder 4">
            <a:extLst>
              <a:ext uri="{FF2B5EF4-FFF2-40B4-BE49-F238E27FC236}">
                <a16:creationId xmlns:a16="http://schemas.microsoft.com/office/drawing/2014/main" id="{0D99909E-E0DA-C5C8-FC71-EA30DC1BA32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B402FB0-F638-BD84-4C12-71A82477DE2B}"/>
              </a:ext>
            </a:extLst>
          </p:cNvPr>
          <p:cNvSpPr>
            <a:spLocks noGrp="1"/>
          </p:cNvSpPr>
          <p:nvPr>
            <p:ph type="sldNum" sz="quarter" idx="12"/>
          </p:nvPr>
        </p:nvSpPr>
        <p:spPr/>
        <p:txBody>
          <a:bodyPr/>
          <a:lstStyle>
            <a:lvl1pPr>
              <a:defRPr/>
            </a:lvl1pPr>
          </a:lstStyle>
          <a:p>
            <a:pPr>
              <a:defRPr/>
            </a:pPr>
            <a:fld id="{B0D18587-7A59-45D4-9CF5-678E27407A2C}" type="slidenum">
              <a:rPr lang="en-US"/>
              <a:pPr>
                <a:defRPr/>
              </a:pPr>
              <a:t>‹#›</a:t>
            </a:fld>
            <a:endParaRPr lang="en-US"/>
          </a:p>
        </p:txBody>
      </p:sp>
    </p:spTree>
    <p:extLst>
      <p:ext uri="{BB962C8B-B14F-4D97-AF65-F5344CB8AC3E}">
        <p14:creationId xmlns:p14="http://schemas.microsoft.com/office/powerpoint/2010/main" val="2379547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03152A2-B362-218D-6268-AC85AEA47919}"/>
              </a:ext>
            </a:extLst>
          </p:cNvPr>
          <p:cNvSpPr>
            <a:spLocks noGrp="1" noChangeArrowheads="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366DFAB-0CD9-15F3-7CB5-E605D7CC0AD3}"/>
              </a:ext>
            </a:extLst>
          </p:cNvPr>
          <p:cNvSpPr>
            <a:spLocks noGrp="1" noChangeArrowheads="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44857AC-E256-6B1E-9475-6DAC8B2527BC}"/>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CDFFB754-6E09-471D-92C6-1804312A8CE3}" type="datetime1">
              <a:rPr lang="en-US"/>
              <a:pPr>
                <a:defRPr/>
              </a:pPr>
              <a:t>4/28/2026</a:t>
            </a:fld>
            <a:endParaRPr lang="en-US"/>
          </a:p>
        </p:txBody>
      </p:sp>
      <p:sp>
        <p:nvSpPr>
          <p:cNvPr id="5" name="Footer Placeholder 4">
            <a:extLst>
              <a:ext uri="{FF2B5EF4-FFF2-40B4-BE49-F238E27FC236}">
                <a16:creationId xmlns:a16="http://schemas.microsoft.com/office/drawing/2014/main" id="{9A85AF3D-C708-FBF7-47A9-02A018266C84}"/>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62B4C2D-85D1-BCCF-66D6-842A2FD64014}"/>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F7FB0646-7311-4118-BAC8-1E8AF6F0A31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8">
            <a:extLst>
              <a:ext uri="{FF2B5EF4-FFF2-40B4-BE49-F238E27FC236}">
                <a16:creationId xmlns:a16="http://schemas.microsoft.com/office/drawing/2014/main" id="{AE957929-EA20-21CD-3420-2D6F209FB6A8}"/>
              </a:ext>
            </a:extLst>
          </p:cNvPr>
          <p:cNvSpPr txBox="1">
            <a:spLocks noChangeArrowheads="1"/>
          </p:cNvSpPr>
          <p:nvPr/>
        </p:nvSpPr>
        <p:spPr bwMode="auto">
          <a:xfrm>
            <a:off x="1008063" y="12700"/>
            <a:ext cx="8897937" cy="8001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200" b="1"/>
              <a:t>First</a:t>
            </a:r>
            <a:r>
              <a:rPr lang="en-US" altLang="en-US" sz="2200" b="1" baseline="30000"/>
              <a:t> </a:t>
            </a:r>
            <a:r>
              <a:rPr lang="en-US" altLang="en-US" sz="2200" b="1"/>
              <a:t>International Conference on Energy Conversion, Storage and Materials (ICECSM -2026), 29</a:t>
            </a:r>
            <a:r>
              <a:rPr lang="en-US" altLang="en-US" sz="2400" b="1" baseline="30000">
                <a:cs typeface="Aparajita" panose="02020603050405020304" pitchFamily="18" charset="0"/>
              </a:rPr>
              <a:t>th</a:t>
            </a:r>
            <a:r>
              <a:rPr lang="en-US" altLang="en-US" sz="2400" b="1">
                <a:cs typeface="Aparajita" panose="02020603050405020304" pitchFamily="18" charset="0"/>
              </a:rPr>
              <a:t> April 2026</a:t>
            </a:r>
            <a:endParaRPr lang="en-US" altLang="en-US" sz="1800" b="1">
              <a:cs typeface="Aparajita" panose="02020603050405020304" pitchFamily="18" charset="0"/>
            </a:endParaRPr>
          </a:p>
        </p:txBody>
      </p:sp>
      <p:sp>
        <p:nvSpPr>
          <p:cNvPr id="13" name="Rectangle 12">
            <a:extLst>
              <a:ext uri="{FF2B5EF4-FFF2-40B4-BE49-F238E27FC236}">
                <a16:creationId xmlns:a16="http://schemas.microsoft.com/office/drawing/2014/main" id="{55BF75BF-9625-7E0A-1B27-211FBF6BAE2E}"/>
              </a:ext>
            </a:extLst>
          </p:cNvPr>
          <p:cNvSpPr/>
          <p:nvPr/>
        </p:nvSpPr>
        <p:spPr>
          <a:xfrm>
            <a:off x="0" y="1149350"/>
            <a:ext cx="9906000" cy="101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076" name="TextBox 13">
            <a:extLst>
              <a:ext uri="{FF2B5EF4-FFF2-40B4-BE49-F238E27FC236}">
                <a16:creationId xmlns:a16="http://schemas.microsoft.com/office/drawing/2014/main" id="{FFF44930-E018-08CD-6430-4232D209EACB}"/>
              </a:ext>
            </a:extLst>
          </p:cNvPr>
          <p:cNvSpPr txBox="1">
            <a:spLocks noChangeArrowheads="1"/>
          </p:cNvSpPr>
          <p:nvPr/>
        </p:nvSpPr>
        <p:spPr bwMode="auto">
          <a:xfrm>
            <a:off x="7040880" y="1325880"/>
            <a:ext cx="2697480" cy="384048"/>
          </a:xfrm>
          <a:prstGeom prst="rect">
            <a:avLst/>
          </a:prstGeom>
          <a:solidFill>
            <a:srgbClr val="1E276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60000" tIns="40000" rIns="60000" bIns="400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ctr" eaLnBrk="1" hangingPunct="1">
              <a:lnSpc>
                <a:spcPct val="115000"/>
              </a:lnSpc>
              <a:spcBef>
                <a:spcPct val="0"/>
              </a:spcBef>
              <a:buFontTx/>
              <a:buNone/>
            </a:pPr>
            <a:r>
              <a:rPr sz="1300" b="1" i="0">
                <a:solidFill>
                  <a:srgbClr val="FFFFFF"/>
                </a:solidFill>
                <a:latin typeface="Calibri"/>
              </a:rPr>
              <a:t>Oral ID  |  ICECSM-2026</a:t>
            </a:r>
          </a:p>
        </p:txBody>
      </p:sp>
      <p:pic>
        <p:nvPicPr>
          <p:cNvPr id="3081" name="Picture 2">
            <a:extLst>
              <a:ext uri="{FF2B5EF4-FFF2-40B4-BE49-F238E27FC236}">
                <a16:creationId xmlns:a16="http://schemas.microsoft.com/office/drawing/2014/main" id="{8E30DF05-D6AC-5215-4B23-341B76079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 name="TextBox 3081"/>
          <p:cNvSpPr txBox="1"/>
          <p:nvPr/>
        </p:nvSpPr>
        <p:spPr>
          <a:xfrm>
            <a:off x="502920" y="1874519"/>
            <a:ext cx="8897112" cy="914400"/>
          </a:xfrm>
          <a:prstGeom prst="rect">
            <a:avLst/>
          </a:prstGeom>
          <a:noFill/>
        </p:spPr>
        <p:txBody>
          <a:bodyPr wrap="square" lIns="60000" tIns="40000" rIns="60000" bIns="40000">
            <a:spAutoFit/>
          </a:bodyPr>
          <a:lstStyle/>
          <a:p>
            <a:pPr marL="0" indent="0" algn="ctr">
              <a:lnSpc>
                <a:spcPct val="115000"/>
              </a:lnSpc>
              <a:buNone/>
            </a:pPr>
            <a:r>
              <a:rPr sz="4000" b="1" i="0">
                <a:solidFill>
                  <a:srgbClr val="1E2761"/>
                </a:solidFill>
                <a:latin typeface="Georgia"/>
              </a:rPr>
              <a:t>AI Based Skill Gap Analyzer</a:t>
            </a:r>
          </a:p>
        </p:txBody>
      </p:sp>
      <p:sp>
        <p:nvSpPr>
          <p:cNvPr id="3083" name="TextBox 3082"/>
          <p:cNvSpPr txBox="1"/>
          <p:nvPr/>
        </p:nvSpPr>
        <p:spPr>
          <a:xfrm>
            <a:off x="502920" y="2743200"/>
            <a:ext cx="8897112" cy="411480"/>
          </a:xfrm>
          <a:prstGeom prst="rect">
            <a:avLst/>
          </a:prstGeom>
          <a:noFill/>
        </p:spPr>
        <p:txBody>
          <a:bodyPr wrap="square" lIns="60000" tIns="40000" rIns="60000" bIns="40000">
            <a:spAutoFit/>
          </a:bodyPr>
          <a:lstStyle/>
          <a:p>
            <a:pPr marL="0" indent="0" algn="ctr">
              <a:lnSpc>
                <a:spcPct val="115000"/>
              </a:lnSpc>
              <a:buNone/>
            </a:pPr>
            <a:r>
              <a:rPr sz="1600" b="0" i="1">
                <a:solidFill>
                  <a:srgbClr val="555B6E"/>
                </a:solidFill>
                <a:latin typeface="Calibri"/>
              </a:rPr>
              <a:t>An NLP &amp; Machine Learning Framework for</a:t>
            </a:r>
          </a:p>
        </p:txBody>
      </p:sp>
      <p:sp>
        <p:nvSpPr>
          <p:cNvPr id="3084" name="TextBox 3083"/>
          <p:cNvSpPr txBox="1"/>
          <p:nvPr/>
        </p:nvSpPr>
        <p:spPr>
          <a:xfrm>
            <a:off x="502920" y="3063240"/>
            <a:ext cx="8897112" cy="411480"/>
          </a:xfrm>
          <a:prstGeom prst="rect">
            <a:avLst/>
          </a:prstGeom>
          <a:noFill/>
        </p:spPr>
        <p:txBody>
          <a:bodyPr wrap="square" lIns="60000" tIns="40000" rIns="60000" bIns="40000">
            <a:spAutoFit/>
          </a:bodyPr>
          <a:lstStyle/>
          <a:p>
            <a:pPr marL="0" indent="0" algn="ctr">
              <a:lnSpc>
                <a:spcPct val="115000"/>
              </a:lnSpc>
              <a:buNone/>
            </a:pPr>
            <a:r>
              <a:rPr sz="1700" b="1" i="1">
                <a:solidFill>
                  <a:srgbClr val="C8102E"/>
                </a:solidFill>
                <a:latin typeface="Calibri"/>
              </a:rPr>
              <a:t>Intelligent Skill Assessment &amp; Personalized Career Guidance</a:t>
            </a:r>
          </a:p>
        </p:txBody>
      </p:sp>
      <p:sp>
        <p:nvSpPr>
          <p:cNvPr id="3095" name="Rounded Rectangle 3094"/>
          <p:cNvSpPr/>
          <p:nvPr/>
        </p:nvSpPr>
        <p:spPr>
          <a:xfrm>
            <a:off x="4114800" y="3456432"/>
            <a:ext cx="1691640" cy="301752"/>
          </a:xfrm>
          <a:prstGeom prst="roundRect">
            <a:avLst>
              <a:gd name="adj" fmla="val 45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6" name="TextBox 3095"/>
          <p:cNvSpPr txBox="1"/>
          <p:nvPr/>
        </p:nvSpPr>
        <p:spPr>
          <a:xfrm>
            <a:off x="4114800" y="3456432"/>
            <a:ext cx="1691640" cy="301752"/>
          </a:xfrm>
          <a:prstGeom prst="rect">
            <a:avLst/>
          </a:prstGeom>
          <a:noFill/>
        </p:spPr>
        <p:txBody>
          <a:bodyPr wrap="square" lIns="40000" tIns="20000" rIns="40000" bIns="20000">
            <a:spAutoFit/>
          </a:bodyPr>
          <a:lstStyle/>
          <a:p>
            <a:pPr marL="0" indent="0" algn="ctr">
              <a:lnSpc>
                <a:spcPct val="115000"/>
              </a:lnSpc>
              <a:buNone/>
            </a:pPr>
            <a:r>
              <a:rPr sz="1100" b="1" i="0">
                <a:solidFill>
                  <a:srgbClr val="FFFFFF"/>
                </a:solidFill>
                <a:latin typeface="Calibri"/>
              </a:rPr>
              <a:t>AUTHORS</a:t>
            </a:r>
          </a:p>
        </p:txBody>
      </p:sp>
      <p:sp>
        <p:nvSpPr>
          <p:cNvPr id="3097" name="Rounded Rectangle 3096"/>
          <p:cNvSpPr/>
          <p:nvPr/>
        </p:nvSpPr>
        <p:spPr>
          <a:xfrm>
            <a:off x="365760" y="3840480"/>
            <a:ext cx="2155698" cy="777240"/>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98" name="Rectangle 3097"/>
          <p:cNvSpPr/>
          <p:nvPr/>
        </p:nvSpPr>
        <p:spPr>
          <a:xfrm>
            <a:off x="365760" y="3840480"/>
            <a:ext cx="2155698"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9" name="TextBox 3098"/>
          <p:cNvSpPr txBox="1"/>
          <p:nvPr/>
        </p:nvSpPr>
        <p:spPr>
          <a:xfrm>
            <a:off x="411480" y="3968496"/>
            <a:ext cx="2064258" cy="320040"/>
          </a:xfrm>
          <a:prstGeom prst="rect">
            <a:avLst/>
          </a:prstGeom>
          <a:noFill/>
        </p:spPr>
        <p:txBody>
          <a:bodyPr wrap="square" lIns="40000" tIns="20000" rIns="40000" bIns="20000">
            <a:spAutoFit/>
          </a:bodyPr>
          <a:lstStyle/>
          <a:p>
            <a:pPr marL="0" indent="0" algn="ctr">
              <a:lnSpc>
                <a:spcPct val="115000"/>
              </a:lnSpc>
              <a:buNone/>
            </a:pPr>
            <a:r>
              <a:rPr sz="1200" b="1" i="0">
                <a:solidFill>
                  <a:srgbClr val="1E2761"/>
                </a:solidFill>
                <a:latin typeface="Calibri"/>
              </a:rPr>
              <a:t>AARON MARSHALL A</a:t>
            </a:r>
          </a:p>
        </p:txBody>
      </p:sp>
      <p:sp>
        <p:nvSpPr>
          <p:cNvPr id="3100" name="TextBox 3099"/>
          <p:cNvSpPr txBox="1"/>
          <p:nvPr/>
        </p:nvSpPr>
        <p:spPr>
          <a:xfrm>
            <a:off x="411480" y="4279392"/>
            <a:ext cx="2064258" cy="292608"/>
          </a:xfrm>
          <a:prstGeom prst="rect">
            <a:avLst/>
          </a:prstGeom>
          <a:noFill/>
        </p:spPr>
        <p:txBody>
          <a:bodyPr wrap="square" lIns="40000" tIns="20000" rIns="40000" bIns="20000">
            <a:spAutoFit/>
          </a:bodyPr>
          <a:lstStyle/>
          <a:p>
            <a:pPr marL="0" indent="0" algn="ctr">
              <a:lnSpc>
                <a:spcPct val="115000"/>
              </a:lnSpc>
              <a:buNone/>
            </a:pPr>
            <a:r>
              <a:rPr sz="1100" b="0" i="1">
                <a:solidFill>
                  <a:srgbClr val="C8102E"/>
                </a:solidFill>
                <a:latin typeface="Calibri"/>
              </a:rPr>
              <a:t>2303921310421002</a:t>
            </a:r>
          </a:p>
        </p:txBody>
      </p:sp>
      <p:sp>
        <p:nvSpPr>
          <p:cNvPr id="3101" name="Rounded Rectangle 3100"/>
          <p:cNvSpPr/>
          <p:nvPr/>
        </p:nvSpPr>
        <p:spPr>
          <a:xfrm>
            <a:off x="2704338" y="3840480"/>
            <a:ext cx="2155698" cy="777240"/>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2" name="Rectangle 3101"/>
          <p:cNvSpPr/>
          <p:nvPr/>
        </p:nvSpPr>
        <p:spPr>
          <a:xfrm>
            <a:off x="2704338" y="3840480"/>
            <a:ext cx="2155698"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3" name="TextBox 3102"/>
          <p:cNvSpPr txBox="1"/>
          <p:nvPr/>
        </p:nvSpPr>
        <p:spPr>
          <a:xfrm>
            <a:off x="2750058" y="3968496"/>
            <a:ext cx="2064258" cy="320040"/>
          </a:xfrm>
          <a:prstGeom prst="rect">
            <a:avLst/>
          </a:prstGeom>
          <a:noFill/>
        </p:spPr>
        <p:txBody>
          <a:bodyPr wrap="square" lIns="40000" tIns="20000" rIns="40000" bIns="20000">
            <a:spAutoFit/>
          </a:bodyPr>
          <a:lstStyle/>
          <a:p>
            <a:pPr marL="0" indent="0" algn="ctr">
              <a:lnSpc>
                <a:spcPct val="115000"/>
              </a:lnSpc>
              <a:buNone/>
            </a:pPr>
            <a:r>
              <a:rPr sz="1200" b="1" i="0">
                <a:solidFill>
                  <a:srgbClr val="1E2761"/>
                </a:solidFill>
                <a:latin typeface="Calibri"/>
              </a:rPr>
              <a:t>AKASH S</a:t>
            </a:r>
          </a:p>
        </p:txBody>
      </p:sp>
      <p:sp>
        <p:nvSpPr>
          <p:cNvPr id="3104" name="TextBox 3103"/>
          <p:cNvSpPr txBox="1"/>
          <p:nvPr/>
        </p:nvSpPr>
        <p:spPr>
          <a:xfrm>
            <a:off x="2750058" y="4279392"/>
            <a:ext cx="2064258" cy="292608"/>
          </a:xfrm>
          <a:prstGeom prst="rect">
            <a:avLst/>
          </a:prstGeom>
          <a:noFill/>
        </p:spPr>
        <p:txBody>
          <a:bodyPr wrap="square" lIns="40000" tIns="20000" rIns="40000" bIns="20000">
            <a:spAutoFit/>
          </a:bodyPr>
          <a:lstStyle/>
          <a:p>
            <a:pPr marL="0" indent="0" algn="ctr">
              <a:lnSpc>
                <a:spcPct val="115000"/>
              </a:lnSpc>
              <a:buNone/>
            </a:pPr>
            <a:r>
              <a:rPr sz="1100" b="0" i="1">
                <a:solidFill>
                  <a:srgbClr val="C8102E"/>
                </a:solidFill>
                <a:latin typeface="Calibri"/>
              </a:rPr>
              <a:t>2303921310421012</a:t>
            </a:r>
          </a:p>
        </p:txBody>
      </p:sp>
      <p:sp>
        <p:nvSpPr>
          <p:cNvPr id="3105" name="Rounded Rectangle 3104"/>
          <p:cNvSpPr/>
          <p:nvPr/>
        </p:nvSpPr>
        <p:spPr>
          <a:xfrm>
            <a:off x="5042916" y="3840480"/>
            <a:ext cx="2155698" cy="777240"/>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06" name="Rectangle 3105"/>
          <p:cNvSpPr/>
          <p:nvPr/>
        </p:nvSpPr>
        <p:spPr>
          <a:xfrm>
            <a:off x="5042916" y="3840480"/>
            <a:ext cx="2155698"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7" name="TextBox 3106"/>
          <p:cNvSpPr txBox="1"/>
          <p:nvPr/>
        </p:nvSpPr>
        <p:spPr>
          <a:xfrm>
            <a:off x="5088636" y="3968496"/>
            <a:ext cx="2064258" cy="320040"/>
          </a:xfrm>
          <a:prstGeom prst="rect">
            <a:avLst/>
          </a:prstGeom>
          <a:noFill/>
        </p:spPr>
        <p:txBody>
          <a:bodyPr wrap="square" lIns="40000" tIns="20000" rIns="40000" bIns="20000">
            <a:spAutoFit/>
          </a:bodyPr>
          <a:lstStyle/>
          <a:p>
            <a:pPr marL="0" indent="0" algn="ctr">
              <a:lnSpc>
                <a:spcPct val="115000"/>
              </a:lnSpc>
              <a:buNone/>
            </a:pPr>
            <a:r>
              <a:rPr sz="1200" b="1" i="0">
                <a:solidFill>
                  <a:srgbClr val="1E2761"/>
                </a:solidFill>
                <a:latin typeface="Calibri"/>
              </a:rPr>
              <a:t>AKASH S M</a:t>
            </a:r>
          </a:p>
        </p:txBody>
      </p:sp>
      <p:sp>
        <p:nvSpPr>
          <p:cNvPr id="3108" name="TextBox 3107"/>
          <p:cNvSpPr txBox="1"/>
          <p:nvPr/>
        </p:nvSpPr>
        <p:spPr>
          <a:xfrm>
            <a:off x="5088636" y="4279392"/>
            <a:ext cx="2064258" cy="292608"/>
          </a:xfrm>
          <a:prstGeom prst="rect">
            <a:avLst/>
          </a:prstGeom>
          <a:noFill/>
        </p:spPr>
        <p:txBody>
          <a:bodyPr wrap="square" lIns="40000" tIns="20000" rIns="40000" bIns="20000">
            <a:spAutoFit/>
          </a:bodyPr>
          <a:lstStyle/>
          <a:p>
            <a:pPr marL="0" indent="0" algn="ctr">
              <a:lnSpc>
                <a:spcPct val="115000"/>
              </a:lnSpc>
              <a:buNone/>
            </a:pPr>
            <a:r>
              <a:rPr sz="1100" b="0" i="1">
                <a:solidFill>
                  <a:srgbClr val="C8102E"/>
                </a:solidFill>
                <a:latin typeface="Calibri"/>
              </a:rPr>
              <a:t>2303921310421013</a:t>
            </a:r>
          </a:p>
        </p:txBody>
      </p:sp>
      <p:sp>
        <p:nvSpPr>
          <p:cNvPr id="3109" name="Rounded Rectangle 3108"/>
          <p:cNvSpPr/>
          <p:nvPr/>
        </p:nvSpPr>
        <p:spPr>
          <a:xfrm>
            <a:off x="7381494" y="3840480"/>
            <a:ext cx="2155698" cy="777240"/>
          </a:xfrm>
          <a:prstGeom prst="roundRect">
            <a:avLst>
              <a:gd name="adj" fmla="val 1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10" name="Rectangle 3109"/>
          <p:cNvSpPr/>
          <p:nvPr/>
        </p:nvSpPr>
        <p:spPr>
          <a:xfrm>
            <a:off x="7381494" y="3840480"/>
            <a:ext cx="2155698"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1" name="TextBox 3110"/>
          <p:cNvSpPr txBox="1"/>
          <p:nvPr/>
        </p:nvSpPr>
        <p:spPr>
          <a:xfrm>
            <a:off x="7427214" y="3968496"/>
            <a:ext cx="2064258" cy="320040"/>
          </a:xfrm>
          <a:prstGeom prst="rect">
            <a:avLst/>
          </a:prstGeom>
          <a:noFill/>
        </p:spPr>
        <p:txBody>
          <a:bodyPr wrap="square" lIns="40000" tIns="20000" rIns="40000" bIns="20000">
            <a:spAutoFit/>
          </a:bodyPr>
          <a:lstStyle/>
          <a:p>
            <a:pPr marL="0" indent="0" algn="ctr">
              <a:lnSpc>
                <a:spcPct val="115000"/>
              </a:lnSpc>
              <a:buNone/>
            </a:pPr>
            <a:r>
              <a:rPr sz="1200" b="1" i="0">
                <a:solidFill>
                  <a:srgbClr val="1E2761"/>
                </a:solidFill>
                <a:latin typeface="Calibri"/>
              </a:rPr>
              <a:t>CHANDRU P</a:t>
            </a:r>
          </a:p>
        </p:txBody>
      </p:sp>
      <p:sp>
        <p:nvSpPr>
          <p:cNvPr id="3112" name="TextBox 3111"/>
          <p:cNvSpPr txBox="1"/>
          <p:nvPr/>
        </p:nvSpPr>
        <p:spPr>
          <a:xfrm>
            <a:off x="7427214" y="4279392"/>
            <a:ext cx="2064258" cy="292608"/>
          </a:xfrm>
          <a:prstGeom prst="rect">
            <a:avLst/>
          </a:prstGeom>
          <a:noFill/>
        </p:spPr>
        <p:txBody>
          <a:bodyPr wrap="square" lIns="40000" tIns="20000" rIns="40000" bIns="20000">
            <a:spAutoFit/>
          </a:bodyPr>
          <a:lstStyle/>
          <a:p>
            <a:pPr marL="0" indent="0" algn="ctr">
              <a:lnSpc>
                <a:spcPct val="115000"/>
              </a:lnSpc>
              <a:buNone/>
            </a:pPr>
            <a:r>
              <a:rPr sz="1100" b="0" i="1">
                <a:solidFill>
                  <a:srgbClr val="C8102E"/>
                </a:solidFill>
                <a:latin typeface="Calibri"/>
              </a:rPr>
              <a:t>2303921310421034</a:t>
            </a:r>
          </a:p>
        </p:txBody>
      </p:sp>
      <p:sp>
        <p:nvSpPr>
          <p:cNvPr id="3113" name="TextBox 3112"/>
          <p:cNvSpPr txBox="1"/>
          <p:nvPr/>
        </p:nvSpPr>
        <p:spPr>
          <a:xfrm>
            <a:off x="365760" y="4709160"/>
            <a:ext cx="9171432" cy="292608"/>
          </a:xfrm>
          <a:prstGeom prst="rect">
            <a:avLst/>
          </a:prstGeom>
          <a:noFill/>
        </p:spPr>
        <p:txBody>
          <a:bodyPr wrap="square" lIns="40000" tIns="20000" rIns="40000" bIns="20000">
            <a:spAutoFit/>
          </a:bodyPr>
          <a:lstStyle/>
          <a:p>
            <a:pPr marL="0" indent="0" algn="ctr">
              <a:lnSpc>
                <a:spcPct val="115000"/>
              </a:lnSpc>
              <a:buNone/>
            </a:pPr>
            <a:r>
              <a:rPr sz="1300" b="1" i="1">
                <a:solidFill>
                  <a:srgbClr val="1E2761"/>
                </a:solidFill>
                <a:latin typeface="Calibri"/>
              </a:rPr>
              <a:t>Guided by Ms. S. Aadhitya, Assistant Professor / CSE</a:t>
            </a:r>
          </a:p>
        </p:txBody>
      </p:sp>
      <p:sp>
        <p:nvSpPr>
          <p:cNvPr id="3114" name="TextBox 3113"/>
          <p:cNvSpPr txBox="1"/>
          <p:nvPr/>
        </p:nvSpPr>
        <p:spPr>
          <a:xfrm>
            <a:off x="365760" y="4983480"/>
            <a:ext cx="9171432" cy="292608"/>
          </a:xfrm>
          <a:prstGeom prst="rect">
            <a:avLst/>
          </a:prstGeom>
          <a:noFill/>
        </p:spPr>
        <p:txBody>
          <a:bodyPr wrap="square" lIns="40000" tIns="20000" rIns="40000" bIns="20000">
            <a:spAutoFit/>
          </a:bodyPr>
          <a:lstStyle/>
          <a:p>
            <a:pPr marL="0" indent="0" algn="ctr">
              <a:lnSpc>
                <a:spcPct val="115000"/>
              </a:lnSpc>
              <a:buNone/>
            </a:pPr>
            <a:r>
              <a:rPr sz="1100" b="0" i="0">
                <a:solidFill>
                  <a:srgbClr val="555B6E"/>
                </a:solidFill>
                <a:latin typeface="Calibri"/>
              </a:rPr>
              <a:t>Department of Computer Science &amp; Engineering</a:t>
            </a:r>
          </a:p>
        </p:txBody>
      </p:sp>
      <p:sp>
        <p:nvSpPr>
          <p:cNvPr id="3115" name="TextBox 3114"/>
          <p:cNvSpPr txBox="1"/>
          <p:nvPr/>
        </p:nvSpPr>
        <p:spPr>
          <a:xfrm>
            <a:off x="365760" y="5230368"/>
            <a:ext cx="9171432" cy="292608"/>
          </a:xfrm>
          <a:prstGeom prst="rect">
            <a:avLst/>
          </a:prstGeom>
          <a:noFill/>
        </p:spPr>
        <p:txBody>
          <a:bodyPr wrap="square" lIns="40000" tIns="20000" rIns="40000" bIns="20000">
            <a:spAutoFit/>
          </a:bodyPr>
          <a:lstStyle/>
          <a:p>
            <a:pPr marL="0" indent="0" algn="ctr">
              <a:lnSpc>
                <a:spcPct val="115000"/>
              </a:lnSpc>
              <a:buNone/>
            </a:pPr>
            <a:r>
              <a:rPr sz="1100" b="0" i="1">
                <a:solidFill>
                  <a:srgbClr val="555B6E"/>
                </a:solidFill>
                <a:latin typeface="Calibri"/>
              </a:rPr>
              <a:t>PSNA College of Engineering &amp; Technology, Dindigul</a:t>
            </a:r>
          </a:p>
        </p:txBody>
      </p:sp>
      <p:sp>
        <p:nvSpPr>
          <p:cNvPr id="3116" name="Rounded Rectangle 3115"/>
          <p:cNvSpPr/>
          <p:nvPr/>
        </p:nvSpPr>
        <p:spPr>
          <a:xfrm>
            <a:off x="365760" y="5504688"/>
            <a:ext cx="9171432" cy="841248"/>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7" name="Rectangle 3116"/>
          <p:cNvSpPr/>
          <p:nvPr/>
        </p:nvSpPr>
        <p:spPr>
          <a:xfrm>
            <a:off x="365760" y="5504688"/>
            <a:ext cx="9171432" cy="5486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8" name="TextBox 3117"/>
          <p:cNvSpPr txBox="1"/>
          <p:nvPr/>
        </p:nvSpPr>
        <p:spPr>
          <a:xfrm>
            <a:off x="502920" y="5596128"/>
            <a:ext cx="8897112" cy="274320"/>
          </a:xfrm>
          <a:prstGeom prst="rect">
            <a:avLst/>
          </a:prstGeom>
          <a:noFill/>
        </p:spPr>
        <p:txBody>
          <a:bodyPr wrap="square" lIns="60000" tIns="40000" rIns="60000" bIns="40000" anchor="t">
            <a:spAutoFit/>
          </a:bodyPr>
          <a:lstStyle/>
          <a:p>
            <a:pPr algn="ctr">
              <a:lnSpc>
                <a:spcPct val="115000"/>
              </a:lnSpc>
            </a:pPr>
            <a:r>
              <a:rPr sz="1000" b="1" i="0" dirty="0">
                <a:solidFill>
                  <a:srgbClr val="F5A623"/>
                </a:solidFill>
                <a:latin typeface="Calibri"/>
              </a:rPr>
              <a:t>ABSTRACT  ·  IN ONE LINE</a:t>
            </a:r>
          </a:p>
        </p:txBody>
      </p:sp>
      <p:sp>
        <p:nvSpPr>
          <p:cNvPr id="3119" name="TextBox 3118"/>
          <p:cNvSpPr txBox="1"/>
          <p:nvPr/>
        </p:nvSpPr>
        <p:spPr>
          <a:xfrm>
            <a:off x="502920" y="5852160"/>
            <a:ext cx="8897112" cy="457200"/>
          </a:xfrm>
          <a:prstGeom prst="rect">
            <a:avLst/>
          </a:prstGeom>
          <a:noFill/>
        </p:spPr>
        <p:txBody>
          <a:bodyPr wrap="square" lIns="60000" tIns="40000" rIns="60000" bIns="40000" anchor="t">
            <a:spAutoFit/>
          </a:bodyPr>
          <a:lstStyle/>
          <a:p>
            <a:pPr algn="ctr">
              <a:lnSpc>
                <a:spcPct val="115000"/>
              </a:lnSpc>
            </a:pPr>
            <a:r>
              <a:rPr sz="1200" b="0" i="1">
                <a:solidFill>
                  <a:srgbClr val="FFFFFF"/>
                </a:solidFill>
                <a:latin typeface="Calibri"/>
              </a:rPr>
              <a:t>An NLP + Machine Learning web platform that performs context-aware skill assessment and delivers personalised, role-specific career guidance.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2F3376-4DFB-8191-BE60-0FE8FB0DEF15}"/>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extBox 1">
            <a:extLst>
              <a:ext uri="{FF2B5EF4-FFF2-40B4-BE49-F238E27FC236}">
                <a16:creationId xmlns:a16="http://schemas.microsoft.com/office/drawing/2014/main" id="{DA977966-B9FF-3779-F4E8-C9B3D2AC5B69}"/>
              </a:ext>
            </a:extLst>
          </p:cNvPr>
          <p:cNvSpPr txBox="1"/>
          <p:nvPr/>
        </p:nvSpPr>
        <p:spPr>
          <a:xfrm>
            <a:off x="279400" y="460375"/>
            <a:ext cx="2209800"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CONTENTS</a:t>
            </a:r>
          </a:p>
        </p:txBody>
      </p:sp>
      <p:sp>
        <p:nvSpPr>
          <p:cNvPr id="5" name="Slide Number Placeholder 4">
            <a:extLst>
              <a:ext uri="{FF2B5EF4-FFF2-40B4-BE49-F238E27FC236}">
                <a16:creationId xmlns:a16="http://schemas.microsoft.com/office/drawing/2014/main" id="{CBEF47A0-4CCF-E45E-8581-27A1A811C680}"/>
              </a:ext>
            </a:extLst>
          </p:cNvPr>
          <p:cNvSpPr>
            <a:spLocks noGrp="1"/>
          </p:cNvSpPr>
          <p:nvPr>
            <p:ph type="sldNum" sz="quarter" idx="12"/>
          </p:nvPr>
        </p:nvSpPr>
        <p:spPr>
          <a:xfrm>
            <a:off x="7523163" y="6342063"/>
            <a:ext cx="2228850" cy="365125"/>
          </a:xfrm>
        </p:spPr>
        <p:txBody>
          <a:bodyPr/>
          <a:lstStyle/>
          <a:p>
            <a:pPr>
              <a:defRPr/>
            </a:pPr>
            <a:fld id="{F16B4A28-5D7F-424C-A823-FAAE20DE2905}" type="slidenum">
              <a:rPr lang="en-US" sz="3600">
                <a:solidFill>
                  <a:schemeClr val="accent2">
                    <a:lumMod val="75000"/>
                  </a:schemeClr>
                </a:solidFill>
                <a:latin typeface="Aharoni" panose="02010803020104030203" pitchFamily="2" charset="-79"/>
                <a:cs typeface="Aharoni" panose="02010803020104030203" pitchFamily="2" charset="-79"/>
              </a:rPr>
              <a:pPr>
                <a:defRPr/>
              </a:pPr>
              <a:t>2</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5125" name="Picture 5">
            <a:extLst>
              <a:ext uri="{FF2B5EF4-FFF2-40B4-BE49-F238E27FC236}">
                <a16:creationId xmlns:a16="http://schemas.microsoft.com/office/drawing/2014/main" id="{3158DAB3-65FF-8B4B-C61E-267BD8467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Rounded Rectangle 5126"/>
          <p:cNvSpPr/>
          <p:nvPr/>
        </p:nvSpPr>
        <p:spPr>
          <a:xfrm>
            <a:off x="320040" y="182880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8" name="Rounded Rectangle 5127"/>
          <p:cNvSpPr/>
          <p:nvPr/>
        </p:nvSpPr>
        <p:spPr>
          <a:xfrm>
            <a:off x="429768" y="1993392"/>
            <a:ext cx="676656" cy="676656"/>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9" name="TextBox 5128"/>
          <p:cNvSpPr txBox="1"/>
          <p:nvPr/>
        </p:nvSpPr>
        <p:spPr>
          <a:xfrm>
            <a:off x="429768" y="199339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01</a:t>
            </a:r>
          </a:p>
        </p:txBody>
      </p:sp>
      <p:sp>
        <p:nvSpPr>
          <p:cNvPr id="5130" name="TextBox 5129"/>
          <p:cNvSpPr txBox="1"/>
          <p:nvPr/>
        </p:nvSpPr>
        <p:spPr>
          <a:xfrm>
            <a:off x="1207008" y="195681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Introduction</a:t>
            </a:r>
          </a:p>
        </p:txBody>
      </p:sp>
      <p:sp>
        <p:nvSpPr>
          <p:cNvPr id="5131" name="TextBox 5130"/>
          <p:cNvSpPr txBox="1"/>
          <p:nvPr/>
        </p:nvSpPr>
        <p:spPr>
          <a:xfrm>
            <a:off x="1207008" y="230428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Skill-gap era · motivation</a:t>
            </a:r>
          </a:p>
        </p:txBody>
      </p:sp>
      <p:sp>
        <p:nvSpPr>
          <p:cNvPr id="5134" name="Rounded Rectangle 5133"/>
          <p:cNvSpPr/>
          <p:nvPr/>
        </p:nvSpPr>
        <p:spPr>
          <a:xfrm>
            <a:off x="4956048" y="182880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5" name="Rounded Rectangle 5134"/>
          <p:cNvSpPr/>
          <p:nvPr/>
        </p:nvSpPr>
        <p:spPr>
          <a:xfrm>
            <a:off x="5065776" y="1993392"/>
            <a:ext cx="676656" cy="676656"/>
          </a:xfrm>
          <a:prstGeom prst="roundRect">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6" name="TextBox 5135"/>
          <p:cNvSpPr txBox="1"/>
          <p:nvPr/>
        </p:nvSpPr>
        <p:spPr>
          <a:xfrm>
            <a:off x="5065776" y="199339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02</a:t>
            </a:r>
          </a:p>
        </p:txBody>
      </p:sp>
      <p:sp>
        <p:nvSpPr>
          <p:cNvPr id="5137" name="TextBox 5136"/>
          <p:cNvSpPr txBox="1"/>
          <p:nvPr/>
        </p:nvSpPr>
        <p:spPr>
          <a:xfrm>
            <a:off x="5843016" y="195681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Materials &amp; Methods</a:t>
            </a:r>
          </a:p>
        </p:txBody>
      </p:sp>
      <p:sp>
        <p:nvSpPr>
          <p:cNvPr id="5138" name="TextBox 5137"/>
          <p:cNvSpPr txBox="1"/>
          <p:nvPr/>
        </p:nvSpPr>
        <p:spPr>
          <a:xfrm>
            <a:off x="5843016" y="230428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Architecture · technology stack</a:t>
            </a:r>
          </a:p>
        </p:txBody>
      </p:sp>
      <p:sp>
        <p:nvSpPr>
          <p:cNvPr id="5141" name="Rounded Rectangle 5140"/>
          <p:cNvSpPr/>
          <p:nvPr/>
        </p:nvSpPr>
        <p:spPr>
          <a:xfrm>
            <a:off x="320040" y="292608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2" name="Rounded Rectangle 5141"/>
          <p:cNvSpPr/>
          <p:nvPr/>
        </p:nvSpPr>
        <p:spPr>
          <a:xfrm>
            <a:off x="429768" y="3090672"/>
            <a:ext cx="676656" cy="676656"/>
          </a:xfrm>
          <a:prstGeom prst="roundRect">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3" name="TextBox 5142"/>
          <p:cNvSpPr txBox="1"/>
          <p:nvPr/>
        </p:nvSpPr>
        <p:spPr>
          <a:xfrm>
            <a:off x="429768" y="309067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03</a:t>
            </a:r>
          </a:p>
        </p:txBody>
      </p:sp>
      <p:sp>
        <p:nvSpPr>
          <p:cNvPr id="5144" name="TextBox 5143"/>
          <p:cNvSpPr txBox="1"/>
          <p:nvPr/>
        </p:nvSpPr>
        <p:spPr>
          <a:xfrm>
            <a:off x="1207008" y="305409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Results &amp; Match Score</a:t>
            </a:r>
          </a:p>
        </p:txBody>
      </p:sp>
      <p:sp>
        <p:nvSpPr>
          <p:cNvPr id="5145" name="TextBox 5144"/>
          <p:cNvSpPr txBox="1"/>
          <p:nvPr/>
        </p:nvSpPr>
        <p:spPr>
          <a:xfrm>
            <a:off x="1207008" y="340156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Skill categorization · scoring</a:t>
            </a:r>
          </a:p>
        </p:txBody>
      </p:sp>
      <p:sp>
        <p:nvSpPr>
          <p:cNvPr id="5148" name="Rounded Rectangle 5147"/>
          <p:cNvSpPr/>
          <p:nvPr/>
        </p:nvSpPr>
        <p:spPr>
          <a:xfrm>
            <a:off x="4956048" y="292608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9" name="Rounded Rectangle 5148"/>
          <p:cNvSpPr/>
          <p:nvPr/>
        </p:nvSpPr>
        <p:spPr>
          <a:xfrm>
            <a:off x="5065776" y="3090672"/>
            <a:ext cx="676656" cy="676656"/>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0" name="TextBox 5149"/>
          <p:cNvSpPr txBox="1"/>
          <p:nvPr/>
        </p:nvSpPr>
        <p:spPr>
          <a:xfrm>
            <a:off x="5065776" y="309067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04</a:t>
            </a:r>
          </a:p>
        </p:txBody>
      </p:sp>
      <p:sp>
        <p:nvSpPr>
          <p:cNvPr id="5151" name="TextBox 5150"/>
          <p:cNvSpPr txBox="1"/>
          <p:nvPr/>
        </p:nvSpPr>
        <p:spPr>
          <a:xfrm>
            <a:off x="5843016" y="305409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Dashboard Experience</a:t>
            </a:r>
          </a:p>
        </p:txBody>
      </p:sp>
      <p:sp>
        <p:nvSpPr>
          <p:cNvPr id="5152" name="TextBox 5151"/>
          <p:cNvSpPr txBox="1"/>
          <p:nvPr/>
        </p:nvSpPr>
        <p:spPr>
          <a:xfrm>
            <a:off x="5843016" y="340156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What the user actually sees</a:t>
            </a:r>
          </a:p>
        </p:txBody>
      </p:sp>
      <p:sp>
        <p:nvSpPr>
          <p:cNvPr id="5155" name="Rounded Rectangle 5154"/>
          <p:cNvSpPr/>
          <p:nvPr/>
        </p:nvSpPr>
        <p:spPr>
          <a:xfrm>
            <a:off x="320040" y="402336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6" name="Rounded Rectangle 5155"/>
          <p:cNvSpPr/>
          <p:nvPr/>
        </p:nvSpPr>
        <p:spPr>
          <a:xfrm>
            <a:off x="429768" y="4187952"/>
            <a:ext cx="676656" cy="676656"/>
          </a:xfrm>
          <a:prstGeom prst="round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7" name="TextBox 5156"/>
          <p:cNvSpPr txBox="1"/>
          <p:nvPr/>
        </p:nvSpPr>
        <p:spPr>
          <a:xfrm>
            <a:off x="429768" y="418795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05</a:t>
            </a:r>
          </a:p>
        </p:txBody>
      </p:sp>
      <p:sp>
        <p:nvSpPr>
          <p:cNvPr id="5158" name="TextBox 5157"/>
          <p:cNvSpPr txBox="1"/>
          <p:nvPr/>
        </p:nvSpPr>
        <p:spPr>
          <a:xfrm>
            <a:off x="1207008" y="415137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Existing vs Proposed</a:t>
            </a:r>
          </a:p>
        </p:txBody>
      </p:sp>
      <p:sp>
        <p:nvSpPr>
          <p:cNvPr id="5159" name="TextBox 5158"/>
          <p:cNvSpPr txBox="1"/>
          <p:nvPr/>
        </p:nvSpPr>
        <p:spPr>
          <a:xfrm>
            <a:off x="1207008" y="449884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Why semantic beats keyword</a:t>
            </a:r>
          </a:p>
        </p:txBody>
      </p:sp>
      <p:sp>
        <p:nvSpPr>
          <p:cNvPr id="5162" name="Rounded Rectangle 5161"/>
          <p:cNvSpPr/>
          <p:nvPr/>
        </p:nvSpPr>
        <p:spPr>
          <a:xfrm>
            <a:off x="4956048" y="402336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3" name="Rounded Rectangle 5162"/>
          <p:cNvSpPr/>
          <p:nvPr/>
        </p:nvSpPr>
        <p:spPr>
          <a:xfrm>
            <a:off x="5065776" y="4187952"/>
            <a:ext cx="676656" cy="67665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4" name="TextBox 5163"/>
          <p:cNvSpPr txBox="1"/>
          <p:nvPr/>
        </p:nvSpPr>
        <p:spPr>
          <a:xfrm>
            <a:off x="5065776" y="418795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06</a:t>
            </a:r>
          </a:p>
        </p:txBody>
      </p:sp>
      <p:sp>
        <p:nvSpPr>
          <p:cNvPr id="5165" name="TextBox 5164"/>
          <p:cNvSpPr txBox="1"/>
          <p:nvPr/>
        </p:nvSpPr>
        <p:spPr>
          <a:xfrm>
            <a:off x="5843016" y="415137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Recommendation Path</a:t>
            </a:r>
          </a:p>
        </p:txBody>
      </p:sp>
      <p:sp>
        <p:nvSpPr>
          <p:cNvPr id="5166" name="TextBox 5165"/>
          <p:cNvSpPr txBox="1"/>
          <p:nvPr/>
        </p:nvSpPr>
        <p:spPr>
          <a:xfrm>
            <a:off x="5843016" y="449884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From gap to learning journey</a:t>
            </a:r>
          </a:p>
        </p:txBody>
      </p:sp>
      <p:sp>
        <p:nvSpPr>
          <p:cNvPr id="5169" name="Rounded Rectangle 5168"/>
          <p:cNvSpPr/>
          <p:nvPr/>
        </p:nvSpPr>
        <p:spPr>
          <a:xfrm>
            <a:off x="320040" y="512064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0" name="Rounded Rectangle 5169"/>
          <p:cNvSpPr/>
          <p:nvPr/>
        </p:nvSpPr>
        <p:spPr>
          <a:xfrm>
            <a:off x="429768" y="5285232"/>
            <a:ext cx="676656" cy="676656"/>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1" name="TextBox 5170"/>
          <p:cNvSpPr txBox="1"/>
          <p:nvPr/>
        </p:nvSpPr>
        <p:spPr>
          <a:xfrm>
            <a:off x="429768" y="528523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07</a:t>
            </a:r>
          </a:p>
        </p:txBody>
      </p:sp>
      <p:sp>
        <p:nvSpPr>
          <p:cNvPr id="5172" name="TextBox 5171"/>
          <p:cNvSpPr txBox="1"/>
          <p:nvPr/>
        </p:nvSpPr>
        <p:spPr>
          <a:xfrm>
            <a:off x="1207008" y="524865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Summary &amp; Future</a:t>
            </a:r>
          </a:p>
        </p:txBody>
      </p:sp>
      <p:sp>
        <p:nvSpPr>
          <p:cNvPr id="5173" name="TextBox 5172"/>
          <p:cNvSpPr txBox="1"/>
          <p:nvPr/>
        </p:nvSpPr>
        <p:spPr>
          <a:xfrm>
            <a:off x="1207008" y="559612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Key takeaways · what's next</a:t>
            </a:r>
          </a:p>
        </p:txBody>
      </p:sp>
      <p:sp>
        <p:nvSpPr>
          <p:cNvPr id="5176" name="Rounded Rectangle 5175"/>
          <p:cNvSpPr/>
          <p:nvPr/>
        </p:nvSpPr>
        <p:spPr>
          <a:xfrm>
            <a:off x="4956048" y="5120640"/>
            <a:ext cx="4498848" cy="100584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7" name="Rounded Rectangle 5176"/>
          <p:cNvSpPr/>
          <p:nvPr/>
        </p:nvSpPr>
        <p:spPr>
          <a:xfrm>
            <a:off x="5065776" y="5285232"/>
            <a:ext cx="676656" cy="676656"/>
          </a:xfrm>
          <a:prstGeom prst="roundRect">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8" name="TextBox 5177"/>
          <p:cNvSpPr txBox="1"/>
          <p:nvPr/>
        </p:nvSpPr>
        <p:spPr>
          <a:xfrm>
            <a:off x="5065776" y="5285232"/>
            <a:ext cx="676656" cy="676656"/>
          </a:xfrm>
          <a:prstGeom prst="rect">
            <a:avLst/>
          </a:prstGeom>
          <a:noFill/>
        </p:spPr>
        <p:txBody>
          <a:bodyPr wrap="square" lIns="60000" tIns="40000" rIns="60000" bIns="40000" anchor="ctr">
            <a:spAutoFit/>
          </a:bodyPr>
          <a:lstStyle/>
          <a:p>
            <a:pPr algn="ctr">
              <a:lnSpc>
                <a:spcPct val="115000"/>
              </a:lnSpc>
            </a:pPr>
            <a:r>
              <a:rPr sz="2000" b="1" i="0">
                <a:solidFill>
                  <a:srgbClr val="FFFFFF"/>
                </a:solidFill>
                <a:latin typeface="Georgia"/>
              </a:rPr>
              <a:t>08</a:t>
            </a:r>
          </a:p>
        </p:txBody>
      </p:sp>
      <p:sp>
        <p:nvSpPr>
          <p:cNvPr id="5179" name="TextBox 5178"/>
          <p:cNvSpPr txBox="1"/>
          <p:nvPr/>
        </p:nvSpPr>
        <p:spPr>
          <a:xfrm>
            <a:off x="5843016" y="5248656"/>
            <a:ext cx="2926080" cy="384048"/>
          </a:xfrm>
          <a:prstGeom prst="rect">
            <a:avLst/>
          </a:prstGeom>
          <a:noFill/>
        </p:spPr>
        <p:txBody>
          <a:bodyPr wrap="square" lIns="60000" tIns="40000" rIns="60000" bIns="40000" anchor="t">
            <a:spAutoFit/>
          </a:bodyPr>
          <a:lstStyle/>
          <a:p>
            <a:pPr algn="l">
              <a:lnSpc>
                <a:spcPct val="115000"/>
              </a:lnSpc>
            </a:pPr>
            <a:r>
              <a:rPr sz="1400" b="1" i="0">
                <a:solidFill>
                  <a:srgbClr val="1E2761"/>
                </a:solidFill>
                <a:latin typeface="Calibri"/>
              </a:rPr>
              <a:t>References &amp; Q&amp;A</a:t>
            </a:r>
          </a:p>
        </p:txBody>
      </p:sp>
      <p:sp>
        <p:nvSpPr>
          <p:cNvPr id="5180" name="TextBox 5179"/>
          <p:cNvSpPr txBox="1"/>
          <p:nvPr/>
        </p:nvSpPr>
        <p:spPr>
          <a:xfrm>
            <a:off x="5843016" y="5596128"/>
            <a:ext cx="3108960" cy="292608"/>
          </a:xfrm>
          <a:prstGeom prst="rect">
            <a:avLst/>
          </a:prstGeom>
          <a:noFill/>
        </p:spPr>
        <p:txBody>
          <a:bodyPr wrap="square" lIns="60000" tIns="40000" rIns="60000" bIns="40000" anchor="t">
            <a:spAutoFit/>
          </a:bodyPr>
          <a:lstStyle/>
          <a:p>
            <a:pPr algn="l">
              <a:lnSpc>
                <a:spcPct val="115000"/>
              </a:lnSpc>
            </a:pPr>
            <a:r>
              <a:rPr sz="1050" b="0" i="1">
                <a:solidFill>
                  <a:srgbClr val="555B6E"/>
                </a:solidFill>
                <a:latin typeface="Calibri"/>
              </a:rPr>
              <a:t>Sources · acknowledgements · QA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D144DF2-ADD6-048C-0924-8F6C3E4A79DA}"/>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F9073369-C040-678D-6CC6-05F8AA18DBDD}"/>
              </a:ext>
            </a:extLst>
          </p:cNvPr>
          <p:cNvSpPr txBox="1"/>
          <p:nvPr/>
        </p:nvSpPr>
        <p:spPr>
          <a:xfrm>
            <a:off x="279400" y="460375"/>
            <a:ext cx="3009900"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INTRODUCTION</a:t>
            </a:r>
          </a:p>
        </p:txBody>
      </p:sp>
      <p:sp>
        <p:nvSpPr>
          <p:cNvPr id="2" name="Slide Number Placeholder 1">
            <a:extLst>
              <a:ext uri="{FF2B5EF4-FFF2-40B4-BE49-F238E27FC236}">
                <a16:creationId xmlns:a16="http://schemas.microsoft.com/office/drawing/2014/main" id="{4864E7B1-014A-FC18-77BE-AA4575F5C188}"/>
              </a:ext>
            </a:extLst>
          </p:cNvPr>
          <p:cNvSpPr>
            <a:spLocks noGrp="1"/>
          </p:cNvSpPr>
          <p:nvPr>
            <p:ph type="sldNum" sz="quarter" idx="12"/>
          </p:nvPr>
        </p:nvSpPr>
        <p:spPr>
          <a:xfrm>
            <a:off x="7523163" y="6342063"/>
            <a:ext cx="2228850" cy="365125"/>
          </a:xfrm>
        </p:spPr>
        <p:txBody>
          <a:bodyPr/>
          <a:lstStyle/>
          <a:p>
            <a:pPr>
              <a:defRPr/>
            </a:pPr>
            <a:fld id="{A218994A-438B-42DE-8043-0B37BDF87184}" type="slidenum">
              <a:rPr lang="en-US" sz="3600">
                <a:solidFill>
                  <a:schemeClr val="accent2">
                    <a:lumMod val="75000"/>
                  </a:schemeClr>
                </a:solidFill>
                <a:latin typeface="Aharoni" panose="02010803020104030203" pitchFamily="2" charset="-79"/>
                <a:cs typeface="Aharoni" panose="02010803020104030203" pitchFamily="2" charset="-79"/>
              </a:rPr>
              <a:pPr>
                <a:defRPr/>
              </a:pPr>
              <a:t>3</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7173" name="Picture 6">
            <a:extLst>
              <a:ext uri="{FF2B5EF4-FFF2-40B4-BE49-F238E27FC236}">
                <a16:creationId xmlns:a16="http://schemas.microsoft.com/office/drawing/2014/main" id="{48D1A7B3-339F-177C-2234-9FE7EC85B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TextBox 7173"/>
          <p:cNvSpPr txBox="1"/>
          <p:nvPr/>
        </p:nvSpPr>
        <p:spPr>
          <a:xfrm>
            <a:off x="320040" y="1325880"/>
            <a:ext cx="5303520" cy="502920"/>
          </a:xfrm>
          <a:prstGeom prst="rect">
            <a:avLst/>
          </a:prstGeom>
          <a:noFill/>
        </p:spPr>
        <p:txBody>
          <a:bodyPr wrap="square" lIns="60000" tIns="40000" rIns="60000" bIns="40000">
            <a:spAutoFit/>
          </a:bodyPr>
          <a:lstStyle/>
          <a:p>
            <a:pPr marL="0" indent="0" algn="l">
              <a:lnSpc>
                <a:spcPct val="115000"/>
              </a:lnSpc>
              <a:buNone/>
            </a:pPr>
            <a:r>
              <a:rPr sz="2000" b="1" i="0">
                <a:solidFill>
                  <a:srgbClr val="C8102E"/>
                </a:solidFill>
                <a:latin typeface="Georgia"/>
              </a:rPr>
              <a:t>The skill-gap era</a:t>
            </a:r>
          </a:p>
        </p:txBody>
      </p:sp>
      <p:sp>
        <p:nvSpPr>
          <p:cNvPr id="7175" name="TextBox 7174"/>
          <p:cNvSpPr txBox="1"/>
          <p:nvPr/>
        </p:nvSpPr>
        <p:spPr>
          <a:xfrm>
            <a:off x="320040" y="1783080"/>
            <a:ext cx="5303520" cy="2057400"/>
          </a:xfrm>
          <a:prstGeom prst="rect">
            <a:avLst/>
          </a:prstGeom>
          <a:noFill/>
        </p:spPr>
        <p:txBody>
          <a:bodyPr wrap="square" lIns="60000" tIns="40000" rIns="60000" bIns="40000">
            <a:spAutoFit/>
          </a:bodyPr>
          <a:lstStyle/>
          <a:p>
            <a:pPr marL="0" indent="0" algn="l">
              <a:lnSpc>
                <a:spcPct val="125000"/>
              </a:lnSpc>
              <a:buNone/>
            </a:pPr>
            <a:r>
              <a:rPr sz="1400" b="0" i="0">
                <a:solidFill>
                  <a:srgbClr val="222A3C"/>
                </a:solidFill>
                <a:latin typeface="Calibri"/>
              </a:rPr>
              <a:t>In today's fast-changing job market, students and professionals struggle to understand which skills they truly possess versus those demanded by specific roles.</a:t>
            </a:r>
          </a:p>
          <a:p>
            <a:pPr marL="0" indent="0" algn="l">
              <a:lnSpc>
                <a:spcPct val="115000"/>
              </a:lnSpc>
              <a:buNone/>
            </a:pPr>
            <a:endParaRPr sz="1400" b="0" i="0">
              <a:solidFill>
                <a:srgbClr val="222A3C"/>
              </a:solidFill>
              <a:latin typeface="Calibri"/>
            </a:endParaRPr>
          </a:p>
          <a:p>
            <a:pPr marL="0" indent="0" algn="l">
              <a:lnSpc>
                <a:spcPct val="125000"/>
              </a:lnSpc>
              <a:buNone/>
            </a:pPr>
            <a:r>
              <a:rPr sz="1400" b="0" i="0">
                <a:solidFill>
                  <a:srgbClr val="222A3C"/>
                </a:solidFill>
                <a:latin typeface="Calibri"/>
              </a:rPr>
              <a:t>Existing career guidance platforms rely on basic keyword matching, offering only generic recommendations — not truly personalised insights.</a:t>
            </a:r>
          </a:p>
          <a:p>
            <a:pPr marL="0" indent="0" algn="l">
              <a:lnSpc>
                <a:spcPct val="115000"/>
              </a:lnSpc>
              <a:buNone/>
            </a:pPr>
            <a:endParaRPr sz="1400" b="0" i="0">
              <a:solidFill>
                <a:srgbClr val="222A3C"/>
              </a:solidFill>
              <a:latin typeface="Calibri"/>
            </a:endParaRPr>
          </a:p>
        </p:txBody>
      </p:sp>
      <p:sp>
        <p:nvSpPr>
          <p:cNvPr id="7176" name="Rounded Rectangle 7175"/>
          <p:cNvSpPr/>
          <p:nvPr/>
        </p:nvSpPr>
        <p:spPr>
          <a:xfrm>
            <a:off x="5852160" y="1325880"/>
            <a:ext cx="3730752" cy="137160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77" name="TextBox 7176"/>
          <p:cNvSpPr txBox="1"/>
          <p:nvPr/>
        </p:nvSpPr>
        <p:spPr>
          <a:xfrm>
            <a:off x="6035040" y="1371600"/>
            <a:ext cx="1554480" cy="822960"/>
          </a:xfrm>
          <a:prstGeom prst="rect">
            <a:avLst/>
          </a:prstGeom>
          <a:noFill/>
        </p:spPr>
        <p:txBody>
          <a:bodyPr wrap="square" lIns="60000" tIns="40000" rIns="60000" bIns="40000">
            <a:spAutoFit/>
          </a:bodyPr>
          <a:lstStyle/>
          <a:p>
            <a:pPr marL="0" indent="0" algn="l">
              <a:lnSpc>
                <a:spcPct val="115000"/>
              </a:lnSpc>
              <a:buNone/>
            </a:pPr>
            <a:r>
              <a:rPr sz="4200" b="1" i="0">
                <a:solidFill>
                  <a:srgbClr val="FFFFFF"/>
                </a:solidFill>
                <a:latin typeface="Georgia"/>
              </a:rPr>
              <a:t>85%</a:t>
            </a:r>
          </a:p>
        </p:txBody>
      </p:sp>
      <p:sp>
        <p:nvSpPr>
          <p:cNvPr id="7178" name="TextBox 7177"/>
          <p:cNvSpPr txBox="1"/>
          <p:nvPr/>
        </p:nvSpPr>
        <p:spPr>
          <a:xfrm>
            <a:off x="7589520" y="1527048"/>
            <a:ext cx="1901952" cy="1005840"/>
          </a:xfrm>
          <a:prstGeom prst="rect">
            <a:avLst/>
          </a:prstGeom>
          <a:noFill/>
        </p:spPr>
        <p:txBody>
          <a:bodyPr wrap="square" lIns="60000" tIns="40000" rIns="60000" bIns="40000">
            <a:spAutoFit/>
          </a:bodyPr>
          <a:lstStyle/>
          <a:p>
            <a:pPr marL="0" indent="0" algn="l">
              <a:lnSpc>
                <a:spcPct val="115000"/>
              </a:lnSpc>
              <a:buNone/>
            </a:pPr>
            <a:r>
              <a:rPr sz="1200" b="0" i="0">
                <a:solidFill>
                  <a:srgbClr val="FFFFFF"/>
                </a:solidFill>
                <a:latin typeface="Calibri"/>
              </a:rPr>
              <a:t>of job seekers feel unclear about which skills they need</a:t>
            </a:r>
          </a:p>
        </p:txBody>
      </p:sp>
      <p:sp>
        <p:nvSpPr>
          <p:cNvPr id="7179" name="Rounded Rectangle 7178"/>
          <p:cNvSpPr/>
          <p:nvPr/>
        </p:nvSpPr>
        <p:spPr>
          <a:xfrm>
            <a:off x="5852160" y="2834640"/>
            <a:ext cx="3730752" cy="1371600"/>
          </a:xfrm>
          <a:prstGeom prst="roundRect">
            <a:avLst>
              <a:gd name="adj" fmla="val 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80" name="TextBox 7179"/>
          <p:cNvSpPr txBox="1"/>
          <p:nvPr/>
        </p:nvSpPr>
        <p:spPr>
          <a:xfrm>
            <a:off x="6035040" y="2880360"/>
            <a:ext cx="1554480" cy="822960"/>
          </a:xfrm>
          <a:prstGeom prst="rect">
            <a:avLst/>
          </a:prstGeom>
          <a:noFill/>
        </p:spPr>
        <p:txBody>
          <a:bodyPr wrap="square" lIns="60000" tIns="40000" rIns="60000" bIns="40000">
            <a:spAutoFit/>
          </a:bodyPr>
          <a:lstStyle/>
          <a:p>
            <a:pPr marL="0" indent="0" algn="l">
              <a:lnSpc>
                <a:spcPct val="115000"/>
              </a:lnSpc>
              <a:buNone/>
            </a:pPr>
            <a:r>
              <a:rPr sz="4200" b="1" i="0">
                <a:solidFill>
                  <a:srgbClr val="FFFFFF"/>
                </a:solidFill>
                <a:latin typeface="Georgia"/>
              </a:rPr>
              <a:t>70%</a:t>
            </a:r>
          </a:p>
        </p:txBody>
      </p:sp>
      <p:sp>
        <p:nvSpPr>
          <p:cNvPr id="7181" name="TextBox 7180"/>
          <p:cNvSpPr txBox="1"/>
          <p:nvPr/>
        </p:nvSpPr>
        <p:spPr>
          <a:xfrm>
            <a:off x="7589520" y="3035808"/>
            <a:ext cx="1901952" cy="1005840"/>
          </a:xfrm>
          <a:prstGeom prst="rect">
            <a:avLst/>
          </a:prstGeom>
          <a:noFill/>
        </p:spPr>
        <p:txBody>
          <a:bodyPr wrap="square" lIns="60000" tIns="40000" rIns="60000" bIns="40000">
            <a:spAutoFit/>
          </a:bodyPr>
          <a:lstStyle/>
          <a:p>
            <a:pPr marL="0" indent="0" algn="l">
              <a:lnSpc>
                <a:spcPct val="115000"/>
              </a:lnSpc>
              <a:buNone/>
            </a:pPr>
            <a:r>
              <a:rPr sz="1200" b="0" i="0">
                <a:solidFill>
                  <a:srgbClr val="FFFFFF"/>
                </a:solidFill>
                <a:latin typeface="Calibri"/>
              </a:rPr>
              <a:t>of career platforms rely on shallow keyword matching</a:t>
            </a:r>
          </a:p>
        </p:txBody>
      </p:sp>
      <p:sp>
        <p:nvSpPr>
          <p:cNvPr id="7182" name="Rounded Rectangle 7181"/>
          <p:cNvSpPr/>
          <p:nvPr/>
        </p:nvSpPr>
        <p:spPr>
          <a:xfrm>
            <a:off x="5852160" y="4343400"/>
            <a:ext cx="3730752" cy="1371600"/>
          </a:xfrm>
          <a:prstGeom prst="roundRect">
            <a:avLst>
              <a:gd name="adj" fmla="val 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83" name="TextBox 7182"/>
          <p:cNvSpPr txBox="1"/>
          <p:nvPr/>
        </p:nvSpPr>
        <p:spPr>
          <a:xfrm>
            <a:off x="6035040" y="4389120"/>
            <a:ext cx="1554480" cy="822960"/>
          </a:xfrm>
          <a:prstGeom prst="rect">
            <a:avLst/>
          </a:prstGeom>
          <a:noFill/>
        </p:spPr>
        <p:txBody>
          <a:bodyPr wrap="square" lIns="60000" tIns="40000" rIns="60000" bIns="40000">
            <a:spAutoFit/>
          </a:bodyPr>
          <a:lstStyle/>
          <a:p>
            <a:pPr marL="0" indent="0" algn="l">
              <a:lnSpc>
                <a:spcPct val="115000"/>
              </a:lnSpc>
              <a:buNone/>
            </a:pPr>
            <a:r>
              <a:rPr sz="4200" b="1" i="0">
                <a:solidFill>
                  <a:srgbClr val="FFFFFF"/>
                </a:solidFill>
                <a:latin typeface="Georgia"/>
              </a:rPr>
              <a:t>3x</a:t>
            </a:r>
          </a:p>
        </p:txBody>
      </p:sp>
      <p:sp>
        <p:nvSpPr>
          <p:cNvPr id="7184" name="TextBox 7183"/>
          <p:cNvSpPr txBox="1"/>
          <p:nvPr/>
        </p:nvSpPr>
        <p:spPr>
          <a:xfrm>
            <a:off x="7589520" y="4544568"/>
            <a:ext cx="1901952" cy="1005840"/>
          </a:xfrm>
          <a:prstGeom prst="rect">
            <a:avLst/>
          </a:prstGeom>
          <a:noFill/>
        </p:spPr>
        <p:txBody>
          <a:bodyPr wrap="square" lIns="60000" tIns="40000" rIns="60000" bIns="40000">
            <a:spAutoFit/>
          </a:bodyPr>
          <a:lstStyle/>
          <a:p>
            <a:pPr marL="0" indent="0" algn="l">
              <a:lnSpc>
                <a:spcPct val="115000"/>
              </a:lnSpc>
              <a:buNone/>
            </a:pPr>
            <a:r>
              <a:rPr sz="1200" b="0" i="0">
                <a:solidFill>
                  <a:srgbClr val="FFFFFF"/>
                </a:solidFill>
                <a:latin typeface="Calibri"/>
              </a:rPr>
              <a:t>faster upskilling with personalised, gap-aware learning paths</a:t>
            </a:r>
          </a:p>
        </p:txBody>
      </p:sp>
      <p:sp>
        <p:nvSpPr>
          <p:cNvPr id="7185" name="Rounded Rectangle 7184"/>
          <p:cNvSpPr/>
          <p:nvPr/>
        </p:nvSpPr>
        <p:spPr>
          <a:xfrm>
            <a:off x="320040" y="3931920"/>
            <a:ext cx="5303520" cy="210312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6" name="Rectangle 7185"/>
          <p:cNvSpPr/>
          <p:nvPr/>
        </p:nvSpPr>
        <p:spPr>
          <a:xfrm>
            <a:off x="320040" y="3931920"/>
            <a:ext cx="91440" cy="21031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7" name="TextBox 7186"/>
          <p:cNvSpPr txBox="1"/>
          <p:nvPr/>
        </p:nvSpPr>
        <p:spPr>
          <a:xfrm>
            <a:off x="502920" y="4041648"/>
            <a:ext cx="5029200" cy="292608"/>
          </a:xfrm>
          <a:prstGeom prst="rect">
            <a:avLst/>
          </a:prstGeom>
          <a:noFill/>
        </p:spPr>
        <p:txBody>
          <a:bodyPr wrap="square" lIns="60000" tIns="40000" rIns="60000" bIns="40000" anchor="t">
            <a:spAutoFit/>
          </a:bodyPr>
          <a:lstStyle/>
          <a:p>
            <a:pPr algn="l">
              <a:lnSpc>
                <a:spcPct val="115000"/>
              </a:lnSpc>
            </a:pPr>
            <a:r>
              <a:rPr sz="1100" b="1" i="0">
                <a:solidFill>
                  <a:srgbClr val="1E2761"/>
                </a:solidFill>
                <a:latin typeface="Calibri"/>
              </a:rPr>
              <a:t>OUR RESEARCH APPROACH</a:t>
            </a:r>
          </a:p>
        </p:txBody>
      </p:sp>
      <p:sp>
        <p:nvSpPr>
          <p:cNvPr id="7188" name="Oval 7187"/>
          <p:cNvSpPr/>
          <p:nvPr/>
        </p:nvSpPr>
        <p:spPr>
          <a:xfrm>
            <a:off x="502920" y="4581144"/>
            <a:ext cx="146304" cy="14630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9" name="TextBox 7188"/>
          <p:cNvSpPr txBox="1"/>
          <p:nvPr/>
        </p:nvSpPr>
        <p:spPr>
          <a:xfrm>
            <a:off x="713232" y="4434840"/>
            <a:ext cx="1554480" cy="384048"/>
          </a:xfrm>
          <a:prstGeom prst="rect">
            <a:avLst/>
          </a:prstGeom>
          <a:noFill/>
        </p:spPr>
        <p:txBody>
          <a:bodyPr wrap="square" lIns="60000" tIns="40000" rIns="60000" bIns="40000" anchor="ctr">
            <a:spAutoFit/>
          </a:bodyPr>
          <a:lstStyle/>
          <a:p>
            <a:pPr algn="l">
              <a:lnSpc>
                <a:spcPct val="115000"/>
              </a:lnSpc>
            </a:pPr>
            <a:r>
              <a:rPr sz="1100" b="1" i="0">
                <a:solidFill>
                  <a:srgbClr val="1E2761"/>
                </a:solidFill>
                <a:latin typeface="Calibri"/>
              </a:rPr>
              <a:t>Semantic NLP</a:t>
            </a:r>
          </a:p>
        </p:txBody>
      </p:sp>
      <p:sp>
        <p:nvSpPr>
          <p:cNvPr id="7190" name="TextBox 7189"/>
          <p:cNvSpPr txBox="1"/>
          <p:nvPr/>
        </p:nvSpPr>
        <p:spPr>
          <a:xfrm>
            <a:off x="2286000" y="4434840"/>
            <a:ext cx="3246120" cy="384048"/>
          </a:xfrm>
          <a:prstGeom prst="rect">
            <a:avLst/>
          </a:prstGeom>
          <a:noFill/>
        </p:spPr>
        <p:txBody>
          <a:bodyPr wrap="square" lIns="60000" tIns="40000" rIns="60000" bIns="40000" anchor="ctr">
            <a:spAutoFit/>
          </a:bodyPr>
          <a:lstStyle/>
          <a:p>
            <a:pPr algn="l">
              <a:lnSpc>
                <a:spcPct val="115000"/>
              </a:lnSpc>
            </a:pPr>
            <a:r>
              <a:rPr sz="1000" b="0" i="0">
                <a:solidFill>
                  <a:srgbClr val="1F2433"/>
                </a:solidFill>
                <a:latin typeface="Calibri"/>
              </a:rPr>
              <a:t>Sentence-level embeddings recognise skills from context — not just keywords.</a:t>
            </a:r>
          </a:p>
        </p:txBody>
      </p:sp>
      <p:sp>
        <p:nvSpPr>
          <p:cNvPr id="7191" name="Oval 7190"/>
          <p:cNvSpPr/>
          <p:nvPr/>
        </p:nvSpPr>
        <p:spPr>
          <a:xfrm>
            <a:off x="502920" y="5001768"/>
            <a:ext cx="146304" cy="14630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2" name="TextBox 7191"/>
          <p:cNvSpPr txBox="1"/>
          <p:nvPr/>
        </p:nvSpPr>
        <p:spPr>
          <a:xfrm>
            <a:off x="713232" y="4855464"/>
            <a:ext cx="1554480" cy="384048"/>
          </a:xfrm>
          <a:prstGeom prst="rect">
            <a:avLst/>
          </a:prstGeom>
          <a:noFill/>
        </p:spPr>
        <p:txBody>
          <a:bodyPr wrap="square" lIns="60000" tIns="40000" rIns="60000" bIns="40000" anchor="ctr">
            <a:spAutoFit/>
          </a:bodyPr>
          <a:lstStyle/>
          <a:p>
            <a:pPr algn="l">
              <a:lnSpc>
                <a:spcPct val="115000"/>
              </a:lnSpc>
            </a:pPr>
            <a:r>
              <a:rPr sz="1100" b="1" i="0">
                <a:solidFill>
                  <a:srgbClr val="1E2761"/>
                </a:solidFill>
                <a:latin typeface="Calibri"/>
              </a:rPr>
              <a:t>Weighted Match Score</a:t>
            </a:r>
          </a:p>
        </p:txBody>
      </p:sp>
      <p:sp>
        <p:nvSpPr>
          <p:cNvPr id="7193" name="TextBox 7192"/>
          <p:cNvSpPr txBox="1"/>
          <p:nvPr/>
        </p:nvSpPr>
        <p:spPr>
          <a:xfrm>
            <a:off x="2286000" y="4855464"/>
            <a:ext cx="3246120" cy="384048"/>
          </a:xfrm>
          <a:prstGeom prst="rect">
            <a:avLst/>
          </a:prstGeom>
          <a:noFill/>
        </p:spPr>
        <p:txBody>
          <a:bodyPr wrap="square" lIns="60000" tIns="40000" rIns="60000" bIns="40000" anchor="ctr">
            <a:spAutoFit/>
          </a:bodyPr>
          <a:lstStyle/>
          <a:p>
            <a:pPr algn="l">
              <a:lnSpc>
                <a:spcPct val="115000"/>
              </a:lnSpc>
            </a:pPr>
            <a:r>
              <a:rPr sz="1000" b="0" i="0">
                <a:solidFill>
                  <a:srgbClr val="1F2433"/>
                </a:solidFill>
                <a:latin typeface="Calibri"/>
              </a:rPr>
              <a:t>0–100 score weighted by how often each skill appears in real job postings.</a:t>
            </a:r>
          </a:p>
        </p:txBody>
      </p:sp>
      <p:sp>
        <p:nvSpPr>
          <p:cNvPr id="7194" name="Oval 7193"/>
          <p:cNvSpPr/>
          <p:nvPr/>
        </p:nvSpPr>
        <p:spPr>
          <a:xfrm>
            <a:off x="502920" y="5422392"/>
            <a:ext cx="146304" cy="14630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5" name="TextBox 7194"/>
          <p:cNvSpPr txBox="1"/>
          <p:nvPr/>
        </p:nvSpPr>
        <p:spPr>
          <a:xfrm>
            <a:off x="713232" y="5276088"/>
            <a:ext cx="1554480" cy="384048"/>
          </a:xfrm>
          <a:prstGeom prst="rect">
            <a:avLst/>
          </a:prstGeom>
          <a:noFill/>
        </p:spPr>
        <p:txBody>
          <a:bodyPr wrap="square" lIns="60000" tIns="40000" rIns="60000" bIns="40000" anchor="ctr">
            <a:spAutoFit/>
          </a:bodyPr>
          <a:lstStyle/>
          <a:p>
            <a:pPr algn="l">
              <a:lnSpc>
                <a:spcPct val="115000"/>
              </a:lnSpc>
            </a:pPr>
            <a:r>
              <a:rPr sz="1100" b="1" i="0">
                <a:solidFill>
                  <a:srgbClr val="1E2761"/>
                </a:solidFill>
                <a:latin typeface="Calibri"/>
              </a:rPr>
              <a:t>Dynamic Recommendation</a:t>
            </a:r>
          </a:p>
        </p:txBody>
      </p:sp>
      <p:sp>
        <p:nvSpPr>
          <p:cNvPr id="7196" name="TextBox 7195"/>
          <p:cNvSpPr txBox="1"/>
          <p:nvPr/>
        </p:nvSpPr>
        <p:spPr>
          <a:xfrm>
            <a:off x="2286000" y="5276088"/>
            <a:ext cx="3246120" cy="384048"/>
          </a:xfrm>
          <a:prstGeom prst="rect">
            <a:avLst/>
          </a:prstGeom>
          <a:noFill/>
        </p:spPr>
        <p:txBody>
          <a:bodyPr wrap="square" lIns="60000" tIns="40000" rIns="60000" bIns="40000" anchor="ctr">
            <a:spAutoFit/>
          </a:bodyPr>
          <a:lstStyle/>
          <a:p>
            <a:pPr algn="l">
              <a:lnSpc>
                <a:spcPct val="115000"/>
              </a:lnSpc>
            </a:pPr>
            <a:r>
              <a:rPr sz="1000" b="0" i="0">
                <a:solidFill>
                  <a:srgbClr val="1F2433"/>
                </a:solidFill>
                <a:latin typeface="Calibri"/>
              </a:rPr>
              <a:t>Curated courses, certifications and ordered learning paths per gap.</a:t>
            </a:r>
          </a:p>
        </p:txBody>
      </p:sp>
      <p:sp>
        <p:nvSpPr>
          <p:cNvPr id="7197" name="Oval 7196"/>
          <p:cNvSpPr/>
          <p:nvPr/>
        </p:nvSpPr>
        <p:spPr>
          <a:xfrm>
            <a:off x="502920" y="5843016"/>
            <a:ext cx="146304" cy="14630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8" name="TextBox 7197"/>
          <p:cNvSpPr txBox="1"/>
          <p:nvPr/>
        </p:nvSpPr>
        <p:spPr>
          <a:xfrm>
            <a:off x="713232" y="5696712"/>
            <a:ext cx="1554480" cy="384048"/>
          </a:xfrm>
          <a:prstGeom prst="rect">
            <a:avLst/>
          </a:prstGeom>
          <a:noFill/>
        </p:spPr>
        <p:txBody>
          <a:bodyPr wrap="square" lIns="60000" tIns="40000" rIns="60000" bIns="40000" anchor="ctr">
            <a:spAutoFit/>
          </a:bodyPr>
          <a:lstStyle/>
          <a:p>
            <a:pPr algn="l">
              <a:lnSpc>
                <a:spcPct val="115000"/>
              </a:lnSpc>
            </a:pPr>
            <a:r>
              <a:rPr sz="1100" b="1" i="0">
                <a:solidFill>
                  <a:srgbClr val="1E2761"/>
                </a:solidFill>
                <a:latin typeface="Calibri"/>
              </a:rPr>
              <a:t>Continuous Tracking</a:t>
            </a:r>
          </a:p>
        </p:txBody>
      </p:sp>
      <p:sp>
        <p:nvSpPr>
          <p:cNvPr id="7199" name="TextBox 7198"/>
          <p:cNvSpPr txBox="1"/>
          <p:nvPr/>
        </p:nvSpPr>
        <p:spPr>
          <a:xfrm>
            <a:off x="2286000" y="5696712"/>
            <a:ext cx="3246120" cy="384048"/>
          </a:xfrm>
          <a:prstGeom prst="rect">
            <a:avLst/>
          </a:prstGeom>
          <a:noFill/>
        </p:spPr>
        <p:txBody>
          <a:bodyPr wrap="square" lIns="60000" tIns="40000" rIns="60000" bIns="40000" anchor="ctr">
            <a:spAutoFit/>
          </a:bodyPr>
          <a:lstStyle/>
          <a:p>
            <a:pPr algn="l">
              <a:lnSpc>
                <a:spcPct val="115000"/>
              </a:lnSpc>
            </a:pPr>
            <a:r>
              <a:rPr sz="1000" b="0" i="0">
                <a:solidFill>
                  <a:srgbClr val="1F2433"/>
                </a:solidFill>
                <a:latin typeface="Calibri"/>
              </a:rPr>
              <a:t>Re-runs the analysis as new skills arrive — visible upskilling trajectory.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515EBC-3BF4-83C1-695A-EB7DBBBA6C70}"/>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F87F09D2-3CD9-E63C-D9D8-3B3692013829}"/>
              </a:ext>
            </a:extLst>
          </p:cNvPr>
          <p:cNvSpPr txBox="1"/>
          <p:nvPr/>
        </p:nvSpPr>
        <p:spPr>
          <a:xfrm>
            <a:off x="279400" y="460375"/>
            <a:ext cx="5133975"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MATERIALS AND METHODS</a:t>
            </a:r>
          </a:p>
        </p:txBody>
      </p:sp>
      <p:sp>
        <p:nvSpPr>
          <p:cNvPr id="2" name="Slide Number Placeholder 1">
            <a:extLst>
              <a:ext uri="{FF2B5EF4-FFF2-40B4-BE49-F238E27FC236}">
                <a16:creationId xmlns:a16="http://schemas.microsoft.com/office/drawing/2014/main" id="{072D46FD-D5FD-3A08-2A09-A6C1598D37AB}"/>
              </a:ext>
            </a:extLst>
          </p:cNvPr>
          <p:cNvSpPr>
            <a:spLocks noGrp="1"/>
          </p:cNvSpPr>
          <p:nvPr>
            <p:ph type="sldNum" sz="quarter" idx="12"/>
          </p:nvPr>
        </p:nvSpPr>
        <p:spPr>
          <a:xfrm>
            <a:off x="7523163" y="6297613"/>
            <a:ext cx="2228850" cy="365125"/>
          </a:xfrm>
        </p:spPr>
        <p:txBody>
          <a:bodyPr/>
          <a:lstStyle/>
          <a:p>
            <a:pPr>
              <a:defRPr/>
            </a:pPr>
            <a:fld id="{0DC3A651-DD4A-4DFD-AC56-13AA49AC06FB}" type="slidenum">
              <a:rPr lang="en-US" sz="3600">
                <a:solidFill>
                  <a:schemeClr val="accent2">
                    <a:lumMod val="75000"/>
                  </a:schemeClr>
                </a:solidFill>
                <a:latin typeface="Aharoni" panose="02010803020104030203" pitchFamily="2" charset="-79"/>
                <a:cs typeface="Aharoni" panose="02010803020104030203" pitchFamily="2" charset="-79"/>
              </a:rPr>
              <a:pPr>
                <a:defRPr/>
              </a:pPr>
              <a:t>4</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8197" name="Picture 8">
            <a:extLst>
              <a:ext uri="{FF2B5EF4-FFF2-40B4-BE49-F238E27FC236}">
                <a16:creationId xmlns:a16="http://schemas.microsoft.com/office/drawing/2014/main" id="{8588373A-0279-1F65-445D-88B365D592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TextBox 8197"/>
          <p:cNvSpPr txBox="1"/>
          <p:nvPr/>
        </p:nvSpPr>
        <p:spPr>
          <a:xfrm>
            <a:off x="320040" y="1325880"/>
            <a:ext cx="9262872" cy="457200"/>
          </a:xfrm>
          <a:prstGeom prst="rect">
            <a:avLst/>
          </a:prstGeom>
          <a:noFill/>
        </p:spPr>
        <p:txBody>
          <a:bodyPr wrap="square" lIns="60000" tIns="40000" rIns="60000" bIns="40000">
            <a:spAutoFit/>
          </a:bodyPr>
          <a:lstStyle/>
          <a:p>
            <a:pPr marL="0" indent="0" algn="l">
              <a:lnSpc>
                <a:spcPct val="115000"/>
              </a:lnSpc>
              <a:buNone/>
            </a:pPr>
            <a:r>
              <a:rPr sz="1800" b="1" i="0">
                <a:solidFill>
                  <a:srgbClr val="1E2761"/>
                </a:solidFill>
                <a:latin typeface="Georgia"/>
              </a:rPr>
              <a:t>System architecture &amp; technology stack</a:t>
            </a:r>
          </a:p>
        </p:txBody>
      </p:sp>
      <p:sp>
        <p:nvSpPr>
          <p:cNvPr id="8199" name="Rounded Rectangle 8198"/>
          <p:cNvSpPr/>
          <p:nvPr/>
        </p:nvSpPr>
        <p:spPr>
          <a:xfrm>
            <a:off x="320040" y="1828800"/>
            <a:ext cx="1779422" cy="100584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00" name="TextBox 8199"/>
          <p:cNvSpPr txBox="1"/>
          <p:nvPr/>
        </p:nvSpPr>
        <p:spPr>
          <a:xfrm>
            <a:off x="411480" y="1965960"/>
            <a:ext cx="1596542" cy="411480"/>
          </a:xfrm>
          <a:prstGeom prst="rect">
            <a:avLst/>
          </a:prstGeom>
          <a:noFill/>
        </p:spPr>
        <p:txBody>
          <a:bodyPr wrap="square" lIns="60000" tIns="40000" rIns="60000" bIns="40000">
            <a:spAutoFit/>
          </a:bodyPr>
          <a:lstStyle/>
          <a:p>
            <a:pPr marL="0" indent="0" algn="ctr">
              <a:lnSpc>
                <a:spcPct val="115000"/>
              </a:lnSpc>
              <a:buNone/>
            </a:pPr>
            <a:r>
              <a:rPr sz="1000" b="0" i="1">
                <a:solidFill>
                  <a:srgbClr val="FFFFFF"/>
                </a:solidFill>
                <a:latin typeface="Calibri"/>
              </a:rPr>
              <a:t>Step 1</a:t>
            </a:r>
          </a:p>
        </p:txBody>
      </p:sp>
      <p:sp>
        <p:nvSpPr>
          <p:cNvPr id="8201" name="TextBox 8200"/>
          <p:cNvSpPr txBox="1"/>
          <p:nvPr/>
        </p:nvSpPr>
        <p:spPr>
          <a:xfrm>
            <a:off x="411480" y="2194560"/>
            <a:ext cx="1596542" cy="365760"/>
          </a:xfrm>
          <a:prstGeom prst="rect">
            <a:avLst/>
          </a:prstGeom>
          <a:noFill/>
        </p:spPr>
        <p:txBody>
          <a:bodyPr wrap="square" lIns="60000" tIns="40000" rIns="60000" bIns="40000">
            <a:spAutoFit/>
          </a:bodyPr>
          <a:lstStyle/>
          <a:p>
            <a:pPr marL="0" indent="0" algn="ctr">
              <a:lnSpc>
                <a:spcPct val="115000"/>
              </a:lnSpc>
              <a:buNone/>
            </a:pPr>
            <a:r>
              <a:rPr sz="1500" b="1" i="0">
                <a:solidFill>
                  <a:srgbClr val="FFFFFF"/>
                </a:solidFill>
                <a:latin typeface="Calibri"/>
              </a:rPr>
              <a:t>Input</a:t>
            </a:r>
          </a:p>
        </p:txBody>
      </p:sp>
      <p:sp>
        <p:nvSpPr>
          <p:cNvPr id="8202" name="TextBox 8201"/>
          <p:cNvSpPr txBox="1"/>
          <p:nvPr/>
        </p:nvSpPr>
        <p:spPr>
          <a:xfrm>
            <a:off x="411480" y="2514600"/>
            <a:ext cx="1596542" cy="320040"/>
          </a:xfrm>
          <a:prstGeom prst="rect">
            <a:avLst/>
          </a:prstGeom>
          <a:noFill/>
        </p:spPr>
        <p:txBody>
          <a:bodyPr wrap="square" lIns="60000" tIns="40000" rIns="60000" bIns="40000">
            <a:spAutoFit/>
          </a:bodyPr>
          <a:lstStyle/>
          <a:p>
            <a:pPr marL="0" indent="0" algn="ctr">
              <a:lnSpc>
                <a:spcPct val="115000"/>
              </a:lnSpc>
              <a:buNone/>
            </a:pPr>
            <a:r>
              <a:rPr sz="900" b="0" i="1">
                <a:solidFill>
                  <a:srgbClr val="FFFFFF"/>
                </a:solidFill>
                <a:latin typeface="Calibri"/>
              </a:rPr>
              <a:t>Skills · Certs · Goals</a:t>
            </a:r>
          </a:p>
        </p:txBody>
      </p:sp>
      <p:sp>
        <p:nvSpPr>
          <p:cNvPr id="8203" name="Right Arrow 8202"/>
          <p:cNvSpPr/>
          <p:nvPr/>
        </p:nvSpPr>
        <p:spPr>
          <a:xfrm>
            <a:off x="2104034" y="2258568"/>
            <a:ext cx="82296" cy="14630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4" name="Rounded Rectangle 8203"/>
          <p:cNvSpPr/>
          <p:nvPr/>
        </p:nvSpPr>
        <p:spPr>
          <a:xfrm>
            <a:off x="2190902" y="1828800"/>
            <a:ext cx="1779422" cy="1005840"/>
          </a:xfrm>
          <a:prstGeom prst="roundRect">
            <a:avLst>
              <a:gd name="adj" fmla="val 12000"/>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05" name="TextBox 8204"/>
          <p:cNvSpPr txBox="1"/>
          <p:nvPr/>
        </p:nvSpPr>
        <p:spPr>
          <a:xfrm>
            <a:off x="2282342" y="1965960"/>
            <a:ext cx="1596542" cy="411480"/>
          </a:xfrm>
          <a:prstGeom prst="rect">
            <a:avLst/>
          </a:prstGeom>
          <a:noFill/>
        </p:spPr>
        <p:txBody>
          <a:bodyPr wrap="square" lIns="60000" tIns="40000" rIns="60000" bIns="40000">
            <a:spAutoFit/>
          </a:bodyPr>
          <a:lstStyle/>
          <a:p>
            <a:pPr marL="0" indent="0" algn="ctr">
              <a:lnSpc>
                <a:spcPct val="115000"/>
              </a:lnSpc>
              <a:buNone/>
            </a:pPr>
            <a:r>
              <a:rPr sz="1000" b="0" i="1">
                <a:solidFill>
                  <a:srgbClr val="FFFFFF"/>
                </a:solidFill>
                <a:latin typeface="Calibri"/>
              </a:rPr>
              <a:t>Step 2</a:t>
            </a:r>
          </a:p>
        </p:txBody>
      </p:sp>
      <p:sp>
        <p:nvSpPr>
          <p:cNvPr id="8206" name="TextBox 8205"/>
          <p:cNvSpPr txBox="1"/>
          <p:nvPr/>
        </p:nvSpPr>
        <p:spPr>
          <a:xfrm>
            <a:off x="2282342" y="2194560"/>
            <a:ext cx="1596542" cy="365760"/>
          </a:xfrm>
          <a:prstGeom prst="rect">
            <a:avLst/>
          </a:prstGeom>
          <a:noFill/>
        </p:spPr>
        <p:txBody>
          <a:bodyPr wrap="square" lIns="60000" tIns="40000" rIns="60000" bIns="40000">
            <a:spAutoFit/>
          </a:bodyPr>
          <a:lstStyle/>
          <a:p>
            <a:pPr marL="0" indent="0" algn="ctr">
              <a:lnSpc>
                <a:spcPct val="115000"/>
              </a:lnSpc>
              <a:buNone/>
            </a:pPr>
            <a:r>
              <a:rPr sz="1500" b="1" i="0">
                <a:solidFill>
                  <a:srgbClr val="FFFFFF"/>
                </a:solidFill>
                <a:latin typeface="Calibri"/>
              </a:rPr>
              <a:t>NLP Parse</a:t>
            </a:r>
          </a:p>
        </p:txBody>
      </p:sp>
      <p:sp>
        <p:nvSpPr>
          <p:cNvPr id="8207" name="TextBox 8206"/>
          <p:cNvSpPr txBox="1"/>
          <p:nvPr/>
        </p:nvSpPr>
        <p:spPr>
          <a:xfrm>
            <a:off x="2282342" y="2514600"/>
            <a:ext cx="1596542" cy="320040"/>
          </a:xfrm>
          <a:prstGeom prst="rect">
            <a:avLst/>
          </a:prstGeom>
          <a:noFill/>
        </p:spPr>
        <p:txBody>
          <a:bodyPr wrap="square" lIns="60000" tIns="40000" rIns="60000" bIns="40000">
            <a:spAutoFit/>
          </a:bodyPr>
          <a:lstStyle/>
          <a:p>
            <a:pPr marL="0" indent="0" algn="ctr">
              <a:lnSpc>
                <a:spcPct val="115000"/>
              </a:lnSpc>
              <a:buNone/>
            </a:pPr>
            <a:r>
              <a:rPr sz="900" b="0" i="1">
                <a:solidFill>
                  <a:srgbClr val="FFFFFF"/>
                </a:solidFill>
                <a:latin typeface="Calibri"/>
              </a:rPr>
              <a:t>Normalise &amp; extract</a:t>
            </a:r>
          </a:p>
        </p:txBody>
      </p:sp>
      <p:sp>
        <p:nvSpPr>
          <p:cNvPr id="8208" name="Right Arrow 8207"/>
          <p:cNvSpPr/>
          <p:nvPr/>
        </p:nvSpPr>
        <p:spPr>
          <a:xfrm>
            <a:off x="3974896" y="2258568"/>
            <a:ext cx="82296" cy="14630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9" name="Rounded Rectangle 8208"/>
          <p:cNvSpPr/>
          <p:nvPr/>
        </p:nvSpPr>
        <p:spPr>
          <a:xfrm>
            <a:off x="4061764" y="1828800"/>
            <a:ext cx="1779422" cy="1005840"/>
          </a:xfrm>
          <a:prstGeom prst="roundRect">
            <a:avLst>
              <a:gd name="adj" fmla="val 12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10" name="TextBox 8209"/>
          <p:cNvSpPr txBox="1"/>
          <p:nvPr/>
        </p:nvSpPr>
        <p:spPr>
          <a:xfrm>
            <a:off x="4153204" y="1965960"/>
            <a:ext cx="1596542" cy="411480"/>
          </a:xfrm>
          <a:prstGeom prst="rect">
            <a:avLst/>
          </a:prstGeom>
          <a:noFill/>
        </p:spPr>
        <p:txBody>
          <a:bodyPr wrap="square" lIns="60000" tIns="40000" rIns="60000" bIns="40000">
            <a:spAutoFit/>
          </a:bodyPr>
          <a:lstStyle/>
          <a:p>
            <a:pPr marL="0" indent="0" algn="ctr">
              <a:lnSpc>
                <a:spcPct val="115000"/>
              </a:lnSpc>
              <a:buNone/>
            </a:pPr>
            <a:r>
              <a:rPr sz="1000" b="0" i="1">
                <a:solidFill>
                  <a:srgbClr val="FFFFFF"/>
                </a:solidFill>
                <a:latin typeface="Calibri"/>
              </a:rPr>
              <a:t>Step 3</a:t>
            </a:r>
          </a:p>
        </p:txBody>
      </p:sp>
      <p:sp>
        <p:nvSpPr>
          <p:cNvPr id="8211" name="TextBox 8210"/>
          <p:cNvSpPr txBox="1"/>
          <p:nvPr/>
        </p:nvSpPr>
        <p:spPr>
          <a:xfrm>
            <a:off x="4153204" y="2194560"/>
            <a:ext cx="1596542" cy="365760"/>
          </a:xfrm>
          <a:prstGeom prst="rect">
            <a:avLst/>
          </a:prstGeom>
          <a:noFill/>
        </p:spPr>
        <p:txBody>
          <a:bodyPr wrap="square" lIns="60000" tIns="40000" rIns="60000" bIns="40000">
            <a:spAutoFit/>
          </a:bodyPr>
          <a:lstStyle/>
          <a:p>
            <a:pPr marL="0" indent="0" algn="ctr">
              <a:lnSpc>
                <a:spcPct val="115000"/>
              </a:lnSpc>
              <a:buNone/>
            </a:pPr>
            <a:r>
              <a:rPr sz="1500" b="1" i="0">
                <a:solidFill>
                  <a:srgbClr val="FFFFFF"/>
                </a:solidFill>
                <a:latin typeface="Calibri"/>
              </a:rPr>
              <a:t>Compare</a:t>
            </a:r>
          </a:p>
        </p:txBody>
      </p:sp>
      <p:sp>
        <p:nvSpPr>
          <p:cNvPr id="8212" name="TextBox 8211"/>
          <p:cNvSpPr txBox="1"/>
          <p:nvPr/>
        </p:nvSpPr>
        <p:spPr>
          <a:xfrm>
            <a:off x="4153204" y="2514600"/>
            <a:ext cx="1596542" cy="320040"/>
          </a:xfrm>
          <a:prstGeom prst="rect">
            <a:avLst/>
          </a:prstGeom>
          <a:noFill/>
        </p:spPr>
        <p:txBody>
          <a:bodyPr wrap="square" lIns="60000" tIns="40000" rIns="60000" bIns="40000">
            <a:spAutoFit/>
          </a:bodyPr>
          <a:lstStyle/>
          <a:p>
            <a:pPr marL="0" indent="0" algn="ctr">
              <a:lnSpc>
                <a:spcPct val="115000"/>
              </a:lnSpc>
              <a:buNone/>
            </a:pPr>
            <a:r>
              <a:rPr sz="900" b="0" i="1">
                <a:solidFill>
                  <a:srgbClr val="FFFFFF"/>
                </a:solidFill>
                <a:latin typeface="Calibri"/>
              </a:rPr>
              <a:t>Semantic matching</a:t>
            </a:r>
          </a:p>
        </p:txBody>
      </p:sp>
      <p:sp>
        <p:nvSpPr>
          <p:cNvPr id="8213" name="Right Arrow 8212"/>
          <p:cNvSpPr/>
          <p:nvPr/>
        </p:nvSpPr>
        <p:spPr>
          <a:xfrm>
            <a:off x="5845759" y="2258568"/>
            <a:ext cx="82296" cy="14630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4" name="Rounded Rectangle 8213"/>
          <p:cNvSpPr/>
          <p:nvPr/>
        </p:nvSpPr>
        <p:spPr>
          <a:xfrm>
            <a:off x="5932627" y="1828800"/>
            <a:ext cx="1779422" cy="1005840"/>
          </a:xfrm>
          <a:prstGeom prst="roundRect">
            <a:avLst>
              <a:gd name="adj" fmla="val 12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15" name="TextBox 8214"/>
          <p:cNvSpPr txBox="1"/>
          <p:nvPr/>
        </p:nvSpPr>
        <p:spPr>
          <a:xfrm>
            <a:off x="6024067" y="1965960"/>
            <a:ext cx="1596542" cy="411480"/>
          </a:xfrm>
          <a:prstGeom prst="rect">
            <a:avLst/>
          </a:prstGeom>
          <a:noFill/>
        </p:spPr>
        <p:txBody>
          <a:bodyPr wrap="square" lIns="60000" tIns="40000" rIns="60000" bIns="40000">
            <a:spAutoFit/>
          </a:bodyPr>
          <a:lstStyle/>
          <a:p>
            <a:pPr marL="0" indent="0" algn="ctr">
              <a:lnSpc>
                <a:spcPct val="115000"/>
              </a:lnSpc>
              <a:buNone/>
            </a:pPr>
            <a:r>
              <a:rPr sz="1000" b="0" i="1">
                <a:solidFill>
                  <a:srgbClr val="FFFFFF"/>
                </a:solidFill>
                <a:latin typeface="Calibri"/>
              </a:rPr>
              <a:t>Step 4</a:t>
            </a:r>
          </a:p>
        </p:txBody>
      </p:sp>
      <p:sp>
        <p:nvSpPr>
          <p:cNvPr id="8216" name="TextBox 8215"/>
          <p:cNvSpPr txBox="1"/>
          <p:nvPr/>
        </p:nvSpPr>
        <p:spPr>
          <a:xfrm>
            <a:off x="6024067" y="2194560"/>
            <a:ext cx="1596542" cy="365760"/>
          </a:xfrm>
          <a:prstGeom prst="rect">
            <a:avLst/>
          </a:prstGeom>
          <a:noFill/>
        </p:spPr>
        <p:txBody>
          <a:bodyPr wrap="square" lIns="60000" tIns="40000" rIns="60000" bIns="40000">
            <a:spAutoFit/>
          </a:bodyPr>
          <a:lstStyle/>
          <a:p>
            <a:pPr marL="0" indent="0" algn="ctr">
              <a:lnSpc>
                <a:spcPct val="115000"/>
              </a:lnSpc>
              <a:buNone/>
            </a:pPr>
            <a:r>
              <a:rPr sz="1500" b="1" i="0">
                <a:solidFill>
                  <a:srgbClr val="FFFFFF"/>
                </a:solidFill>
                <a:latin typeface="Calibri"/>
              </a:rPr>
              <a:t>Gap Model</a:t>
            </a:r>
          </a:p>
        </p:txBody>
      </p:sp>
      <p:sp>
        <p:nvSpPr>
          <p:cNvPr id="8217" name="TextBox 8216"/>
          <p:cNvSpPr txBox="1"/>
          <p:nvPr/>
        </p:nvSpPr>
        <p:spPr>
          <a:xfrm>
            <a:off x="6024067" y="2514600"/>
            <a:ext cx="1596542" cy="320040"/>
          </a:xfrm>
          <a:prstGeom prst="rect">
            <a:avLst/>
          </a:prstGeom>
          <a:noFill/>
        </p:spPr>
        <p:txBody>
          <a:bodyPr wrap="square" lIns="60000" tIns="40000" rIns="60000" bIns="40000">
            <a:spAutoFit/>
          </a:bodyPr>
          <a:lstStyle/>
          <a:p>
            <a:pPr marL="0" indent="0" algn="ctr">
              <a:lnSpc>
                <a:spcPct val="115000"/>
              </a:lnSpc>
              <a:buNone/>
            </a:pPr>
            <a:r>
              <a:rPr sz="900" b="0" i="1">
                <a:solidFill>
                  <a:srgbClr val="FFFFFF"/>
                </a:solidFill>
                <a:latin typeface="Calibri"/>
              </a:rPr>
              <a:t>Score + classify</a:t>
            </a:r>
          </a:p>
        </p:txBody>
      </p:sp>
      <p:sp>
        <p:nvSpPr>
          <p:cNvPr id="8218" name="Right Arrow 8217"/>
          <p:cNvSpPr/>
          <p:nvPr/>
        </p:nvSpPr>
        <p:spPr>
          <a:xfrm>
            <a:off x="7716621" y="2258568"/>
            <a:ext cx="82296" cy="146304"/>
          </a:xfrm>
          <a:prstGeom prst="rightArrow">
            <a:avLst/>
          </a:prstGeom>
          <a:solidFill>
            <a:srgbClr val="555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9" name="Rounded Rectangle 8218"/>
          <p:cNvSpPr/>
          <p:nvPr/>
        </p:nvSpPr>
        <p:spPr>
          <a:xfrm>
            <a:off x="7803489" y="1828800"/>
            <a:ext cx="1779422" cy="1005840"/>
          </a:xfrm>
          <a:prstGeom prst="roundRect">
            <a:avLst>
              <a:gd name="adj" fmla="val 12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20" name="TextBox 8219"/>
          <p:cNvSpPr txBox="1"/>
          <p:nvPr/>
        </p:nvSpPr>
        <p:spPr>
          <a:xfrm>
            <a:off x="7894929" y="1965960"/>
            <a:ext cx="1596542" cy="411480"/>
          </a:xfrm>
          <a:prstGeom prst="rect">
            <a:avLst/>
          </a:prstGeom>
          <a:noFill/>
        </p:spPr>
        <p:txBody>
          <a:bodyPr wrap="square" lIns="60000" tIns="40000" rIns="60000" bIns="40000">
            <a:spAutoFit/>
          </a:bodyPr>
          <a:lstStyle/>
          <a:p>
            <a:pPr marL="0" indent="0" algn="ctr">
              <a:lnSpc>
                <a:spcPct val="115000"/>
              </a:lnSpc>
              <a:buNone/>
            </a:pPr>
            <a:r>
              <a:rPr sz="1000" b="0" i="1">
                <a:solidFill>
                  <a:srgbClr val="FFFFFF"/>
                </a:solidFill>
                <a:latin typeface="Calibri"/>
              </a:rPr>
              <a:t>Step 5</a:t>
            </a:r>
          </a:p>
        </p:txBody>
      </p:sp>
      <p:sp>
        <p:nvSpPr>
          <p:cNvPr id="8221" name="TextBox 8220"/>
          <p:cNvSpPr txBox="1"/>
          <p:nvPr/>
        </p:nvSpPr>
        <p:spPr>
          <a:xfrm>
            <a:off x="7894929" y="2194560"/>
            <a:ext cx="1596542" cy="365760"/>
          </a:xfrm>
          <a:prstGeom prst="rect">
            <a:avLst/>
          </a:prstGeom>
          <a:noFill/>
        </p:spPr>
        <p:txBody>
          <a:bodyPr wrap="square" lIns="60000" tIns="40000" rIns="60000" bIns="40000">
            <a:spAutoFit/>
          </a:bodyPr>
          <a:lstStyle/>
          <a:p>
            <a:pPr marL="0" indent="0" algn="ctr">
              <a:lnSpc>
                <a:spcPct val="115000"/>
              </a:lnSpc>
              <a:buNone/>
            </a:pPr>
            <a:r>
              <a:rPr sz="1500" b="1" i="0">
                <a:solidFill>
                  <a:srgbClr val="FFFFFF"/>
                </a:solidFill>
                <a:latin typeface="Calibri"/>
              </a:rPr>
              <a:t>Recommend</a:t>
            </a:r>
          </a:p>
        </p:txBody>
      </p:sp>
      <p:sp>
        <p:nvSpPr>
          <p:cNvPr id="8222" name="TextBox 8221"/>
          <p:cNvSpPr txBox="1"/>
          <p:nvPr/>
        </p:nvSpPr>
        <p:spPr>
          <a:xfrm>
            <a:off x="7894929" y="2514600"/>
            <a:ext cx="1596542" cy="320040"/>
          </a:xfrm>
          <a:prstGeom prst="rect">
            <a:avLst/>
          </a:prstGeom>
          <a:noFill/>
        </p:spPr>
        <p:txBody>
          <a:bodyPr wrap="square" lIns="60000" tIns="40000" rIns="60000" bIns="40000">
            <a:spAutoFit/>
          </a:bodyPr>
          <a:lstStyle/>
          <a:p>
            <a:pPr marL="0" indent="0" algn="ctr">
              <a:lnSpc>
                <a:spcPct val="115000"/>
              </a:lnSpc>
              <a:buNone/>
            </a:pPr>
            <a:r>
              <a:rPr sz="900" b="0" i="1">
                <a:solidFill>
                  <a:srgbClr val="FFFFFF"/>
                </a:solidFill>
                <a:latin typeface="Calibri"/>
              </a:rPr>
              <a:t>Courses &amp; paths</a:t>
            </a:r>
          </a:p>
        </p:txBody>
      </p:sp>
      <p:sp>
        <p:nvSpPr>
          <p:cNvPr id="8223" name="TextBox 8222"/>
          <p:cNvSpPr txBox="1"/>
          <p:nvPr/>
        </p:nvSpPr>
        <p:spPr>
          <a:xfrm>
            <a:off x="320040" y="3108960"/>
            <a:ext cx="9262872" cy="365760"/>
          </a:xfrm>
          <a:prstGeom prst="rect">
            <a:avLst/>
          </a:prstGeom>
          <a:noFill/>
        </p:spPr>
        <p:txBody>
          <a:bodyPr wrap="square" lIns="60000" tIns="40000" rIns="60000" bIns="40000">
            <a:spAutoFit/>
          </a:bodyPr>
          <a:lstStyle/>
          <a:p>
            <a:pPr marL="0" indent="0" algn="l">
              <a:lnSpc>
                <a:spcPct val="115000"/>
              </a:lnSpc>
              <a:buNone/>
            </a:pPr>
            <a:r>
              <a:rPr sz="1600" b="1" i="0">
                <a:solidFill>
                  <a:srgbClr val="C8102E"/>
                </a:solidFill>
                <a:latin typeface="Georgia"/>
              </a:rPr>
              <a:t>Technology stack</a:t>
            </a:r>
          </a:p>
        </p:txBody>
      </p:sp>
      <p:sp>
        <p:nvSpPr>
          <p:cNvPr id="8224" name="Rounded Rectangle 8223"/>
          <p:cNvSpPr/>
          <p:nvPr/>
        </p:nvSpPr>
        <p:spPr>
          <a:xfrm>
            <a:off x="320040" y="3520440"/>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25" name="Rectangle 8224"/>
          <p:cNvSpPr/>
          <p:nvPr/>
        </p:nvSpPr>
        <p:spPr>
          <a:xfrm>
            <a:off x="320040" y="3520440"/>
            <a:ext cx="91440" cy="8686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26" name="TextBox 8225"/>
          <p:cNvSpPr txBox="1"/>
          <p:nvPr/>
        </p:nvSpPr>
        <p:spPr>
          <a:xfrm>
            <a:off x="521208" y="3593592"/>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1E2761"/>
                </a:solidFill>
                <a:latin typeface="Calibri"/>
              </a:rPr>
              <a:t>Frontend</a:t>
            </a:r>
          </a:p>
        </p:txBody>
      </p:sp>
      <p:sp>
        <p:nvSpPr>
          <p:cNvPr id="8227" name="TextBox 8226"/>
          <p:cNvSpPr txBox="1"/>
          <p:nvPr/>
        </p:nvSpPr>
        <p:spPr>
          <a:xfrm>
            <a:off x="521208" y="3904488"/>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React.js · HTML5 · CSS3 · JavaScript</a:t>
            </a:r>
          </a:p>
        </p:txBody>
      </p:sp>
      <p:sp>
        <p:nvSpPr>
          <p:cNvPr id="8228" name="Rounded Rectangle 8227"/>
          <p:cNvSpPr/>
          <p:nvPr/>
        </p:nvSpPr>
        <p:spPr>
          <a:xfrm>
            <a:off x="3450336" y="3520440"/>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29" name="Rectangle 8228"/>
          <p:cNvSpPr/>
          <p:nvPr/>
        </p:nvSpPr>
        <p:spPr>
          <a:xfrm>
            <a:off x="3450336" y="3520440"/>
            <a:ext cx="91440" cy="868680"/>
          </a:xfrm>
          <a:prstGeom prst="rect">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30" name="TextBox 8229"/>
          <p:cNvSpPr txBox="1"/>
          <p:nvPr/>
        </p:nvSpPr>
        <p:spPr>
          <a:xfrm>
            <a:off x="3651504" y="3593592"/>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0B7A75"/>
                </a:solidFill>
                <a:latin typeface="Calibri"/>
              </a:rPr>
              <a:t>Backend</a:t>
            </a:r>
          </a:p>
        </p:txBody>
      </p:sp>
      <p:sp>
        <p:nvSpPr>
          <p:cNvPr id="8231" name="TextBox 8230"/>
          <p:cNvSpPr txBox="1"/>
          <p:nvPr/>
        </p:nvSpPr>
        <p:spPr>
          <a:xfrm>
            <a:off x="3651504" y="3904488"/>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Node.js · Express.js · REST APIs</a:t>
            </a:r>
          </a:p>
        </p:txBody>
      </p:sp>
      <p:sp>
        <p:nvSpPr>
          <p:cNvPr id="8232" name="Rounded Rectangle 8231"/>
          <p:cNvSpPr/>
          <p:nvPr/>
        </p:nvSpPr>
        <p:spPr>
          <a:xfrm>
            <a:off x="6580632" y="3520440"/>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33" name="Rectangle 8232"/>
          <p:cNvSpPr/>
          <p:nvPr/>
        </p:nvSpPr>
        <p:spPr>
          <a:xfrm>
            <a:off x="6580632" y="3520440"/>
            <a:ext cx="91440" cy="868680"/>
          </a:xfrm>
          <a:prstGeom prst="rect">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34" name="TextBox 8233"/>
          <p:cNvSpPr txBox="1"/>
          <p:nvPr/>
        </p:nvSpPr>
        <p:spPr>
          <a:xfrm>
            <a:off x="6781800" y="3593592"/>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E68A00"/>
                </a:solidFill>
                <a:latin typeface="Calibri"/>
              </a:rPr>
              <a:t>Database</a:t>
            </a:r>
          </a:p>
        </p:txBody>
      </p:sp>
      <p:sp>
        <p:nvSpPr>
          <p:cNvPr id="8235" name="TextBox 8234"/>
          <p:cNvSpPr txBox="1"/>
          <p:nvPr/>
        </p:nvSpPr>
        <p:spPr>
          <a:xfrm>
            <a:off x="6781800" y="3904488"/>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MongoDB (profiles, jobs, progress)</a:t>
            </a:r>
          </a:p>
        </p:txBody>
      </p:sp>
      <p:sp>
        <p:nvSpPr>
          <p:cNvPr id="8236" name="Rounded Rectangle 8235"/>
          <p:cNvSpPr/>
          <p:nvPr/>
        </p:nvSpPr>
        <p:spPr>
          <a:xfrm>
            <a:off x="320040" y="4498848"/>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37" name="Rectangle 8236"/>
          <p:cNvSpPr/>
          <p:nvPr/>
        </p:nvSpPr>
        <p:spPr>
          <a:xfrm>
            <a:off x="320040" y="4498848"/>
            <a:ext cx="91440" cy="8686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38" name="TextBox 8237"/>
          <p:cNvSpPr txBox="1"/>
          <p:nvPr/>
        </p:nvSpPr>
        <p:spPr>
          <a:xfrm>
            <a:off x="521208" y="4572000"/>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C8102E"/>
                </a:solidFill>
                <a:latin typeface="Calibri"/>
              </a:rPr>
              <a:t>AI / ML</a:t>
            </a:r>
          </a:p>
        </p:txBody>
      </p:sp>
      <p:sp>
        <p:nvSpPr>
          <p:cNvPr id="8239" name="TextBox 8238"/>
          <p:cNvSpPr txBox="1"/>
          <p:nvPr/>
        </p:nvSpPr>
        <p:spPr>
          <a:xfrm>
            <a:off x="521208" y="4882896"/>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Python 3.8+ · spaCy · NLP · scikit-learn</a:t>
            </a:r>
          </a:p>
        </p:txBody>
      </p:sp>
      <p:sp>
        <p:nvSpPr>
          <p:cNvPr id="8240" name="Rounded Rectangle 8239"/>
          <p:cNvSpPr/>
          <p:nvPr/>
        </p:nvSpPr>
        <p:spPr>
          <a:xfrm>
            <a:off x="3450336" y="4498848"/>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41" name="Rectangle 8240"/>
          <p:cNvSpPr/>
          <p:nvPr/>
        </p:nvSpPr>
        <p:spPr>
          <a:xfrm>
            <a:off x="3450336" y="4498848"/>
            <a:ext cx="91440" cy="868680"/>
          </a:xfrm>
          <a:prstGeom prst="rect">
            <a:avLst/>
          </a:prstGeom>
          <a:solidFill>
            <a:srgbClr val="6A1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42" name="TextBox 8241"/>
          <p:cNvSpPr txBox="1"/>
          <p:nvPr/>
        </p:nvSpPr>
        <p:spPr>
          <a:xfrm>
            <a:off x="3651504" y="4572000"/>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6A1B5F"/>
                </a:solidFill>
                <a:latin typeface="Calibri"/>
              </a:rPr>
              <a:t>Analysis</a:t>
            </a:r>
          </a:p>
        </p:txBody>
      </p:sp>
      <p:sp>
        <p:nvSpPr>
          <p:cNvPr id="8243" name="TextBox 8242"/>
          <p:cNvSpPr txBox="1"/>
          <p:nvPr/>
        </p:nvSpPr>
        <p:spPr>
          <a:xfrm>
            <a:off x="3651504" y="4882896"/>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Semantic similarity · K-Means clustering</a:t>
            </a:r>
          </a:p>
        </p:txBody>
      </p:sp>
      <p:sp>
        <p:nvSpPr>
          <p:cNvPr id="8244" name="Rounded Rectangle 8243"/>
          <p:cNvSpPr/>
          <p:nvPr/>
        </p:nvSpPr>
        <p:spPr>
          <a:xfrm>
            <a:off x="6580632" y="4498848"/>
            <a:ext cx="3002280" cy="868680"/>
          </a:xfrm>
          <a:prstGeom prst="roundRect">
            <a:avLst>
              <a:gd name="adj" fmla="val 12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45" name="Rectangle 8244"/>
          <p:cNvSpPr/>
          <p:nvPr/>
        </p:nvSpPr>
        <p:spPr>
          <a:xfrm>
            <a:off x="6580632" y="4498848"/>
            <a:ext cx="91440" cy="8686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46" name="TextBox 8245"/>
          <p:cNvSpPr txBox="1"/>
          <p:nvPr/>
        </p:nvSpPr>
        <p:spPr>
          <a:xfrm>
            <a:off x="6781800" y="4572000"/>
            <a:ext cx="2727960" cy="365760"/>
          </a:xfrm>
          <a:prstGeom prst="rect">
            <a:avLst/>
          </a:prstGeom>
          <a:noFill/>
        </p:spPr>
        <p:txBody>
          <a:bodyPr wrap="square" lIns="60000" tIns="40000" rIns="60000" bIns="40000">
            <a:spAutoFit/>
          </a:bodyPr>
          <a:lstStyle/>
          <a:p>
            <a:pPr marL="0" indent="0" algn="l">
              <a:lnSpc>
                <a:spcPct val="115000"/>
              </a:lnSpc>
              <a:buNone/>
            </a:pPr>
            <a:r>
              <a:rPr sz="1300" b="1" i="0">
                <a:solidFill>
                  <a:srgbClr val="2E7D5B"/>
                </a:solidFill>
                <a:latin typeface="Calibri"/>
              </a:rPr>
              <a:t>Hosting</a:t>
            </a:r>
          </a:p>
        </p:txBody>
      </p:sp>
      <p:sp>
        <p:nvSpPr>
          <p:cNvPr id="8247" name="TextBox 8246"/>
          <p:cNvSpPr txBox="1"/>
          <p:nvPr/>
        </p:nvSpPr>
        <p:spPr>
          <a:xfrm>
            <a:off x="6781800" y="4882896"/>
            <a:ext cx="2727960" cy="502920"/>
          </a:xfrm>
          <a:prstGeom prst="rect">
            <a:avLst/>
          </a:prstGeom>
          <a:noFill/>
        </p:spPr>
        <p:txBody>
          <a:bodyPr wrap="square" lIns="60000" tIns="40000" rIns="60000" bIns="40000">
            <a:spAutoFit/>
          </a:bodyPr>
          <a:lstStyle/>
          <a:p>
            <a:pPr marL="0" indent="0" algn="l">
              <a:lnSpc>
                <a:spcPct val="115000"/>
              </a:lnSpc>
              <a:buNone/>
            </a:pPr>
            <a:r>
              <a:rPr sz="1000" b="0" i="1">
                <a:solidFill>
                  <a:srgbClr val="222A3C"/>
                </a:solidFill>
                <a:latin typeface="Calibri"/>
              </a:rPr>
              <a:t>Node.js runtime · Cross-browser web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16E6F8-F4ED-40BB-F511-06BA7CDF1EA9}"/>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0C2E534A-DD62-F0A9-C410-20CA2D9AAED2}"/>
              </a:ext>
            </a:extLst>
          </p:cNvPr>
          <p:cNvSpPr txBox="1"/>
          <p:nvPr/>
        </p:nvSpPr>
        <p:spPr>
          <a:xfrm>
            <a:off x="279400" y="460375"/>
            <a:ext cx="5402263"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RESULTS AND DISCUSSIONS</a:t>
            </a:r>
          </a:p>
        </p:txBody>
      </p:sp>
      <p:sp>
        <p:nvSpPr>
          <p:cNvPr id="2" name="Slide Number Placeholder 1">
            <a:extLst>
              <a:ext uri="{FF2B5EF4-FFF2-40B4-BE49-F238E27FC236}">
                <a16:creationId xmlns:a16="http://schemas.microsoft.com/office/drawing/2014/main" id="{24552B2C-DC39-7268-75BA-C9AFA297815D}"/>
              </a:ext>
            </a:extLst>
          </p:cNvPr>
          <p:cNvSpPr>
            <a:spLocks noGrp="1"/>
          </p:cNvSpPr>
          <p:nvPr>
            <p:ph type="sldNum" sz="quarter" idx="12"/>
          </p:nvPr>
        </p:nvSpPr>
        <p:spPr>
          <a:xfrm>
            <a:off x="7523163" y="6327775"/>
            <a:ext cx="2228850" cy="365125"/>
          </a:xfrm>
        </p:spPr>
        <p:txBody>
          <a:bodyPr/>
          <a:lstStyle/>
          <a:p>
            <a:pPr>
              <a:defRPr/>
            </a:pPr>
            <a:fld id="{3637DD66-E5BE-441C-BA25-7AA2953E41A2}" type="slidenum">
              <a:rPr lang="en-US" sz="3600">
                <a:solidFill>
                  <a:schemeClr val="accent2">
                    <a:lumMod val="75000"/>
                  </a:schemeClr>
                </a:solidFill>
                <a:latin typeface="Aharoni" panose="02010803020104030203" pitchFamily="2" charset="-79"/>
                <a:cs typeface="Aharoni" panose="02010803020104030203" pitchFamily="2" charset="-79"/>
              </a:rPr>
              <a:pPr>
                <a:defRPr/>
              </a:pPr>
              <a:t>5</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9221" name="Picture 5">
            <a:extLst>
              <a:ext uri="{FF2B5EF4-FFF2-40B4-BE49-F238E27FC236}">
                <a16:creationId xmlns:a16="http://schemas.microsoft.com/office/drawing/2014/main" id="{A082883A-F3A5-B5FE-96D6-E516CE182F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Box 9221"/>
          <p:cNvSpPr txBox="1"/>
          <p:nvPr/>
        </p:nvSpPr>
        <p:spPr>
          <a:xfrm>
            <a:off x="320040" y="1325880"/>
            <a:ext cx="9262872" cy="411480"/>
          </a:xfrm>
          <a:prstGeom prst="rect">
            <a:avLst/>
          </a:prstGeom>
          <a:noFill/>
        </p:spPr>
        <p:txBody>
          <a:bodyPr wrap="square" lIns="60000" tIns="40000" rIns="60000" bIns="40000">
            <a:spAutoFit/>
          </a:bodyPr>
          <a:lstStyle/>
          <a:p>
            <a:pPr marL="0" indent="0" algn="l">
              <a:lnSpc>
                <a:spcPct val="115000"/>
              </a:lnSpc>
              <a:buNone/>
            </a:pPr>
            <a:r>
              <a:rPr sz="1800" b="1" i="0">
                <a:solidFill>
                  <a:srgbClr val="1E2761"/>
                </a:solidFill>
                <a:latin typeface="Georgia"/>
              </a:rPr>
              <a:t>Skill categorization &amp; match score</a:t>
            </a:r>
          </a:p>
        </p:txBody>
      </p:sp>
      <p:sp>
        <p:nvSpPr>
          <p:cNvPr id="9223" name="Oval 9222"/>
          <p:cNvSpPr/>
          <p:nvPr/>
        </p:nvSpPr>
        <p:spPr>
          <a:xfrm>
            <a:off x="777240" y="1874520"/>
            <a:ext cx="2926080" cy="2926080"/>
          </a:xfrm>
          <a:prstGeom prst="ellipse">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4" name="Oval 9223"/>
          <p:cNvSpPr/>
          <p:nvPr/>
        </p:nvSpPr>
        <p:spPr>
          <a:xfrm>
            <a:off x="1097280" y="2194560"/>
            <a:ext cx="2286000" cy="2286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5" name="Rounded Rectangle 9224"/>
          <p:cNvSpPr/>
          <p:nvPr/>
        </p:nvSpPr>
        <p:spPr>
          <a:xfrm>
            <a:off x="886968" y="4023360"/>
            <a:ext cx="2706624" cy="502920"/>
          </a:xfrm>
          <a:prstGeom prst="roundRect">
            <a:avLst>
              <a:gd name="adj" fmla="val 25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26" name="TextBox 9225"/>
          <p:cNvSpPr txBox="1"/>
          <p:nvPr/>
        </p:nvSpPr>
        <p:spPr>
          <a:xfrm>
            <a:off x="777240" y="2377440"/>
            <a:ext cx="2926080" cy="914400"/>
          </a:xfrm>
          <a:prstGeom prst="rect">
            <a:avLst/>
          </a:prstGeom>
          <a:noFill/>
        </p:spPr>
        <p:txBody>
          <a:bodyPr wrap="square" lIns="60000" tIns="40000" rIns="60000" bIns="40000">
            <a:spAutoFit/>
          </a:bodyPr>
          <a:lstStyle/>
          <a:p>
            <a:pPr marL="0" indent="0" algn="ctr">
              <a:lnSpc>
                <a:spcPct val="115000"/>
              </a:lnSpc>
              <a:buNone/>
            </a:pPr>
            <a:r>
              <a:rPr sz="6400" b="1" i="0">
                <a:solidFill>
                  <a:srgbClr val="1E2761"/>
                </a:solidFill>
                <a:latin typeface="Georgia"/>
              </a:rPr>
              <a:t>72%</a:t>
            </a:r>
          </a:p>
        </p:txBody>
      </p:sp>
      <p:sp>
        <p:nvSpPr>
          <p:cNvPr id="9227" name="TextBox 9226"/>
          <p:cNvSpPr txBox="1"/>
          <p:nvPr/>
        </p:nvSpPr>
        <p:spPr>
          <a:xfrm>
            <a:off x="777240" y="3291840"/>
            <a:ext cx="2926080" cy="411480"/>
          </a:xfrm>
          <a:prstGeom prst="rect">
            <a:avLst/>
          </a:prstGeom>
          <a:noFill/>
        </p:spPr>
        <p:txBody>
          <a:bodyPr wrap="square" lIns="60000" tIns="40000" rIns="60000" bIns="40000">
            <a:spAutoFit/>
          </a:bodyPr>
          <a:lstStyle/>
          <a:p>
            <a:pPr marL="0" indent="0" algn="ctr">
              <a:lnSpc>
                <a:spcPct val="115000"/>
              </a:lnSpc>
              <a:buNone/>
            </a:pPr>
            <a:r>
              <a:rPr sz="1200" b="1" i="0">
                <a:solidFill>
                  <a:srgbClr val="555B6E"/>
                </a:solidFill>
                <a:latin typeface="Calibri"/>
              </a:rPr>
              <a:t>MATCH SCORE</a:t>
            </a:r>
          </a:p>
        </p:txBody>
      </p:sp>
      <p:sp>
        <p:nvSpPr>
          <p:cNvPr id="9228" name="TextBox 9227"/>
          <p:cNvSpPr txBox="1"/>
          <p:nvPr/>
        </p:nvSpPr>
        <p:spPr>
          <a:xfrm>
            <a:off x="777240" y="4023360"/>
            <a:ext cx="2926080" cy="502920"/>
          </a:xfrm>
          <a:prstGeom prst="rect">
            <a:avLst/>
          </a:prstGeom>
          <a:noFill/>
        </p:spPr>
        <p:txBody>
          <a:bodyPr wrap="square" lIns="60000" tIns="40000" rIns="60000" bIns="40000">
            <a:spAutoFit/>
          </a:bodyPr>
          <a:lstStyle/>
          <a:p>
            <a:pPr marL="0" indent="0" algn="ctr">
              <a:lnSpc>
                <a:spcPct val="115000"/>
              </a:lnSpc>
              <a:buNone/>
            </a:pPr>
            <a:r>
              <a:rPr sz="1100" b="1" i="0">
                <a:solidFill>
                  <a:srgbClr val="FFFFFF"/>
                </a:solidFill>
                <a:latin typeface="Calibri"/>
              </a:rPr>
              <a:t>JOB ROLE · DATA SCIENTIST</a:t>
            </a:r>
          </a:p>
        </p:txBody>
      </p:sp>
      <p:sp>
        <p:nvSpPr>
          <p:cNvPr id="9229" name="TextBox 9228"/>
          <p:cNvSpPr txBox="1"/>
          <p:nvPr/>
        </p:nvSpPr>
        <p:spPr>
          <a:xfrm>
            <a:off x="320040" y="4617720"/>
            <a:ext cx="3840480" cy="502920"/>
          </a:xfrm>
          <a:prstGeom prst="rect">
            <a:avLst/>
          </a:prstGeom>
          <a:noFill/>
        </p:spPr>
        <p:txBody>
          <a:bodyPr wrap="square" lIns="60000" tIns="40000" rIns="60000" bIns="40000">
            <a:spAutoFit/>
          </a:bodyPr>
          <a:lstStyle/>
          <a:p>
            <a:pPr marL="0" indent="0" algn="ctr">
              <a:lnSpc>
                <a:spcPct val="120000"/>
              </a:lnSpc>
              <a:buNone/>
            </a:pPr>
            <a:r>
              <a:rPr sz="1000" b="0" i="1">
                <a:solidFill>
                  <a:srgbClr val="555B6E"/>
                </a:solidFill>
                <a:latin typeface="Calibri"/>
              </a:rPr>
              <a:t>Quantifies how well a user profile aligns with a target role — updated dynamically as skills grow.</a:t>
            </a:r>
          </a:p>
        </p:txBody>
      </p:sp>
      <p:sp>
        <p:nvSpPr>
          <p:cNvPr id="9230" name="Rounded Rectangle 9229"/>
          <p:cNvSpPr/>
          <p:nvPr/>
        </p:nvSpPr>
        <p:spPr>
          <a:xfrm>
            <a:off x="4389120" y="1874520"/>
            <a:ext cx="5193792" cy="123444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1" name="Rectangle 9230"/>
          <p:cNvSpPr/>
          <p:nvPr/>
        </p:nvSpPr>
        <p:spPr>
          <a:xfrm>
            <a:off x="4389120" y="1874520"/>
            <a:ext cx="128016" cy="12344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2" name="Oval 9231"/>
          <p:cNvSpPr/>
          <p:nvPr/>
        </p:nvSpPr>
        <p:spPr>
          <a:xfrm>
            <a:off x="4663440" y="2148840"/>
            <a:ext cx="685800" cy="68580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3" name="TextBox 9232"/>
          <p:cNvSpPr txBox="1"/>
          <p:nvPr/>
        </p:nvSpPr>
        <p:spPr>
          <a:xfrm>
            <a:off x="4663440" y="2148840"/>
            <a:ext cx="685800" cy="685800"/>
          </a:xfrm>
          <a:prstGeom prst="rect">
            <a:avLst/>
          </a:prstGeom>
          <a:noFill/>
        </p:spPr>
        <p:txBody>
          <a:bodyPr wrap="none" lIns="0" tIns="0" rIns="0" bIns="0" anchor="ctr">
            <a:spAutoFit/>
          </a:bodyPr>
          <a:lstStyle/>
          <a:p>
            <a:pPr algn="ctr"/>
            <a:r>
              <a:rPr sz="2400" b="1">
                <a:solidFill>
                  <a:srgbClr val="FFFFFF"/>
                </a:solidFill>
                <a:latin typeface="Calibri"/>
              </a:rPr>
              <a:t>✓</a:t>
            </a:r>
          </a:p>
        </p:txBody>
      </p:sp>
      <p:sp>
        <p:nvSpPr>
          <p:cNvPr id="9234" name="TextBox 9233"/>
          <p:cNvSpPr txBox="1"/>
          <p:nvPr/>
        </p:nvSpPr>
        <p:spPr>
          <a:xfrm>
            <a:off x="5486400" y="2011680"/>
            <a:ext cx="4005072" cy="365760"/>
          </a:xfrm>
          <a:prstGeom prst="rect">
            <a:avLst/>
          </a:prstGeom>
          <a:noFill/>
        </p:spPr>
        <p:txBody>
          <a:bodyPr wrap="square" lIns="60000" tIns="40000" rIns="60000" bIns="40000">
            <a:spAutoFit/>
          </a:bodyPr>
          <a:lstStyle/>
          <a:p>
            <a:pPr marL="0" indent="0" algn="l">
              <a:lnSpc>
                <a:spcPct val="115000"/>
              </a:lnSpc>
              <a:buNone/>
            </a:pPr>
            <a:r>
              <a:rPr sz="1400" b="1" i="0">
                <a:solidFill>
                  <a:srgbClr val="2E7D5B"/>
                </a:solidFill>
                <a:latin typeface="Calibri"/>
              </a:rPr>
              <a:t>MATCHED</a:t>
            </a:r>
          </a:p>
        </p:txBody>
      </p:sp>
      <p:sp>
        <p:nvSpPr>
          <p:cNvPr id="9235" name="TextBox 9234"/>
          <p:cNvSpPr txBox="1"/>
          <p:nvPr/>
        </p:nvSpPr>
        <p:spPr>
          <a:xfrm>
            <a:off x="5486400" y="2377440"/>
            <a:ext cx="4005072" cy="365760"/>
          </a:xfrm>
          <a:prstGeom prst="rect">
            <a:avLst/>
          </a:prstGeom>
          <a:noFill/>
        </p:spPr>
        <p:txBody>
          <a:bodyPr wrap="square" lIns="60000" tIns="40000" rIns="60000" bIns="40000">
            <a:spAutoFit/>
          </a:bodyPr>
          <a:lstStyle/>
          <a:p>
            <a:pPr marL="0" indent="0" algn="l">
              <a:lnSpc>
                <a:spcPct val="115000"/>
              </a:lnSpc>
              <a:buNone/>
            </a:pPr>
            <a:r>
              <a:rPr sz="1100" b="0" i="0">
                <a:solidFill>
                  <a:srgbClr val="222A3C"/>
                </a:solidFill>
                <a:latin typeface="Calibri"/>
              </a:rPr>
              <a:t>Python, SQL, Pandas</a:t>
            </a:r>
          </a:p>
        </p:txBody>
      </p:sp>
      <p:sp>
        <p:nvSpPr>
          <p:cNvPr id="9236" name="TextBox 9235"/>
          <p:cNvSpPr txBox="1"/>
          <p:nvPr/>
        </p:nvSpPr>
        <p:spPr>
          <a:xfrm>
            <a:off x="5486400" y="2724912"/>
            <a:ext cx="4005072"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7 skills aligned</a:t>
            </a:r>
          </a:p>
        </p:txBody>
      </p:sp>
      <p:sp>
        <p:nvSpPr>
          <p:cNvPr id="9237" name="Rounded Rectangle 9236"/>
          <p:cNvSpPr/>
          <p:nvPr/>
        </p:nvSpPr>
        <p:spPr>
          <a:xfrm>
            <a:off x="4389120" y="3273552"/>
            <a:ext cx="5193792" cy="123444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8" name="Rectangle 9237"/>
          <p:cNvSpPr/>
          <p:nvPr/>
        </p:nvSpPr>
        <p:spPr>
          <a:xfrm>
            <a:off x="4389120" y="3273552"/>
            <a:ext cx="128016" cy="1234440"/>
          </a:xfrm>
          <a:prstGeom prst="rect">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9" name="Oval 9238"/>
          <p:cNvSpPr/>
          <p:nvPr/>
        </p:nvSpPr>
        <p:spPr>
          <a:xfrm>
            <a:off x="4663440" y="3547872"/>
            <a:ext cx="685800" cy="685800"/>
          </a:xfrm>
          <a:prstGeom prst="ellipse">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0" name="TextBox 9239"/>
          <p:cNvSpPr txBox="1"/>
          <p:nvPr/>
        </p:nvSpPr>
        <p:spPr>
          <a:xfrm>
            <a:off x="4663440" y="3547872"/>
            <a:ext cx="685800" cy="685800"/>
          </a:xfrm>
          <a:prstGeom prst="rect">
            <a:avLst/>
          </a:prstGeom>
          <a:noFill/>
        </p:spPr>
        <p:txBody>
          <a:bodyPr wrap="none" lIns="0" tIns="0" rIns="0" bIns="0" anchor="ctr">
            <a:spAutoFit/>
          </a:bodyPr>
          <a:lstStyle/>
          <a:p>
            <a:pPr algn="ctr"/>
            <a:r>
              <a:rPr sz="2400" b="1">
                <a:solidFill>
                  <a:srgbClr val="FFFFFF"/>
                </a:solidFill>
                <a:latin typeface="Calibri"/>
              </a:rPr>
              <a:t>≈</a:t>
            </a:r>
          </a:p>
        </p:txBody>
      </p:sp>
      <p:sp>
        <p:nvSpPr>
          <p:cNvPr id="9241" name="TextBox 9240"/>
          <p:cNvSpPr txBox="1"/>
          <p:nvPr/>
        </p:nvSpPr>
        <p:spPr>
          <a:xfrm>
            <a:off x="5486400" y="3410712"/>
            <a:ext cx="4005072" cy="365760"/>
          </a:xfrm>
          <a:prstGeom prst="rect">
            <a:avLst/>
          </a:prstGeom>
          <a:noFill/>
        </p:spPr>
        <p:txBody>
          <a:bodyPr wrap="square" lIns="60000" tIns="40000" rIns="60000" bIns="40000">
            <a:spAutoFit/>
          </a:bodyPr>
          <a:lstStyle/>
          <a:p>
            <a:pPr marL="0" indent="0" algn="l">
              <a:lnSpc>
                <a:spcPct val="115000"/>
              </a:lnSpc>
              <a:buNone/>
            </a:pPr>
            <a:r>
              <a:rPr sz="1400" b="1" i="0">
                <a:solidFill>
                  <a:srgbClr val="E68A00"/>
                </a:solidFill>
                <a:latin typeface="Calibri"/>
              </a:rPr>
              <a:t>PARTIALLY MATCHED</a:t>
            </a:r>
          </a:p>
        </p:txBody>
      </p:sp>
      <p:sp>
        <p:nvSpPr>
          <p:cNvPr id="9242" name="TextBox 9241"/>
          <p:cNvSpPr txBox="1"/>
          <p:nvPr/>
        </p:nvSpPr>
        <p:spPr>
          <a:xfrm>
            <a:off x="5486400" y="3776472"/>
            <a:ext cx="4005072" cy="365760"/>
          </a:xfrm>
          <a:prstGeom prst="rect">
            <a:avLst/>
          </a:prstGeom>
          <a:noFill/>
        </p:spPr>
        <p:txBody>
          <a:bodyPr wrap="square" lIns="60000" tIns="40000" rIns="60000" bIns="40000">
            <a:spAutoFit/>
          </a:bodyPr>
          <a:lstStyle/>
          <a:p>
            <a:pPr marL="0" indent="0" algn="l">
              <a:lnSpc>
                <a:spcPct val="115000"/>
              </a:lnSpc>
              <a:buNone/>
            </a:pPr>
            <a:r>
              <a:rPr sz="1100" b="0" i="0">
                <a:solidFill>
                  <a:srgbClr val="222A3C"/>
                </a:solidFill>
                <a:latin typeface="Calibri"/>
              </a:rPr>
              <a:t>Statistics, Machine Learning</a:t>
            </a:r>
          </a:p>
        </p:txBody>
      </p:sp>
      <p:sp>
        <p:nvSpPr>
          <p:cNvPr id="9243" name="TextBox 9242"/>
          <p:cNvSpPr txBox="1"/>
          <p:nvPr/>
        </p:nvSpPr>
        <p:spPr>
          <a:xfrm>
            <a:off x="5486400" y="4123944"/>
            <a:ext cx="4005072"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1 skill to refine</a:t>
            </a:r>
          </a:p>
        </p:txBody>
      </p:sp>
      <p:sp>
        <p:nvSpPr>
          <p:cNvPr id="9244" name="Rounded Rectangle 9243"/>
          <p:cNvSpPr/>
          <p:nvPr/>
        </p:nvSpPr>
        <p:spPr>
          <a:xfrm>
            <a:off x="4389120" y="4672584"/>
            <a:ext cx="5193792" cy="123444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45" name="Rectangle 9244"/>
          <p:cNvSpPr/>
          <p:nvPr/>
        </p:nvSpPr>
        <p:spPr>
          <a:xfrm>
            <a:off x="4389120" y="4672584"/>
            <a:ext cx="128016" cy="12344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46" name="Oval 9245"/>
          <p:cNvSpPr/>
          <p:nvPr/>
        </p:nvSpPr>
        <p:spPr>
          <a:xfrm>
            <a:off x="4663440" y="4946904"/>
            <a:ext cx="685800" cy="6858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7" name="TextBox 9246"/>
          <p:cNvSpPr txBox="1"/>
          <p:nvPr/>
        </p:nvSpPr>
        <p:spPr>
          <a:xfrm>
            <a:off x="4663440" y="4946904"/>
            <a:ext cx="685800" cy="685800"/>
          </a:xfrm>
          <a:prstGeom prst="rect">
            <a:avLst/>
          </a:prstGeom>
          <a:noFill/>
        </p:spPr>
        <p:txBody>
          <a:bodyPr wrap="none" lIns="0" tIns="0" rIns="0" bIns="0" anchor="ctr">
            <a:spAutoFit/>
          </a:bodyPr>
          <a:lstStyle/>
          <a:p>
            <a:pPr algn="ctr"/>
            <a:r>
              <a:rPr sz="2400" b="1">
                <a:solidFill>
                  <a:srgbClr val="FFFFFF"/>
                </a:solidFill>
                <a:latin typeface="Calibri"/>
              </a:rPr>
              <a:t>✗</a:t>
            </a:r>
          </a:p>
        </p:txBody>
      </p:sp>
      <p:sp>
        <p:nvSpPr>
          <p:cNvPr id="9248" name="TextBox 9247"/>
          <p:cNvSpPr txBox="1"/>
          <p:nvPr/>
        </p:nvSpPr>
        <p:spPr>
          <a:xfrm>
            <a:off x="5486400" y="4809744"/>
            <a:ext cx="4005072" cy="365760"/>
          </a:xfrm>
          <a:prstGeom prst="rect">
            <a:avLst/>
          </a:prstGeom>
          <a:noFill/>
        </p:spPr>
        <p:txBody>
          <a:bodyPr wrap="square" lIns="60000" tIns="40000" rIns="60000" bIns="40000">
            <a:spAutoFit/>
          </a:bodyPr>
          <a:lstStyle/>
          <a:p>
            <a:pPr marL="0" indent="0" algn="l">
              <a:lnSpc>
                <a:spcPct val="115000"/>
              </a:lnSpc>
              <a:buNone/>
            </a:pPr>
            <a:r>
              <a:rPr sz="1400" b="1" i="0">
                <a:solidFill>
                  <a:srgbClr val="C8102E"/>
                </a:solidFill>
                <a:latin typeface="Calibri"/>
              </a:rPr>
              <a:t>MISSING</a:t>
            </a:r>
          </a:p>
        </p:txBody>
      </p:sp>
      <p:sp>
        <p:nvSpPr>
          <p:cNvPr id="9249" name="TextBox 9248"/>
          <p:cNvSpPr txBox="1"/>
          <p:nvPr/>
        </p:nvSpPr>
        <p:spPr>
          <a:xfrm>
            <a:off x="5486400" y="5175504"/>
            <a:ext cx="4005072" cy="365760"/>
          </a:xfrm>
          <a:prstGeom prst="rect">
            <a:avLst/>
          </a:prstGeom>
          <a:noFill/>
        </p:spPr>
        <p:txBody>
          <a:bodyPr wrap="square" lIns="60000" tIns="40000" rIns="60000" bIns="40000">
            <a:spAutoFit/>
          </a:bodyPr>
          <a:lstStyle/>
          <a:p>
            <a:pPr marL="0" indent="0" algn="l">
              <a:lnSpc>
                <a:spcPct val="115000"/>
              </a:lnSpc>
              <a:buNone/>
            </a:pPr>
            <a:r>
              <a:rPr sz="1100" b="0" i="0">
                <a:solidFill>
                  <a:srgbClr val="222A3C"/>
                </a:solidFill>
                <a:latin typeface="Calibri"/>
              </a:rPr>
              <a:t>TensorFlow, Deep Learning, NLP, Docker</a:t>
            </a:r>
          </a:p>
        </p:txBody>
      </p:sp>
      <p:sp>
        <p:nvSpPr>
          <p:cNvPr id="9250" name="TextBox 9249"/>
          <p:cNvSpPr txBox="1"/>
          <p:nvPr/>
        </p:nvSpPr>
        <p:spPr>
          <a:xfrm>
            <a:off x="5486400" y="5522976"/>
            <a:ext cx="4005072"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11 skills to learn</a:t>
            </a:r>
          </a:p>
        </p:txBody>
      </p:sp>
      <p:sp>
        <p:nvSpPr>
          <p:cNvPr id="9251" name="Rounded Rectangle 9250"/>
          <p:cNvSpPr/>
          <p:nvPr/>
        </p:nvSpPr>
        <p:spPr>
          <a:xfrm>
            <a:off x="320040" y="5166360"/>
            <a:ext cx="3840480" cy="960120"/>
          </a:xfrm>
          <a:prstGeom prst="round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2" name="Rectangle 9251"/>
          <p:cNvSpPr/>
          <p:nvPr/>
        </p:nvSpPr>
        <p:spPr>
          <a:xfrm>
            <a:off x="320040" y="5166360"/>
            <a:ext cx="91440" cy="960120"/>
          </a:xfrm>
          <a:prstGeom prst="rect">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3" name="TextBox 9252"/>
          <p:cNvSpPr txBox="1"/>
          <p:nvPr/>
        </p:nvSpPr>
        <p:spPr>
          <a:xfrm>
            <a:off x="502920" y="5239512"/>
            <a:ext cx="3566160" cy="274320"/>
          </a:xfrm>
          <a:prstGeom prst="rect">
            <a:avLst/>
          </a:prstGeom>
          <a:noFill/>
        </p:spPr>
        <p:txBody>
          <a:bodyPr wrap="square" lIns="60000" tIns="40000" rIns="60000" bIns="40000" anchor="t">
            <a:spAutoFit/>
          </a:bodyPr>
          <a:lstStyle/>
          <a:p>
            <a:pPr algn="l">
              <a:lnSpc>
                <a:spcPct val="115000"/>
              </a:lnSpc>
            </a:pPr>
            <a:r>
              <a:rPr sz="1000" b="1" i="0">
                <a:solidFill>
                  <a:srgbClr val="0B7A75"/>
                </a:solidFill>
                <a:latin typeface="Calibri"/>
              </a:rPr>
              <a:t>VALIDATION SNAPSHOT</a:t>
            </a:r>
          </a:p>
        </p:txBody>
      </p:sp>
      <p:sp>
        <p:nvSpPr>
          <p:cNvPr id="9254" name="TextBox 9253"/>
          <p:cNvSpPr txBox="1"/>
          <p:nvPr/>
        </p:nvSpPr>
        <p:spPr>
          <a:xfrm>
            <a:off x="502920" y="5495544"/>
            <a:ext cx="3566160" cy="566928"/>
          </a:xfrm>
          <a:prstGeom prst="rect">
            <a:avLst/>
          </a:prstGeom>
          <a:noFill/>
        </p:spPr>
        <p:txBody>
          <a:bodyPr wrap="square" lIns="60000" tIns="40000" rIns="60000" bIns="40000" anchor="t">
            <a:spAutoFit/>
          </a:bodyPr>
          <a:lstStyle/>
          <a:p>
            <a:pPr algn="l">
              <a:lnSpc>
                <a:spcPct val="120000"/>
              </a:lnSpc>
            </a:pPr>
            <a:r>
              <a:rPr sz="950" b="0" i="0">
                <a:solidFill>
                  <a:srgbClr val="1F2433"/>
                </a:solidFill>
                <a:latin typeface="Calibri"/>
              </a:rPr>
              <a:t>Tested across software engineering, data analytics, cybersecurity &amp; UI design profiles — match scores correlated with expert human assessments and handled tricky cases such as Django vs. Flask and Power BI vs. data-viz overlap.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A312F-BF77-F115-02C3-452A2C4F1959}"/>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B3D76ADD-8BE7-9485-3A0A-071DA22778A7}"/>
              </a:ext>
            </a:extLst>
          </p:cNvPr>
          <p:cNvSpPr txBox="1"/>
          <p:nvPr/>
        </p:nvSpPr>
        <p:spPr>
          <a:xfrm>
            <a:off x="279400" y="460375"/>
            <a:ext cx="8229600" cy="640080"/>
          </a:xfrm>
          <a:prstGeom prst="rect">
            <a:avLst/>
          </a:prstGeom>
          <a:noFill/>
        </p:spPr>
        <p:txBody>
          <a:bodyPr wrap="square" lIns="60000" tIns="40000" rIns="60000" bIns="40000">
            <a:spAutoFit/>
          </a:bodyPr>
          <a:lstStyle/>
          <a:p>
            <a:pPr marL="0" indent="0" algn="l" eaLnBrk="1" fontAlgn="auto" hangingPunct="1">
              <a:lnSpc>
                <a:spcPct val="115000"/>
              </a:lnSpc>
              <a:spcBef>
                <a:spcPts val="0"/>
              </a:spcBef>
              <a:spcAft>
                <a:spcPts val="0"/>
              </a:spcAft>
              <a:defRPr/>
            </a:pPr>
            <a:r>
              <a:rPr sz="2200" b="1" i="0">
                <a:solidFill>
                  <a:srgbClr val="1E2761"/>
                </a:solidFill>
                <a:latin typeface="Georgia"/>
              </a:rPr>
              <a:t>DASHBOARD EXPERIENCE</a:t>
            </a:r>
          </a:p>
        </p:txBody>
      </p:sp>
      <p:sp>
        <p:nvSpPr>
          <p:cNvPr id="2" name="Slide Number Placeholder 1">
            <a:extLst>
              <a:ext uri="{FF2B5EF4-FFF2-40B4-BE49-F238E27FC236}">
                <a16:creationId xmlns:a16="http://schemas.microsoft.com/office/drawing/2014/main" id="{38AEEB13-E550-D68E-8EA3-4396323225E8}"/>
              </a:ext>
            </a:extLst>
          </p:cNvPr>
          <p:cNvSpPr>
            <a:spLocks noGrp="1"/>
          </p:cNvSpPr>
          <p:nvPr>
            <p:ph type="sldNum" sz="quarter" idx="12"/>
          </p:nvPr>
        </p:nvSpPr>
        <p:spPr>
          <a:xfrm>
            <a:off x="7523163" y="6327775"/>
            <a:ext cx="2228850" cy="365125"/>
          </a:xfrm>
        </p:spPr>
        <p:txBody>
          <a:bodyPr/>
          <a:lstStyle/>
          <a:p>
            <a:pPr>
              <a:defRPr/>
            </a:pPr>
            <a:fld id="{F75859F1-E2D1-43F1-88D3-675516FBE225}" type="slidenum">
              <a:rPr lang="en-US" sz="3600">
                <a:solidFill>
                  <a:schemeClr val="accent2">
                    <a:lumMod val="75000"/>
                  </a:schemeClr>
                </a:solidFill>
                <a:latin typeface="Aharoni" panose="02010803020104030203" pitchFamily="2" charset="-79"/>
                <a:cs typeface="Aharoni" panose="02010803020104030203" pitchFamily="2" charset="-79"/>
              </a:rPr>
              <a:pPr>
                <a:defRPr/>
              </a:pPr>
              <a:t>6</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0245" name="Picture 2">
            <a:extLst>
              <a:ext uri="{FF2B5EF4-FFF2-40B4-BE49-F238E27FC236}">
                <a16:creationId xmlns:a16="http://schemas.microsoft.com/office/drawing/2014/main" id="{1CDAC7FD-0556-7D15-6DE5-685A48761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TextBox 10245"/>
          <p:cNvSpPr txBox="1"/>
          <p:nvPr/>
        </p:nvSpPr>
        <p:spPr>
          <a:xfrm>
            <a:off x="320040" y="1325880"/>
            <a:ext cx="9262872" cy="411480"/>
          </a:xfrm>
          <a:prstGeom prst="rect">
            <a:avLst/>
          </a:prstGeom>
          <a:noFill/>
        </p:spPr>
        <p:txBody>
          <a:bodyPr wrap="square" lIns="60000" tIns="40000" rIns="60000" bIns="40000">
            <a:spAutoFit/>
          </a:bodyPr>
          <a:lstStyle/>
          <a:p>
            <a:pPr marL="0" indent="0" algn="l">
              <a:lnSpc>
                <a:spcPct val="115000"/>
              </a:lnSpc>
              <a:buNone/>
            </a:pPr>
            <a:r>
              <a:rPr sz="1400" b="0" i="1">
                <a:solidFill>
                  <a:srgbClr val="555B6E"/>
                </a:solidFill>
                <a:latin typeface="Calibri"/>
              </a:rPr>
              <a:t>What the end user actually sees and interacts with</a:t>
            </a:r>
          </a:p>
        </p:txBody>
      </p:sp>
      <p:sp>
        <p:nvSpPr>
          <p:cNvPr id="10247" name="Rounded Rectangle 10246"/>
          <p:cNvSpPr/>
          <p:nvPr/>
        </p:nvSpPr>
        <p:spPr>
          <a:xfrm>
            <a:off x="320040" y="1828800"/>
            <a:ext cx="9262872" cy="4114800"/>
          </a:xfrm>
          <a:prstGeom prst="roundRect">
            <a:avLst>
              <a:gd name="adj" fmla="val 3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48" name="Rectangle 10247"/>
          <p:cNvSpPr/>
          <p:nvPr/>
        </p:nvSpPr>
        <p:spPr>
          <a:xfrm>
            <a:off x="393192" y="1901952"/>
            <a:ext cx="1645920" cy="39684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49" name="TextBox 10248"/>
          <p:cNvSpPr txBox="1"/>
          <p:nvPr/>
        </p:nvSpPr>
        <p:spPr>
          <a:xfrm>
            <a:off x="594360" y="2103120"/>
            <a:ext cx="1371600" cy="320040"/>
          </a:xfrm>
          <a:prstGeom prst="rect">
            <a:avLst/>
          </a:prstGeom>
          <a:noFill/>
        </p:spPr>
        <p:txBody>
          <a:bodyPr wrap="square" lIns="60000" tIns="40000" rIns="60000" bIns="40000">
            <a:spAutoFit/>
          </a:bodyPr>
          <a:lstStyle/>
          <a:p>
            <a:pPr marL="0" indent="0" algn="l">
              <a:lnSpc>
                <a:spcPct val="115000"/>
              </a:lnSpc>
              <a:buNone/>
            </a:pPr>
            <a:r>
              <a:rPr sz="1100" b="1" i="0">
                <a:solidFill>
                  <a:srgbClr val="F5A623"/>
                </a:solidFill>
                <a:latin typeface="Calibri"/>
              </a:rPr>
              <a:t>● Dashboard</a:t>
            </a:r>
          </a:p>
        </p:txBody>
      </p:sp>
      <p:sp>
        <p:nvSpPr>
          <p:cNvPr id="10250" name="TextBox 10249"/>
          <p:cNvSpPr txBox="1"/>
          <p:nvPr/>
        </p:nvSpPr>
        <p:spPr>
          <a:xfrm>
            <a:off x="594360" y="2487168"/>
            <a:ext cx="1371600" cy="320040"/>
          </a:xfrm>
          <a:prstGeom prst="rect">
            <a:avLst/>
          </a:prstGeom>
          <a:noFill/>
        </p:spPr>
        <p:txBody>
          <a:bodyPr wrap="square" lIns="60000" tIns="40000" rIns="60000" bIns="40000">
            <a:spAutoFit/>
          </a:bodyPr>
          <a:lstStyle/>
          <a:p>
            <a:pPr marL="0" indent="0" algn="l">
              <a:lnSpc>
                <a:spcPct val="115000"/>
              </a:lnSpc>
              <a:buNone/>
            </a:pPr>
            <a:r>
              <a:rPr sz="1000" b="0" i="0">
                <a:solidFill>
                  <a:srgbClr val="FFFFFF"/>
                </a:solidFill>
                <a:latin typeface="Calibri"/>
              </a:rPr>
              <a:t>○ Skill Analysis</a:t>
            </a:r>
          </a:p>
        </p:txBody>
      </p:sp>
      <p:sp>
        <p:nvSpPr>
          <p:cNvPr id="10251" name="TextBox 10250"/>
          <p:cNvSpPr txBox="1"/>
          <p:nvPr/>
        </p:nvSpPr>
        <p:spPr>
          <a:xfrm>
            <a:off x="594360" y="2871216"/>
            <a:ext cx="1371600" cy="320040"/>
          </a:xfrm>
          <a:prstGeom prst="rect">
            <a:avLst/>
          </a:prstGeom>
          <a:noFill/>
        </p:spPr>
        <p:txBody>
          <a:bodyPr wrap="square" lIns="60000" tIns="40000" rIns="60000" bIns="40000">
            <a:spAutoFit/>
          </a:bodyPr>
          <a:lstStyle/>
          <a:p>
            <a:pPr marL="0" indent="0" algn="l">
              <a:lnSpc>
                <a:spcPct val="115000"/>
              </a:lnSpc>
              <a:buNone/>
            </a:pPr>
            <a:r>
              <a:rPr sz="1000" b="0" i="0">
                <a:solidFill>
                  <a:srgbClr val="FFFFFF"/>
                </a:solidFill>
                <a:latin typeface="Calibri"/>
              </a:rPr>
              <a:t>○ Learning Path</a:t>
            </a:r>
          </a:p>
        </p:txBody>
      </p:sp>
      <p:sp>
        <p:nvSpPr>
          <p:cNvPr id="10252" name="TextBox 10251"/>
          <p:cNvSpPr txBox="1"/>
          <p:nvPr/>
        </p:nvSpPr>
        <p:spPr>
          <a:xfrm>
            <a:off x="594360" y="3255264"/>
            <a:ext cx="1371600" cy="320040"/>
          </a:xfrm>
          <a:prstGeom prst="rect">
            <a:avLst/>
          </a:prstGeom>
          <a:noFill/>
        </p:spPr>
        <p:txBody>
          <a:bodyPr wrap="square" lIns="60000" tIns="40000" rIns="60000" bIns="40000">
            <a:spAutoFit/>
          </a:bodyPr>
          <a:lstStyle/>
          <a:p>
            <a:pPr marL="0" indent="0" algn="l">
              <a:lnSpc>
                <a:spcPct val="115000"/>
              </a:lnSpc>
              <a:buNone/>
            </a:pPr>
            <a:r>
              <a:rPr sz="1000" b="0" i="0">
                <a:solidFill>
                  <a:srgbClr val="FFFFFF"/>
                </a:solidFill>
                <a:latin typeface="Calibri"/>
              </a:rPr>
              <a:t>○ Courses</a:t>
            </a:r>
          </a:p>
        </p:txBody>
      </p:sp>
      <p:sp>
        <p:nvSpPr>
          <p:cNvPr id="10253" name="TextBox 10252"/>
          <p:cNvSpPr txBox="1"/>
          <p:nvPr/>
        </p:nvSpPr>
        <p:spPr>
          <a:xfrm>
            <a:off x="594360" y="3639312"/>
            <a:ext cx="1371600" cy="320040"/>
          </a:xfrm>
          <a:prstGeom prst="rect">
            <a:avLst/>
          </a:prstGeom>
          <a:noFill/>
        </p:spPr>
        <p:txBody>
          <a:bodyPr wrap="square" lIns="60000" tIns="40000" rIns="60000" bIns="40000">
            <a:spAutoFit/>
          </a:bodyPr>
          <a:lstStyle/>
          <a:p>
            <a:pPr marL="0" indent="0" algn="l">
              <a:lnSpc>
                <a:spcPct val="115000"/>
              </a:lnSpc>
              <a:buNone/>
            </a:pPr>
            <a:r>
              <a:rPr sz="1000" b="0" i="0">
                <a:solidFill>
                  <a:srgbClr val="FFFFFF"/>
                </a:solidFill>
                <a:latin typeface="Calibri"/>
              </a:rPr>
              <a:t>○ Progress</a:t>
            </a:r>
          </a:p>
        </p:txBody>
      </p:sp>
      <p:sp>
        <p:nvSpPr>
          <p:cNvPr id="10254" name="TextBox 10253"/>
          <p:cNvSpPr txBox="1"/>
          <p:nvPr/>
        </p:nvSpPr>
        <p:spPr>
          <a:xfrm>
            <a:off x="594360" y="4023360"/>
            <a:ext cx="1371600" cy="320040"/>
          </a:xfrm>
          <a:prstGeom prst="rect">
            <a:avLst/>
          </a:prstGeom>
          <a:noFill/>
        </p:spPr>
        <p:txBody>
          <a:bodyPr wrap="square" lIns="60000" tIns="40000" rIns="60000" bIns="40000">
            <a:spAutoFit/>
          </a:bodyPr>
          <a:lstStyle/>
          <a:p>
            <a:pPr marL="0" indent="0" algn="l">
              <a:lnSpc>
                <a:spcPct val="115000"/>
              </a:lnSpc>
              <a:buNone/>
            </a:pPr>
            <a:r>
              <a:rPr sz="1000" b="0" i="0">
                <a:solidFill>
                  <a:srgbClr val="FFFFFF"/>
                </a:solidFill>
                <a:latin typeface="Calibri"/>
              </a:rPr>
              <a:t>○ Reports</a:t>
            </a:r>
          </a:p>
        </p:txBody>
      </p:sp>
      <p:sp>
        <p:nvSpPr>
          <p:cNvPr id="10255" name="Rectangle 10254"/>
          <p:cNvSpPr/>
          <p:nvPr/>
        </p:nvSpPr>
        <p:spPr>
          <a:xfrm>
            <a:off x="2148840" y="1901952"/>
            <a:ext cx="7324344" cy="457200"/>
          </a:xfrm>
          <a:prstGeom prst="rect">
            <a:avLst/>
          </a:prstGeom>
          <a:solidFill>
            <a:srgbClr val="2C33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56" name="TextBox 10255"/>
          <p:cNvSpPr txBox="1"/>
          <p:nvPr/>
        </p:nvSpPr>
        <p:spPr>
          <a:xfrm>
            <a:off x="2331720" y="1956816"/>
            <a:ext cx="6958584" cy="365760"/>
          </a:xfrm>
          <a:prstGeom prst="rect">
            <a:avLst/>
          </a:prstGeom>
          <a:noFill/>
        </p:spPr>
        <p:txBody>
          <a:bodyPr wrap="square" lIns="60000" tIns="40000" rIns="60000" bIns="40000">
            <a:spAutoFit/>
          </a:bodyPr>
          <a:lstStyle/>
          <a:p>
            <a:pPr marL="0" indent="0" algn="l">
              <a:lnSpc>
                <a:spcPct val="115000"/>
              </a:lnSpc>
              <a:buNone/>
            </a:pPr>
            <a:r>
              <a:rPr sz="1100" b="0" i="0">
                <a:solidFill>
                  <a:srgbClr val="FFFFFF"/>
                </a:solidFill>
                <a:latin typeface="Calibri"/>
              </a:rPr>
              <a:t>Skill Gap AI    ·    Target: Data Scientist    ·    Welcome, Chandru P</a:t>
            </a:r>
          </a:p>
        </p:txBody>
      </p:sp>
      <p:sp>
        <p:nvSpPr>
          <p:cNvPr id="10257" name="Rounded Rectangle 10256"/>
          <p:cNvSpPr/>
          <p:nvPr/>
        </p:nvSpPr>
        <p:spPr>
          <a:xfrm>
            <a:off x="2148840" y="2468880"/>
            <a:ext cx="2368296"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58" name="Rectangle 10257"/>
          <p:cNvSpPr/>
          <p:nvPr/>
        </p:nvSpPr>
        <p:spPr>
          <a:xfrm>
            <a:off x="2148840" y="2468880"/>
            <a:ext cx="2368296" cy="7315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59" name="TextBox 10258"/>
          <p:cNvSpPr txBox="1"/>
          <p:nvPr/>
        </p:nvSpPr>
        <p:spPr>
          <a:xfrm>
            <a:off x="2331720" y="2651760"/>
            <a:ext cx="2002536" cy="320040"/>
          </a:xfrm>
          <a:prstGeom prst="rect">
            <a:avLst/>
          </a:prstGeom>
          <a:noFill/>
        </p:spPr>
        <p:txBody>
          <a:bodyPr wrap="square" lIns="60000" tIns="40000" rIns="60000" bIns="40000">
            <a:spAutoFit/>
          </a:bodyPr>
          <a:lstStyle/>
          <a:p>
            <a:pPr marL="0" indent="0" algn="l">
              <a:lnSpc>
                <a:spcPct val="115000"/>
              </a:lnSpc>
              <a:buNone/>
            </a:pPr>
            <a:r>
              <a:rPr sz="1000" b="1" i="0">
                <a:solidFill>
                  <a:srgbClr val="555B6E"/>
                </a:solidFill>
                <a:latin typeface="Calibri"/>
              </a:rPr>
              <a:t>READINESS</a:t>
            </a:r>
          </a:p>
        </p:txBody>
      </p:sp>
      <p:sp>
        <p:nvSpPr>
          <p:cNvPr id="10260" name="TextBox 10259"/>
          <p:cNvSpPr txBox="1"/>
          <p:nvPr/>
        </p:nvSpPr>
        <p:spPr>
          <a:xfrm>
            <a:off x="2331720" y="2907792"/>
            <a:ext cx="2002536" cy="548640"/>
          </a:xfrm>
          <a:prstGeom prst="rect">
            <a:avLst/>
          </a:prstGeom>
          <a:noFill/>
        </p:spPr>
        <p:txBody>
          <a:bodyPr wrap="square" lIns="60000" tIns="40000" rIns="60000" bIns="40000">
            <a:spAutoFit/>
          </a:bodyPr>
          <a:lstStyle/>
          <a:p>
            <a:pPr marL="0" indent="0" algn="l">
              <a:lnSpc>
                <a:spcPct val="115000"/>
              </a:lnSpc>
              <a:buNone/>
            </a:pPr>
            <a:r>
              <a:rPr sz="3600" b="1" i="0">
                <a:solidFill>
                  <a:srgbClr val="2E7D5B"/>
                </a:solidFill>
                <a:latin typeface="Georgia"/>
              </a:rPr>
              <a:t>72%</a:t>
            </a:r>
          </a:p>
        </p:txBody>
      </p:sp>
      <p:sp>
        <p:nvSpPr>
          <p:cNvPr id="10261" name="TextBox 10260"/>
          <p:cNvSpPr txBox="1"/>
          <p:nvPr/>
        </p:nvSpPr>
        <p:spPr>
          <a:xfrm>
            <a:off x="2331720" y="3383280"/>
            <a:ext cx="2002536" cy="27432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Great progress!</a:t>
            </a:r>
          </a:p>
        </p:txBody>
      </p:sp>
      <p:sp>
        <p:nvSpPr>
          <p:cNvPr id="10262" name="Rounded Rectangle 10261"/>
          <p:cNvSpPr/>
          <p:nvPr/>
        </p:nvSpPr>
        <p:spPr>
          <a:xfrm>
            <a:off x="4626864" y="2468880"/>
            <a:ext cx="2368296"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63" name="Rectangle 10262"/>
          <p:cNvSpPr/>
          <p:nvPr/>
        </p:nvSpPr>
        <p:spPr>
          <a:xfrm>
            <a:off x="4626864" y="2468880"/>
            <a:ext cx="2368296"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64" name="TextBox 10263"/>
          <p:cNvSpPr txBox="1"/>
          <p:nvPr/>
        </p:nvSpPr>
        <p:spPr>
          <a:xfrm>
            <a:off x="4809744" y="2651760"/>
            <a:ext cx="2002536" cy="320040"/>
          </a:xfrm>
          <a:prstGeom prst="rect">
            <a:avLst/>
          </a:prstGeom>
          <a:noFill/>
        </p:spPr>
        <p:txBody>
          <a:bodyPr wrap="square" lIns="60000" tIns="40000" rIns="60000" bIns="40000">
            <a:spAutoFit/>
          </a:bodyPr>
          <a:lstStyle/>
          <a:p>
            <a:pPr marL="0" indent="0" algn="l">
              <a:lnSpc>
                <a:spcPct val="115000"/>
              </a:lnSpc>
              <a:buNone/>
            </a:pPr>
            <a:r>
              <a:rPr sz="1000" b="1" i="0">
                <a:solidFill>
                  <a:srgbClr val="555B6E"/>
                </a:solidFill>
                <a:latin typeface="Calibri"/>
              </a:rPr>
              <a:t>MATCHED</a:t>
            </a:r>
          </a:p>
        </p:txBody>
      </p:sp>
      <p:sp>
        <p:nvSpPr>
          <p:cNvPr id="10265" name="TextBox 10264"/>
          <p:cNvSpPr txBox="1"/>
          <p:nvPr/>
        </p:nvSpPr>
        <p:spPr>
          <a:xfrm>
            <a:off x="4809744" y="2907792"/>
            <a:ext cx="2002536" cy="548640"/>
          </a:xfrm>
          <a:prstGeom prst="rect">
            <a:avLst/>
          </a:prstGeom>
          <a:noFill/>
        </p:spPr>
        <p:txBody>
          <a:bodyPr wrap="square" lIns="60000" tIns="40000" rIns="60000" bIns="40000">
            <a:spAutoFit/>
          </a:bodyPr>
          <a:lstStyle/>
          <a:p>
            <a:pPr marL="0" indent="0" algn="l">
              <a:lnSpc>
                <a:spcPct val="115000"/>
              </a:lnSpc>
              <a:buNone/>
            </a:pPr>
            <a:r>
              <a:rPr sz="3600" b="1" i="0">
                <a:solidFill>
                  <a:srgbClr val="1E2761"/>
                </a:solidFill>
                <a:latin typeface="Georgia"/>
              </a:rPr>
              <a:t>7</a:t>
            </a:r>
          </a:p>
        </p:txBody>
      </p:sp>
      <p:sp>
        <p:nvSpPr>
          <p:cNvPr id="10266" name="TextBox 10265"/>
          <p:cNvSpPr txBox="1"/>
          <p:nvPr/>
        </p:nvSpPr>
        <p:spPr>
          <a:xfrm>
            <a:off x="4809744" y="3383280"/>
            <a:ext cx="2002536" cy="27432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strong core</a:t>
            </a:r>
          </a:p>
        </p:txBody>
      </p:sp>
      <p:sp>
        <p:nvSpPr>
          <p:cNvPr id="10267" name="Rounded Rectangle 10266"/>
          <p:cNvSpPr/>
          <p:nvPr/>
        </p:nvSpPr>
        <p:spPr>
          <a:xfrm>
            <a:off x="7104888" y="2468880"/>
            <a:ext cx="2368296"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68" name="Rectangle 10267"/>
          <p:cNvSpPr/>
          <p:nvPr/>
        </p:nvSpPr>
        <p:spPr>
          <a:xfrm>
            <a:off x="7104888" y="2468880"/>
            <a:ext cx="2368296"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69" name="TextBox 10268"/>
          <p:cNvSpPr txBox="1"/>
          <p:nvPr/>
        </p:nvSpPr>
        <p:spPr>
          <a:xfrm>
            <a:off x="7287768" y="2651760"/>
            <a:ext cx="2002536" cy="320040"/>
          </a:xfrm>
          <a:prstGeom prst="rect">
            <a:avLst/>
          </a:prstGeom>
          <a:noFill/>
        </p:spPr>
        <p:txBody>
          <a:bodyPr wrap="square" lIns="60000" tIns="40000" rIns="60000" bIns="40000">
            <a:spAutoFit/>
          </a:bodyPr>
          <a:lstStyle/>
          <a:p>
            <a:pPr marL="0" indent="0" algn="l">
              <a:lnSpc>
                <a:spcPct val="115000"/>
              </a:lnSpc>
              <a:buNone/>
            </a:pPr>
            <a:r>
              <a:rPr sz="1000" b="1" i="0">
                <a:solidFill>
                  <a:srgbClr val="555B6E"/>
                </a:solidFill>
                <a:latin typeface="Calibri"/>
              </a:rPr>
              <a:t>MISSING</a:t>
            </a:r>
          </a:p>
        </p:txBody>
      </p:sp>
      <p:sp>
        <p:nvSpPr>
          <p:cNvPr id="10270" name="TextBox 10269"/>
          <p:cNvSpPr txBox="1"/>
          <p:nvPr/>
        </p:nvSpPr>
        <p:spPr>
          <a:xfrm>
            <a:off x="7287768" y="2907792"/>
            <a:ext cx="2002536" cy="548640"/>
          </a:xfrm>
          <a:prstGeom prst="rect">
            <a:avLst/>
          </a:prstGeom>
          <a:noFill/>
        </p:spPr>
        <p:txBody>
          <a:bodyPr wrap="square" lIns="60000" tIns="40000" rIns="60000" bIns="40000">
            <a:spAutoFit/>
          </a:bodyPr>
          <a:lstStyle/>
          <a:p>
            <a:pPr marL="0" indent="0" algn="l">
              <a:lnSpc>
                <a:spcPct val="115000"/>
              </a:lnSpc>
              <a:buNone/>
            </a:pPr>
            <a:r>
              <a:rPr sz="3600" b="1" i="0">
                <a:solidFill>
                  <a:srgbClr val="C8102E"/>
                </a:solidFill>
                <a:latin typeface="Georgia"/>
              </a:rPr>
              <a:t>11</a:t>
            </a:r>
          </a:p>
        </p:txBody>
      </p:sp>
      <p:sp>
        <p:nvSpPr>
          <p:cNvPr id="10271" name="TextBox 10270"/>
          <p:cNvSpPr txBox="1"/>
          <p:nvPr/>
        </p:nvSpPr>
        <p:spPr>
          <a:xfrm>
            <a:off x="7287768" y="3383280"/>
            <a:ext cx="2002536" cy="27432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focus here</a:t>
            </a:r>
          </a:p>
        </p:txBody>
      </p:sp>
      <p:sp>
        <p:nvSpPr>
          <p:cNvPr id="10272" name="Rounded Rectangle 10271"/>
          <p:cNvSpPr/>
          <p:nvPr/>
        </p:nvSpPr>
        <p:spPr>
          <a:xfrm>
            <a:off x="2148840" y="3840480"/>
            <a:ext cx="7324344" cy="16459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73" name="TextBox 10272"/>
          <p:cNvSpPr txBox="1"/>
          <p:nvPr/>
        </p:nvSpPr>
        <p:spPr>
          <a:xfrm>
            <a:off x="2331720" y="3931920"/>
            <a:ext cx="6958584" cy="320040"/>
          </a:xfrm>
          <a:prstGeom prst="rect">
            <a:avLst/>
          </a:prstGeom>
          <a:noFill/>
        </p:spPr>
        <p:txBody>
          <a:bodyPr wrap="square" lIns="60000" tIns="40000" rIns="60000" bIns="40000">
            <a:spAutoFit/>
          </a:bodyPr>
          <a:lstStyle/>
          <a:p>
            <a:pPr marL="0" indent="0" algn="l">
              <a:lnSpc>
                <a:spcPct val="115000"/>
              </a:lnSpc>
              <a:buNone/>
            </a:pPr>
            <a:r>
              <a:rPr sz="1200" b="1" i="0">
                <a:solidFill>
                  <a:srgbClr val="1E2761"/>
                </a:solidFill>
                <a:latin typeface="Calibri"/>
              </a:rPr>
              <a:t>Competency Analysis</a:t>
            </a:r>
          </a:p>
        </p:txBody>
      </p:sp>
      <p:sp>
        <p:nvSpPr>
          <p:cNvPr id="10274" name="TextBox 10273"/>
          <p:cNvSpPr txBox="1"/>
          <p:nvPr/>
        </p:nvSpPr>
        <p:spPr>
          <a:xfrm>
            <a:off x="2286000" y="4279392"/>
            <a:ext cx="100584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22A3C"/>
                </a:solidFill>
                <a:latin typeface="Calibri"/>
              </a:rPr>
              <a:t>Python</a:t>
            </a:r>
          </a:p>
        </p:txBody>
      </p:sp>
      <p:sp>
        <p:nvSpPr>
          <p:cNvPr id="10275" name="Rounded Rectangle 10274"/>
          <p:cNvSpPr/>
          <p:nvPr/>
        </p:nvSpPr>
        <p:spPr>
          <a:xfrm>
            <a:off x="3337560" y="4334256"/>
            <a:ext cx="5861304" cy="118872"/>
          </a:xfrm>
          <a:prstGeom prst="roundRect">
            <a:avLst>
              <a:gd name="adj" fmla="val 4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76" name="Rounded Rectangle 10275"/>
          <p:cNvSpPr/>
          <p:nvPr/>
        </p:nvSpPr>
        <p:spPr>
          <a:xfrm>
            <a:off x="3337560" y="4334256"/>
            <a:ext cx="5275173" cy="118872"/>
          </a:xfrm>
          <a:prstGeom prst="roundRect">
            <a:avLst>
              <a:gd name="adj" fmla="val 40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77" name="TextBox 10276"/>
          <p:cNvSpPr txBox="1"/>
          <p:nvPr/>
        </p:nvSpPr>
        <p:spPr>
          <a:xfrm>
            <a:off x="9244584" y="4279392"/>
            <a:ext cx="73152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E7D5B"/>
                </a:solidFill>
                <a:latin typeface="Calibri"/>
              </a:rPr>
              <a:t>90%</a:t>
            </a:r>
          </a:p>
        </p:txBody>
      </p:sp>
      <p:sp>
        <p:nvSpPr>
          <p:cNvPr id="10278" name="TextBox 10277"/>
          <p:cNvSpPr txBox="1"/>
          <p:nvPr/>
        </p:nvSpPr>
        <p:spPr>
          <a:xfrm>
            <a:off x="2286000" y="4489704"/>
            <a:ext cx="100584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22A3C"/>
                </a:solidFill>
                <a:latin typeface="Calibri"/>
              </a:rPr>
              <a:t>SQL</a:t>
            </a:r>
          </a:p>
        </p:txBody>
      </p:sp>
      <p:sp>
        <p:nvSpPr>
          <p:cNvPr id="10279" name="Rounded Rectangle 10278"/>
          <p:cNvSpPr/>
          <p:nvPr/>
        </p:nvSpPr>
        <p:spPr>
          <a:xfrm>
            <a:off x="3337560" y="4544568"/>
            <a:ext cx="5861304" cy="118872"/>
          </a:xfrm>
          <a:prstGeom prst="roundRect">
            <a:avLst>
              <a:gd name="adj" fmla="val 4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0" name="Rounded Rectangle 10279"/>
          <p:cNvSpPr/>
          <p:nvPr/>
        </p:nvSpPr>
        <p:spPr>
          <a:xfrm>
            <a:off x="3337560" y="4544568"/>
            <a:ext cx="4806269" cy="118872"/>
          </a:xfrm>
          <a:prstGeom prst="roundRect">
            <a:avLst>
              <a:gd name="adj" fmla="val 40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1" name="TextBox 10280"/>
          <p:cNvSpPr txBox="1"/>
          <p:nvPr/>
        </p:nvSpPr>
        <p:spPr>
          <a:xfrm>
            <a:off x="9244584" y="4489704"/>
            <a:ext cx="73152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E7D5B"/>
                </a:solidFill>
                <a:latin typeface="Calibri"/>
              </a:rPr>
              <a:t>82%</a:t>
            </a:r>
          </a:p>
        </p:txBody>
      </p:sp>
      <p:sp>
        <p:nvSpPr>
          <p:cNvPr id="10282" name="TextBox 10281"/>
          <p:cNvSpPr txBox="1"/>
          <p:nvPr/>
        </p:nvSpPr>
        <p:spPr>
          <a:xfrm>
            <a:off x="2286000" y="4700016"/>
            <a:ext cx="100584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22A3C"/>
                </a:solidFill>
                <a:latin typeface="Calibri"/>
              </a:rPr>
              <a:t>Pandas</a:t>
            </a:r>
          </a:p>
        </p:txBody>
      </p:sp>
      <p:sp>
        <p:nvSpPr>
          <p:cNvPr id="10283" name="Rounded Rectangle 10282"/>
          <p:cNvSpPr/>
          <p:nvPr/>
        </p:nvSpPr>
        <p:spPr>
          <a:xfrm>
            <a:off x="3337560" y="4754880"/>
            <a:ext cx="5861304" cy="118872"/>
          </a:xfrm>
          <a:prstGeom prst="roundRect">
            <a:avLst>
              <a:gd name="adj" fmla="val 4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4" name="Rounded Rectangle 10283"/>
          <p:cNvSpPr/>
          <p:nvPr/>
        </p:nvSpPr>
        <p:spPr>
          <a:xfrm>
            <a:off x="3337560" y="4754880"/>
            <a:ext cx="3809847" cy="118872"/>
          </a:xfrm>
          <a:prstGeom prst="roundRect">
            <a:avLst>
              <a:gd name="adj" fmla="val 4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5" name="TextBox 10284"/>
          <p:cNvSpPr txBox="1"/>
          <p:nvPr/>
        </p:nvSpPr>
        <p:spPr>
          <a:xfrm>
            <a:off x="9244584" y="4700016"/>
            <a:ext cx="731520" cy="228600"/>
          </a:xfrm>
          <a:prstGeom prst="rect">
            <a:avLst/>
          </a:prstGeom>
          <a:noFill/>
        </p:spPr>
        <p:txBody>
          <a:bodyPr wrap="square" lIns="60000" tIns="40000" rIns="60000" bIns="40000">
            <a:spAutoFit/>
          </a:bodyPr>
          <a:lstStyle/>
          <a:p>
            <a:pPr marL="0" indent="0" algn="l">
              <a:lnSpc>
                <a:spcPct val="115000"/>
              </a:lnSpc>
              <a:buNone/>
            </a:pPr>
            <a:r>
              <a:rPr sz="900" b="1" i="0">
                <a:solidFill>
                  <a:srgbClr val="E68A00"/>
                </a:solidFill>
                <a:latin typeface="Calibri"/>
              </a:rPr>
              <a:t>65%</a:t>
            </a:r>
          </a:p>
        </p:txBody>
      </p:sp>
      <p:sp>
        <p:nvSpPr>
          <p:cNvPr id="10286" name="TextBox 10285"/>
          <p:cNvSpPr txBox="1"/>
          <p:nvPr/>
        </p:nvSpPr>
        <p:spPr>
          <a:xfrm>
            <a:off x="2286000" y="4910328"/>
            <a:ext cx="100584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22A3C"/>
                </a:solidFill>
                <a:latin typeface="Calibri"/>
              </a:rPr>
              <a:t>Statistics</a:t>
            </a:r>
          </a:p>
        </p:txBody>
      </p:sp>
      <p:sp>
        <p:nvSpPr>
          <p:cNvPr id="10287" name="Rounded Rectangle 10286"/>
          <p:cNvSpPr/>
          <p:nvPr/>
        </p:nvSpPr>
        <p:spPr>
          <a:xfrm>
            <a:off x="3337560" y="4965192"/>
            <a:ext cx="5861304" cy="118872"/>
          </a:xfrm>
          <a:prstGeom prst="roundRect">
            <a:avLst>
              <a:gd name="adj" fmla="val 4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8" name="Rounded Rectangle 10287"/>
          <p:cNvSpPr/>
          <p:nvPr/>
        </p:nvSpPr>
        <p:spPr>
          <a:xfrm>
            <a:off x="3337560" y="4965192"/>
            <a:ext cx="2813425" cy="118872"/>
          </a:xfrm>
          <a:prstGeom prst="roundRect">
            <a:avLst>
              <a:gd name="adj" fmla="val 4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89" name="TextBox 10288"/>
          <p:cNvSpPr txBox="1"/>
          <p:nvPr/>
        </p:nvSpPr>
        <p:spPr>
          <a:xfrm>
            <a:off x="9244584" y="4910328"/>
            <a:ext cx="731520" cy="228600"/>
          </a:xfrm>
          <a:prstGeom prst="rect">
            <a:avLst/>
          </a:prstGeom>
          <a:noFill/>
        </p:spPr>
        <p:txBody>
          <a:bodyPr wrap="square" lIns="60000" tIns="40000" rIns="60000" bIns="40000">
            <a:spAutoFit/>
          </a:bodyPr>
          <a:lstStyle/>
          <a:p>
            <a:pPr marL="0" indent="0" algn="l">
              <a:lnSpc>
                <a:spcPct val="115000"/>
              </a:lnSpc>
              <a:buNone/>
            </a:pPr>
            <a:r>
              <a:rPr sz="900" b="1" i="0">
                <a:solidFill>
                  <a:srgbClr val="E68A00"/>
                </a:solidFill>
                <a:latin typeface="Calibri"/>
              </a:rPr>
              <a:t>48%</a:t>
            </a:r>
          </a:p>
        </p:txBody>
      </p:sp>
      <p:sp>
        <p:nvSpPr>
          <p:cNvPr id="10290" name="TextBox 10289"/>
          <p:cNvSpPr txBox="1"/>
          <p:nvPr/>
        </p:nvSpPr>
        <p:spPr>
          <a:xfrm>
            <a:off x="2286000" y="5120640"/>
            <a:ext cx="1005840" cy="228600"/>
          </a:xfrm>
          <a:prstGeom prst="rect">
            <a:avLst/>
          </a:prstGeom>
          <a:noFill/>
        </p:spPr>
        <p:txBody>
          <a:bodyPr wrap="square" lIns="60000" tIns="40000" rIns="60000" bIns="40000">
            <a:spAutoFit/>
          </a:bodyPr>
          <a:lstStyle/>
          <a:p>
            <a:pPr marL="0" indent="0" algn="l">
              <a:lnSpc>
                <a:spcPct val="115000"/>
              </a:lnSpc>
              <a:buNone/>
            </a:pPr>
            <a:r>
              <a:rPr sz="900" b="1" i="0">
                <a:solidFill>
                  <a:srgbClr val="222A3C"/>
                </a:solidFill>
                <a:latin typeface="Calibri"/>
              </a:rPr>
              <a:t>Deep Learning</a:t>
            </a:r>
          </a:p>
        </p:txBody>
      </p:sp>
      <p:sp>
        <p:nvSpPr>
          <p:cNvPr id="10291" name="Rounded Rectangle 10290"/>
          <p:cNvSpPr/>
          <p:nvPr/>
        </p:nvSpPr>
        <p:spPr>
          <a:xfrm>
            <a:off x="3337560" y="5175504"/>
            <a:ext cx="5861304" cy="118872"/>
          </a:xfrm>
          <a:prstGeom prst="roundRect">
            <a:avLst>
              <a:gd name="adj" fmla="val 40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92" name="Rounded Rectangle 10291"/>
          <p:cNvSpPr/>
          <p:nvPr/>
        </p:nvSpPr>
        <p:spPr>
          <a:xfrm>
            <a:off x="3337560" y="5175504"/>
            <a:ext cx="1055034" cy="118872"/>
          </a:xfrm>
          <a:prstGeom prst="roundRect">
            <a:avLst>
              <a:gd name="adj" fmla="val 4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93" name="TextBox 10292"/>
          <p:cNvSpPr txBox="1"/>
          <p:nvPr/>
        </p:nvSpPr>
        <p:spPr>
          <a:xfrm>
            <a:off x="9244584" y="5120640"/>
            <a:ext cx="731520" cy="228600"/>
          </a:xfrm>
          <a:prstGeom prst="rect">
            <a:avLst/>
          </a:prstGeom>
          <a:noFill/>
        </p:spPr>
        <p:txBody>
          <a:bodyPr wrap="square" lIns="60000" tIns="40000" rIns="60000" bIns="40000">
            <a:spAutoFit/>
          </a:bodyPr>
          <a:lstStyle/>
          <a:p>
            <a:pPr marL="0" indent="0" algn="l">
              <a:lnSpc>
                <a:spcPct val="115000"/>
              </a:lnSpc>
              <a:buNone/>
            </a:pPr>
            <a:r>
              <a:rPr sz="900" b="1" i="0">
                <a:solidFill>
                  <a:srgbClr val="C8102E"/>
                </a:solidFill>
                <a:latin typeface="Calibri"/>
              </a:rPr>
              <a:t>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6C18A9-70F1-94B5-25CB-4AC7A2437A47}"/>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08745A17-DDB9-C1E3-C33F-5DD1572197D4}"/>
              </a:ext>
            </a:extLst>
          </p:cNvPr>
          <p:cNvSpPr txBox="1"/>
          <p:nvPr/>
        </p:nvSpPr>
        <p:spPr>
          <a:xfrm>
            <a:off x="279400" y="460375"/>
            <a:ext cx="8229600" cy="640080"/>
          </a:xfrm>
          <a:prstGeom prst="rect">
            <a:avLst/>
          </a:prstGeom>
          <a:noFill/>
        </p:spPr>
        <p:txBody>
          <a:bodyPr wrap="square" lIns="60000" tIns="40000" rIns="60000" bIns="40000">
            <a:spAutoFit/>
          </a:bodyPr>
          <a:lstStyle/>
          <a:p>
            <a:pPr marL="0" indent="0" algn="l" eaLnBrk="1" fontAlgn="auto" hangingPunct="1">
              <a:lnSpc>
                <a:spcPct val="115000"/>
              </a:lnSpc>
              <a:spcBef>
                <a:spcPts val="0"/>
              </a:spcBef>
              <a:spcAft>
                <a:spcPts val="0"/>
              </a:spcAft>
              <a:defRPr/>
            </a:pPr>
            <a:r>
              <a:rPr sz="2200" b="1" i="0">
                <a:solidFill>
                  <a:srgbClr val="1E2761"/>
                </a:solidFill>
                <a:latin typeface="Georgia"/>
              </a:rPr>
              <a:t>EXISTING  VS  PROPOSED</a:t>
            </a:r>
          </a:p>
        </p:txBody>
      </p:sp>
      <p:sp>
        <p:nvSpPr>
          <p:cNvPr id="2" name="Slide Number Placeholder 1">
            <a:extLst>
              <a:ext uri="{FF2B5EF4-FFF2-40B4-BE49-F238E27FC236}">
                <a16:creationId xmlns:a16="http://schemas.microsoft.com/office/drawing/2014/main" id="{A8BF65E6-010C-FCE0-10B9-AE3C15303799}"/>
              </a:ext>
            </a:extLst>
          </p:cNvPr>
          <p:cNvSpPr>
            <a:spLocks noGrp="1"/>
          </p:cNvSpPr>
          <p:nvPr>
            <p:ph type="sldNum" sz="quarter" idx="12"/>
          </p:nvPr>
        </p:nvSpPr>
        <p:spPr>
          <a:xfrm>
            <a:off x="7523163" y="6327775"/>
            <a:ext cx="2228850" cy="365125"/>
          </a:xfrm>
        </p:spPr>
        <p:txBody>
          <a:bodyPr/>
          <a:lstStyle/>
          <a:p>
            <a:pPr>
              <a:defRPr/>
            </a:pPr>
            <a:fld id="{6DCCE5D6-5A63-4BFA-A744-76B4E591F06E}" type="slidenum">
              <a:rPr lang="en-US" sz="3600">
                <a:solidFill>
                  <a:schemeClr val="accent2">
                    <a:lumMod val="75000"/>
                  </a:schemeClr>
                </a:solidFill>
                <a:latin typeface="Aharoni" panose="02010803020104030203" pitchFamily="2" charset="-79"/>
                <a:cs typeface="Aharoni" panose="02010803020104030203" pitchFamily="2" charset="-79"/>
              </a:rPr>
              <a:pPr>
                <a:defRPr/>
              </a:pPr>
              <a:t>7</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1269" name="Picture 2">
            <a:extLst>
              <a:ext uri="{FF2B5EF4-FFF2-40B4-BE49-F238E27FC236}">
                <a16:creationId xmlns:a16="http://schemas.microsoft.com/office/drawing/2014/main" id="{0D550734-5A4E-DB85-82A4-AD7B374EA0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11269"/>
          <p:cNvSpPr txBox="1"/>
          <p:nvPr/>
        </p:nvSpPr>
        <p:spPr>
          <a:xfrm>
            <a:off x="320040" y="1325880"/>
            <a:ext cx="9262872" cy="411480"/>
          </a:xfrm>
          <a:prstGeom prst="rect">
            <a:avLst/>
          </a:prstGeom>
          <a:noFill/>
        </p:spPr>
        <p:txBody>
          <a:bodyPr wrap="square" lIns="60000" tIns="40000" rIns="60000" bIns="40000">
            <a:spAutoFit/>
          </a:bodyPr>
          <a:lstStyle/>
          <a:p>
            <a:pPr marL="0" indent="0" algn="l">
              <a:lnSpc>
                <a:spcPct val="115000"/>
              </a:lnSpc>
              <a:buNone/>
            </a:pPr>
            <a:r>
              <a:rPr sz="1400" b="0" i="1">
                <a:solidFill>
                  <a:srgbClr val="555B6E"/>
                </a:solidFill>
                <a:latin typeface="Calibri"/>
              </a:rPr>
              <a:t>Why semantic skill analysis outperforms keyword-matching platforms</a:t>
            </a:r>
          </a:p>
        </p:txBody>
      </p:sp>
      <p:sp>
        <p:nvSpPr>
          <p:cNvPr id="11271" name="Rounded Rectangle 11270"/>
          <p:cNvSpPr/>
          <p:nvPr/>
        </p:nvSpPr>
        <p:spPr>
          <a:xfrm>
            <a:off x="320040" y="1828800"/>
            <a:ext cx="4494276" cy="4206240"/>
          </a:xfrm>
          <a:prstGeom prst="roundRect">
            <a:avLst>
              <a:gd name="adj" fmla="val 4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72" name="Rectangle 11271"/>
          <p:cNvSpPr/>
          <p:nvPr/>
        </p:nvSpPr>
        <p:spPr>
          <a:xfrm>
            <a:off x="320040" y="1828800"/>
            <a:ext cx="4494276" cy="5486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73" name="TextBox 11272"/>
          <p:cNvSpPr txBox="1"/>
          <p:nvPr/>
        </p:nvSpPr>
        <p:spPr>
          <a:xfrm>
            <a:off x="548640" y="1920240"/>
            <a:ext cx="4037076" cy="411480"/>
          </a:xfrm>
          <a:prstGeom prst="rect">
            <a:avLst/>
          </a:prstGeom>
          <a:noFill/>
        </p:spPr>
        <p:txBody>
          <a:bodyPr wrap="square" lIns="60000" tIns="40000" rIns="60000" bIns="40000">
            <a:spAutoFit/>
          </a:bodyPr>
          <a:lstStyle/>
          <a:p>
            <a:pPr marL="0" indent="0" algn="l">
              <a:lnSpc>
                <a:spcPct val="115000"/>
              </a:lnSpc>
              <a:buNone/>
            </a:pPr>
            <a:r>
              <a:rPr sz="1800" b="1" i="0">
                <a:solidFill>
                  <a:srgbClr val="FFFFFF"/>
                </a:solidFill>
                <a:latin typeface="Georgia"/>
              </a:rPr>
              <a:t>Existing Systems</a:t>
            </a:r>
          </a:p>
        </p:txBody>
      </p:sp>
      <p:sp>
        <p:nvSpPr>
          <p:cNvPr id="11274" name="Oval 11273"/>
          <p:cNvSpPr/>
          <p:nvPr/>
        </p:nvSpPr>
        <p:spPr>
          <a:xfrm>
            <a:off x="548640" y="2560320"/>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75" name="TextBox 11274"/>
          <p:cNvSpPr txBox="1"/>
          <p:nvPr/>
        </p:nvSpPr>
        <p:spPr>
          <a:xfrm>
            <a:off x="548640" y="2560320"/>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76" name="TextBox 11275"/>
          <p:cNvSpPr txBox="1"/>
          <p:nvPr/>
        </p:nvSpPr>
        <p:spPr>
          <a:xfrm>
            <a:off x="960120" y="2560320"/>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Keyword-only matching — misses semantic relationships between skills.</a:t>
            </a:r>
          </a:p>
        </p:txBody>
      </p:sp>
      <p:sp>
        <p:nvSpPr>
          <p:cNvPr id="11277" name="Oval 11276"/>
          <p:cNvSpPr/>
          <p:nvPr/>
        </p:nvSpPr>
        <p:spPr>
          <a:xfrm>
            <a:off x="548640" y="3072384"/>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78" name="TextBox 11277"/>
          <p:cNvSpPr txBox="1"/>
          <p:nvPr/>
        </p:nvSpPr>
        <p:spPr>
          <a:xfrm>
            <a:off x="548640" y="3072384"/>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79" name="TextBox 11278"/>
          <p:cNvSpPr txBox="1"/>
          <p:nvPr/>
        </p:nvSpPr>
        <p:spPr>
          <a:xfrm>
            <a:off x="960120" y="3072384"/>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Generic, one-size-fits-all career suggestions.</a:t>
            </a:r>
          </a:p>
        </p:txBody>
      </p:sp>
      <p:sp>
        <p:nvSpPr>
          <p:cNvPr id="11280" name="Oval 11279"/>
          <p:cNvSpPr/>
          <p:nvPr/>
        </p:nvSpPr>
        <p:spPr>
          <a:xfrm>
            <a:off x="548640" y="3584448"/>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1" name="TextBox 11280"/>
          <p:cNvSpPr txBox="1"/>
          <p:nvPr/>
        </p:nvSpPr>
        <p:spPr>
          <a:xfrm>
            <a:off x="548640" y="3584448"/>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82" name="TextBox 11281"/>
          <p:cNvSpPr txBox="1"/>
          <p:nvPr/>
        </p:nvSpPr>
        <p:spPr>
          <a:xfrm>
            <a:off x="960120" y="3584448"/>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No structured skill-gap identification.</a:t>
            </a:r>
          </a:p>
        </p:txBody>
      </p:sp>
      <p:sp>
        <p:nvSpPr>
          <p:cNvPr id="11283" name="Oval 11282"/>
          <p:cNvSpPr/>
          <p:nvPr/>
        </p:nvSpPr>
        <p:spPr>
          <a:xfrm>
            <a:off x="548640" y="4096512"/>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4" name="TextBox 11283"/>
          <p:cNvSpPr txBox="1"/>
          <p:nvPr/>
        </p:nvSpPr>
        <p:spPr>
          <a:xfrm>
            <a:off x="548640" y="4096512"/>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85" name="TextBox 11284"/>
          <p:cNvSpPr txBox="1"/>
          <p:nvPr/>
        </p:nvSpPr>
        <p:spPr>
          <a:xfrm>
            <a:off x="960120" y="4096512"/>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No personalized learning path.</a:t>
            </a:r>
          </a:p>
        </p:txBody>
      </p:sp>
      <p:sp>
        <p:nvSpPr>
          <p:cNvPr id="11286" name="Oval 11285"/>
          <p:cNvSpPr/>
          <p:nvPr/>
        </p:nvSpPr>
        <p:spPr>
          <a:xfrm>
            <a:off x="548640" y="4608576"/>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7" name="TextBox 11286"/>
          <p:cNvSpPr txBox="1"/>
          <p:nvPr/>
        </p:nvSpPr>
        <p:spPr>
          <a:xfrm>
            <a:off x="548640" y="4608576"/>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88" name="TextBox 11287"/>
          <p:cNvSpPr txBox="1"/>
          <p:nvPr/>
        </p:nvSpPr>
        <p:spPr>
          <a:xfrm>
            <a:off x="960120" y="4608576"/>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No progress tracking over time.</a:t>
            </a:r>
          </a:p>
        </p:txBody>
      </p:sp>
      <p:sp>
        <p:nvSpPr>
          <p:cNvPr id="11289" name="Oval 11288"/>
          <p:cNvSpPr/>
          <p:nvPr/>
        </p:nvSpPr>
        <p:spPr>
          <a:xfrm>
            <a:off x="548640" y="5120640"/>
            <a:ext cx="320040" cy="3200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0" name="TextBox 11289"/>
          <p:cNvSpPr txBox="1"/>
          <p:nvPr/>
        </p:nvSpPr>
        <p:spPr>
          <a:xfrm>
            <a:off x="548640" y="5120640"/>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91" name="TextBox 11290"/>
          <p:cNvSpPr txBox="1"/>
          <p:nvPr/>
        </p:nvSpPr>
        <p:spPr>
          <a:xfrm>
            <a:off x="960120" y="5120640"/>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Fragmented — users juggle multiple tools.</a:t>
            </a:r>
          </a:p>
        </p:txBody>
      </p:sp>
      <p:sp>
        <p:nvSpPr>
          <p:cNvPr id="11292" name="Rounded Rectangle 11291"/>
          <p:cNvSpPr/>
          <p:nvPr/>
        </p:nvSpPr>
        <p:spPr>
          <a:xfrm>
            <a:off x="5088636" y="1828800"/>
            <a:ext cx="4494276" cy="4206240"/>
          </a:xfrm>
          <a:prstGeom prst="roundRect">
            <a:avLst>
              <a:gd name="adj" fmla="val 4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93" name="Rectangle 11292"/>
          <p:cNvSpPr/>
          <p:nvPr/>
        </p:nvSpPr>
        <p:spPr>
          <a:xfrm>
            <a:off x="5088636" y="1828800"/>
            <a:ext cx="4494276" cy="54864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94" name="TextBox 11293"/>
          <p:cNvSpPr txBox="1"/>
          <p:nvPr/>
        </p:nvSpPr>
        <p:spPr>
          <a:xfrm>
            <a:off x="5317236" y="1920240"/>
            <a:ext cx="4037076" cy="411480"/>
          </a:xfrm>
          <a:prstGeom prst="rect">
            <a:avLst/>
          </a:prstGeom>
          <a:noFill/>
        </p:spPr>
        <p:txBody>
          <a:bodyPr wrap="square" lIns="60000" tIns="40000" rIns="60000" bIns="40000">
            <a:spAutoFit/>
          </a:bodyPr>
          <a:lstStyle/>
          <a:p>
            <a:pPr marL="0" indent="0" algn="l">
              <a:lnSpc>
                <a:spcPct val="115000"/>
              </a:lnSpc>
              <a:buNone/>
            </a:pPr>
            <a:r>
              <a:rPr sz="1800" b="1" i="0">
                <a:solidFill>
                  <a:srgbClr val="FFFFFF"/>
                </a:solidFill>
                <a:latin typeface="Georgia"/>
              </a:rPr>
              <a:t>AI Skill Gap Analyzer</a:t>
            </a:r>
          </a:p>
        </p:txBody>
      </p:sp>
      <p:sp>
        <p:nvSpPr>
          <p:cNvPr id="11295" name="Oval 11294"/>
          <p:cNvSpPr/>
          <p:nvPr/>
        </p:nvSpPr>
        <p:spPr>
          <a:xfrm>
            <a:off x="5317236" y="2560320"/>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6" name="TextBox 11295"/>
          <p:cNvSpPr txBox="1"/>
          <p:nvPr/>
        </p:nvSpPr>
        <p:spPr>
          <a:xfrm>
            <a:off x="5317236" y="2560320"/>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297" name="TextBox 11296"/>
          <p:cNvSpPr txBox="1"/>
          <p:nvPr/>
        </p:nvSpPr>
        <p:spPr>
          <a:xfrm>
            <a:off x="5728716" y="2560320"/>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NLP-based semantic analysis captures skill relationships in context.</a:t>
            </a:r>
          </a:p>
        </p:txBody>
      </p:sp>
      <p:sp>
        <p:nvSpPr>
          <p:cNvPr id="11298" name="Oval 11297"/>
          <p:cNvSpPr/>
          <p:nvPr/>
        </p:nvSpPr>
        <p:spPr>
          <a:xfrm>
            <a:off x="5317236" y="3072384"/>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9" name="TextBox 11298"/>
          <p:cNvSpPr txBox="1"/>
          <p:nvPr/>
        </p:nvSpPr>
        <p:spPr>
          <a:xfrm>
            <a:off x="5317236" y="3072384"/>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300" name="TextBox 11299"/>
          <p:cNvSpPr txBox="1"/>
          <p:nvPr/>
        </p:nvSpPr>
        <p:spPr>
          <a:xfrm>
            <a:off x="5728716" y="3072384"/>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Personalized recommendations tailored to individual profiles.</a:t>
            </a:r>
          </a:p>
        </p:txBody>
      </p:sp>
      <p:sp>
        <p:nvSpPr>
          <p:cNvPr id="11301" name="Oval 11300"/>
          <p:cNvSpPr/>
          <p:nvPr/>
        </p:nvSpPr>
        <p:spPr>
          <a:xfrm>
            <a:off x="5317236" y="3584448"/>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2" name="TextBox 11301"/>
          <p:cNvSpPr txBox="1"/>
          <p:nvPr/>
        </p:nvSpPr>
        <p:spPr>
          <a:xfrm>
            <a:off x="5317236" y="3584448"/>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303" name="TextBox 11302"/>
          <p:cNvSpPr txBox="1"/>
          <p:nvPr/>
        </p:nvSpPr>
        <p:spPr>
          <a:xfrm>
            <a:off x="5728716" y="3584448"/>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Matched · partially matched · missing skill categorization.</a:t>
            </a:r>
          </a:p>
        </p:txBody>
      </p:sp>
      <p:sp>
        <p:nvSpPr>
          <p:cNvPr id="11304" name="Oval 11303"/>
          <p:cNvSpPr/>
          <p:nvPr/>
        </p:nvSpPr>
        <p:spPr>
          <a:xfrm>
            <a:off x="5317236" y="4096512"/>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5" name="TextBox 11304"/>
          <p:cNvSpPr txBox="1"/>
          <p:nvPr/>
        </p:nvSpPr>
        <p:spPr>
          <a:xfrm>
            <a:off x="5317236" y="4096512"/>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306" name="TextBox 11305"/>
          <p:cNvSpPr txBox="1"/>
          <p:nvPr/>
        </p:nvSpPr>
        <p:spPr>
          <a:xfrm>
            <a:off x="5728716" y="4096512"/>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Structured learning paths with curated courses.</a:t>
            </a:r>
          </a:p>
        </p:txBody>
      </p:sp>
      <p:sp>
        <p:nvSpPr>
          <p:cNvPr id="11307" name="Oval 11306"/>
          <p:cNvSpPr/>
          <p:nvPr/>
        </p:nvSpPr>
        <p:spPr>
          <a:xfrm>
            <a:off x="5317236" y="4608576"/>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8" name="TextBox 11307"/>
          <p:cNvSpPr txBox="1"/>
          <p:nvPr/>
        </p:nvSpPr>
        <p:spPr>
          <a:xfrm>
            <a:off x="5317236" y="4608576"/>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309" name="TextBox 11308"/>
          <p:cNvSpPr txBox="1"/>
          <p:nvPr/>
        </p:nvSpPr>
        <p:spPr>
          <a:xfrm>
            <a:off x="5728716" y="4608576"/>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Dynamic match score + progress tracking.</a:t>
            </a:r>
          </a:p>
        </p:txBody>
      </p:sp>
      <p:sp>
        <p:nvSpPr>
          <p:cNvPr id="11310" name="Oval 11309"/>
          <p:cNvSpPr/>
          <p:nvPr/>
        </p:nvSpPr>
        <p:spPr>
          <a:xfrm>
            <a:off x="5317236" y="5120640"/>
            <a:ext cx="320040" cy="3200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11" name="TextBox 11310"/>
          <p:cNvSpPr txBox="1"/>
          <p:nvPr/>
        </p:nvSpPr>
        <p:spPr>
          <a:xfrm>
            <a:off x="5317236" y="5120640"/>
            <a:ext cx="320040" cy="320040"/>
          </a:xfrm>
          <a:prstGeom prst="rect">
            <a:avLst/>
          </a:prstGeom>
          <a:noFill/>
        </p:spPr>
        <p:txBody>
          <a:bodyPr wrap="none" lIns="0" tIns="0" rIns="0" bIns="0" anchor="ctr">
            <a:spAutoFit/>
          </a:bodyPr>
          <a:lstStyle/>
          <a:p>
            <a:pPr algn="ctr"/>
            <a:r>
              <a:rPr sz="1400" b="1">
                <a:solidFill>
                  <a:srgbClr val="FFFFFF"/>
                </a:solidFill>
                <a:latin typeface="Calibri"/>
              </a:rPr>
              <a:t>✓</a:t>
            </a:r>
          </a:p>
        </p:txBody>
      </p:sp>
      <p:sp>
        <p:nvSpPr>
          <p:cNvPr id="11312" name="TextBox 11311"/>
          <p:cNvSpPr txBox="1"/>
          <p:nvPr/>
        </p:nvSpPr>
        <p:spPr>
          <a:xfrm>
            <a:off x="5728716" y="5120640"/>
            <a:ext cx="3717036" cy="457200"/>
          </a:xfrm>
          <a:prstGeom prst="rect">
            <a:avLst/>
          </a:prstGeom>
          <a:noFill/>
        </p:spPr>
        <p:txBody>
          <a:bodyPr wrap="square" lIns="60000" tIns="40000" rIns="60000" bIns="40000">
            <a:spAutoFit/>
          </a:bodyPr>
          <a:lstStyle/>
          <a:p>
            <a:pPr marL="0" indent="0" algn="l">
              <a:lnSpc>
                <a:spcPct val="115000"/>
              </a:lnSpc>
              <a:buNone/>
            </a:pPr>
            <a:r>
              <a:rPr sz="1200" b="0" i="0">
                <a:solidFill>
                  <a:srgbClr val="222A3C"/>
                </a:solidFill>
                <a:latin typeface="Calibri"/>
              </a:rPr>
              <a:t>Unified dashboard — one place for analysis, learning, progress.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202FF8-FD1F-077A-5F6A-AEC2A0459086}"/>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B13DD548-4088-5EEE-B316-81603FA3CE44}"/>
              </a:ext>
            </a:extLst>
          </p:cNvPr>
          <p:cNvSpPr txBox="1"/>
          <p:nvPr/>
        </p:nvSpPr>
        <p:spPr>
          <a:xfrm>
            <a:off x="279400" y="460375"/>
            <a:ext cx="8686800" cy="640080"/>
          </a:xfrm>
          <a:prstGeom prst="rect">
            <a:avLst/>
          </a:prstGeom>
          <a:noFill/>
        </p:spPr>
        <p:txBody>
          <a:bodyPr wrap="square" lIns="60000" tIns="40000" rIns="60000" bIns="40000">
            <a:spAutoFit/>
          </a:bodyPr>
          <a:lstStyle/>
          <a:p>
            <a:pPr marL="0" indent="0" algn="l" eaLnBrk="1" fontAlgn="auto" hangingPunct="1">
              <a:lnSpc>
                <a:spcPct val="115000"/>
              </a:lnSpc>
              <a:spcBef>
                <a:spcPts val="0"/>
              </a:spcBef>
              <a:spcAft>
                <a:spcPts val="0"/>
              </a:spcAft>
              <a:defRPr/>
            </a:pPr>
            <a:r>
              <a:rPr sz="2000" b="1" i="0">
                <a:solidFill>
                  <a:srgbClr val="1E2761"/>
                </a:solidFill>
                <a:latin typeface="Georgia"/>
              </a:rPr>
              <a:t>RECOMMENDATION  &amp;  LEARNING  PATH</a:t>
            </a:r>
          </a:p>
        </p:txBody>
      </p:sp>
      <p:sp>
        <p:nvSpPr>
          <p:cNvPr id="2" name="Slide Number Placeholder 1">
            <a:extLst>
              <a:ext uri="{FF2B5EF4-FFF2-40B4-BE49-F238E27FC236}">
                <a16:creationId xmlns:a16="http://schemas.microsoft.com/office/drawing/2014/main" id="{A94ECAF1-85DD-5FC8-9C57-CF9731BDDA71}"/>
              </a:ext>
            </a:extLst>
          </p:cNvPr>
          <p:cNvSpPr>
            <a:spLocks noGrp="1"/>
          </p:cNvSpPr>
          <p:nvPr>
            <p:ph type="sldNum" sz="quarter" idx="12"/>
          </p:nvPr>
        </p:nvSpPr>
        <p:spPr>
          <a:xfrm>
            <a:off x="7523163" y="6356350"/>
            <a:ext cx="2228850" cy="365125"/>
          </a:xfrm>
        </p:spPr>
        <p:txBody>
          <a:bodyPr/>
          <a:lstStyle/>
          <a:p>
            <a:pPr>
              <a:defRPr/>
            </a:pPr>
            <a:fld id="{B54FFA0B-0BAF-432B-805C-8A4DB54F7BE8}" type="slidenum">
              <a:rPr lang="en-US" sz="3600">
                <a:solidFill>
                  <a:schemeClr val="accent2">
                    <a:lumMod val="75000"/>
                  </a:schemeClr>
                </a:solidFill>
                <a:latin typeface="Aharoni" panose="02010803020104030203" pitchFamily="2" charset="-79"/>
                <a:cs typeface="Aharoni" panose="02010803020104030203" pitchFamily="2" charset="-79"/>
              </a:rPr>
              <a:pPr>
                <a:defRPr/>
              </a:pPr>
              <a:t>8</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2293" name="Picture 2">
            <a:extLst>
              <a:ext uri="{FF2B5EF4-FFF2-40B4-BE49-F238E27FC236}">
                <a16:creationId xmlns:a16="http://schemas.microsoft.com/office/drawing/2014/main" id="{2DD194AB-1029-F2C1-5230-0EEC6F878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Box 12293"/>
          <p:cNvSpPr txBox="1"/>
          <p:nvPr/>
        </p:nvSpPr>
        <p:spPr>
          <a:xfrm>
            <a:off x="320040" y="1325880"/>
            <a:ext cx="9262872" cy="411480"/>
          </a:xfrm>
          <a:prstGeom prst="rect">
            <a:avLst/>
          </a:prstGeom>
          <a:noFill/>
        </p:spPr>
        <p:txBody>
          <a:bodyPr wrap="square" lIns="60000" tIns="40000" rIns="60000" bIns="40000">
            <a:spAutoFit/>
          </a:bodyPr>
          <a:lstStyle/>
          <a:p>
            <a:pPr marL="0" indent="0" algn="l">
              <a:lnSpc>
                <a:spcPct val="115000"/>
              </a:lnSpc>
              <a:buNone/>
            </a:pPr>
            <a:r>
              <a:rPr sz="1400" b="0" i="1">
                <a:solidFill>
                  <a:srgbClr val="555B6E"/>
                </a:solidFill>
                <a:latin typeface="Calibri"/>
              </a:rPr>
              <a:t>Turning gap analysis into a focused, actionable learning journey</a:t>
            </a:r>
          </a:p>
        </p:txBody>
      </p:sp>
      <p:sp>
        <p:nvSpPr>
          <p:cNvPr id="12295" name="Rounded Rectangle 12294"/>
          <p:cNvSpPr/>
          <p:nvPr/>
        </p:nvSpPr>
        <p:spPr>
          <a:xfrm>
            <a:off x="320040" y="1920240"/>
            <a:ext cx="2212848" cy="164592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96" name="Oval 12295"/>
          <p:cNvSpPr/>
          <p:nvPr/>
        </p:nvSpPr>
        <p:spPr>
          <a:xfrm>
            <a:off x="1133856" y="1691640"/>
            <a:ext cx="585216" cy="585216"/>
          </a:xfrm>
          <a:prstGeom prst="ellipse">
            <a:avLst/>
          </a:prstGeom>
          <a:solidFill>
            <a:srgbClr val="FFFFFF"/>
          </a:solidFill>
          <a:ln w="254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97" name="TextBox 12296"/>
          <p:cNvSpPr txBox="1"/>
          <p:nvPr/>
        </p:nvSpPr>
        <p:spPr>
          <a:xfrm>
            <a:off x="1133856" y="1691640"/>
            <a:ext cx="585216" cy="585216"/>
          </a:xfrm>
          <a:prstGeom prst="rect">
            <a:avLst/>
          </a:prstGeom>
          <a:noFill/>
        </p:spPr>
        <p:txBody>
          <a:bodyPr wrap="square" lIns="60000" tIns="40000" rIns="60000" bIns="40000">
            <a:spAutoFit/>
          </a:bodyPr>
          <a:lstStyle/>
          <a:p>
            <a:pPr marL="0" indent="0" algn="ctr">
              <a:lnSpc>
                <a:spcPct val="115000"/>
              </a:lnSpc>
              <a:buNone/>
            </a:pPr>
            <a:r>
              <a:rPr sz="2400" b="1" i="0">
                <a:solidFill>
                  <a:srgbClr val="1E2761"/>
                </a:solidFill>
                <a:latin typeface="Georgia"/>
              </a:rPr>
              <a:t>1</a:t>
            </a:r>
          </a:p>
        </p:txBody>
      </p:sp>
      <p:sp>
        <p:nvSpPr>
          <p:cNvPr id="12298" name="TextBox 12297"/>
          <p:cNvSpPr txBox="1"/>
          <p:nvPr/>
        </p:nvSpPr>
        <p:spPr>
          <a:xfrm>
            <a:off x="457200" y="2240280"/>
            <a:ext cx="1938528" cy="457200"/>
          </a:xfrm>
          <a:prstGeom prst="rect">
            <a:avLst/>
          </a:prstGeom>
          <a:noFill/>
        </p:spPr>
        <p:txBody>
          <a:bodyPr wrap="square" lIns="60000" tIns="40000" rIns="60000" bIns="40000">
            <a:spAutoFit/>
          </a:bodyPr>
          <a:lstStyle/>
          <a:p>
            <a:pPr marL="0" indent="0" algn="ctr">
              <a:lnSpc>
                <a:spcPct val="115000"/>
              </a:lnSpc>
              <a:buNone/>
            </a:pPr>
            <a:r>
              <a:rPr sz="1400" b="1" i="0">
                <a:solidFill>
                  <a:srgbClr val="FFFFFF"/>
                </a:solidFill>
                <a:latin typeface="Georgia"/>
              </a:rPr>
              <a:t>Identify Gap</a:t>
            </a:r>
          </a:p>
        </p:txBody>
      </p:sp>
      <p:sp>
        <p:nvSpPr>
          <p:cNvPr id="12299" name="TextBox 12298"/>
          <p:cNvSpPr txBox="1"/>
          <p:nvPr/>
        </p:nvSpPr>
        <p:spPr>
          <a:xfrm>
            <a:off x="457200" y="2697480"/>
            <a:ext cx="1938528" cy="822960"/>
          </a:xfrm>
          <a:prstGeom prst="rect">
            <a:avLst/>
          </a:prstGeom>
          <a:noFill/>
        </p:spPr>
        <p:txBody>
          <a:bodyPr wrap="square" lIns="60000" tIns="40000" rIns="60000" bIns="40000">
            <a:spAutoFit/>
          </a:bodyPr>
          <a:lstStyle/>
          <a:p>
            <a:pPr marL="0" indent="0" algn="ctr">
              <a:lnSpc>
                <a:spcPct val="120000"/>
              </a:lnSpc>
              <a:buNone/>
            </a:pPr>
            <a:r>
              <a:rPr sz="1000" b="0" i="1">
                <a:solidFill>
                  <a:srgbClr val="FFFFFF"/>
                </a:solidFill>
                <a:latin typeface="Calibri"/>
              </a:rPr>
              <a:t>System flags 11 missing &amp; 1 partial skill for Data Scientist role.</a:t>
            </a:r>
          </a:p>
        </p:txBody>
      </p:sp>
      <p:sp>
        <p:nvSpPr>
          <p:cNvPr id="12300" name="Rounded Rectangle 12299"/>
          <p:cNvSpPr/>
          <p:nvPr/>
        </p:nvSpPr>
        <p:spPr>
          <a:xfrm>
            <a:off x="2670048" y="1920240"/>
            <a:ext cx="2212848" cy="1645920"/>
          </a:xfrm>
          <a:prstGeom prst="roundRect">
            <a:avLst>
              <a:gd name="adj" fmla="val 8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01" name="Oval 12300"/>
          <p:cNvSpPr/>
          <p:nvPr/>
        </p:nvSpPr>
        <p:spPr>
          <a:xfrm>
            <a:off x="3483864" y="1691640"/>
            <a:ext cx="585216" cy="585216"/>
          </a:xfrm>
          <a:prstGeom prst="ellipse">
            <a:avLst/>
          </a:prstGeom>
          <a:solidFill>
            <a:srgbClr val="FFFFFF"/>
          </a:solidFill>
          <a:ln w="25400">
            <a:solidFill>
              <a:srgbClr val="E6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02" name="TextBox 12301"/>
          <p:cNvSpPr txBox="1"/>
          <p:nvPr/>
        </p:nvSpPr>
        <p:spPr>
          <a:xfrm>
            <a:off x="3483864" y="1691640"/>
            <a:ext cx="585216" cy="585216"/>
          </a:xfrm>
          <a:prstGeom prst="rect">
            <a:avLst/>
          </a:prstGeom>
          <a:noFill/>
        </p:spPr>
        <p:txBody>
          <a:bodyPr wrap="square" lIns="60000" tIns="40000" rIns="60000" bIns="40000">
            <a:spAutoFit/>
          </a:bodyPr>
          <a:lstStyle/>
          <a:p>
            <a:pPr marL="0" indent="0" algn="ctr">
              <a:lnSpc>
                <a:spcPct val="115000"/>
              </a:lnSpc>
              <a:buNone/>
            </a:pPr>
            <a:r>
              <a:rPr sz="2400" b="1" i="0">
                <a:solidFill>
                  <a:srgbClr val="E68A00"/>
                </a:solidFill>
                <a:latin typeface="Georgia"/>
              </a:rPr>
              <a:t>2</a:t>
            </a:r>
          </a:p>
        </p:txBody>
      </p:sp>
      <p:sp>
        <p:nvSpPr>
          <p:cNvPr id="12303" name="TextBox 12302"/>
          <p:cNvSpPr txBox="1"/>
          <p:nvPr/>
        </p:nvSpPr>
        <p:spPr>
          <a:xfrm>
            <a:off x="2807208" y="2240280"/>
            <a:ext cx="1938528" cy="457200"/>
          </a:xfrm>
          <a:prstGeom prst="rect">
            <a:avLst/>
          </a:prstGeom>
          <a:noFill/>
        </p:spPr>
        <p:txBody>
          <a:bodyPr wrap="square" lIns="60000" tIns="40000" rIns="60000" bIns="40000">
            <a:spAutoFit/>
          </a:bodyPr>
          <a:lstStyle/>
          <a:p>
            <a:pPr marL="0" indent="0" algn="ctr">
              <a:lnSpc>
                <a:spcPct val="115000"/>
              </a:lnSpc>
              <a:buNone/>
            </a:pPr>
            <a:r>
              <a:rPr sz="1400" b="1" i="0">
                <a:solidFill>
                  <a:srgbClr val="FFFFFF"/>
                </a:solidFill>
                <a:latin typeface="Georgia"/>
              </a:rPr>
              <a:t>Prioritize</a:t>
            </a:r>
          </a:p>
        </p:txBody>
      </p:sp>
      <p:sp>
        <p:nvSpPr>
          <p:cNvPr id="12304" name="TextBox 12303"/>
          <p:cNvSpPr txBox="1"/>
          <p:nvPr/>
        </p:nvSpPr>
        <p:spPr>
          <a:xfrm>
            <a:off x="2807208" y="2697480"/>
            <a:ext cx="1938528" cy="822960"/>
          </a:xfrm>
          <a:prstGeom prst="rect">
            <a:avLst/>
          </a:prstGeom>
          <a:noFill/>
        </p:spPr>
        <p:txBody>
          <a:bodyPr wrap="square" lIns="60000" tIns="40000" rIns="60000" bIns="40000">
            <a:spAutoFit/>
          </a:bodyPr>
          <a:lstStyle/>
          <a:p>
            <a:pPr marL="0" indent="0" algn="ctr">
              <a:lnSpc>
                <a:spcPct val="120000"/>
              </a:lnSpc>
              <a:buNone/>
            </a:pPr>
            <a:r>
              <a:rPr sz="1000" b="0" i="1">
                <a:solidFill>
                  <a:srgbClr val="FFFFFF"/>
                </a:solidFill>
                <a:latin typeface="Calibri"/>
              </a:rPr>
              <a:t>High-impact skills (Statistics, ML) ranked by match-weight.</a:t>
            </a:r>
          </a:p>
        </p:txBody>
      </p:sp>
      <p:sp>
        <p:nvSpPr>
          <p:cNvPr id="12305" name="Rounded Rectangle 12304"/>
          <p:cNvSpPr/>
          <p:nvPr/>
        </p:nvSpPr>
        <p:spPr>
          <a:xfrm>
            <a:off x="5020056" y="1920240"/>
            <a:ext cx="2212848" cy="1645920"/>
          </a:xfrm>
          <a:prstGeom prst="roundRect">
            <a:avLst>
              <a:gd name="adj" fmla="val 8000"/>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06" name="Oval 12305"/>
          <p:cNvSpPr/>
          <p:nvPr/>
        </p:nvSpPr>
        <p:spPr>
          <a:xfrm>
            <a:off x="5833872" y="1691640"/>
            <a:ext cx="585216" cy="585216"/>
          </a:xfrm>
          <a:prstGeom prst="ellipse">
            <a:avLst/>
          </a:prstGeom>
          <a:solidFill>
            <a:srgbClr val="FFFFFF"/>
          </a:solidFill>
          <a:ln w="2540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07" name="TextBox 12306"/>
          <p:cNvSpPr txBox="1"/>
          <p:nvPr/>
        </p:nvSpPr>
        <p:spPr>
          <a:xfrm>
            <a:off x="5833872" y="1691640"/>
            <a:ext cx="585216" cy="585216"/>
          </a:xfrm>
          <a:prstGeom prst="rect">
            <a:avLst/>
          </a:prstGeom>
          <a:noFill/>
        </p:spPr>
        <p:txBody>
          <a:bodyPr wrap="square" lIns="60000" tIns="40000" rIns="60000" bIns="40000">
            <a:spAutoFit/>
          </a:bodyPr>
          <a:lstStyle/>
          <a:p>
            <a:pPr marL="0" indent="0" algn="ctr">
              <a:lnSpc>
                <a:spcPct val="115000"/>
              </a:lnSpc>
              <a:buNone/>
            </a:pPr>
            <a:r>
              <a:rPr sz="2400" b="1" i="0">
                <a:solidFill>
                  <a:srgbClr val="0B7A75"/>
                </a:solidFill>
                <a:latin typeface="Georgia"/>
              </a:rPr>
              <a:t>3</a:t>
            </a:r>
          </a:p>
        </p:txBody>
      </p:sp>
      <p:sp>
        <p:nvSpPr>
          <p:cNvPr id="12308" name="TextBox 12307"/>
          <p:cNvSpPr txBox="1"/>
          <p:nvPr/>
        </p:nvSpPr>
        <p:spPr>
          <a:xfrm>
            <a:off x="5157216" y="2240280"/>
            <a:ext cx="1938528" cy="457200"/>
          </a:xfrm>
          <a:prstGeom prst="rect">
            <a:avLst/>
          </a:prstGeom>
          <a:noFill/>
        </p:spPr>
        <p:txBody>
          <a:bodyPr wrap="square" lIns="60000" tIns="40000" rIns="60000" bIns="40000">
            <a:spAutoFit/>
          </a:bodyPr>
          <a:lstStyle/>
          <a:p>
            <a:pPr marL="0" indent="0" algn="ctr">
              <a:lnSpc>
                <a:spcPct val="115000"/>
              </a:lnSpc>
              <a:buNone/>
            </a:pPr>
            <a:r>
              <a:rPr sz="1400" b="1" i="0">
                <a:solidFill>
                  <a:srgbClr val="FFFFFF"/>
                </a:solidFill>
                <a:latin typeface="Georgia"/>
              </a:rPr>
              <a:t>Curated Courses</a:t>
            </a:r>
          </a:p>
        </p:txBody>
      </p:sp>
      <p:sp>
        <p:nvSpPr>
          <p:cNvPr id="12309" name="TextBox 12308"/>
          <p:cNvSpPr txBox="1"/>
          <p:nvPr/>
        </p:nvSpPr>
        <p:spPr>
          <a:xfrm>
            <a:off x="5157216" y="2697480"/>
            <a:ext cx="1938528" cy="822960"/>
          </a:xfrm>
          <a:prstGeom prst="rect">
            <a:avLst/>
          </a:prstGeom>
          <a:noFill/>
        </p:spPr>
        <p:txBody>
          <a:bodyPr wrap="square" lIns="60000" tIns="40000" rIns="60000" bIns="40000">
            <a:spAutoFit/>
          </a:bodyPr>
          <a:lstStyle/>
          <a:p>
            <a:pPr marL="0" indent="0" algn="ctr">
              <a:lnSpc>
                <a:spcPct val="120000"/>
              </a:lnSpc>
              <a:buNone/>
            </a:pPr>
            <a:r>
              <a:rPr sz="1000" b="0" i="1">
                <a:solidFill>
                  <a:srgbClr val="FFFFFF"/>
                </a:solidFill>
                <a:latin typeface="Calibri"/>
              </a:rPr>
              <a:t>Free + paid course recommendations with ratings &amp; difficulty.</a:t>
            </a:r>
          </a:p>
        </p:txBody>
      </p:sp>
      <p:sp>
        <p:nvSpPr>
          <p:cNvPr id="12310" name="Rounded Rectangle 12309"/>
          <p:cNvSpPr/>
          <p:nvPr/>
        </p:nvSpPr>
        <p:spPr>
          <a:xfrm>
            <a:off x="7370064" y="1920240"/>
            <a:ext cx="2212848" cy="1645920"/>
          </a:xfrm>
          <a:prstGeom prst="roundRect">
            <a:avLst>
              <a:gd name="adj" fmla="val 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11" name="Oval 12310"/>
          <p:cNvSpPr/>
          <p:nvPr/>
        </p:nvSpPr>
        <p:spPr>
          <a:xfrm>
            <a:off x="8183880" y="1691640"/>
            <a:ext cx="585216" cy="585216"/>
          </a:xfrm>
          <a:prstGeom prst="ellipse">
            <a:avLst/>
          </a:prstGeom>
          <a:solidFill>
            <a:srgbClr val="FFFFFF"/>
          </a:solidFill>
          <a:ln w="254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12" name="TextBox 12311"/>
          <p:cNvSpPr txBox="1"/>
          <p:nvPr/>
        </p:nvSpPr>
        <p:spPr>
          <a:xfrm>
            <a:off x="8183880" y="1691640"/>
            <a:ext cx="585216" cy="585216"/>
          </a:xfrm>
          <a:prstGeom prst="rect">
            <a:avLst/>
          </a:prstGeom>
          <a:noFill/>
        </p:spPr>
        <p:txBody>
          <a:bodyPr wrap="square" lIns="60000" tIns="40000" rIns="60000" bIns="40000">
            <a:spAutoFit/>
          </a:bodyPr>
          <a:lstStyle/>
          <a:p>
            <a:pPr marL="0" indent="0" algn="ctr">
              <a:lnSpc>
                <a:spcPct val="115000"/>
              </a:lnSpc>
              <a:buNone/>
            </a:pPr>
            <a:r>
              <a:rPr sz="2400" b="1" i="0">
                <a:solidFill>
                  <a:srgbClr val="2E7D5B"/>
                </a:solidFill>
                <a:latin typeface="Georgia"/>
              </a:rPr>
              <a:t>4</a:t>
            </a:r>
          </a:p>
        </p:txBody>
      </p:sp>
      <p:sp>
        <p:nvSpPr>
          <p:cNvPr id="12313" name="TextBox 12312"/>
          <p:cNvSpPr txBox="1"/>
          <p:nvPr/>
        </p:nvSpPr>
        <p:spPr>
          <a:xfrm>
            <a:off x="7507224" y="2240280"/>
            <a:ext cx="1938528" cy="457200"/>
          </a:xfrm>
          <a:prstGeom prst="rect">
            <a:avLst/>
          </a:prstGeom>
          <a:noFill/>
        </p:spPr>
        <p:txBody>
          <a:bodyPr wrap="square" lIns="60000" tIns="40000" rIns="60000" bIns="40000">
            <a:spAutoFit/>
          </a:bodyPr>
          <a:lstStyle/>
          <a:p>
            <a:pPr marL="0" indent="0" algn="ctr">
              <a:lnSpc>
                <a:spcPct val="115000"/>
              </a:lnSpc>
              <a:buNone/>
            </a:pPr>
            <a:r>
              <a:rPr sz="1400" b="1" i="0">
                <a:solidFill>
                  <a:srgbClr val="FFFFFF"/>
                </a:solidFill>
                <a:latin typeface="Georgia"/>
              </a:rPr>
              <a:t>Track &amp; Re-score</a:t>
            </a:r>
          </a:p>
        </p:txBody>
      </p:sp>
      <p:sp>
        <p:nvSpPr>
          <p:cNvPr id="12314" name="TextBox 12313"/>
          <p:cNvSpPr txBox="1"/>
          <p:nvPr/>
        </p:nvSpPr>
        <p:spPr>
          <a:xfrm>
            <a:off x="7507224" y="2697480"/>
            <a:ext cx="1938528" cy="822960"/>
          </a:xfrm>
          <a:prstGeom prst="rect">
            <a:avLst/>
          </a:prstGeom>
          <a:noFill/>
        </p:spPr>
        <p:txBody>
          <a:bodyPr wrap="square" lIns="60000" tIns="40000" rIns="60000" bIns="40000">
            <a:spAutoFit/>
          </a:bodyPr>
          <a:lstStyle/>
          <a:p>
            <a:pPr marL="0" indent="0" algn="ctr">
              <a:lnSpc>
                <a:spcPct val="120000"/>
              </a:lnSpc>
              <a:buNone/>
            </a:pPr>
            <a:r>
              <a:rPr sz="1000" b="0" i="1">
                <a:solidFill>
                  <a:srgbClr val="FFFFFF"/>
                </a:solidFill>
                <a:latin typeface="Calibri"/>
              </a:rPr>
              <a:t>Completed skills update the match score dynamically in real time.</a:t>
            </a:r>
          </a:p>
        </p:txBody>
      </p:sp>
      <p:sp>
        <p:nvSpPr>
          <p:cNvPr id="12315" name="TextBox 12314"/>
          <p:cNvSpPr txBox="1"/>
          <p:nvPr/>
        </p:nvSpPr>
        <p:spPr>
          <a:xfrm>
            <a:off x="320040" y="4069080"/>
            <a:ext cx="9262872" cy="320040"/>
          </a:xfrm>
          <a:prstGeom prst="rect">
            <a:avLst/>
          </a:prstGeom>
          <a:noFill/>
        </p:spPr>
        <p:txBody>
          <a:bodyPr wrap="square" lIns="60000" tIns="40000" rIns="60000" bIns="40000">
            <a:spAutoFit/>
          </a:bodyPr>
          <a:lstStyle/>
          <a:p>
            <a:pPr marL="0" indent="0" algn="l">
              <a:lnSpc>
                <a:spcPct val="115000"/>
              </a:lnSpc>
              <a:buNone/>
            </a:pPr>
            <a:r>
              <a:rPr sz="1400" b="1" i="0">
                <a:solidFill>
                  <a:srgbClr val="C8102E"/>
                </a:solidFill>
                <a:latin typeface="Georgia"/>
              </a:rPr>
              <a:t>Sample personalized recommendations</a:t>
            </a:r>
          </a:p>
        </p:txBody>
      </p:sp>
      <p:sp>
        <p:nvSpPr>
          <p:cNvPr id="12316" name="Rounded Rectangle 12315"/>
          <p:cNvSpPr/>
          <p:nvPr/>
        </p:nvSpPr>
        <p:spPr>
          <a:xfrm>
            <a:off x="320040" y="4453128"/>
            <a:ext cx="2965704" cy="109728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17" name="Rectangle 12316"/>
          <p:cNvSpPr/>
          <p:nvPr/>
        </p:nvSpPr>
        <p:spPr>
          <a:xfrm>
            <a:off x="320040" y="4453128"/>
            <a:ext cx="109728" cy="10972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18" name="TextBox 12317"/>
          <p:cNvSpPr txBox="1"/>
          <p:nvPr/>
        </p:nvSpPr>
        <p:spPr>
          <a:xfrm>
            <a:off x="548640" y="4544568"/>
            <a:ext cx="2645664" cy="411480"/>
          </a:xfrm>
          <a:prstGeom prst="rect">
            <a:avLst/>
          </a:prstGeom>
          <a:noFill/>
        </p:spPr>
        <p:txBody>
          <a:bodyPr wrap="square" lIns="60000" tIns="40000" rIns="60000" bIns="40000">
            <a:spAutoFit/>
          </a:bodyPr>
          <a:lstStyle/>
          <a:p>
            <a:pPr marL="0" indent="0" algn="l">
              <a:lnSpc>
                <a:spcPct val="115000"/>
              </a:lnSpc>
              <a:buNone/>
            </a:pPr>
            <a:r>
              <a:rPr sz="1200" b="1" i="0">
                <a:solidFill>
                  <a:srgbClr val="1E2761"/>
                </a:solidFill>
                <a:latin typeface="Calibri"/>
              </a:rPr>
              <a:t>Master Statistics online</a:t>
            </a:r>
          </a:p>
        </p:txBody>
      </p:sp>
      <p:sp>
        <p:nvSpPr>
          <p:cNvPr id="12319" name="TextBox 12318"/>
          <p:cNvSpPr txBox="1"/>
          <p:nvPr/>
        </p:nvSpPr>
        <p:spPr>
          <a:xfrm>
            <a:off x="548640" y="4910328"/>
            <a:ext cx="2645664"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Coursera  •  4.7★</a:t>
            </a:r>
          </a:p>
        </p:txBody>
      </p:sp>
      <p:sp>
        <p:nvSpPr>
          <p:cNvPr id="12320" name="Rounded Rectangle 12319"/>
          <p:cNvSpPr/>
          <p:nvPr/>
        </p:nvSpPr>
        <p:spPr>
          <a:xfrm>
            <a:off x="548640" y="5202936"/>
            <a:ext cx="1097280" cy="274320"/>
          </a:xfrm>
          <a:prstGeom prst="roundRect">
            <a:avLst>
              <a:gd name="adj" fmla="val 4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21" name="TextBox 12320"/>
          <p:cNvSpPr txBox="1"/>
          <p:nvPr/>
        </p:nvSpPr>
        <p:spPr>
          <a:xfrm>
            <a:off x="548640" y="5202936"/>
            <a:ext cx="1097280" cy="274320"/>
          </a:xfrm>
          <a:prstGeom prst="rect">
            <a:avLst/>
          </a:prstGeom>
          <a:noFill/>
        </p:spPr>
        <p:txBody>
          <a:bodyPr wrap="square" lIns="60000" tIns="40000" rIns="60000" bIns="40000">
            <a:spAutoFit/>
          </a:bodyPr>
          <a:lstStyle/>
          <a:p>
            <a:pPr marL="0" indent="0" algn="ctr">
              <a:lnSpc>
                <a:spcPct val="115000"/>
              </a:lnSpc>
              <a:buNone/>
            </a:pPr>
            <a:r>
              <a:rPr sz="900" b="1" i="0">
                <a:solidFill>
                  <a:srgbClr val="FFFFFF"/>
                </a:solidFill>
                <a:latin typeface="Calibri"/>
              </a:rPr>
              <a:t>8 weeks</a:t>
            </a:r>
          </a:p>
        </p:txBody>
      </p:sp>
      <p:sp>
        <p:nvSpPr>
          <p:cNvPr id="12322" name="Rounded Rectangle 12321"/>
          <p:cNvSpPr/>
          <p:nvPr/>
        </p:nvSpPr>
        <p:spPr>
          <a:xfrm>
            <a:off x="3468624" y="4453128"/>
            <a:ext cx="2965704" cy="109728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23" name="Rectangle 12322"/>
          <p:cNvSpPr/>
          <p:nvPr/>
        </p:nvSpPr>
        <p:spPr>
          <a:xfrm>
            <a:off x="3468624" y="4453128"/>
            <a:ext cx="109728" cy="1097280"/>
          </a:xfrm>
          <a:prstGeom prst="rect">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24" name="TextBox 12323"/>
          <p:cNvSpPr txBox="1"/>
          <p:nvPr/>
        </p:nvSpPr>
        <p:spPr>
          <a:xfrm>
            <a:off x="3697224" y="4544568"/>
            <a:ext cx="2645664" cy="411480"/>
          </a:xfrm>
          <a:prstGeom prst="rect">
            <a:avLst/>
          </a:prstGeom>
          <a:noFill/>
        </p:spPr>
        <p:txBody>
          <a:bodyPr wrap="square" lIns="60000" tIns="40000" rIns="60000" bIns="40000">
            <a:spAutoFit/>
          </a:bodyPr>
          <a:lstStyle/>
          <a:p>
            <a:pPr marL="0" indent="0" algn="l">
              <a:lnSpc>
                <a:spcPct val="115000"/>
              </a:lnSpc>
              <a:buNone/>
            </a:pPr>
            <a:r>
              <a:rPr sz="1200" b="1" i="0">
                <a:solidFill>
                  <a:srgbClr val="1E2761"/>
                </a:solidFill>
                <a:latin typeface="Calibri"/>
              </a:rPr>
              <a:t>Intro to Machine Learning</a:t>
            </a:r>
          </a:p>
        </p:txBody>
      </p:sp>
      <p:sp>
        <p:nvSpPr>
          <p:cNvPr id="12325" name="TextBox 12324"/>
          <p:cNvSpPr txBox="1"/>
          <p:nvPr/>
        </p:nvSpPr>
        <p:spPr>
          <a:xfrm>
            <a:off x="3697224" y="4910328"/>
            <a:ext cx="2645664"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Andrew Ng  •  4.9★</a:t>
            </a:r>
          </a:p>
        </p:txBody>
      </p:sp>
      <p:sp>
        <p:nvSpPr>
          <p:cNvPr id="12326" name="Rounded Rectangle 12325"/>
          <p:cNvSpPr/>
          <p:nvPr/>
        </p:nvSpPr>
        <p:spPr>
          <a:xfrm>
            <a:off x="3697224" y="5202936"/>
            <a:ext cx="1097280" cy="274320"/>
          </a:xfrm>
          <a:prstGeom prst="roundRect">
            <a:avLst>
              <a:gd name="adj" fmla="val 40000"/>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27" name="TextBox 12326"/>
          <p:cNvSpPr txBox="1"/>
          <p:nvPr/>
        </p:nvSpPr>
        <p:spPr>
          <a:xfrm>
            <a:off x="3697224" y="5202936"/>
            <a:ext cx="1097280" cy="274320"/>
          </a:xfrm>
          <a:prstGeom prst="rect">
            <a:avLst/>
          </a:prstGeom>
          <a:noFill/>
        </p:spPr>
        <p:txBody>
          <a:bodyPr wrap="square" lIns="60000" tIns="40000" rIns="60000" bIns="40000">
            <a:spAutoFit/>
          </a:bodyPr>
          <a:lstStyle/>
          <a:p>
            <a:pPr marL="0" indent="0" algn="ctr">
              <a:lnSpc>
                <a:spcPct val="115000"/>
              </a:lnSpc>
              <a:buNone/>
            </a:pPr>
            <a:r>
              <a:rPr sz="900" b="1" i="0">
                <a:solidFill>
                  <a:srgbClr val="FFFFFF"/>
                </a:solidFill>
                <a:latin typeface="Calibri"/>
              </a:rPr>
              <a:t>11 weeks</a:t>
            </a:r>
          </a:p>
        </p:txBody>
      </p:sp>
      <p:sp>
        <p:nvSpPr>
          <p:cNvPr id="12328" name="Rounded Rectangle 12327"/>
          <p:cNvSpPr/>
          <p:nvPr/>
        </p:nvSpPr>
        <p:spPr>
          <a:xfrm>
            <a:off x="6617208" y="4453128"/>
            <a:ext cx="2965704" cy="1097280"/>
          </a:xfrm>
          <a:prstGeom prst="roundRect">
            <a:avLst>
              <a:gd name="adj" fmla="val 8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29" name="Rectangle 12328"/>
          <p:cNvSpPr/>
          <p:nvPr/>
        </p:nvSpPr>
        <p:spPr>
          <a:xfrm>
            <a:off x="6617208" y="4453128"/>
            <a:ext cx="109728" cy="10972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30" name="TextBox 12329"/>
          <p:cNvSpPr txBox="1"/>
          <p:nvPr/>
        </p:nvSpPr>
        <p:spPr>
          <a:xfrm>
            <a:off x="6845808" y="4544568"/>
            <a:ext cx="2645664" cy="411480"/>
          </a:xfrm>
          <a:prstGeom prst="rect">
            <a:avLst/>
          </a:prstGeom>
          <a:noFill/>
        </p:spPr>
        <p:txBody>
          <a:bodyPr wrap="square" lIns="60000" tIns="40000" rIns="60000" bIns="40000">
            <a:spAutoFit/>
          </a:bodyPr>
          <a:lstStyle/>
          <a:p>
            <a:pPr marL="0" indent="0" algn="l">
              <a:lnSpc>
                <a:spcPct val="115000"/>
              </a:lnSpc>
              <a:buNone/>
            </a:pPr>
            <a:r>
              <a:rPr sz="1200" b="1" i="0">
                <a:solidFill>
                  <a:srgbClr val="1E2761"/>
                </a:solidFill>
                <a:latin typeface="Calibri"/>
              </a:rPr>
              <a:t>Deep Learning Specialization</a:t>
            </a:r>
          </a:p>
        </p:txBody>
      </p:sp>
      <p:sp>
        <p:nvSpPr>
          <p:cNvPr id="12331" name="TextBox 12330"/>
          <p:cNvSpPr txBox="1"/>
          <p:nvPr/>
        </p:nvSpPr>
        <p:spPr>
          <a:xfrm>
            <a:off x="6845808" y="4910328"/>
            <a:ext cx="2645664" cy="320040"/>
          </a:xfrm>
          <a:prstGeom prst="rect">
            <a:avLst/>
          </a:prstGeom>
          <a:noFill/>
        </p:spPr>
        <p:txBody>
          <a:bodyPr wrap="square" lIns="60000" tIns="40000" rIns="60000" bIns="40000">
            <a:spAutoFit/>
          </a:bodyPr>
          <a:lstStyle/>
          <a:p>
            <a:pPr marL="0" indent="0" algn="l">
              <a:lnSpc>
                <a:spcPct val="115000"/>
              </a:lnSpc>
              <a:buNone/>
            </a:pPr>
            <a:r>
              <a:rPr sz="1000" b="0" i="1">
                <a:solidFill>
                  <a:srgbClr val="555B6E"/>
                </a:solidFill>
                <a:latin typeface="Calibri"/>
              </a:rPr>
              <a:t>DeepLearning.AI  •  4.8★</a:t>
            </a:r>
          </a:p>
        </p:txBody>
      </p:sp>
      <p:sp>
        <p:nvSpPr>
          <p:cNvPr id="12332" name="Rounded Rectangle 12331"/>
          <p:cNvSpPr/>
          <p:nvPr/>
        </p:nvSpPr>
        <p:spPr>
          <a:xfrm>
            <a:off x="6845808" y="5202936"/>
            <a:ext cx="1097280" cy="274320"/>
          </a:xfrm>
          <a:prstGeom prst="roundRect">
            <a:avLst>
              <a:gd name="adj" fmla="val 40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33" name="TextBox 12332"/>
          <p:cNvSpPr txBox="1"/>
          <p:nvPr/>
        </p:nvSpPr>
        <p:spPr>
          <a:xfrm>
            <a:off x="6845808" y="5202936"/>
            <a:ext cx="1097280" cy="274320"/>
          </a:xfrm>
          <a:prstGeom prst="rect">
            <a:avLst/>
          </a:prstGeom>
          <a:noFill/>
        </p:spPr>
        <p:txBody>
          <a:bodyPr wrap="square" lIns="60000" tIns="40000" rIns="60000" bIns="40000">
            <a:spAutoFit/>
          </a:bodyPr>
          <a:lstStyle/>
          <a:p>
            <a:pPr marL="0" indent="0" algn="ctr">
              <a:lnSpc>
                <a:spcPct val="115000"/>
              </a:lnSpc>
              <a:buNone/>
            </a:pPr>
            <a:r>
              <a:rPr sz="900" b="1" i="0">
                <a:solidFill>
                  <a:srgbClr val="FFFFFF"/>
                </a:solidFill>
                <a:latin typeface="Calibri"/>
              </a:rPr>
              <a:t>5 months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CBD892-D4B8-4CE4-C93C-0DE5B1B334A9}"/>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AE6CF0A1-261F-BC93-1BEB-1282E32382EE}"/>
              </a:ext>
            </a:extLst>
          </p:cNvPr>
          <p:cNvSpPr txBox="1"/>
          <p:nvPr/>
        </p:nvSpPr>
        <p:spPr>
          <a:xfrm>
            <a:off x="279400" y="460375"/>
            <a:ext cx="5778500"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SUMMARY AND CONCLUSIONS</a:t>
            </a:r>
          </a:p>
        </p:txBody>
      </p:sp>
      <p:sp>
        <p:nvSpPr>
          <p:cNvPr id="2" name="Slide Number Placeholder 1">
            <a:extLst>
              <a:ext uri="{FF2B5EF4-FFF2-40B4-BE49-F238E27FC236}">
                <a16:creationId xmlns:a16="http://schemas.microsoft.com/office/drawing/2014/main" id="{E702D41E-BC68-49B5-3ABA-65768E5A7410}"/>
              </a:ext>
            </a:extLst>
          </p:cNvPr>
          <p:cNvSpPr>
            <a:spLocks noGrp="1"/>
          </p:cNvSpPr>
          <p:nvPr>
            <p:ph type="sldNum" sz="quarter" idx="12"/>
          </p:nvPr>
        </p:nvSpPr>
        <p:spPr>
          <a:xfrm>
            <a:off x="7523163" y="6342063"/>
            <a:ext cx="2228850" cy="365125"/>
          </a:xfrm>
        </p:spPr>
        <p:txBody>
          <a:bodyPr/>
          <a:lstStyle/>
          <a:p>
            <a:pPr>
              <a:defRPr/>
            </a:pPr>
            <a:fld id="{D59CB34E-7DAA-4B58-BA00-6B8FD7DD11D3}" type="slidenum">
              <a:rPr lang="en-US" sz="3600">
                <a:solidFill>
                  <a:schemeClr val="accent2">
                    <a:lumMod val="75000"/>
                  </a:schemeClr>
                </a:solidFill>
                <a:latin typeface="Aharoni" panose="02010803020104030203" pitchFamily="2" charset="-79"/>
                <a:cs typeface="Aharoni" panose="02010803020104030203" pitchFamily="2" charset="-79"/>
              </a:rPr>
              <a:pPr>
                <a:defRPr/>
              </a:pPr>
              <a:t>9</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3317" name="Picture 2">
            <a:extLst>
              <a:ext uri="{FF2B5EF4-FFF2-40B4-BE49-F238E27FC236}">
                <a16:creationId xmlns:a16="http://schemas.microsoft.com/office/drawing/2014/main" id="{164B9773-7113-80AB-8C19-7FADCE4AE1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Box 13317"/>
          <p:cNvSpPr txBox="1"/>
          <p:nvPr/>
        </p:nvSpPr>
        <p:spPr>
          <a:xfrm>
            <a:off x="320040" y="1325880"/>
            <a:ext cx="9262872" cy="457200"/>
          </a:xfrm>
          <a:prstGeom prst="rect">
            <a:avLst/>
          </a:prstGeom>
          <a:noFill/>
        </p:spPr>
        <p:txBody>
          <a:bodyPr wrap="square" lIns="60000" tIns="40000" rIns="60000" bIns="40000">
            <a:spAutoFit/>
          </a:bodyPr>
          <a:lstStyle/>
          <a:p>
            <a:pPr marL="0" indent="0" algn="l">
              <a:lnSpc>
                <a:spcPct val="115000"/>
              </a:lnSpc>
              <a:buNone/>
            </a:pPr>
            <a:r>
              <a:rPr sz="1600" b="0" i="1">
                <a:solidFill>
                  <a:srgbClr val="555B6E"/>
                </a:solidFill>
                <a:latin typeface="Calibri"/>
              </a:rPr>
              <a:t>What we built, what it delivers, what's next</a:t>
            </a:r>
          </a:p>
        </p:txBody>
      </p:sp>
      <p:sp>
        <p:nvSpPr>
          <p:cNvPr id="13319" name="Rounded Rectangle 13318"/>
          <p:cNvSpPr/>
          <p:nvPr/>
        </p:nvSpPr>
        <p:spPr>
          <a:xfrm>
            <a:off x="320040" y="1828800"/>
            <a:ext cx="9262872" cy="8229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20" name="Oval 13319"/>
          <p:cNvSpPr/>
          <p:nvPr/>
        </p:nvSpPr>
        <p:spPr>
          <a:xfrm>
            <a:off x="484632" y="1965960"/>
            <a:ext cx="548640" cy="54864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21" name="TextBox 13320"/>
          <p:cNvSpPr txBox="1"/>
          <p:nvPr/>
        </p:nvSpPr>
        <p:spPr>
          <a:xfrm>
            <a:off x="484632" y="1965960"/>
            <a:ext cx="548640" cy="548640"/>
          </a:xfrm>
          <a:prstGeom prst="rect">
            <a:avLst/>
          </a:prstGeom>
          <a:noFill/>
        </p:spPr>
        <p:txBody>
          <a:bodyPr wrap="none" lIns="0" tIns="0" rIns="0" bIns="0" anchor="ctr">
            <a:spAutoFit/>
          </a:bodyPr>
          <a:lstStyle/>
          <a:p>
            <a:pPr algn="ctr"/>
            <a:r>
              <a:rPr sz="2000" b="1">
                <a:solidFill>
                  <a:srgbClr val="FFFFFF"/>
                </a:solidFill>
                <a:latin typeface="Calibri"/>
              </a:rPr>
              <a:t>★</a:t>
            </a:r>
          </a:p>
        </p:txBody>
      </p:sp>
      <p:sp>
        <p:nvSpPr>
          <p:cNvPr id="13322" name="TextBox 13321"/>
          <p:cNvSpPr txBox="1"/>
          <p:nvPr/>
        </p:nvSpPr>
        <p:spPr>
          <a:xfrm>
            <a:off x="1188720" y="1920240"/>
            <a:ext cx="8257032" cy="384048"/>
          </a:xfrm>
          <a:prstGeom prst="rect">
            <a:avLst/>
          </a:prstGeom>
          <a:noFill/>
        </p:spPr>
        <p:txBody>
          <a:bodyPr wrap="square" lIns="60000" tIns="40000" rIns="60000" bIns="40000">
            <a:spAutoFit/>
          </a:bodyPr>
          <a:lstStyle/>
          <a:p>
            <a:pPr marL="0" indent="0" algn="l">
              <a:lnSpc>
                <a:spcPct val="115000"/>
              </a:lnSpc>
              <a:buNone/>
            </a:pPr>
            <a:r>
              <a:rPr sz="1500" b="1" i="0">
                <a:solidFill>
                  <a:srgbClr val="1E2761"/>
                </a:solidFill>
                <a:latin typeface="Georgia"/>
              </a:rPr>
              <a:t>Intelligent &amp; personalised</a:t>
            </a:r>
          </a:p>
        </p:txBody>
      </p:sp>
      <p:sp>
        <p:nvSpPr>
          <p:cNvPr id="13323" name="TextBox 13322"/>
          <p:cNvSpPr txBox="1"/>
          <p:nvPr/>
        </p:nvSpPr>
        <p:spPr>
          <a:xfrm>
            <a:off x="1188720" y="2267712"/>
            <a:ext cx="8257032" cy="384048"/>
          </a:xfrm>
          <a:prstGeom prst="rect">
            <a:avLst/>
          </a:prstGeom>
          <a:noFill/>
        </p:spPr>
        <p:txBody>
          <a:bodyPr wrap="square" lIns="60000" tIns="40000" rIns="60000" bIns="40000">
            <a:spAutoFit/>
          </a:bodyPr>
          <a:lstStyle/>
          <a:p>
            <a:pPr marL="0" indent="0" algn="l">
              <a:lnSpc>
                <a:spcPct val="115000"/>
              </a:lnSpc>
              <a:buNone/>
            </a:pPr>
            <a:r>
              <a:rPr sz="1100" b="0" i="1">
                <a:solidFill>
                  <a:srgbClr val="222A3C"/>
                </a:solidFill>
                <a:latin typeface="Calibri"/>
              </a:rPr>
              <a:t>NLP + ML replaces crude keyword matching with true semantic analysis of user profiles.</a:t>
            </a:r>
          </a:p>
        </p:txBody>
      </p:sp>
      <p:sp>
        <p:nvSpPr>
          <p:cNvPr id="13324" name="Rounded Rectangle 13323"/>
          <p:cNvSpPr/>
          <p:nvPr/>
        </p:nvSpPr>
        <p:spPr>
          <a:xfrm>
            <a:off x="320040" y="2788920"/>
            <a:ext cx="9262872" cy="8229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25" name="Oval 13324"/>
          <p:cNvSpPr/>
          <p:nvPr/>
        </p:nvSpPr>
        <p:spPr>
          <a:xfrm>
            <a:off x="484632" y="2926080"/>
            <a:ext cx="548640" cy="548640"/>
          </a:xfrm>
          <a:prstGeom prst="ellipse">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26" name="TextBox 13325"/>
          <p:cNvSpPr txBox="1"/>
          <p:nvPr/>
        </p:nvSpPr>
        <p:spPr>
          <a:xfrm>
            <a:off x="484632" y="2926080"/>
            <a:ext cx="548640" cy="548640"/>
          </a:xfrm>
          <a:prstGeom prst="rect">
            <a:avLst/>
          </a:prstGeom>
          <a:noFill/>
        </p:spPr>
        <p:txBody>
          <a:bodyPr wrap="none" lIns="0" tIns="0" rIns="0" bIns="0" anchor="ctr">
            <a:spAutoFit/>
          </a:bodyPr>
          <a:lstStyle/>
          <a:p>
            <a:pPr algn="ctr"/>
            <a:r>
              <a:rPr sz="2000" b="1">
                <a:solidFill>
                  <a:srgbClr val="FFFFFF"/>
                </a:solidFill>
                <a:latin typeface="Calibri"/>
              </a:rPr>
              <a:t>⚡</a:t>
            </a:r>
          </a:p>
        </p:txBody>
      </p:sp>
      <p:sp>
        <p:nvSpPr>
          <p:cNvPr id="13327" name="TextBox 13326"/>
          <p:cNvSpPr txBox="1"/>
          <p:nvPr/>
        </p:nvSpPr>
        <p:spPr>
          <a:xfrm>
            <a:off x="1188720" y="2880360"/>
            <a:ext cx="8257032" cy="384048"/>
          </a:xfrm>
          <a:prstGeom prst="rect">
            <a:avLst/>
          </a:prstGeom>
          <a:noFill/>
        </p:spPr>
        <p:txBody>
          <a:bodyPr wrap="square" lIns="60000" tIns="40000" rIns="60000" bIns="40000">
            <a:spAutoFit/>
          </a:bodyPr>
          <a:lstStyle/>
          <a:p>
            <a:pPr marL="0" indent="0" algn="l">
              <a:lnSpc>
                <a:spcPct val="115000"/>
              </a:lnSpc>
              <a:buNone/>
            </a:pPr>
            <a:r>
              <a:rPr sz="1500" b="1" i="0">
                <a:solidFill>
                  <a:srgbClr val="0B7A75"/>
                </a:solidFill>
                <a:latin typeface="Georgia"/>
              </a:rPr>
              <a:t>Structured skill-gap insight</a:t>
            </a:r>
          </a:p>
        </p:txBody>
      </p:sp>
      <p:sp>
        <p:nvSpPr>
          <p:cNvPr id="13328" name="TextBox 13327"/>
          <p:cNvSpPr txBox="1"/>
          <p:nvPr/>
        </p:nvSpPr>
        <p:spPr>
          <a:xfrm>
            <a:off x="1188720" y="3227832"/>
            <a:ext cx="8257032" cy="384048"/>
          </a:xfrm>
          <a:prstGeom prst="rect">
            <a:avLst/>
          </a:prstGeom>
          <a:noFill/>
        </p:spPr>
        <p:txBody>
          <a:bodyPr wrap="square" lIns="60000" tIns="40000" rIns="60000" bIns="40000">
            <a:spAutoFit/>
          </a:bodyPr>
          <a:lstStyle/>
          <a:p>
            <a:pPr marL="0" indent="0" algn="l">
              <a:lnSpc>
                <a:spcPct val="115000"/>
              </a:lnSpc>
              <a:buNone/>
            </a:pPr>
            <a:r>
              <a:rPr sz="1100" b="0" i="1">
                <a:solidFill>
                  <a:srgbClr val="222A3C"/>
                </a:solidFill>
                <a:latin typeface="Calibri"/>
              </a:rPr>
              <a:t>Clear matched / partially-matched / missing categorisation with a quantitative match score.</a:t>
            </a:r>
          </a:p>
        </p:txBody>
      </p:sp>
      <p:sp>
        <p:nvSpPr>
          <p:cNvPr id="13329" name="Rounded Rectangle 13328"/>
          <p:cNvSpPr/>
          <p:nvPr/>
        </p:nvSpPr>
        <p:spPr>
          <a:xfrm>
            <a:off x="320040" y="3749040"/>
            <a:ext cx="9262872" cy="8229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30" name="Oval 13329"/>
          <p:cNvSpPr/>
          <p:nvPr/>
        </p:nvSpPr>
        <p:spPr>
          <a:xfrm>
            <a:off x="484632" y="3886200"/>
            <a:ext cx="548640" cy="548640"/>
          </a:xfrm>
          <a:prstGeom prst="ellipse">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31" name="TextBox 13330"/>
          <p:cNvSpPr txBox="1"/>
          <p:nvPr/>
        </p:nvSpPr>
        <p:spPr>
          <a:xfrm>
            <a:off x="484632" y="3886200"/>
            <a:ext cx="548640" cy="548640"/>
          </a:xfrm>
          <a:prstGeom prst="rect">
            <a:avLst/>
          </a:prstGeom>
          <a:noFill/>
        </p:spPr>
        <p:txBody>
          <a:bodyPr wrap="none" lIns="0" tIns="0" rIns="0" bIns="0" anchor="ctr">
            <a:spAutoFit/>
          </a:bodyPr>
          <a:lstStyle/>
          <a:p>
            <a:pPr algn="ctr"/>
            <a:r>
              <a:rPr sz="2000" b="1">
                <a:solidFill>
                  <a:srgbClr val="FFFFFF"/>
                </a:solidFill>
                <a:latin typeface="Calibri"/>
              </a:rPr>
              <a:t>➜</a:t>
            </a:r>
          </a:p>
        </p:txBody>
      </p:sp>
      <p:sp>
        <p:nvSpPr>
          <p:cNvPr id="13332" name="TextBox 13331"/>
          <p:cNvSpPr txBox="1"/>
          <p:nvPr/>
        </p:nvSpPr>
        <p:spPr>
          <a:xfrm>
            <a:off x="1188720" y="3840480"/>
            <a:ext cx="8257032" cy="384048"/>
          </a:xfrm>
          <a:prstGeom prst="rect">
            <a:avLst/>
          </a:prstGeom>
          <a:noFill/>
        </p:spPr>
        <p:txBody>
          <a:bodyPr wrap="square" lIns="60000" tIns="40000" rIns="60000" bIns="40000">
            <a:spAutoFit/>
          </a:bodyPr>
          <a:lstStyle/>
          <a:p>
            <a:pPr marL="0" indent="0" algn="l">
              <a:lnSpc>
                <a:spcPct val="115000"/>
              </a:lnSpc>
              <a:buNone/>
            </a:pPr>
            <a:r>
              <a:rPr sz="1500" b="1" i="0">
                <a:solidFill>
                  <a:srgbClr val="E68A00"/>
                </a:solidFill>
                <a:latin typeface="Georgia"/>
              </a:rPr>
              <a:t>Actionable career guidance</a:t>
            </a:r>
          </a:p>
        </p:txBody>
      </p:sp>
      <p:sp>
        <p:nvSpPr>
          <p:cNvPr id="13333" name="TextBox 13332"/>
          <p:cNvSpPr txBox="1"/>
          <p:nvPr/>
        </p:nvSpPr>
        <p:spPr>
          <a:xfrm>
            <a:off x="1188720" y="4187952"/>
            <a:ext cx="8257032" cy="384048"/>
          </a:xfrm>
          <a:prstGeom prst="rect">
            <a:avLst/>
          </a:prstGeom>
          <a:noFill/>
        </p:spPr>
        <p:txBody>
          <a:bodyPr wrap="square" lIns="60000" tIns="40000" rIns="60000" bIns="40000">
            <a:spAutoFit/>
          </a:bodyPr>
          <a:lstStyle/>
          <a:p>
            <a:pPr marL="0" indent="0" algn="l">
              <a:lnSpc>
                <a:spcPct val="115000"/>
              </a:lnSpc>
              <a:buNone/>
            </a:pPr>
            <a:r>
              <a:rPr sz="1100" b="0" i="1">
                <a:solidFill>
                  <a:srgbClr val="222A3C"/>
                </a:solidFill>
                <a:latin typeface="Calibri"/>
              </a:rPr>
              <a:t>Curated courses, certifications and learning paths — not generic suggestions.</a:t>
            </a:r>
          </a:p>
        </p:txBody>
      </p:sp>
      <p:sp>
        <p:nvSpPr>
          <p:cNvPr id="13334" name="Rounded Rectangle 13333"/>
          <p:cNvSpPr/>
          <p:nvPr/>
        </p:nvSpPr>
        <p:spPr>
          <a:xfrm>
            <a:off x="320040" y="4709160"/>
            <a:ext cx="9262872" cy="822960"/>
          </a:xfrm>
          <a:prstGeom prst="roundRect">
            <a:avLst>
              <a:gd name="adj" fmla="val 5000"/>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35" name="Oval 13334"/>
          <p:cNvSpPr/>
          <p:nvPr/>
        </p:nvSpPr>
        <p:spPr>
          <a:xfrm>
            <a:off x="484632" y="4846320"/>
            <a:ext cx="548640" cy="548640"/>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36" name="TextBox 13335"/>
          <p:cNvSpPr txBox="1"/>
          <p:nvPr/>
        </p:nvSpPr>
        <p:spPr>
          <a:xfrm>
            <a:off x="484632" y="4846320"/>
            <a:ext cx="548640" cy="548640"/>
          </a:xfrm>
          <a:prstGeom prst="rect">
            <a:avLst/>
          </a:prstGeom>
          <a:noFill/>
        </p:spPr>
        <p:txBody>
          <a:bodyPr wrap="none" lIns="0" tIns="0" rIns="0" bIns="0" anchor="ctr">
            <a:spAutoFit/>
          </a:bodyPr>
          <a:lstStyle/>
          <a:p>
            <a:pPr algn="ctr"/>
            <a:r>
              <a:rPr sz="2000" b="1">
                <a:solidFill>
                  <a:srgbClr val="FFFFFF"/>
                </a:solidFill>
                <a:latin typeface="Calibri"/>
              </a:rPr>
              <a:t>↻</a:t>
            </a:r>
          </a:p>
        </p:txBody>
      </p:sp>
      <p:sp>
        <p:nvSpPr>
          <p:cNvPr id="13337" name="TextBox 13336"/>
          <p:cNvSpPr txBox="1"/>
          <p:nvPr/>
        </p:nvSpPr>
        <p:spPr>
          <a:xfrm>
            <a:off x="1188720" y="4800600"/>
            <a:ext cx="8257032" cy="384048"/>
          </a:xfrm>
          <a:prstGeom prst="rect">
            <a:avLst/>
          </a:prstGeom>
          <a:noFill/>
        </p:spPr>
        <p:txBody>
          <a:bodyPr wrap="square" lIns="60000" tIns="40000" rIns="60000" bIns="40000">
            <a:spAutoFit/>
          </a:bodyPr>
          <a:lstStyle/>
          <a:p>
            <a:pPr marL="0" indent="0" algn="l">
              <a:lnSpc>
                <a:spcPct val="115000"/>
              </a:lnSpc>
              <a:buNone/>
            </a:pPr>
            <a:r>
              <a:rPr sz="1500" b="1" i="0">
                <a:solidFill>
                  <a:srgbClr val="2E7D5B"/>
                </a:solidFill>
                <a:latin typeface="Georgia"/>
              </a:rPr>
              <a:t>Continuous growth loop</a:t>
            </a:r>
          </a:p>
        </p:txBody>
      </p:sp>
      <p:sp>
        <p:nvSpPr>
          <p:cNvPr id="13338" name="TextBox 13337"/>
          <p:cNvSpPr txBox="1"/>
          <p:nvPr/>
        </p:nvSpPr>
        <p:spPr>
          <a:xfrm>
            <a:off x="1188720" y="5148072"/>
            <a:ext cx="8257032" cy="384048"/>
          </a:xfrm>
          <a:prstGeom prst="rect">
            <a:avLst/>
          </a:prstGeom>
          <a:noFill/>
        </p:spPr>
        <p:txBody>
          <a:bodyPr wrap="square" lIns="60000" tIns="40000" rIns="60000" bIns="40000">
            <a:spAutoFit/>
          </a:bodyPr>
          <a:lstStyle/>
          <a:p>
            <a:pPr marL="0" indent="0" algn="l">
              <a:lnSpc>
                <a:spcPct val="115000"/>
              </a:lnSpc>
              <a:buNone/>
            </a:pPr>
            <a:r>
              <a:rPr sz="1100" b="0" i="1">
                <a:solidFill>
                  <a:srgbClr val="222A3C"/>
                </a:solidFill>
                <a:latin typeface="Calibri"/>
              </a:rPr>
              <a:t>Dynamic progress tracking keeps users aligned and motivated as they upskill.</a:t>
            </a:r>
          </a:p>
        </p:txBody>
      </p:sp>
      <p:sp>
        <p:nvSpPr>
          <p:cNvPr id="13339" name="Rectangle 13338"/>
          <p:cNvSpPr/>
          <p:nvPr/>
        </p:nvSpPr>
        <p:spPr>
          <a:xfrm>
            <a:off x="320040" y="5715000"/>
            <a:ext cx="9262872"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340" name="TextBox 13339"/>
          <p:cNvSpPr txBox="1"/>
          <p:nvPr/>
        </p:nvSpPr>
        <p:spPr>
          <a:xfrm>
            <a:off x="548640" y="5788152"/>
            <a:ext cx="8805672" cy="274320"/>
          </a:xfrm>
          <a:prstGeom prst="rect">
            <a:avLst/>
          </a:prstGeom>
          <a:noFill/>
        </p:spPr>
        <p:txBody>
          <a:bodyPr wrap="square" lIns="60000" tIns="40000" rIns="60000" bIns="40000">
            <a:spAutoFit/>
          </a:bodyPr>
          <a:lstStyle/>
          <a:p>
            <a:pPr marL="0" indent="0" algn="l">
              <a:lnSpc>
                <a:spcPct val="115000"/>
              </a:lnSpc>
              <a:buNone/>
            </a:pPr>
            <a:r>
              <a:rPr sz="1100" b="1" i="0">
                <a:solidFill>
                  <a:srgbClr val="F5A623"/>
                </a:solidFill>
                <a:latin typeface="Calibri"/>
              </a:rPr>
              <a:t>FUTURE  SCOPE</a:t>
            </a:r>
          </a:p>
        </p:txBody>
      </p:sp>
      <p:sp>
        <p:nvSpPr>
          <p:cNvPr id="13341" name="TextBox 13340"/>
          <p:cNvSpPr txBox="1"/>
          <p:nvPr/>
        </p:nvSpPr>
        <p:spPr>
          <a:xfrm>
            <a:off x="548640" y="6025896"/>
            <a:ext cx="8805672" cy="365760"/>
          </a:xfrm>
          <a:prstGeom prst="rect">
            <a:avLst/>
          </a:prstGeom>
          <a:noFill/>
        </p:spPr>
        <p:txBody>
          <a:bodyPr wrap="square" lIns="60000" tIns="40000" rIns="60000" bIns="40000">
            <a:spAutoFit/>
          </a:bodyPr>
          <a:lstStyle/>
          <a:p>
            <a:pPr marL="0" indent="0" algn="l">
              <a:lnSpc>
                <a:spcPct val="115000"/>
              </a:lnSpc>
              <a:buNone/>
            </a:pPr>
            <a:r>
              <a:rPr sz="1100" b="0" i="1">
                <a:solidFill>
                  <a:srgbClr val="FFFFFF"/>
                </a:solidFill>
                <a:latin typeface="Calibri"/>
              </a:rPr>
              <a:t>Real-time job-market APIs  ·  Transformer-based recommendations  ·  Mobile app  ·  Knowledge-graph matching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9BE4A3-86B0-1DE0-7041-E51D11191E80}"/>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C2EDA76C-4E11-675E-BCEE-90E8A183FD3A}"/>
              </a:ext>
            </a:extLst>
          </p:cNvPr>
          <p:cNvSpPr txBox="1"/>
          <p:nvPr/>
        </p:nvSpPr>
        <p:spPr>
          <a:xfrm>
            <a:off x="279400" y="460375"/>
            <a:ext cx="7931150"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REFERENCES AND ACKNOWLEDGEMENTS</a:t>
            </a:r>
          </a:p>
        </p:txBody>
      </p:sp>
      <p:sp>
        <p:nvSpPr>
          <p:cNvPr id="2" name="Slide Number Placeholder 1">
            <a:extLst>
              <a:ext uri="{FF2B5EF4-FFF2-40B4-BE49-F238E27FC236}">
                <a16:creationId xmlns:a16="http://schemas.microsoft.com/office/drawing/2014/main" id="{0BFDDABB-4DF5-3082-B357-1EA9648D455D}"/>
              </a:ext>
            </a:extLst>
          </p:cNvPr>
          <p:cNvSpPr>
            <a:spLocks noGrp="1"/>
          </p:cNvSpPr>
          <p:nvPr>
            <p:ph type="sldNum" sz="quarter" idx="12"/>
          </p:nvPr>
        </p:nvSpPr>
        <p:spPr>
          <a:xfrm>
            <a:off x="7523163" y="6356350"/>
            <a:ext cx="2228850" cy="365125"/>
          </a:xfrm>
        </p:spPr>
        <p:txBody>
          <a:bodyPr/>
          <a:lstStyle/>
          <a:p>
            <a:pPr>
              <a:defRPr/>
            </a:pPr>
            <a:fld id="{22951B87-5C4B-4DA7-A120-96BC1581EEFF}" type="slidenum">
              <a:rPr lang="en-US" sz="3600">
                <a:solidFill>
                  <a:schemeClr val="accent2">
                    <a:lumMod val="75000"/>
                  </a:schemeClr>
                </a:solidFill>
                <a:latin typeface="Aharoni" panose="02010803020104030203" pitchFamily="2" charset="-79"/>
                <a:cs typeface="Aharoni" panose="02010803020104030203" pitchFamily="2" charset="-79"/>
              </a:rPr>
              <a:pPr>
                <a:defRPr/>
              </a:pPr>
              <a:t>10</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4341" name="Picture 2">
            <a:extLst>
              <a:ext uri="{FF2B5EF4-FFF2-40B4-BE49-F238E27FC236}">
                <a16:creationId xmlns:a16="http://schemas.microsoft.com/office/drawing/2014/main" id="{3B58F4A7-0AE7-2306-3AF3-E960BB2AA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2200" y="52388"/>
            <a:ext cx="992188"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TextBox 14341"/>
          <p:cNvSpPr txBox="1"/>
          <p:nvPr/>
        </p:nvSpPr>
        <p:spPr>
          <a:xfrm>
            <a:off x="320040" y="1188720"/>
            <a:ext cx="7772400" cy="411480"/>
          </a:xfrm>
          <a:prstGeom prst="rect">
            <a:avLst/>
          </a:prstGeom>
          <a:noFill/>
        </p:spPr>
        <p:txBody>
          <a:bodyPr wrap="square" lIns="60000" tIns="40000" rIns="60000" bIns="40000" anchor="t">
            <a:spAutoFit/>
          </a:bodyPr>
          <a:lstStyle/>
          <a:p>
            <a:pPr algn="l">
              <a:lnSpc>
                <a:spcPct val="115000"/>
              </a:lnSpc>
            </a:pPr>
            <a:r>
              <a:rPr sz="1400" b="0" i="1">
                <a:solidFill>
                  <a:srgbClr val="555B6E"/>
                </a:solidFill>
                <a:latin typeface="Calibri"/>
              </a:rPr>
              <a:t>Scholarly sources that shaped this work and the people who supported it</a:t>
            </a:r>
          </a:p>
        </p:txBody>
      </p:sp>
      <p:sp>
        <p:nvSpPr>
          <p:cNvPr id="14343" name="Rectangle 14342"/>
          <p:cNvSpPr/>
          <p:nvPr/>
        </p:nvSpPr>
        <p:spPr>
          <a:xfrm>
            <a:off x="320040" y="1691640"/>
            <a:ext cx="2996184" cy="7772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4" name="Rectangle 14343"/>
          <p:cNvSpPr/>
          <p:nvPr/>
        </p:nvSpPr>
        <p:spPr>
          <a:xfrm>
            <a:off x="320040" y="1691640"/>
            <a:ext cx="73152" cy="7772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5" name="TextBox 14344"/>
          <p:cNvSpPr txBox="1"/>
          <p:nvPr/>
        </p:nvSpPr>
        <p:spPr>
          <a:xfrm>
            <a:off x="502920" y="1737360"/>
            <a:ext cx="2767584" cy="411480"/>
          </a:xfrm>
          <a:prstGeom prst="rect">
            <a:avLst/>
          </a:prstGeom>
          <a:noFill/>
        </p:spPr>
        <p:txBody>
          <a:bodyPr wrap="square" lIns="60000" tIns="40000" rIns="60000" bIns="40000" anchor="t">
            <a:spAutoFit/>
          </a:bodyPr>
          <a:lstStyle/>
          <a:p>
            <a:pPr algn="l">
              <a:lnSpc>
                <a:spcPct val="115000"/>
              </a:lnSpc>
            </a:pPr>
            <a:r>
              <a:rPr sz="2200" b="1" i="0">
                <a:solidFill>
                  <a:srgbClr val="1E2761"/>
                </a:solidFill>
                <a:latin typeface="Georgia"/>
              </a:rPr>
              <a:t>10</a:t>
            </a:r>
          </a:p>
        </p:txBody>
      </p:sp>
      <p:sp>
        <p:nvSpPr>
          <p:cNvPr id="14346" name="TextBox 14345"/>
          <p:cNvSpPr txBox="1"/>
          <p:nvPr/>
        </p:nvSpPr>
        <p:spPr>
          <a:xfrm>
            <a:off x="502920" y="2148840"/>
            <a:ext cx="2767584" cy="274320"/>
          </a:xfrm>
          <a:prstGeom prst="rect">
            <a:avLst/>
          </a:prstGeom>
          <a:noFill/>
        </p:spPr>
        <p:txBody>
          <a:bodyPr wrap="square" lIns="60000" tIns="40000" rIns="60000" bIns="40000" anchor="t">
            <a:spAutoFit/>
          </a:bodyPr>
          <a:lstStyle/>
          <a:p>
            <a:pPr algn="l">
              <a:lnSpc>
                <a:spcPct val="115000"/>
              </a:lnSpc>
            </a:pPr>
            <a:r>
              <a:rPr sz="1000" b="0" i="0">
                <a:solidFill>
                  <a:srgbClr val="555B6E"/>
                </a:solidFill>
                <a:latin typeface="Calibri"/>
              </a:rPr>
              <a:t>Peer-reviewed references</a:t>
            </a:r>
          </a:p>
        </p:txBody>
      </p:sp>
      <p:sp>
        <p:nvSpPr>
          <p:cNvPr id="14347" name="Rectangle 14346"/>
          <p:cNvSpPr/>
          <p:nvPr/>
        </p:nvSpPr>
        <p:spPr>
          <a:xfrm>
            <a:off x="3453384" y="1691640"/>
            <a:ext cx="2996184" cy="7772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8" name="Rectangle 14347"/>
          <p:cNvSpPr/>
          <p:nvPr/>
        </p:nvSpPr>
        <p:spPr>
          <a:xfrm>
            <a:off x="3453384" y="1691640"/>
            <a:ext cx="73152" cy="777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9" name="TextBox 14348"/>
          <p:cNvSpPr txBox="1"/>
          <p:nvPr/>
        </p:nvSpPr>
        <p:spPr>
          <a:xfrm>
            <a:off x="3636264" y="1737360"/>
            <a:ext cx="2767584" cy="411480"/>
          </a:xfrm>
          <a:prstGeom prst="rect">
            <a:avLst/>
          </a:prstGeom>
          <a:noFill/>
        </p:spPr>
        <p:txBody>
          <a:bodyPr wrap="square" lIns="60000" tIns="40000" rIns="60000" bIns="40000" anchor="t">
            <a:spAutoFit/>
          </a:bodyPr>
          <a:lstStyle/>
          <a:p>
            <a:pPr algn="l">
              <a:lnSpc>
                <a:spcPct val="115000"/>
              </a:lnSpc>
            </a:pPr>
            <a:r>
              <a:rPr sz="2200" b="1" i="0">
                <a:solidFill>
                  <a:srgbClr val="C8102E"/>
                </a:solidFill>
                <a:latin typeface="Georgia"/>
              </a:rPr>
              <a:t>2021–2026</a:t>
            </a:r>
          </a:p>
        </p:txBody>
      </p:sp>
      <p:sp>
        <p:nvSpPr>
          <p:cNvPr id="14350" name="TextBox 14349"/>
          <p:cNvSpPr txBox="1"/>
          <p:nvPr/>
        </p:nvSpPr>
        <p:spPr>
          <a:xfrm>
            <a:off x="3636264" y="2148840"/>
            <a:ext cx="2767584" cy="274320"/>
          </a:xfrm>
          <a:prstGeom prst="rect">
            <a:avLst/>
          </a:prstGeom>
          <a:noFill/>
        </p:spPr>
        <p:txBody>
          <a:bodyPr wrap="square" lIns="60000" tIns="40000" rIns="60000" bIns="40000" anchor="t">
            <a:spAutoFit/>
          </a:bodyPr>
          <a:lstStyle/>
          <a:p>
            <a:pPr algn="l">
              <a:lnSpc>
                <a:spcPct val="115000"/>
              </a:lnSpc>
            </a:pPr>
            <a:r>
              <a:rPr sz="1000" b="0" i="0">
                <a:solidFill>
                  <a:srgbClr val="555B6E"/>
                </a:solidFill>
                <a:latin typeface="Calibri"/>
              </a:rPr>
              <a:t>Recent literature window</a:t>
            </a:r>
          </a:p>
        </p:txBody>
      </p:sp>
      <p:sp>
        <p:nvSpPr>
          <p:cNvPr id="14351" name="Rectangle 14350"/>
          <p:cNvSpPr/>
          <p:nvPr/>
        </p:nvSpPr>
        <p:spPr>
          <a:xfrm>
            <a:off x="6586728" y="1691640"/>
            <a:ext cx="2996184" cy="7772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52" name="Rectangle 14351"/>
          <p:cNvSpPr/>
          <p:nvPr/>
        </p:nvSpPr>
        <p:spPr>
          <a:xfrm>
            <a:off x="6586728" y="1691640"/>
            <a:ext cx="73152" cy="777240"/>
          </a:xfrm>
          <a:prstGeom prst="rect">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53" name="TextBox 14352"/>
          <p:cNvSpPr txBox="1"/>
          <p:nvPr/>
        </p:nvSpPr>
        <p:spPr>
          <a:xfrm>
            <a:off x="6769608" y="1737360"/>
            <a:ext cx="2767584" cy="411480"/>
          </a:xfrm>
          <a:prstGeom prst="rect">
            <a:avLst/>
          </a:prstGeom>
          <a:noFill/>
        </p:spPr>
        <p:txBody>
          <a:bodyPr wrap="square" lIns="60000" tIns="40000" rIns="60000" bIns="40000" anchor="t">
            <a:spAutoFit/>
          </a:bodyPr>
          <a:lstStyle/>
          <a:p>
            <a:pPr algn="l">
              <a:lnSpc>
                <a:spcPct val="115000"/>
              </a:lnSpc>
            </a:pPr>
            <a:r>
              <a:rPr sz="2200" b="1" i="0">
                <a:solidFill>
                  <a:srgbClr val="0B7A75"/>
                </a:solidFill>
                <a:latin typeface="Georgia"/>
              </a:rPr>
              <a:t>NLP · ML · IR</a:t>
            </a:r>
          </a:p>
        </p:txBody>
      </p:sp>
      <p:sp>
        <p:nvSpPr>
          <p:cNvPr id="14354" name="TextBox 14353"/>
          <p:cNvSpPr txBox="1"/>
          <p:nvPr/>
        </p:nvSpPr>
        <p:spPr>
          <a:xfrm>
            <a:off x="6769608" y="2148840"/>
            <a:ext cx="2767584" cy="274320"/>
          </a:xfrm>
          <a:prstGeom prst="rect">
            <a:avLst/>
          </a:prstGeom>
          <a:noFill/>
        </p:spPr>
        <p:txBody>
          <a:bodyPr wrap="square" lIns="60000" tIns="40000" rIns="60000" bIns="40000" anchor="t">
            <a:spAutoFit/>
          </a:bodyPr>
          <a:lstStyle/>
          <a:p>
            <a:pPr algn="l">
              <a:lnSpc>
                <a:spcPct val="115000"/>
              </a:lnSpc>
            </a:pPr>
            <a:r>
              <a:rPr sz="1000" b="0" i="0">
                <a:solidFill>
                  <a:srgbClr val="555B6E"/>
                </a:solidFill>
                <a:latin typeface="Calibri"/>
              </a:rPr>
              <a:t>Domains surveyed</a:t>
            </a:r>
          </a:p>
        </p:txBody>
      </p:sp>
      <p:sp>
        <p:nvSpPr>
          <p:cNvPr id="14355" name="Rectangle 14354"/>
          <p:cNvSpPr/>
          <p:nvPr/>
        </p:nvSpPr>
        <p:spPr>
          <a:xfrm>
            <a:off x="320040" y="2606040"/>
            <a:ext cx="9262872" cy="3108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56" name="TextBox 14355"/>
          <p:cNvSpPr txBox="1"/>
          <p:nvPr/>
        </p:nvSpPr>
        <p:spPr>
          <a:xfrm>
            <a:off x="457200" y="2642616"/>
            <a:ext cx="8988552" cy="256032"/>
          </a:xfrm>
          <a:prstGeom prst="rect">
            <a:avLst/>
          </a:prstGeom>
          <a:noFill/>
        </p:spPr>
        <p:txBody>
          <a:bodyPr wrap="square" lIns="60000" tIns="40000" rIns="60000" bIns="40000" anchor="t">
            <a:spAutoFit/>
          </a:bodyPr>
          <a:lstStyle/>
          <a:p>
            <a:pPr algn="l">
              <a:lnSpc>
                <a:spcPct val="115000"/>
              </a:lnSpc>
            </a:pPr>
            <a:r>
              <a:rPr sz="1200" b="1" i="0">
                <a:solidFill>
                  <a:srgbClr val="FFFFFF"/>
                </a:solidFill>
                <a:latin typeface="Calibri"/>
              </a:rPr>
              <a:t>REFERENCES</a:t>
            </a:r>
          </a:p>
        </p:txBody>
      </p:sp>
      <p:sp>
        <p:nvSpPr>
          <p:cNvPr id="14357" name="TextBox 14356"/>
          <p:cNvSpPr txBox="1"/>
          <p:nvPr/>
        </p:nvSpPr>
        <p:spPr>
          <a:xfrm>
            <a:off x="320040" y="2971800"/>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[1]</a:t>
            </a:r>
          </a:p>
        </p:txBody>
      </p:sp>
      <p:sp>
        <p:nvSpPr>
          <p:cNvPr id="14358" name="TextBox 14357"/>
          <p:cNvSpPr txBox="1"/>
          <p:nvPr/>
        </p:nvSpPr>
        <p:spPr>
          <a:xfrm>
            <a:off x="704088" y="2971800"/>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M. Kumar — "AI-Based Resume Analyzer," IJIRT 12(1), 2025.</a:t>
            </a:r>
          </a:p>
        </p:txBody>
      </p:sp>
      <p:sp>
        <p:nvSpPr>
          <p:cNvPr id="14359" name="TextBox 14358"/>
          <p:cNvSpPr txBox="1"/>
          <p:nvPr/>
        </p:nvSpPr>
        <p:spPr>
          <a:xfrm>
            <a:off x="320040" y="3282696"/>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[2]</a:t>
            </a:r>
          </a:p>
        </p:txBody>
      </p:sp>
      <p:sp>
        <p:nvSpPr>
          <p:cNvPr id="14360" name="TextBox 14359"/>
          <p:cNvSpPr txBox="1"/>
          <p:nvPr/>
        </p:nvSpPr>
        <p:spPr>
          <a:xfrm>
            <a:off x="704088" y="3282696"/>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M. Saatçı et al. — "Resume Screening with NLP," Alphanumeric J. 12(2), 2024.</a:t>
            </a:r>
          </a:p>
        </p:txBody>
      </p:sp>
      <p:sp>
        <p:nvSpPr>
          <p:cNvPr id="14361" name="TextBox 14360"/>
          <p:cNvSpPr txBox="1"/>
          <p:nvPr/>
        </p:nvSpPr>
        <p:spPr>
          <a:xfrm>
            <a:off x="320040" y="3593592"/>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[3]</a:t>
            </a:r>
          </a:p>
        </p:txBody>
      </p:sp>
      <p:sp>
        <p:nvSpPr>
          <p:cNvPr id="14362" name="TextBox 14361"/>
          <p:cNvSpPr txBox="1"/>
          <p:nvPr/>
        </p:nvSpPr>
        <p:spPr>
          <a:xfrm>
            <a:off x="704088" y="3593592"/>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IRJET — "NLP-Based Resume Analysis &amp; Skill Gap Detection," 12(4), 2025.</a:t>
            </a:r>
          </a:p>
        </p:txBody>
      </p:sp>
      <p:sp>
        <p:nvSpPr>
          <p:cNvPr id="14363" name="TextBox 14362"/>
          <p:cNvSpPr txBox="1"/>
          <p:nvPr/>
        </p:nvSpPr>
        <p:spPr>
          <a:xfrm>
            <a:off x="320040" y="3904488"/>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[4]</a:t>
            </a:r>
          </a:p>
        </p:txBody>
      </p:sp>
      <p:sp>
        <p:nvSpPr>
          <p:cNvPr id="14364" name="TextBox 14363"/>
          <p:cNvSpPr txBox="1"/>
          <p:nvPr/>
        </p:nvSpPr>
        <p:spPr>
          <a:xfrm>
            <a:off x="704088" y="3904488"/>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D. Kumar — "Fair &amp; Transparent Hiring with NLP+ML," ScienceDirect, 2026.</a:t>
            </a:r>
          </a:p>
        </p:txBody>
      </p:sp>
      <p:sp>
        <p:nvSpPr>
          <p:cNvPr id="14365" name="TextBox 14364"/>
          <p:cNvSpPr txBox="1"/>
          <p:nvPr/>
        </p:nvSpPr>
        <p:spPr>
          <a:xfrm>
            <a:off x="320040" y="4215384"/>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[5]</a:t>
            </a:r>
          </a:p>
        </p:txBody>
      </p:sp>
      <p:sp>
        <p:nvSpPr>
          <p:cNvPr id="14366" name="TextBox 14365"/>
          <p:cNvSpPr txBox="1"/>
          <p:nvPr/>
        </p:nvSpPr>
        <p:spPr>
          <a:xfrm>
            <a:off x="704088" y="4215384"/>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IJRASET — "AI Job Recommendation via Skill Extraction," 2026.</a:t>
            </a:r>
          </a:p>
        </p:txBody>
      </p:sp>
      <p:sp>
        <p:nvSpPr>
          <p:cNvPr id="14367" name="TextBox 14366"/>
          <p:cNvSpPr txBox="1"/>
          <p:nvPr/>
        </p:nvSpPr>
        <p:spPr>
          <a:xfrm>
            <a:off x="5020056" y="2971800"/>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[6]</a:t>
            </a:r>
          </a:p>
        </p:txBody>
      </p:sp>
      <p:sp>
        <p:nvSpPr>
          <p:cNvPr id="14368" name="TextBox 14367"/>
          <p:cNvSpPr txBox="1"/>
          <p:nvPr/>
        </p:nvSpPr>
        <p:spPr>
          <a:xfrm>
            <a:off x="5404104" y="2971800"/>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ANNLS — "SkillLens: AI-Powered Skill Gap Analyzer," 2025.</a:t>
            </a:r>
          </a:p>
        </p:txBody>
      </p:sp>
      <p:sp>
        <p:nvSpPr>
          <p:cNvPr id="14369" name="TextBox 14368"/>
          <p:cNvSpPr txBox="1"/>
          <p:nvPr/>
        </p:nvSpPr>
        <p:spPr>
          <a:xfrm>
            <a:off x="5020056" y="3282696"/>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[7]</a:t>
            </a:r>
          </a:p>
        </p:txBody>
      </p:sp>
      <p:sp>
        <p:nvSpPr>
          <p:cNvPr id="14370" name="TextBox 14369"/>
          <p:cNvSpPr txBox="1"/>
          <p:nvPr/>
        </p:nvSpPr>
        <p:spPr>
          <a:xfrm>
            <a:off x="5404104" y="3282696"/>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R. Pradeepa et al. — "Intelligent Resume Evaluation (ML)," IEEE ICERCS, 2024.</a:t>
            </a:r>
          </a:p>
        </p:txBody>
      </p:sp>
      <p:sp>
        <p:nvSpPr>
          <p:cNvPr id="14371" name="TextBox 14370"/>
          <p:cNvSpPr txBox="1"/>
          <p:nvPr/>
        </p:nvSpPr>
        <p:spPr>
          <a:xfrm>
            <a:off x="5020056" y="3593592"/>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[8]</a:t>
            </a:r>
          </a:p>
        </p:txBody>
      </p:sp>
      <p:sp>
        <p:nvSpPr>
          <p:cNvPr id="14372" name="TextBox 14371"/>
          <p:cNvSpPr txBox="1"/>
          <p:nvPr/>
        </p:nvSpPr>
        <p:spPr>
          <a:xfrm>
            <a:off x="5404104" y="3593592"/>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E. Senger et al. — "Deep Learning for Job-Market Analysis," arXiv, 2024.</a:t>
            </a:r>
          </a:p>
        </p:txBody>
      </p:sp>
      <p:sp>
        <p:nvSpPr>
          <p:cNvPr id="14373" name="TextBox 14372"/>
          <p:cNvSpPr txBox="1"/>
          <p:nvPr/>
        </p:nvSpPr>
        <p:spPr>
          <a:xfrm>
            <a:off x="5020056" y="3904488"/>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[9]</a:t>
            </a:r>
          </a:p>
        </p:txBody>
      </p:sp>
      <p:sp>
        <p:nvSpPr>
          <p:cNvPr id="14374" name="TextBox 14373"/>
          <p:cNvSpPr txBox="1"/>
          <p:nvPr/>
        </p:nvSpPr>
        <p:spPr>
          <a:xfrm>
            <a:off x="5404104" y="3904488"/>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M. Vyaas et al. — "JobMatchAI: Knowledge-Graph Job Matching," arXiv, 2026.</a:t>
            </a:r>
          </a:p>
        </p:txBody>
      </p:sp>
      <p:sp>
        <p:nvSpPr>
          <p:cNvPr id="14375" name="TextBox 14374"/>
          <p:cNvSpPr txBox="1"/>
          <p:nvPr/>
        </p:nvSpPr>
        <p:spPr>
          <a:xfrm>
            <a:off x="5020056" y="4215384"/>
            <a:ext cx="411480" cy="292608"/>
          </a:xfrm>
          <a:prstGeom prst="rect">
            <a:avLst/>
          </a:prstGeom>
          <a:noFill/>
        </p:spPr>
        <p:txBody>
          <a:bodyPr wrap="square" lIns="60000" tIns="40000" rIns="60000" bIns="40000" anchor="ctr">
            <a:spAutoFit/>
          </a:bodyPr>
          <a:lstStyle/>
          <a:p>
            <a:pPr algn="l">
              <a:lnSpc>
                <a:spcPct val="115000"/>
              </a:lnSpc>
            </a:pPr>
            <a:r>
              <a:rPr sz="1000" b="1" i="0">
                <a:solidFill>
                  <a:srgbClr val="C8102E"/>
                </a:solidFill>
                <a:latin typeface="Calibri"/>
              </a:rPr>
              <a:t>[10]</a:t>
            </a:r>
          </a:p>
        </p:txBody>
      </p:sp>
      <p:sp>
        <p:nvSpPr>
          <p:cNvPr id="14376" name="TextBox 14375"/>
          <p:cNvSpPr txBox="1"/>
          <p:nvPr/>
        </p:nvSpPr>
        <p:spPr>
          <a:xfrm>
            <a:off x="5404104" y="4215384"/>
            <a:ext cx="4178808" cy="292608"/>
          </a:xfrm>
          <a:prstGeom prst="rect">
            <a:avLst/>
          </a:prstGeom>
          <a:noFill/>
        </p:spPr>
        <p:txBody>
          <a:bodyPr wrap="square" lIns="60000" tIns="40000" rIns="60000" bIns="40000" anchor="ctr">
            <a:spAutoFit/>
          </a:bodyPr>
          <a:lstStyle/>
          <a:p>
            <a:pPr algn="l">
              <a:lnSpc>
                <a:spcPct val="115000"/>
              </a:lnSpc>
            </a:pPr>
            <a:r>
              <a:rPr sz="900" b="0" i="0">
                <a:solidFill>
                  <a:srgbClr val="1F2433"/>
                </a:solidFill>
                <a:latin typeface="Calibri"/>
              </a:rPr>
              <a:t>D. Lavi et al. — "conSultantBERT: Siamese SBERT for Job Match," ICAI, 2021.</a:t>
            </a:r>
          </a:p>
        </p:txBody>
      </p:sp>
      <p:sp>
        <p:nvSpPr>
          <p:cNvPr id="14377" name="Rectangle 14376"/>
          <p:cNvSpPr/>
          <p:nvPr/>
        </p:nvSpPr>
        <p:spPr>
          <a:xfrm>
            <a:off x="320040" y="4617720"/>
            <a:ext cx="9262872"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78" name="TextBox 14377"/>
          <p:cNvSpPr txBox="1"/>
          <p:nvPr/>
        </p:nvSpPr>
        <p:spPr>
          <a:xfrm>
            <a:off x="457200" y="4654296"/>
            <a:ext cx="8988552" cy="256032"/>
          </a:xfrm>
          <a:prstGeom prst="rect">
            <a:avLst/>
          </a:prstGeom>
          <a:noFill/>
        </p:spPr>
        <p:txBody>
          <a:bodyPr wrap="square" lIns="60000" tIns="40000" rIns="60000" bIns="40000" anchor="t">
            <a:spAutoFit/>
          </a:bodyPr>
          <a:lstStyle/>
          <a:p>
            <a:pPr algn="l">
              <a:lnSpc>
                <a:spcPct val="115000"/>
              </a:lnSpc>
            </a:pPr>
            <a:r>
              <a:rPr sz="1200" b="1" i="0">
                <a:solidFill>
                  <a:srgbClr val="FFFFFF"/>
                </a:solidFill>
                <a:latin typeface="Calibri"/>
              </a:rPr>
              <a:t>ACKNOWLEDGEMENTS</a:t>
            </a:r>
          </a:p>
        </p:txBody>
      </p:sp>
      <p:sp>
        <p:nvSpPr>
          <p:cNvPr id="14379" name="Rectangle 14378"/>
          <p:cNvSpPr/>
          <p:nvPr/>
        </p:nvSpPr>
        <p:spPr>
          <a:xfrm>
            <a:off x="320040" y="4983480"/>
            <a:ext cx="2996184" cy="1143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0" name="Rectangle 14379"/>
          <p:cNvSpPr/>
          <p:nvPr/>
        </p:nvSpPr>
        <p:spPr>
          <a:xfrm>
            <a:off x="320040" y="4983480"/>
            <a:ext cx="2996184" cy="3657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1" name="TextBox 14380"/>
          <p:cNvSpPr txBox="1"/>
          <p:nvPr/>
        </p:nvSpPr>
        <p:spPr>
          <a:xfrm>
            <a:off x="457200" y="5074920"/>
            <a:ext cx="2721864" cy="274320"/>
          </a:xfrm>
          <a:prstGeom prst="rect">
            <a:avLst/>
          </a:prstGeom>
          <a:noFill/>
        </p:spPr>
        <p:txBody>
          <a:bodyPr wrap="square" lIns="60000" tIns="40000" rIns="60000" bIns="40000" anchor="t">
            <a:spAutoFit/>
          </a:bodyPr>
          <a:lstStyle/>
          <a:p>
            <a:pPr algn="l">
              <a:lnSpc>
                <a:spcPct val="115000"/>
              </a:lnSpc>
            </a:pPr>
            <a:r>
              <a:rPr sz="1000" b="1" i="0">
                <a:solidFill>
                  <a:srgbClr val="1E2761"/>
                </a:solidFill>
                <a:latin typeface="Calibri"/>
              </a:rPr>
              <a:t>PROJECT GUIDE</a:t>
            </a:r>
          </a:p>
        </p:txBody>
      </p:sp>
      <p:sp>
        <p:nvSpPr>
          <p:cNvPr id="14382" name="TextBox 14381"/>
          <p:cNvSpPr txBox="1"/>
          <p:nvPr/>
        </p:nvSpPr>
        <p:spPr>
          <a:xfrm>
            <a:off x="457200" y="5349240"/>
            <a:ext cx="2721864" cy="731520"/>
          </a:xfrm>
          <a:prstGeom prst="rect">
            <a:avLst/>
          </a:prstGeom>
          <a:noFill/>
        </p:spPr>
        <p:txBody>
          <a:bodyPr wrap="square" lIns="60000" tIns="40000" rIns="60000" bIns="40000" anchor="t">
            <a:spAutoFit/>
          </a:bodyPr>
          <a:lstStyle/>
          <a:p>
            <a:pPr algn="l">
              <a:lnSpc>
                <a:spcPct val="120000"/>
              </a:lnSpc>
            </a:pPr>
            <a:r>
              <a:rPr sz="1050" b="0" i="0">
                <a:solidFill>
                  <a:srgbClr val="1F2433"/>
                </a:solidFill>
                <a:latin typeface="Calibri"/>
              </a:rPr>
              <a:t>Ms. S. Aadhitya
Assistant Professor, CSE
for invaluable mentorship &amp; technical guidance</a:t>
            </a:r>
          </a:p>
        </p:txBody>
      </p:sp>
      <p:sp>
        <p:nvSpPr>
          <p:cNvPr id="14383" name="Rectangle 14382"/>
          <p:cNvSpPr/>
          <p:nvPr/>
        </p:nvSpPr>
        <p:spPr>
          <a:xfrm>
            <a:off x="3453384" y="4983480"/>
            <a:ext cx="2996184" cy="1143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4" name="Rectangle 14383"/>
          <p:cNvSpPr/>
          <p:nvPr/>
        </p:nvSpPr>
        <p:spPr>
          <a:xfrm>
            <a:off x="3453384" y="4983480"/>
            <a:ext cx="2996184" cy="3657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5" name="TextBox 14384"/>
          <p:cNvSpPr txBox="1"/>
          <p:nvPr/>
        </p:nvSpPr>
        <p:spPr>
          <a:xfrm>
            <a:off x="3590544" y="5074920"/>
            <a:ext cx="2721864" cy="274320"/>
          </a:xfrm>
          <a:prstGeom prst="rect">
            <a:avLst/>
          </a:prstGeom>
          <a:noFill/>
        </p:spPr>
        <p:txBody>
          <a:bodyPr wrap="square" lIns="60000" tIns="40000" rIns="60000" bIns="40000" anchor="t">
            <a:spAutoFit/>
          </a:bodyPr>
          <a:lstStyle/>
          <a:p>
            <a:pPr algn="l">
              <a:lnSpc>
                <a:spcPct val="115000"/>
              </a:lnSpc>
            </a:pPr>
            <a:r>
              <a:rPr sz="1000" b="1" i="0">
                <a:solidFill>
                  <a:srgbClr val="C8102E"/>
                </a:solidFill>
                <a:latin typeface="Calibri"/>
              </a:rPr>
              <a:t>DEPARTMENT &amp; INSTITUTION</a:t>
            </a:r>
          </a:p>
        </p:txBody>
      </p:sp>
      <p:sp>
        <p:nvSpPr>
          <p:cNvPr id="14386" name="TextBox 14385"/>
          <p:cNvSpPr txBox="1"/>
          <p:nvPr/>
        </p:nvSpPr>
        <p:spPr>
          <a:xfrm>
            <a:off x="3590544" y="5349240"/>
            <a:ext cx="2721864" cy="731520"/>
          </a:xfrm>
          <a:prstGeom prst="rect">
            <a:avLst/>
          </a:prstGeom>
          <a:noFill/>
        </p:spPr>
        <p:txBody>
          <a:bodyPr wrap="square" lIns="60000" tIns="40000" rIns="60000" bIns="40000" anchor="t">
            <a:spAutoFit/>
          </a:bodyPr>
          <a:lstStyle/>
          <a:p>
            <a:pPr algn="l">
              <a:lnSpc>
                <a:spcPct val="120000"/>
              </a:lnSpc>
            </a:pPr>
            <a:r>
              <a:rPr sz="1050" b="0" i="0">
                <a:solidFill>
                  <a:srgbClr val="1F2433"/>
                </a:solidFill>
                <a:latin typeface="Calibri"/>
              </a:rPr>
              <a:t>Project Coordinator, Professor-in-charge &amp; HOD-CSE,
PSNA College of Engineering and Technology, Dindigul</a:t>
            </a:r>
          </a:p>
        </p:txBody>
      </p:sp>
      <p:sp>
        <p:nvSpPr>
          <p:cNvPr id="14387" name="Rectangle 14386"/>
          <p:cNvSpPr/>
          <p:nvPr/>
        </p:nvSpPr>
        <p:spPr>
          <a:xfrm>
            <a:off x="6586728" y="4983480"/>
            <a:ext cx="2996184" cy="1143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8" name="Rectangle 14387"/>
          <p:cNvSpPr/>
          <p:nvPr/>
        </p:nvSpPr>
        <p:spPr>
          <a:xfrm>
            <a:off x="6586728" y="4983480"/>
            <a:ext cx="2996184" cy="36576"/>
          </a:xfrm>
          <a:prstGeom prst="rect">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9" name="TextBox 14388"/>
          <p:cNvSpPr txBox="1"/>
          <p:nvPr/>
        </p:nvSpPr>
        <p:spPr>
          <a:xfrm>
            <a:off x="6723888" y="5074920"/>
            <a:ext cx="2721864" cy="274320"/>
          </a:xfrm>
          <a:prstGeom prst="rect">
            <a:avLst/>
          </a:prstGeom>
          <a:noFill/>
        </p:spPr>
        <p:txBody>
          <a:bodyPr wrap="square" lIns="60000" tIns="40000" rIns="60000" bIns="40000" anchor="t">
            <a:spAutoFit/>
          </a:bodyPr>
          <a:lstStyle/>
          <a:p>
            <a:pPr algn="l">
              <a:lnSpc>
                <a:spcPct val="115000"/>
              </a:lnSpc>
            </a:pPr>
            <a:r>
              <a:rPr sz="1000" b="1" i="0">
                <a:solidFill>
                  <a:srgbClr val="0B7A75"/>
                </a:solidFill>
                <a:latin typeface="Calibri"/>
              </a:rPr>
              <a:t>CONFERENCE COMMITTEE</a:t>
            </a:r>
          </a:p>
        </p:txBody>
      </p:sp>
      <p:sp>
        <p:nvSpPr>
          <p:cNvPr id="14390" name="TextBox 14389"/>
          <p:cNvSpPr txBox="1"/>
          <p:nvPr/>
        </p:nvSpPr>
        <p:spPr>
          <a:xfrm>
            <a:off x="6723888" y="5349240"/>
            <a:ext cx="2721864" cy="731520"/>
          </a:xfrm>
          <a:prstGeom prst="rect">
            <a:avLst/>
          </a:prstGeom>
          <a:noFill/>
        </p:spPr>
        <p:txBody>
          <a:bodyPr wrap="square" lIns="60000" tIns="40000" rIns="60000" bIns="40000" anchor="t">
            <a:spAutoFit/>
          </a:bodyPr>
          <a:lstStyle/>
          <a:p>
            <a:pPr algn="l">
              <a:lnSpc>
                <a:spcPct val="120000"/>
              </a:lnSpc>
            </a:pPr>
            <a:r>
              <a:rPr sz="1050" b="0" i="0">
                <a:solidFill>
                  <a:srgbClr val="1F2433"/>
                </a:solidFill>
                <a:latin typeface="Calibri"/>
              </a:rPr>
              <a:t>Organising Committee of ICECSM-2026 for the platform to share this research work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C6EFB3-4C11-6392-662A-472108BB07F7}"/>
              </a:ext>
            </a:extLst>
          </p:cNvPr>
          <p:cNvSpPr/>
          <p:nvPr/>
        </p:nvSpPr>
        <p:spPr>
          <a:xfrm>
            <a:off x="381000" y="1096963"/>
            <a:ext cx="9144000" cy="4603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extBox 4">
            <a:extLst>
              <a:ext uri="{FF2B5EF4-FFF2-40B4-BE49-F238E27FC236}">
                <a16:creationId xmlns:a16="http://schemas.microsoft.com/office/drawing/2014/main" id="{822497B0-67D5-D25B-E5E1-7FD7BBE44FE1}"/>
              </a:ext>
            </a:extLst>
          </p:cNvPr>
          <p:cNvSpPr txBox="1"/>
          <p:nvPr/>
        </p:nvSpPr>
        <p:spPr>
          <a:xfrm>
            <a:off x="279400" y="460375"/>
            <a:ext cx="1195388" cy="630238"/>
          </a:xfrm>
          <a:prstGeom prst="rect">
            <a:avLst/>
          </a:prstGeom>
          <a:noFill/>
        </p:spPr>
        <p:txBody>
          <a:bodyPr wrap="none">
            <a:spAutoFit/>
          </a:bodyPr>
          <a:lstStyle/>
          <a:p>
            <a:pPr eaLnBrk="1" fontAlgn="auto" hangingPunct="1">
              <a:spcBef>
                <a:spcPts val="0"/>
              </a:spcBef>
              <a:spcAft>
                <a:spcPts val="0"/>
              </a:spcAft>
              <a:defRPr/>
            </a:pPr>
            <a:r>
              <a:rPr lang="en-US" sz="3500" b="1" dirty="0">
                <a:solidFill>
                  <a:schemeClr val="tx1">
                    <a:lumMod val="65000"/>
                    <a:lumOff val="35000"/>
                  </a:schemeClr>
                </a:solidFill>
                <a:latin typeface="Arial Narrow" panose="020B0606020202030204" pitchFamily="34" charset="0"/>
              </a:rPr>
              <a:t>Q &amp; A</a:t>
            </a:r>
          </a:p>
        </p:txBody>
      </p:sp>
      <p:sp>
        <p:nvSpPr>
          <p:cNvPr id="2" name="Slide Number Placeholder 1">
            <a:extLst>
              <a:ext uri="{FF2B5EF4-FFF2-40B4-BE49-F238E27FC236}">
                <a16:creationId xmlns:a16="http://schemas.microsoft.com/office/drawing/2014/main" id="{9BF6CA83-158F-A02D-9CA9-029E2EDE5A3E}"/>
              </a:ext>
            </a:extLst>
          </p:cNvPr>
          <p:cNvSpPr>
            <a:spLocks noGrp="1"/>
          </p:cNvSpPr>
          <p:nvPr>
            <p:ph type="sldNum" sz="quarter" idx="12"/>
          </p:nvPr>
        </p:nvSpPr>
        <p:spPr>
          <a:xfrm>
            <a:off x="7523163" y="6327775"/>
            <a:ext cx="2228850" cy="365125"/>
          </a:xfrm>
        </p:spPr>
        <p:txBody>
          <a:bodyPr/>
          <a:lstStyle/>
          <a:p>
            <a:pPr>
              <a:defRPr/>
            </a:pPr>
            <a:fld id="{50B657F8-9E16-4463-ADE5-5C740101DDF7}" type="slidenum">
              <a:rPr lang="en-US" sz="3600">
                <a:solidFill>
                  <a:schemeClr val="accent2">
                    <a:lumMod val="75000"/>
                  </a:schemeClr>
                </a:solidFill>
                <a:latin typeface="Aharoni" panose="02010803020104030203" pitchFamily="2" charset="-79"/>
                <a:cs typeface="Aharoni" panose="02010803020104030203" pitchFamily="2" charset="-79"/>
              </a:rPr>
              <a:pPr>
                <a:defRPr/>
              </a:pPr>
              <a:t>11</a:t>
            </a:fld>
            <a:endParaRPr lang="en-US" sz="3600" dirty="0">
              <a:solidFill>
                <a:schemeClr val="accent2">
                  <a:lumMod val="75000"/>
                </a:schemeClr>
              </a:solidFill>
              <a:latin typeface="Aharoni" panose="02010803020104030203" pitchFamily="2" charset="-79"/>
              <a:cs typeface="Aharoni" panose="02010803020104030203" pitchFamily="2" charset="-79"/>
            </a:endParaRPr>
          </a:p>
        </p:txBody>
      </p:sp>
      <p:pic>
        <p:nvPicPr>
          <p:cNvPr id="15367" name="Picture 2">
            <a:extLst>
              <a:ext uri="{FF2B5EF4-FFF2-40B4-BE49-F238E27FC236}">
                <a16:creationId xmlns:a16="http://schemas.microsoft.com/office/drawing/2014/main" id="{87208EC5-489E-844F-935F-1E5735C8C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9825" y="73025"/>
            <a:ext cx="99218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ounded Rectangle 15367"/>
          <p:cNvSpPr/>
          <p:nvPr/>
        </p:nvSpPr>
        <p:spPr>
          <a:xfrm>
            <a:off x="320040" y="1280160"/>
            <a:ext cx="9262872" cy="2103120"/>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69" name="Rectangle 15368"/>
          <p:cNvSpPr/>
          <p:nvPr/>
        </p:nvSpPr>
        <p:spPr>
          <a:xfrm>
            <a:off x="320040" y="1280160"/>
            <a:ext cx="182880" cy="21031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0" name="TextBox 15369"/>
          <p:cNvSpPr txBox="1"/>
          <p:nvPr/>
        </p:nvSpPr>
        <p:spPr>
          <a:xfrm>
            <a:off x="594360" y="1444752"/>
            <a:ext cx="8897112" cy="274320"/>
          </a:xfrm>
          <a:prstGeom prst="rect">
            <a:avLst/>
          </a:prstGeom>
          <a:noFill/>
        </p:spPr>
        <p:txBody>
          <a:bodyPr wrap="square" lIns="60000" tIns="40000" rIns="60000" bIns="40000" anchor="t">
            <a:spAutoFit/>
          </a:bodyPr>
          <a:lstStyle/>
          <a:p>
            <a:pPr algn="ctr">
              <a:lnSpc>
                <a:spcPct val="115000"/>
              </a:lnSpc>
            </a:pPr>
            <a:r>
              <a:rPr sz="1100" b="1" i="0">
                <a:solidFill>
                  <a:srgbClr val="F5A623"/>
                </a:solidFill>
                <a:latin typeface="Calibri"/>
              </a:rPr>
              <a:t>ICECSM-2026   •   ORAL PRESENTATION</a:t>
            </a:r>
          </a:p>
        </p:txBody>
      </p:sp>
      <p:sp>
        <p:nvSpPr>
          <p:cNvPr id="15371" name="TextBox 15370"/>
          <p:cNvSpPr txBox="1"/>
          <p:nvPr/>
        </p:nvSpPr>
        <p:spPr>
          <a:xfrm>
            <a:off x="594360" y="1737360"/>
            <a:ext cx="8897112" cy="1005840"/>
          </a:xfrm>
          <a:prstGeom prst="rect">
            <a:avLst/>
          </a:prstGeom>
          <a:noFill/>
        </p:spPr>
        <p:txBody>
          <a:bodyPr wrap="square" lIns="60000" tIns="40000" rIns="60000" bIns="40000" anchor="t">
            <a:spAutoFit/>
          </a:bodyPr>
          <a:lstStyle/>
          <a:p>
            <a:pPr algn="ctr">
              <a:lnSpc>
                <a:spcPct val="115000"/>
              </a:lnSpc>
            </a:pPr>
            <a:r>
              <a:rPr sz="5800" b="1" i="0">
                <a:solidFill>
                  <a:srgbClr val="FFFFFF"/>
                </a:solidFill>
                <a:latin typeface="Georgia"/>
              </a:rPr>
              <a:t>THANK  YOU</a:t>
            </a:r>
          </a:p>
        </p:txBody>
      </p:sp>
      <p:sp>
        <p:nvSpPr>
          <p:cNvPr id="15372" name="TextBox 15371"/>
          <p:cNvSpPr txBox="1"/>
          <p:nvPr/>
        </p:nvSpPr>
        <p:spPr>
          <a:xfrm>
            <a:off x="594360" y="2788920"/>
            <a:ext cx="8897112" cy="411480"/>
          </a:xfrm>
          <a:prstGeom prst="rect">
            <a:avLst/>
          </a:prstGeom>
          <a:noFill/>
        </p:spPr>
        <p:txBody>
          <a:bodyPr wrap="square" lIns="60000" tIns="40000" rIns="60000" bIns="40000" anchor="t">
            <a:spAutoFit/>
          </a:bodyPr>
          <a:lstStyle/>
          <a:p>
            <a:pPr algn="ctr">
              <a:lnSpc>
                <a:spcPct val="115000"/>
              </a:lnSpc>
            </a:pPr>
            <a:r>
              <a:rPr sz="1400" b="0" i="1">
                <a:solidFill>
                  <a:srgbClr val="F4F6FA"/>
                </a:solidFill>
                <a:latin typeface="Calibri"/>
              </a:rPr>
              <a:t>for your kind attention and thoughtful engagement</a:t>
            </a:r>
          </a:p>
        </p:txBody>
      </p:sp>
      <p:sp>
        <p:nvSpPr>
          <p:cNvPr id="15373" name="TextBox 15372"/>
          <p:cNvSpPr txBox="1"/>
          <p:nvPr/>
        </p:nvSpPr>
        <p:spPr>
          <a:xfrm>
            <a:off x="320040" y="3520440"/>
            <a:ext cx="9262872" cy="502920"/>
          </a:xfrm>
          <a:prstGeom prst="rect">
            <a:avLst/>
          </a:prstGeom>
          <a:noFill/>
        </p:spPr>
        <p:txBody>
          <a:bodyPr wrap="square" lIns="60000" tIns="40000" rIns="60000" bIns="40000" anchor="t">
            <a:spAutoFit/>
          </a:bodyPr>
          <a:lstStyle/>
          <a:p>
            <a:pPr algn="ctr">
              <a:lnSpc>
                <a:spcPct val="115000"/>
              </a:lnSpc>
            </a:pPr>
            <a:r>
              <a:rPr sz="2400" b="1" i="0">
                <a:solidFill>
                  <a:srgbClr val="C8102E"/>
                </a:solidFill>
                <a:latin typeface="Georgia"/>
              </a:rPr>
              <a:t>Questions  ?    Discussions  ?</a:t>
            </a:r>
          </a:p>
        </p:txBody>
      </p:sp>
      <p:sp>
        <p:nvSpPr>
          <p:cNvPr id="15374" name="TextBox 15373"/>
          <p:cNvSpPr txBox="1"/>
          <p:nvPr/>
        </p:nvSpPr>
        <p:spPr>
          <a:xfrm>
            <a:off x="320040" y="4023360"/>
            <a:ext cx="9262872" cy="292608"/>
          </a:xfrm>
          <a:prstGeom prst="rect">
            <a:avLst/>
          </a:prstGeom>
          <a:noFill/>
        </p:spPr>
        <p:txBody>
          <a:bodyPr wrap="square" lIns="60000" tIns="40000" rIns="60000" bIns="40000" anchor="t">
            <a:spAutoFit/>
          </a:bodyPr>
          <a:lstStyle/>
          <a:p>
            <a:pPr algn="ctr">
              <a:lnSpc>
                <a:spcPct val="115000"/>
              </a:lnSpc>
            </a:pPr>
            <a:r>
              <a:rPr sz="1200" b="0" i="1">
                <a:solidFill>
                  <a:srgbClr val="555B6E"/>
                </a:solidFill>
                <a:latin typeface="Calibri"/>
              </a:rPr>
              <a:t>We would love to hear your thoughts, feedback and ideas for improvement.</a:t>
            </a:r>
          </a:p>
        </p:txBody>
      </p:sp>
      <p:sp>
        <p:nvSpPr>
          <p:cNvPr id="15375" name="Rounded Rectangle 15374"/>
          <p:cNvSpPr/>
          <p:nvPr/>
        </p:nvSpPr>
        <p:spPr>
          <a:xfrm>
            <a:off x="320040" y="4434840"/>
            <a:ext cx="2226564" cy="777240"/>
          </a:xfrm>
          <a:prstGeom prst="roundRect">
            <a:avLst/>
          </a:prstGeom>
          <a:solidFill>
            <a:srgbClr val="FFFFFF"/>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6" name="Oval 15375"/>
          <p:cNvSpPr/>
          <p:nvPr/>
        </p:nvSpPr>
        <p:spPr>
          <a:xfrm>
            <a:off x="484632" y="4617720"/>
            <a:ext cx="164592" cy="164592"/>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7" name="TextBox 15376"/>
          <p:cNvSpPr txBox="1"/>
          <p:nvPr/>
        </p:nvSpPr>
        <p:spPr>
          <a:xfrm>
            <a:off x="731520" y="4498848"/>
            <a:ext cx="1723644" cy="365760"/>
          </a:xfrm>
          <a:prstGeom prst="rect">
            <a:avLst/>
          </a:prstGeom>
          <a:noFill/>
        </p:spPr>
        <p:txBody>
          <a:bodyPr wrap="square" lIns="60000" tIns="40000" rIns="60000" bIns="40000" anchor="t">
            <a:spAutoFit/>
          </a:bodyPr>
          <a:lstStyle/>
          <a:p>
            <a:pPr algn="l">
              <a:lnSpc>
                <a:spcPct val="115000"/>
              </a:lnSpc>
            </a:pPr>
            <a:r>
              <a:rPr sz="1800" b="1" i="0">
                <a:solidFill>
                  <a:srgbClr val="1E2761"/>
                </a:solidFill>
                <a:latin typeface="Georgia"/>
              </a:rPr>
              <a:t>NLP + ML</a:t>
            </a:r>
          </a:p>
        </p:txBody>
      </p:sp>
      <p:sp>
        <p:nvSpPr>
          <p:cNvPr id="15378" name="TextBox 15377"/>
          <p:cNvSpPr txBox="1"/>
          <p:nvPr/>
        </p:nvSpPr>
        <p:spPr>
          <a:xfrm>
            <a:off x="731520" y="4846320"/>
            <a:ext cx="1723644" cy="292608"/>
          </a:xfrm>
          <a:prstGeom prst="rect">
            <a:avLst/>
          </a:prstGeom>
          <a:noFill/>
        </p:spPr>
        <p:txBody>
          <a:bodyPr wrap="square" lIns="60000" tIns="40000" rIns="60000" bIns="40000" anchor="t">
            <a:spAutoFit/>
          </a:bodyPr>
          <a:lstStyle/>
          <a:p>
            <a:pPr algn="l">
              <a:lnSpc>
                <a:spcPct val="115000"/>
              </a:lnSpc>
            </a:pPr>
            <a:r>
              <a:rPr sz="900" b="0" i="0">
                <a:solidFill>
                  <a:srgbClr val="555B6E"/>
                </a:solidFill>
                <a:latin typeface="Calibri"/>
              </a:rPr>
              <a:t>Semantic skill analysis</a:t>
            </a:r>
          </a:p>
        </p:txBody>
      </p:sp>
      <p:sp>
        <p:nvSpPr>
          <p:cNvPr id="15379" name="Rounded Rectangle 15378"/>
          <p:cNvSpPr/>
          <p:nvPr/>
        </p:nvSpPr>
        <p:spPr>
          <a:xfrm>
            <a:off x="2665476" y="4434840"/>
            <a:ext cx="2226564" cy="777240"/>
          </a:xfrm>
          <a:prstGeom prst="roundRect">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0" name="Oval 15379"/>
          <p:cNvSpPr/>
          <p:nvPr/>
        </p:nvSpPr>
        <p:spPr>
          <a:xfrm>
            <a:off x="2830068" y="4617720"/>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1" name="TextBox 15380"/>
          <p:cNvSpPr txBox="1"/>
          <p:nvPr/>
        </p:nvSpPr>
        <p:spPr>
          <a:xfrm>
            <a:off x="3076956" y="4498848"/>
            <a:ext cx="1723644" cy="365760"/>
          </a:xfrm>
          <a:prstGeom prst="rect">
            <a:avLst/>
          </a:prstGeom>
          <a:noFill/>
        </p:spPr>
        <p:txBody>
          <a:bodyPr wrap="square" lIns="60000" tIns="40000" rIns="60000" bIns="40000" anchor="t">
            <a:spAutoFit/>
          </a:bodyPr>
          <a:lstStyle/>
          <a:p>
            <a:pPr algn="l">
              <a:lnSpc>
                <a:spcPct val="115000"/>
              </a:lnSpc>
            </a:pPr>
            <a:r>
              <a:rPr sz="1800" b="1" i="0">
                <a:solidFill>
                  <a:srgbClr val="C8102E"/>
                </a:solidFill>
                <a:latin typeface="Georgia"/>
              </a:rPr>
              <a:t>72%</a:t>
            </a:r>
          </a:p>
        </p:txBody>
      </p:sp>
      <p:sp>
        <p:nvSpPr>
          <p:cNvPr id="15382" name="TextBox 15381"/>
          <p:cNvSpPr txBox="1"/>
          <p:nvPr/>
        </p:nvSpPr>
        <p:spPr>
          <a:xfrm>
            <a:off x="3076956" y="4846320"/>
            <a:ext cx="1723644" cy="292608"/>
          </a:xfrm>
          <a:prstGeom prst="rect">
            <a:avLst/>
          </a:prstGeom>
          <a:noFill/>
        </p:spPr>
        <p:txBody>
          <a:bodyPr wrap="square" lIns="60000" tIns="40000" rIns="60000" bIns="40000" anchor="t">
            <a:spAutoFit/>
          </a:bodyPr>
          <a:lstStyle/>
          <a:p>
            <a:pPr algn="l">
              <a:lnSpc>
                <a:spcPct val="115000"/>
              </a:lnSpc>
            </a:pPr>
            <a:r>
              <a:rPr sz="900" b="0" i="0">
                <a:solidFill>
                  <a:srgbClr val="555B6E"/>
                </a:solidFill>
                <a:latin typeface="Calibri"/>
              </a:rPr>
              <a:t>Live readiness score</a:t>
            </a:r>
          </a:p>
        </p:txBody>
      </p:sp>
      <p:sp>
        <p:nvSpPr>
          <p:cNvPr id="15383" name="Rounded Rectangle 15382"/>
          <p:cNvSpPr/>
          <p:nvPr/>
        </p:nvSpPr>
        <p:spPr>
          <a:xfrm>
            <a:off x="5010912" y="4434840"/>
            <a:ext cx="2226564" cy="777240"/>
          </a:xfrm>
          <a:prstGeom prst="roundRect">
            <a:avLst/>
          </a:prstGeom>
          <a:solidFill>
            <a:srgbClr val="FFFFFF"/>
          </a:solidFill>
          <a:ln w="9525">
            <a:solidFill>
              <a:srgbClr val="E6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4" name="Oval 15383"/>
          <p:cNvSpPr/>
          <p:nvPr/>
        </p:nvSpPr>
        <p:spPr>
          <a:xfrm>
            <a:off x="5175504" y="4617720"/>
            <a:ext cx="164592" cy="164592"/>
          </a:xfrm>
          <a:prstGeom prst="ellipse">
            <a:avLst/>
          </a:prstGeom>
          <a:solidFill>
            <a:srgbClr val="E6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5" name="TextBox 15384"/>
          <p:cNvSpPr txBox="1"/>
          <p:nvPr/>
        </p:nvSpPr>
        <p:spPr>
          <a:xfrm>
            <a:off x="5422392" y="4498848"/>
            <a:ext cx="1723644" cy="365760"/>
          </a:xfrm>
          <a:prstGeom prst="rect">
            <a:avLst/>
          </a:prstGeom>
          <a:noFill/>
        </p:spPr>
        <p:txBody>
          <a:bodyPr wrap="square" lIns="60000" tIns="40000" rIns="60000" bIns="40000" anchor="t">
            <a:spAutoFit/>
          </a:bodyPr>
          <a:lstStyle/>
          <a:p>
            <a:pPr algn="l">
              <a:lnSpc>
                <a:spcPct val="115000"/>
              </a:lnSpc>
            </a:pPr>
            <a:r>
              <a:rPr sz="1800" b="1" i="0">
                <a:solidFill>
                  <a:srgbClr val="E68A00"/>
                </a:solidFill>
                <a:latin typeface="Georgia"/>
              </a:rPr>
              <a:t>Tailored</a:t>
            </a:r>
          </a:p>
        </p:txBody>
      </p:sp>
      <p:sp>
        <p:nvSpPr>
          <p:cNvPr id="15386" name="TextBox 15385"/>
          <p:cNvSpPr txBox="1"/>
          <p:nvPr/>
        </p:nvSpPr>
        <p:spPr>
          <a:xfrm>
            <a:off x="5422392" y="4846320"/>
            <a:ext cx="1723644" cy="292608"/>
          </a:xfrm>
          <a:prstGeom prst="rect">
            <a:avLst/>
          </a:prstGeom>
          <a:noFill/>
        </p:spPr>
        <p:txBody>
          <a:bodyPr wrap="square" lIns="60000" tIns="40000" rIns="60000" bIns="40000" anchor="t">
            <a:spAutoFit/>
          </a:bodyPr>
          <a:lstStyle/>
          <a:p>
            <a:pPr algn="l">
              <a:lnSpc>
                <a:spcPct val="115000"/>
              </a:lnSpc>
            </a:pPr>
            <a:r>
              <a:rPr sz="900" b="0" i="0">
                <a:solidFill>
                  <a:srgbClr val="555B6E"/>
                </a:solidFill>
                <a:latin typeface="Calibri"/>
              </a:rPr>
              <a:t>Curated learning paths</a:t>
            </a:r>
          </a:p>
        </p:txBody>
      </p:sp>
      <p:sp>
        <p:nvSpPr>
          <p:cNvPr id="15387" name="Rounded Rectangle 15386"/>
          <p:cNvSpPr/>
          <p:nvPr/>
        </p:nvSpPr>
        <p:spPr>
          <a:xfrm>
            <a:off x="7356348" y="4434840"/>
            <a:ext cx="2226564" cy="777240"/>
          </a:xfrm>
          <a:prstGeom prst="roundRect">
            <a:avLst/>
          </a:prstGeom>
          <a:solidFill>
            <a:srgbClr val="FFFFFF"/>
          </a:solidFill>
          <a:ln w="9525">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8" name="Oval 15387"/>
          <p:cNvSpPr/>
          <p:nvPr/>
        </p:nvSpPr>
        <p:spPr>
          <a:xfrm>
            <a:off x="7520940" y="4617720"/>
            <a:ext cx="164592" cy="164592"/>
          </a:xfrm>
          <a:prstGeom prst="ellipse">
            <a:avLst/>
          </a:prstGeom>
          <a:solidFill>
            <a:srgbClr val="0B7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9" name="TextBox 15388"/>
          <p:cNvSpPr txBox="1"/>
          <p:nvPr/>
        </p:nvSpPr>
        <p:spPr>
          <a:xfrm>
            <a:off x="7767828" y="4498848"/>
            <a:ext cx="1723644" cy="365760"/>
          </a:xfrm>
          <a:prstGeom prst="rect">
            <a:avLst/>
          </a:prstGeom>
          <a:noFill/>
        </p:spPr>
        <p:txBody>
          <a:bodyPr wrap="square" lIns="60000" tIns="40000" rIns="60000" bIns="40000" anchor="t">
            <a:spAutoFit/>
          </a:bodyPr>
          <a:lstStyle/>
          <a:p>
            <a:pPr algn="l">
              <a:lnSpc>
                <a:spcPct val="115000"/>
              </a:lnSpc>
            </a:pPr>
            <a:r>
              <a:rPr sz="1800" b="1" i="0">
                <a:solidFill>
                  <a:srgbClr val="0B7A75"/>
                </a:solidFill>
                <a:latin typeface="Georgia"/>
              </a:rPr>
              <a:t>Real-time</a:t>
            </a:r>
          </a:p>
        </p:txBody>
      </p:sp>
      <p:sp>
        <p:nvSpPr>
          <p:cNvPr id="15390" name="TextBox 15389"/>
          <p:cNvSpPr txBox="1"/>
          <p:nvPr/>
        </p:nvSpPr>
        <p:spPr>
          <a:xfrm>
            <a:off x="7767828" y="4846320"/>
            <a:ext cx="1723644" cy="292608"/>
          </a:xfrm>
          <a:prstGeom prst="rect">
            <a:avLst/>
          </a:prstGeom>
          <a:noFill/>
        </p:spPr>
        <p:txBody>
          <a:bodyPr wrap="square" lIns="60000" tIns="40000" rIns="60000" bIns="40000" anchor="t">
            <a:spAutoFit/>
          </a:bodyPr>
          <a:lstStyle/>
          <a:p>
            <a:pPr algn="l">
              <a:lnSpc>
                <a:spcPct val="115000"/>
              </a:lnSpc>
            </a:pPr>
            <a:r>
              <a:rPr sz="900" b="0" i="0">
                <a:solidFill>
                  <a:srgbClr val="555B6E"/>
                </a:solidFill>
                <a:latin typeface="Calibri"/>
              </a:rPr>
              <a:t>Dynamic re-scoring loop</a:t>
            </a:r>
          </a:p>
        </p:txBody>
      </p:sp>
      <p:sp>
        <p:nvSpPr>
          <p:cNvPr id="15391" name="Rectangle 15390"/>
          <p:cNvSpPr/>
          <p:nvPr/>
        </p:nvSpPr>
        <p:spPr>
          <a:xfrm>
            <a:off x="320040" y="5413248"/>
            <a:ext cx="9262872" cy="713232"/>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92" name="Rectangle 15391"/>
          <p:cNvSpPr/>
          <p:nvPr/>
        </p:nvSpPr>
        <p:spPr>
          <a:xfrm>
            <a:off x="320040" y="5413248"/>
            <a:ext cx="91440" cy="71323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93" name="TextBox 15392"/>
          <p:cNvSpPr txBox="1"/>
          <p:nvPr/>
        </p:nvSpPr>
        <p:spPr>
          <a:xfrm>
            <a:off x="502920" y="5468112"/>
            <a:ext cx="5029200" cy="256032"/>
          </a:xfrm>
          <a:prstGeom prst="rect">
            <a:avLst/>
          </a:prstGeom>
          <a:noFill/>
        </p:spPr>
        <p:txBody>
          <a:bodyPr wrap="square" lIns="60000" tIns="40000" rIns="60000" bIns="40000" anchor="t">
            <a:spAutoFit/>
          </a:bodyPr>
          <a:lstStyle/>
          <a:p>
            <a:pPr algn="l">
              <a:lnSpc>
                <a:spcPct val="115000"/>
              </a:lnSpc>
            </a:pPr>
            <a:r>
              <a:rPr sz="900" b="1" i="0">
                <a:solidFill>
                  <a:srgbClr val="1E2761"/>
                </a:solidFill>
                <a:latin typeface="Calibri"/>
              </a:rPr>
              <a:t>TEAM</a:t>
            </a:r>
          </a:p>
        </p:txBody>
      </p:sp>
      <p:sp>
        <p:nvSpPr>
          <p:cNvPr id="15394" name="TextBox 15393"/>
          <p:cNvSpPr txBox="1"/>
          <p:nvPr/>
        </p:nvSpPr>
        <p:spPr>
          <a:xfrm>
            <a:off x="502920" y="5705856"/>
            <a:ext cx="5029200" cy="384048"/>
          </a:xfrm>
          <a:prstGeom prst="rect">
            <a:avLst/>
          </a:prstGeom>
          <a:noFill/>
        </p:spPr>
        <p:txBody>
          <a:bodyPr wrap="square" lIns="60000" tIns="40000" rIns="60000" bIns="40000" anchor="t">
            <a:spAutoFit/>
          </a:bodyPr>
          <a:lstStyle/>
          <a:p>
            <a:pPr algn="l">
              <a:lnSpc>
                <a:spcPct val="115000"/>
              </a:lnSpc>
            </a:pPr>
            <a:r>
              <a:rPr sz="1100" b="1" i="0">
                <a:solidFill>
                  <a:srgbClr val="1F2433"/>
                </a:solidFill>
                <a:latin typeface="Calibri"/>
              </a:rPr>
              <a:t>Aaron Marshall A · Akash S · Akash S M · Chandru P</a:t>
            </a:r>
          </a:p>
        </p:txBody>
      </p:sp>
      <p:sp>
        <p:nvSpPr>
          <p:cNvPr id="15395" name="TextBox 15394"/>
          <p:cNvSpPr txBox="1"/>
          <p:nvPr/>
        </p:nvSpPr>
        <p:spPr>
          <a:xfrm>
            <a:off x="5532120" y="5468112"/>
            <a:ext cx="4023360" cy="256032"/>
          </a:xfrm>
          <a:prstGeom prst="rect">
            <a:avLst/>
          </a:prstGeom>
          <a:noFill/>
        </p:spPr>
        <p:txBody>
          <a:bodyPr wrap="square" lIns="60000" tIns="40000" rIns="60000" bIns="40000" anchor="t">
            <a:spAutoFit/>
          </a:bodyPr>
          <a:lstStyle/>
          <a:p>
            <a:pPr algn="r">
              <a:lnSpc>
                <a:spcPct val="115000"/>
              </a:lnSpc>
            </a:pPr>
            <a:r>
              <a:rPr sz="900" b="1" i="0">
                <a:solidFill>
                  <a:srgbClr val="C8102E"/>
                </a:solidFill>
                <a:latin typeface="Calibri"/>
              </a:rPr>
              <a:t>CONNECT</a:t>
            </a:r>
          </a:p>
        </p:txBody>
      </p:sp>
      <p:sp>
        <p:nvSpPr>
          <p:cNvPr id="15396" name="TextBox 15395"/>
          <p:cNvSpPr txBox="1"/>
          <p:nvPr/>
        </p:nvSpPr>
        <p:spPr>
          <a:xfrm>
            <a:off x="5532120" y="5705856"/>
            <a:ext cx="4023360" cy="384048"/>
          </a:xfrm>
          <a:prstGeom prst="rect">
            <a:avLst/>
          </a:prstGeom>
          <a:noFill/>
        </p:spPr>
        <p:txBody>
          <a:bodyPr wrap="square" lIns="60000" tIns="40000" rIns="60000" bIns="40000" anchor="t">
            <a:spAutoFit/>
          </a:bodyPr>
          <a:lstStyle/>
          <a:p>
            <a:pPr algn="r">
              <a:lnSpc>
                <a:spcPct val="115000"/>
              </a:lnSpc>
            </a:pPr>
            <a:r>
              <a:rPr sz="1050" b="1" i="0">
                <a:solidFill>
                  <a:srgbClr val="1F2433"/>
                </a:solidFill>
                <a:latin typeface="Calibri"/>
              </a:rPr>
              <a:t>s.akash02062005@gmail.com   ·   PSNA CET, Dindigul</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TotalTime>
  <Words>3421</Words>
  <Application>Microsoft Office PowerPoint</Application>
  <PresentationFormat>A4 Paper (210x297 mm)</PresentationFormat>
  <Paragraphs>318</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Aharoni</vt:lpstr>
      <vt:lpstr>Aparajita</vt:lpstr>
      <vt:lpstr>Arial</vt:lpstr>
      <vt:lpstr>Arial Narrow</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akashs0206@outlook.com</cp:lastModifiedBy>
  <cp:revision>25</cp:revision>
  <dcterms:created xsi:type="dcterms:W3CDTF">2020-11-04T06:28:07Z</dcterms:created>
  <dcterms:modified xsi:type="dcterms:W3CDTF">2026-04-28T12:09:02Z</dcterms:modified>
</cp:coreProperties>
</file>