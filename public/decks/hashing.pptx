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80" r:id="rId2"/>
    <p:sldId id="257" r:id="rId3"/>
    <p:sldId id="256" r:id="rId4"/>
    <p:sldId id="258" r:id="rId5"/>
    <p:sldId id="259" r:id="rId6"/>
    <p:sldId id="260" r:id="rId7"/>
    <p:sldId id="262" r:id="rId8"/>
    <p:sldId id="264" r:id="rId9"/>
    <p:sldId id="266" r:id="rId10"/>
    <p:sldId id="268" r:id="rId11"/>
    <p:sldId id="261" r:id="rId12"/>
    <p:sldId id="270" r:id="rId13"/>
    <p:sldId id="272" r:id="rId14"/>
    <p:sldId id="274" r:id="rId15"/>
    <p:sldId id="276" r:id="rId16"/>
    <p:sldId id="278" r:id="rId17"/>
    <p:sldId id="279" r:id="rId18"/>
  </p:sldIdLst>
  <p:sldSz cx="14630400" cy="8229600"/>
  <p:notesSz cx="8229600" cy="14630400"/>
  <p:embeddedFontLst>
    <p:embeddedFont>
      <p:font typeface="Inter"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519" autoAdjust="0"/>
  </p:normalViewPr>
  <p:slideViewPr>
    <p:cSldViewPr snapToGrid="0" snapToObjects="1">
      <p:cViewPr varScale="1">
        <p:scale>
          <a:sx n="76" d="100"/>
          <a:sy n="76" d="100"/>
        </p:scale>
        <p:origin x="33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3235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0F5E5FF-904A-7932-24C9-583AE5AFAA69}"/>
              </a:ext>
            </a:extLst>
          </p:cNvPr>
          <p:cNvSpPr/>
          <p:nvPr/>
        </p:nvSpPr>
        <p:spPr>
          <a:xfrm>
            <a:off x="1336431" y="874207"/>
            <a:ext cx="12520246" cy="6481186"/>
          </a:xfrm>
          <a:prstGeom prst="rect">
            <a:avLst/>
          </a:prstGeom>
          <a:solidFill>
            <a:schemeClr val="accent3">
              <a:lumMod val="60000"/>
              <a:lumOff val="40000"/>
            </a:schemeClr>
          </a:solid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8000" dirty="0">
                <a:solidFill>
                  <a:srgbClr val="FF0000"/>
                </a:solidFill>
                <a:latin typeface="Arial" panose="020B0604020202020204" pitchFamily="34" charset="0"/>
                <a:cs typeface="Arial" panose="020B0604020202020204" pitchFamily="34" charset="0"/>
              </a:rPr>
              <a:t>HASHING</a:t>
            </a:r>
          </a:p>
          <a:p>
            <a:pPr algn="ctr"/>
            <a:endParaRPr lang="en-IN" sz="4000" dirty="0">
              <a:latin typeface="Arial" panose="020B0604020202020204" pitchFamily="34" charset="0"/>
              <a:cs typeface="Arial" panose="020B0604020202020204" pitchFamily="34" charset="0"/>
            </a:endParaRPr>
          </a:p>
          <a:p>
            <a:pPr algn="ctr"/>
            <a:r>
              <a:rPr lang="en-IN" sz="4000" dirty="0">
                <a:latin typeface="Arial" panose="020B0604020202020204" pitchFamily="34" charset="0"/>
                <a:cs typeface="Arial" panose="020B0604020202020204" pitchFamily="34" charset="0"/>
              </a:rPr>
              <a:t>BY:-</a:t>
            </a:r>
          </a:p>
          <a:p>
            <a:pPr algn="ctr"/>
            <a:r>
              <a:rPr lang="en-IN" sz="4000" dirty="0">
                <a:latin typeface="Arial" panose="020B0604020202020204" pitchFamily="34" charset="0"/>
                <a:cs typeface="Arial" panose="020B0604020202020204" pitchFamily="34" charset="0"/>
              </a:rPr>
              <a:t>AKASH S</a:t>
            </a:r>
          </a:p>
          <a:p>
            <a:pPr algn="ctr"/>
            <a:r>
              <a:rPr lang="en-IN" sz="4000" dirty="0">
                <a:latin typeface="Arial" panose="020B0604020202020204" pitchFamily="34" charset="0"/>
                <a:cs typeface="Arial" panose="020B0604020202020204" pitchFamily="34" charset="0"/>
              </a:rPr>
              <a:t>    AKASH SM </a:t>
            </a:r>
          </a:p>
          <a:p>
            <a:pPr algn="ctr"/>
            <a:r>
              <a:rPr lang="en-IN" sz="4000" dirty="0">
                <a:latin typeface="Arial" panose="020B0604020202020204" pitchFamily="34" charset="0"/>
                <a:cs typeface="Arial" panose="020B0604020202020204" pitchFamily="34" charset="0"/>
              </a:rPr>
              <a:t>         ALAGURAJAN</a:t>
            </a:r>
          </a:p>
          <a:p>
            <a:pPr algn="ctr"/>
            <a:r>
              <a:rPr lang="en-IN" sz="4000" dirty="0">
                <a:latin typeface="Arial" panose="020B0604020202020204" pitchFamily="34" charset="0"/>
                <a:cs typeface="Arial" panose="020B0604020202020204" pitchFamily="34" charset="0"/>
              </a:rPr>
              <a:t>                  AARON MARSHALL</a:t>
            </a:r>
          </a:p>
        </p:txBody>
      </p:sp>
      <p:sp>
        <p:nvSpPr>
          <p:cNvPr id="3" name="Rectangle 2">
            <a:extLst>
              <a:ext uri="{FF2B5EF4-FFF2-40B4-BE49-F238E27FC236}">
                <a16:creationId xmlns:a16="http://schemas.microsoft.com/office/drawing/2014/main" id="{1DBFC3CF-97C1-15A4-AE0C-71B4F3F63ADA}"/>
              </a:ext>
            </a:extLst>
          </p:cNvPr>
          <p:cNvSpPr/>
          <p:nvPr/>
        </p:nvSpPr>
        <p:spPr>
          <a:xfrm>
            <a:off x="12861890" y="7797521"/>
            <a:ext cx="1688123" cy="3215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a:t>
            </a:r>
          </a:p>
        </p:txBody>
      </p:sp>
    </p:spTree>
    <p:extLst>
      <p:ext uri="{BB962C8B-B14F-4D97-AF65-F5344CB8AC3E}">
        <p14:creationId xmlns:p14="http://schemas.microsoft.com/office/powerpoint/2010/main" val="1947317430"/>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448156"/>
            <a:ext cx="6481184" cy="864457"/>
          </a:xfrm>
          <a:prstGeom prst="rect">
            <a:avLst/>
          </a:prstGeom>
          <a:noFill/>
          <a:ln/>
        </p:spPr>
        <p:txBody>
          <a:bodyPr wrap="none" lIns="0" tIns="0" rIns="0" bIns="0" rtlCol="0" anchor="t"/>
          <a:lstStyle/>
          <a:p>
            <a:pPr marL="0" indent="0">
              <a:lnSpc>
                <a:spcPts val="5850"/>
              </a:lnSpc>
              <a:buNone/>
            </a:pPr>
            <a:r>
              <a:rPr lang="en-US" sz="3200" b="1" dirty="0">
                <a:solidFill>
                  <a:srgbClr val="000000"/>
                </a:solidFill>
                <a:latin typeface="Arial" panose="020B0604020202020204" pitchFamily="34" charset="0"/>
                <a:ea typeface="Petrona Bold" pitchFamily="34" charset="-122"/>
                <a:cs typeface="Arial" panose="020B0604020202020204" pitchFamily="34" charset="0"/>
              </a:rPr>
              <a:t>Hashing Fundamentals</a:t>
            </a:r>
            <a:endParaRPr lang="en-US" sz="3200" dirty="0">
              <a:latin typeface="Arial" panose="020B0604020202020204" pitchFamily="34" charset="0"/>
              <a:cs typeface="Arial" panose="020B0604020202020204" pitchFamily="34" charset="0"/>
            </a:endParaRPr>
          </a:p>
        </p:txBody>
      </p:sp>
      <p:sp>
        <p:nvSpPr>
          <p:cNvPr id="3" name="Text 1"/>
          <p:cNvSpPr/>
          <p:nvPr/>
        </p:nvSpPr>
        <p:spPr>
          <a:xfrm>
            <a:off x="793790" y="2646045"/>
            <a:ext cx="13334357" cy="1686044"/>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Hashing is a fundamental concept in computer science that involves transforming data into a fixed-size value, known as a hash value. This process is used for efficient data storage, retrieval, and comparison. A hash function takes an input (key) and generates a hash value, which is typically an integer. The hash value is then used as an index to store and retrieve the corresponding data in a data structure called a hash table.</a:t>
            </a:r>
            <a:endParaRPr lang="en-US" sz="2000" dirty="0">
              <a:latin typeface="Arial" panose="020B0604020202020204" pitchFamily="34" charset="0"/>
              <a:cs typeface="Arial" panose="020B0604020202020204" pitchFamily="34" charset="0"/>
            </a:endParaRPr>
          </a:p>
        </p:txBody>
      </p:sp>
      <p:sp>
        <p:nvSpPr>
          <p:cNvPr id="4" name="Shape 2"/>
          <p:cNvSpPr/>
          <p:nvPr/>
        </p:nvSpPr>
        <p:spPr>
          <a:xfrm>
            <a:off x="793790" y="4352806"/>
            <a:ext cx="6551297" cy="2820860"/>
          </a:xfrm>
          <a:prstGeom prst="roundRect">
            <a:avLst>
              <a:gd name="adj" fmla="val 3923"/>
            </a:avLst>
          </a:prstGeom>
          <a:solidFill>
            <a:srgbClr val="CCEEFF"/>
          </a:solidFill>
          <a:ln w="7620">
            <a:solidFill>
              <a:srgbClr val="B2D4E5"/>
            </a:solidFill>
            <a:prstDash val="solid"/>
          </a:ln>
        </p:spPr>
      </p:sp>
      <p:sp>
        <p:nvSpPr>
          <p:cNvPr id="5" name="Text 3"/>
          <p:cNvSpPr/>
          <p:nvPr/>
        </p:nvSpPr>
        <p:spPr>
          <a:xfrm>
            <a:off x="1028224" y="4587239"/>
            <a:ext cx="3043582" cy="432159"/>
          </a:xfrm>
          <a:prstGeom prst="rect">
            <a:avLst/>
          </a:prstGeom>
          <a:noFill/>
          <a:ln/>
        </p:spPr>
        <p:txBody>
          <a:bodyPr wrap="none" lIns="0" tIns="0" rIns="0" bIns="0" rtlCol="0" anchor="t"/>
          <a:lstStyle/>
          <a:p>
            <a:pPr marL="0" indent="0">
              <a:lnSpc>
                <a:spcPts val="2900"/>
              </a:lnSpc>
              <a:buNone/>
            </a:pPr>
            <a:r>
              <a:rPr lang="en-US" sz="3200" b="1" dirty="0">
                <a:solidFill>
                  <a:srgbClr val="272525"/>
                </a:solidFill>
                <a:latin typeface="Arial" panose="020B0604020202020204" pitchFamily="34" charset="0"/>
                <a:ea typeface="Petrona Bold" pitchFamily="34" charset="-122"/>
                <a:cs typeface="Arial" panose="020B0604020202020204" pitchFamily="34" charset="0"/>
              </a:rPr>
              <a:t>Key Features</a:t>
            </a:r>
            <a:endParaRPr lang="en-US" sz="3200" dirty="0">
              <a:latin typeface="Arial" panose="020B0604020202020204" pitchFamily="34" charset="0"/>
              <a:cs typeface="Arial" panose="020B0604020202020204" pitchFamily="34" charset="0"/>
            </a:endParaRPr>
          </a:p>
        </p:txBody>
      </p:sp>
      <p:sp>
        <p:nvSpPr>
          <p:cNvPr id="6" name="Text 4"/>
          <p:cNvSpPr/>
          <p:nvPr/>
        </p:nvSpPr>
        <p:spPr>
          <a:xfrm>
            <a:off x="1028224" y="5095399"/>
            <a:ext cx="6071949" cy="1686044"/>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Hash functions are designed to be deterministic, meaning that a given input always produces the same hash value. They are also typically fast and efficient to compute.</a:t>
            </a:r>
            <a:endParaRPr lang="en-US" sz="2000" dirty="0">
              <a:latin typeface="Arial" panose="020B0604020202020204" pitchFamily="34" charset="0"/>
              <a:cs typeface="Arial" panose="020B0604020202020204" pitchFamily="34" charset="0"/>
            </a:endParaRPr>
          </a:p>
        </p:txBody>
      </p:sp>
      <p:sp>
        <p:nvSpPr>
          <p:cNvPr id="7" name="Shape 5"/>
          <p:cNvSpPr/>
          <p:nvPr/>
        </p:nvSpPr>
        <p:spPr>
          <a:xfrm>
            <a:off x="7428667" y="4352806"/>
            <a:ext cx="6551297" cy="2820860"/>
          </a:xfrm>
          <a:prstGeom prst="roundRect">
            <a:avLst>
              <a:gd name="adj" fmla="val 3923"/>
            </a:avLst>
          </a:prstGeom>
          <a:solidFill>
            <a:srgbClr val="CCEEFF"/>
          </a:solidFill>
          <a:ln w="7620">
            <a:solidFill>
              <a:srgbClr val="B2D4E5"/>
            </a:solidFill>
            <a:prstDash val="solid"/>
          </a:ln>
        </p:spPr>
      </p:sp>
      <p:sp>
        <p:nvSpPr>
          <p:cNvPr id="8" name="Text 6"/>
          <p:cNvSpPr/>
          <p:nvPr/>
        </p:nvSpPr>
        <p:spPr>
          <a:xfrm>
            <a:off x="7663101" y="4587239"/>
            <a:ext cx="3043582" cy="432159"/>
          </a:xfrm>
          <a:prstGeom prst="rect">
            <a:avLst/>
          </a:prstGeom>
          <a:noFill/>
          <a:ln/>
        </p:spPr>
        <p:txBody>
          <a:bodyPr wrap="none" lIns="0" tIns="0" rIns="0" bIns="0" rtlCol="0" anchor="t"/>
          <a:lstStyle/>
          <a:p>
            <a:pPr marL="0" indent="0">
              <a:lnSpc>
                <a:spcPts val="2900"/>
              </a:lnSpc>
              <a:buNone/>
            </a:pPr>
            <a:r>
              <a:rPr lang="en-US" sz="3200" b="1" dirty="0">
                <a:solidFill>
                  <a:srgbClr val="272525"/>
                </a:solidFill>
                <a:latin typeface="Arial" panose="020B0604020202020204" pitchFamily="34" charset="0"/>
                <a:ea typeface="Petrona Bold" pitchFamily="34" charset="-122"/>
                <a:cs typeface="Arial" panose="020B0604020202020204" pitchFamily="34" charset="0"/>
              </a:rPr>
              <a:t>Collision Handling</a:t>
            </a:r>
            <a:endParaRPr lang="en-US" sz="3200" dirty="0">
              <a:latin typeface="Arial" panose="020B0604020202020204" pitchFamily="34" charset="0"/>
              <a:cs typeface="Arial" panose="020B0604020202020204" pitchFamily="34" charset="0"/>
            </a:endParaRPr>
          </a:p>
        </p:txBody>
      </p:sp>
      <p:sp>
        <p:nvSpPr>
          <p:cNvPr id="9" name="Text 7"/>
          <p:cNvSpPr/>
          <p:nvPr/>
        </p:nvSpPr>
        <p:spPr>
          <a:xfrm>
            <a:off x="7663101" y="5095399"/>
            <a:ext cx="6071949" cy="1686044"/>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Collisions occur when two different keys generate the same hash value. Separate Chaining is a technique used to address collisions by storing multiple keys with the same hash value in a linked list.</a:t>
            </a:r>
            <a:endParaRPr lang="en-US" sz="20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91550A9F-C685-D156-2982-8230D5E0A5BA}"/>
              </a:ext>
            </a:extLst>
          </p:cNvPr>
          <p:cNvSpPr/>
          <p:nvPr/>
        </p:nvSpPr>
        <p:spPr>
          <a:xfrm>
            <a:off x="12851842" y="7767376"/>
            <a:ext cx="1657978" cy="371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2</a:t>
            </a:r>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0"/>
          <p:cNvSpPr/>
          <p:nvPr/>
        </p:nvSpPr>
        <p:spPr>
          <a:xfrm>
            <a:off x="793790" y="958572"/>
            <a:ext cx="6892885" cy="2054066"/>
          </a:xfrm>
          <a:prstGeom prst="rect">
            <a:avLst/>
          </a:prstGeom>
          <a:noFill/>
          <a:ln/>
        </p:spPr>
        <p:txBody>
          <a:bodyPr wrap="square" lIns="0" tIns="0" rIns="0" bIns="0" rtlCol="0" anchor="t"/>
          <a:lstStyle/>
          <a:p>
            <a:pPr marL="0" indent="0">
              <a:lnSpc>
                <a:spcPts val="8050"/>
              </a:lnSpc>
              <a:buNone/>
            </a:pPr>
            <a:r>
              <a:rPr lang="en-US" sz="3200" b="1" dirty="0">
                <a:solidFill>
                  <a:srgbClr val="000000"/>
                </a:solidFill>
                <a:latin typeface="Arial" panose="020B0604020202020204" pitchFamily="34" charset="0"/>
                <a:ea typeface="Petrona Bold" pitchFamily="34" charset="-122"/>
                <a:cs typeface="Arial" panose="020B0604020202020204" pitchFamily="34" charset="0"/>
              </a:rPr>
              <a:t>Separate Chaining Hashing     Technique</a:t>
            </a:r>
            <a:endParaRPr lang="en-US" sz="3200" dirty="0">
              <a:latin typeface="Arial" panose="020B0604020202020204" pitchFamily="34" charset="0"/>
              <a:cs typeface="Arial" panose="020B0604020202020204" pitchFamily="34" charset="0"/>
            </a:endParaRPr>
          </a:p>
        </p:txBody>
      </p:sp>
      <p:sp>
        <p:nvSpPr>
          <p:cNvPr id="5" name="Text 1"/>
          <p:cNvSpPr/>
          <p:nvPr/>
        </p:nvSpPr>
        <p:spPr>
          <a:xfrm>
            <a:off x="793790" y="3223260"/>
            <a:ext cx="7816810" cy="3383280"/>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Separate Chaining is a popular method for handling collisions in hash tables. It offers a simple and effective way to manage multiple keys mapping to the same index. This approach involves creating linked lists for each slot in the hash table, where elements with the same hash value are stored. When a collision occurs, instead of replacing or probing for an alternative location, the new element is simply appended to the linked list associated with that slot. This allows for efficient storage and retrieval of data, even when multiple keys map to the same location.</a:t>
            </a:r>
            <a:endParaRPr lang="en-US" sz="20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870F686A-7109-8719-7C6B-6E4D762E1C75}"/>
              </a:ext>
            </a:extLst>
          </p:cNvPr>
          <p:cNvSpPr/>
          <p:nvPr/>
        </p:nvSpPr>
        <p:spPr>
          <a:xfrm>
            <a:off x="12881987" y="7747279"/>
            <a:ext cx="1647929" cy="371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3</a:t>
            </a: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92054"/>
            <a:ext cx="7145179" cy="979646"/>
          </a:xfrm>
          <a:prstGeom prst="rect">
            <a:avLst/>
          </a:prstGeom>
          <a:noFill/>
          <a:ln/>
        </p:spPr>
        <p:txBody>
          <a:bodyPr wrap="none" lIns="0" tIns="0" rIns="0" bIns="0" rtlCol="0" anchor="t"/>
          <a:lstStyle/>
          <a:p>
            <a:pPr marL="0" indent="0">
              <a:lnSpc>
                <a:spcPts val="5850"/>
              </a:lnSpc>
              <a:buNone/>
            </a:pPr>
            <a:r>
              <a:rPr lang="en-US" sz="3200" b="1" dirty="0">
                <a:solidFill>
                  <a:srgbClr val="000000"/>
                </a:solidFill>
                <a:latin typeface="Arial" panose="020B0604020202020204" pitchFamily="34" charset="0"/>
                <a:ea typeface="Petrona Bold" pitchFamily="34" charset="-122"/>
                <a:cs typeface="Arial" panose="020B0604020202020204" pitchFamily="34" charset="0"/>
              </a:rPr>
              <a:t>Separate Chaining Implementation</a:t>
            </a:r>
            <a:endParaRPr lang="en-US" sz="3200" dirty="0">
              <a:latin typeface="Arial" panose="020B0604020202020204" pitchFamily="34" charset="0"/>
              <a:cs typeface="Arial" panose="020B0604020202020204" pitchFamily="34" charset="0"/>
            </a:endParaRPr>
          </a:p>
        </p:txBody>
      </p:sp>
      <p:sp>
        <p:nvSpPr>
          <p:cNvPr id="3" name="Text 1"/>
          <p:cNvSpPr/>
          <p:nvPr/>
        </p:nvSpPr>
        <p:spPr>
          <a:xfrm>
            <a:off x="793790" y="2389942"/>
            <a:ext cx="13042821" cy="2177415"/>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The implementation of Separate Chaining involves creating a hash table with a fixed number of slots. Each slot in the table is associated with a linked list. When a new key is inserted, the hash function is applied to calculate the hash value. The hash value determines the slot in the hash table where the key should be stored. If the slot is empty, the key is directly inserted into the linked list associated with that slot. However, if the slot already contains a key (collision), the new key is appended to the linked list at that slot. This allows for multiple keys with the same hash value to be stored efficiently within the hash table.</a:t>
            </a:r>
            <a:endParaRPr lang="en-US" sz="2000" dirty="0">
              <a:latin typeface="Arial" panose="020B0604020202020204" pitchFamily="34" charset="0"/>
              <a:cs typeface="Arial" panose="020B0604020202020204" pitchFamily="34" charset="0"/>
            </a:endParaRPr>
          </a:p>
        </p:txBody>
      </p:sp>
      <p:sp>
        <p:nvSpPr>
          <p:cNvPr id="4" name="Shape 2"/>
          <p:cNvSpPr/>
          <p:nvPr/>
        </p:nvSpPr>
        <p:spPr>
          <a:xfrm>
            <a:off x="793790" y="5077658"/>
            <a:ext cx="510302" cy="510302"/>
          </a:xfrm>
          <a:prstGeom prst="roundRect">
            <a:avLst>
              <a:gd name="adj" fmla="val 18669"/>
            </a:avLst>
          </a:prstGeom>
          <a:solidFill>
            <a:srgbClr val="CCEEFF"/>
          </a:solidFill>
          <a:ln w="7620">
            <a:solidFill>
              <a:srgbClr val="B2D4E5"/>
            </a:solidFill>
            <a:prstDash val="solid"/>
          </a:ln>
        </p:spPr>
      </p:sp>
      <p:sp>
        <p:nvSpPr>
          <p:cNvPr id="5" name="Text 3"/>
          <p:cNvSpPr/>
          <p:nvPr/>
        </p:nvSpPr>
        <p:spPr>
          <a:xfrm>
            <a:off x="972503" y="5154097"/>
            <a:ext cx="152876" cy="357307"/>
          </a:xfrm>
          <a:prstGeom prst="rect">
            <a:avLst/>
          </a:prstGeom>
          <a:noFill/>
          <a:ln/>
        </p:spPr>
        <p:txBody>
          <a:bodyPr wrap="none" lIns="0" tIns="0" rIns="0" bIns="0" rtlCol="0" anchor="t"/>
          <a:lstStyle/>
          <a:p>
            <a:pPr marL="0" indent="0" algn="ctr">
              <a:lnSpc>
                <a:spcPts val="2800"/>
              </a:lnSpc>
              <a:buNone/>
            </a:pPr>
            <a:r>
              <a:rPr lang="en-US" sz="2000" b="1" dirty="0">
                <a:solidFill>
                  <a:srgbClr val="272525"/>
                </a:solidFill>
                <a:latin typeface="Arial" panose="020B0604020202020204" pitchFamily="34" charset="0"/>
                <a:ea typeface="Petrona Bold" pitchFamily="34" charset="-122"/>
                <a:cs typeface="Arial" panose="020B0604020202020204" pitchFamily="34" charset="0"/>
              </a:rPr>
              <a:t>1</a:t>
            </a:r>
            <a:endParaRPr lang="en-US" sz="2000" dirty="0">
              <a:latin typeface="Arial" panose="020B0604020202020204" pitchFamily="34" charset="0"/>
              <a:cs typeface="Arial" panose="020B0604020202020204" pitchFamily="34" charset="0"/>
            </a:endParaRPr>
          </a:p>
        </p:txBody>
      </p:sp>
      <p:sp>
        <p:nvSpPr>
          <p:cNvPr id="6" name="Text 4"/>
          <p:cNvSpPr/>
          <p:nvPr/>
        </p:nvSpPr>
        <p:spPr>
          <a:xfrm>
            <a:off x="1530906" y="5077658"/>
            <a:ext cx="2977039" cy="372070"/>
          </a:xfrm>
          <a:prstGeom prst="rect">
            <a:avLst/>
          </a:prstGeom>
          <a:noFill/>
          <a:ln/>
        </p:spPr>
        <p:txBody>
          <a:bodyPr wrap="none" lIns="0" tIns="0" rIns="0" bIns="0" rtlCol="0" anchor="t"/>
          <a:lstStyle/>
          <a:p>
            <a:pPr marL="0" indent="0">
              <a:lnSpc>
                <a:spcPts val="29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Efficiency</a:t>
            </a:r>
            <a:endParaRPr lang="en-US" sz="2400" dirty="0">
              <a:latin typeface="Arial" panose="020B0604020202020204" pitchFamily="34" charset="0"/>
              <a:cs typeface="Arial" panose="020B0604020202020204" pitchFamily="34" charset="0"/>
            </a:endParaRPr>
          </a:p>
        </p:txBody>
      </p:sp>
      <p:sp>
        <p:nvSpPr>
          <p:cNvPr id="7" name="Text 5"/>
          <p:cNvSpPr/>
          <p:nvPr/>
        </p:nvSpPr>
        <p:spPr>
          <a:xfrm>
            <a:off x="1530906" y="5585817"/>
            <a:ext cx="5670947" cy="1451610"/>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Separate Chaining maintains efficient insertion and search operations, as the average time complexity for both operations is O(1), assuming a uniform distribution of keys across the hash table.</a:t>
            </a:r>
            <a:endParaRPr lang="en-US" sz="2000" dirty="0">
              <a:latin typeface="Arial" panose="020B0604020202020204" pitchFamily="34" charset="0"/>
              <a:cs typeface="Arial" panose="020B0604020202020204" pitchFamily="34" charset="0"/>
            </a:endParaRPr>
          </a:p>
        </p:txBody>
      </p:sp>
      <p:sp>
        <p:nvSpPr>
          <p:cNvPr id="8" name="Shape 6"/>
          <p:cNvSpPr/>
          <p:nvPr/>
        </p:nvSpPr>
        <p:spPr>
          <a:xfrm>
            <a:off x="7428667" y="5077658"/>
            <a:ext cx="510302" cy="510302"/>
          </a:xfrm>
          <a:prstGeom prst="roundRect">
            <a:avLst>
              <a:gd name="adj" fmla="val 18669"/>
            </a:avLst>
          </a:prstGeom>
          <a:solidFill>
            <a:srgbClr val="CCEEFF"/>
          </a:solidFill>
          <a:ln w="7620">
            <a:solidFill>
              <a:srgbClr val="B2D4E5"/>
            </a:solidFill>
            <a:prstDash val="solid"/>
          </a:ln>
        </p:spPr>
      </p:sp>
      <p:sp>
        <p:nvSpPr>
          <p:cNvPr id="9" name="Text 7"/>
          <p:cNvSpPr/>
          <p:nvPr/>
        </p:nvSpPr>
        <p:spPr>
          <a:xfrm>
            <a:off x="7582495" y="5154097"/>
            <a:ext cx="202525" cy="357307"/>
          </a:xfrm>
          <a:prstGeom prst="rect">
            <a:avLst/>
          </a:prstGeom>
          <a:noFill/>
          <a:ln/>
        </p:spPr>
        <p:txBody>
          <a:bodyPr wrap="none" lIns="0" tIns="0" rIns="0" bIns="0" rtlCol="0" anchor="t"/>
          <a:lstStyle/>
          <a:p>
            <a:pPr marL="0" indent="0" algn="ctr">
              <a:lnSpc>
                <a:spcPts val="2800"/>
              </a:lnSpc>
              <a:buNone/>
            </a:pPr>
            <a:r>
              <a:rPr lang="en-US" sz="2000" b="1" dirty="0">
                <a:solidFill>
                  <a:srgbClr val="272525"/>
                </a:solidFill>
                <a:latin typeface="Arial" panose="020B0604020202020204" pitchFamily="34" charset="0"/>
                <a:ea typeface="Petrona Bold" pitchFamily="34" charset="-122"/>
                <a:cs typeface="Arial" panose="020B0604020202020204" pitchFamily="34" charset="0"/>
              </a:rPr>
              <a:t>2</a:t>
            </a:r>
            <a:endParaRPr lang="en-US" sz="2000" dirty="0">
              <a:latin typeface="Arial" panose="020B0604020202020204" pitchFamily="34" charset="0"/>
              <a:cs typeface="Arial" panose="020B0604020202020204" pitchFamily="34" charset="0"/>
            </a:endParaRPr>
          </a:p>
        </p:txBody>
      </p:sp>
      <p:sp>
        <p:nvSpPr>
          <p:cNvPr id="10" name="Text 8"/>
          <p:cNvSpPr/>
          <p:nvPr/>
        </p:nvSpPr>
        <p:spPr>
          <a:xfrm>
            <a:off x="8165783" y="5077658"/>
            <a:ext cx="2977039" cy="372070"/>
          </a:xfrm>
          <a:prstGeom prst="rect">
            <a:avLst/>
          </a:prstGeom>
          <a:noFill/>
          <a:ln/>
        </p:spPr>
        <p:txBody>
          <a:bodyPr wrap="none" lIns="0" tIns="0" rIns="0" bIns="0" rtlCol="0" anchor="t"/>
          <a:lstStyle/>
          <a:p>
            <a:pPr marL="0" indent="0">
              <a:lnSpc>
                <a:spcPts val="29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Flexibility</a:t>
            </a:r>
            <a:endParaRPr lang="en-US" sz="2400" dirty="0">
              <a:latin typeface="Arial" panose="020B0604020202020204" pitchFamily="34" charset="0"/>
              <a:cs typeface="Arial" panose="020B0604020202020204" pitchFamily="34" charset="0"/>
            </a:endParaRPr>
          </a:p>
        </p:txBody>
      </p:sp>
      <p:sp>
        <p:nvSpPr>
          <p:cNvPr id="11" name="Text 9"/>
          <p:cNvSpPr/>
          <p:nvPr/>
        </p:nvSpPr>
        <p:spPr>
          <a:xfrm>
            <a:off x="8165783" y="5585817"/>
            <a:ext cx="5670947" cy="1088708"/>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Separate Chaining is flexible in terms of the size of the hash table and can handle varying load factors without significant performance degradation.</a:t>
            </a:r>
            <a:endParaRPr lang="en-US" sz="20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5322BA2E-6A01-0884-F009-9DE6D2882BA0}"/>
              </a:ext>
            </a:extLst>
          </p:cNvPr>
          <p:cNvSpPr/>
          <p:nvPr/>
        </p:nvSpPr>
        <p:spPr>
          <a:xfrm>
            <a:off x="12881987" y="7757327"/>
            <a:ext cx="1647929" cy="3315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4</a:t>
            </a: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73023" y="681692"/>
            <a:ext cx="13293804" cy="1253014"/>
          </a:xfrm>
          <a:prstGeom prst="rect">
            <a:avLst/>
          </a:prstGeom>
          <a:noFill/>
          <a:ln/>
        </p:spPr>
        <p:txBody>
          <a:bodyPr wrap="square" lIns="0" tIns="0" rIns="0" bIns="0" rtlCol="0" anchor="t"/>
          <a:lstStyle/>
          <a:p>
            <a:pPr marL="0" indent="0" algn="ctr">
              <a:lnSpc>
                <a:spcPts val="4900"/>
              </a:lnSpc>
              <a:buNone/>
            </a:pPr>
            <a:r>
              <a:rPr lang="en-US" sz="3200" b="1" dirty="0">
                <a:solidFill>
                  <a:srgbClr val="000000"/>
                </a:solidFill>
                <a:latin typeface="Arial" panose="020B0604020202020204" pitchFamily="34" charset="0"/>
                <a:ea typeface="Petrona Bold" pitchFamily="34" charset="-122"/>
                <a:cs typeface="Arial" panose="020B0604020202020204" pitchFamily="34" charset="0"/>
              </a:rPr>
              <a:t>Example: Input 456, 678, 123, 435, 236, 896, 986, 987, 763, 783</a:t>
            </a:r>
            <a:endParaRPr lang="en-US" sz="3200" dirty="0">
              <a:latin typeface="Arial" panose="020B0604020202020204" pitchFamily="34" charset="0"/>
              <a:cs typeface="Arial" panose="020B0604020202020204" pitchFamily="34" charset="0"/>
            </a:endParaRPr>
          </a:p>
        </p:txBody>
      </p:sp>
      <p:sp>
        <p:nvSpPr>
          <p:cNvPr id="3" name="Text 1"/>
          <p:cNvSpPr/>
          <p:nvPr/>
        </p:nvSpPr>
        <p:spPr>
          <a:xfrm>
            <a:off x="477798" y="2330708"/>
            <a:ext cx="13293804" cy="916543"/>
          </a:xfrm>
          <a:prstGeom prst="rect">
            <a:avLst/>
          </a:prstGeom>
          <a:noFill/>
          <a:ln/>
        </p:spPr>
        <p:txBody>
          <a:bodyPr wrap="square" lIns="0" tIns="0" rIns="0" bIns="0" rtlCol="0" anchor="t"/>
          <a:lstStyle/>
          <a:p>
            <a:pPr marL="0" indent="0">
              <a:lnSpc>
                <a:spcPts val="240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Let's demonstrate the Separate Chaining technique using the input sequence: 456, 678, 123, 435, 236, 896, 986, 987, 763, 783. We'll assume a hash table with 10 slots and a simple hash function that takes the modulo of the key by the table size (mod 10). This means that each key will be mapped to a slot between 0 and 9.</a:t>
            </a:r>
            <a:endParaRPr lang="en-US" sz="2000" dirty="0">
              <a:latin typeface="Arial" panose="020B0604020202020204" pitchFamily="34" charset="0"/>
              <a:cs typeface="Arial" panose="020B0604020202020204" pitchFamily="34" charset="0"/>
            </a:endParaRPr>
          </a:p>
        </p:txBody>
      </p:sp>
      <p:sp>
        <p:nvSpPr>
          <p:cNvPr id="4" name="Text 2"/>
          <p:cNvSpPr/>
          <p:nvPr/>
        </p:nvSpPr>
        <p:spPr>
          <a:xfrm>
            <a:off x="477798" y="3648431"/>
            <a:ext cx="2506266" cy="313253"/>
          </a:xfrm>
          <a:prstGeom prst="rect">
            <a:avLst/>
          </a:prstGeom>
          <a:noFill/>
          <a:ln/>
        </p:spPr>
        <p:txBody>
          <a:bodyPr wrap="none" lIns="0" tIns="0" rIns="0" bIns="0" rtlCol="0" anchor="t"/>
          <a:lstStyle/>
          <a:p>
            <a:pPr marL="0" indent="0">
              <a:lnSpc>
                <a:spcPts val="245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      Input</a:t>
            </a:r>
            <a:endParaRPr lang="en-US" sz="2000" dirty="0">
              <a:latin typeface="Arial" panose="020B0604020202020204" pitchFamily="34" charset="0"/>
              <a:cs typeface="Arial" panose="020B0604020202020204" pitchFamily="34" charset="0"/>
            </a:endParaRPr>
          </a:p>
        </p:txBody>
      </p:sp>
      <p:sp>
        <p:nvSpPr>
          <p:cNvPr id="5" name="Text 3"/>
          <p:cNvSpPr/>
          <p:nvPr/>
        </p:nvSpPr>
        <p:spPr>
          <a:xfrm>
            <a:off x="678537" y="4142839"/>
            <a:ext cx="3207663" cy="372308"/>
          </a:xfrm>
          <a:prstGeom prst="rect">
            <a:avLst/>
          </a:prstGeom>
          <a:noFill/>
          <a:ln/>
        </p:spPr>
        <p:txBody>
          <a:bodyPr wrap="none" lIns="0" tIns="0" rIns="0" bIns="0" rtlCol="0" anchor="t"/>
          <a:lstStyle/>
          <a:p>
            <a:pPr marL="342900" indent="-342900" algn="l">
              <a:lnSpc>
                <a:spcPts val="2400"/>
              </a:lnSpc>
              <a:buSzPct val="100000"/>
              <a:buFont typeface="+mj-lt"/>
              <a:buAutoNum type="arabicPeriod"/>
            </a:pPr>
            <a:r>
              <a:rPr lang="en-US" sz="2000" dirty="0">
                <a:solidFill>
                  <a:srgbClr val="272525"/>
                </a:solidFill>
                <a:latin typeface="Arial" panose="020B0604020202020204" pitchFamily="34" charset="0"/>
                <a:ea typeface="Inter" pitchFamily="34" charset="-122"/>
                <a:cs typeface="Arial" panose="020B0604020202020204" pitchFamily="34" charset="0"/>
              </a:rPr>
              <a:t>456</a:t>
            </a:r>
            <a:endParaRPr lang="en-US" sz="2000" dirty="0">
              <a:latin typeface="Arial" panose="020B0604020202020204" pitchFamily="34" charset="0"/>
              <a:cs typeface="Arial" panose="020B0604020202020204" pitchFamily="34" charset="0"/>
            </a:endParaRPr>
          </a:p>
        </p:txBody>
      </p:sp>
      <p:sp>
        <p:nvSpPr>
          <p:cNvPr id="6" name="Text 4"/>
          <p:cNvSpPr/>
          <p:nvPr/>
        </p:nvSpPr>
        <p:spPr>
          <a:xfrm>
            <a:off x="678537" y="4515146"/>
            <a:ext cx="3426738" cy="435203"/>
          </a:xfrm>
          <a:prstGeom prst="rect">
            <a:avLst/>
          </a:prstGeom>
          <a:noFill/>
          <a:ln/>
        </p:spPr>
        <p:txBody>
          <a:bodyPr wrap="none" lIns="0" tIns="0" rIns="0" bIns="0" rtlCol="0" anchor="t"/>
          <a:lstStyle/>
          <a:p>
            <a:pPr marL="342900" indent="-342900" algn="l">
              <a:lnSpc>
                <a:spcPts val="2400"/>
              </a:lnSpc>
              <a:buSzPct val="100000"/>
              <a:buFont typeface="+mj-lt"/>
              <a:buAutoNum type="arabicPeriod" startAt="2"/>
            </a:pPr>
            <a:r>
              <a:rPr lang="en-US" sz="2000" dirty="0">
                <a:solidFill>
                  <a:srgbClr val="272525"/>
                </a:solidFill>
                <a:latin typeface="Arial" panose="020B0604020202020204" pitchFamily="34" charset="0"/>
                <a:ea typeface="Inter" pitchFamily="34" charset="-122"/>
                <a:cs typeface="Arial" panose="020B0604020202020204" pitchFamily="34" charset="0"/>
              </a:rPr>
              <a:t>678</a:t>
            </a:r>
            <a:endParaRPr lang="en-US" sz="2000" dirty="0">
              <a:latin typeface="Arial" panose="020B0604020202020204" pitchFamily="34" charset="0"/>
              <a:cs typeface="Arial" panose="020B0604020202020204" pitchFamily="34" charset="0"/>
            </a:endParaRPr>
          </a:p>
        </p:txBody>
      </p:sp>
      <p:sp>
        <p:nvSpPr>
          <p:cNvPr id="7" name="Text 5"/>
          <p:cNvSpPr/>
          <p:nvPr/>
        </p:nvSpPr>
        <p:spPr>
          <a:xfrm>
            <a:off x="678537" y="4887455"/>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3"/>
            </a:pPr>
            <a:r>
              <a:rPr lang="en-US" sz="2000" dirty="0">
                <a:solidFill>
                  <a:srgbClr val="272525"/>
                </a:solidFill>
                <a:latin typeface="Arial" panose="020B0604020202020204" pitchFamily="34" charset="0"/>
                <a:ea typeface="Inter" pitchFamily="34" charset="-122"/>
                <a:cs typeface="Arial" panose="020B0604020202020204" pitchFamily="34" charset="0"/>
              </a:rPr>
              <a:t>123</a:t>
            </a:r>
            <a:endParaRPr lang="en-US" sz="2000" dirty="0">
              <a:latin typeface="Arial" panose="020B0604020202020204" pitchFamily="34" charset="0"/>
              <a:cs typeface="Arial" panose="020B0604020202020204" pitchFamily="34" charset="0"/>
            </a:endParaRPr>
          </a:p>
        </p:txBody>
      </p:sp>
      <p:sp>
        <p:nvSpPr>
          <p:cNvPr id="8" name="Text 6"/>
          <p:cNvSpPr/>
          <p:nvPr/>
        </p:nvSpPr>
        <p:spPr>
          <a:xfrm>
            <a:off x="678537" y="5259764"/>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4"/>
            </a:pPr>
            <a:r>
              <a:rPr lang="en-US" sz="2000" dirty="0">
                <a:solidFill>
                  <a:srgbClr val="272525"/>
                </a:solidFill>
                <a:latin typeface="Arial" panose="020B0604020202020204" pitchFamily="34" charset="0"/>
                <a:ea typeface="Inter" pitchFamily="34" charset="-122"/>
                <a:cs typeface="Arial" panose="020B0604020202020204" pitchFamily="34" charset="0"/>
              </a:rPr>
              <a:t>435</a:t>
            </a:r>
            <a:endParaRPr lang="en-US" sz="2000" dirty="0">
              <a:latin typeface="Arial" panose="020B0604020202020204" pitchFamily="34" charset="0"/>
              <a:cs typeface="Arial" panose="020B0604020202020204" pitchFamily="34" charset="0"/>
            </a:endParaRPr>
          </a:p>
        </p:txBody>
      </p:sp>
      <p:sp>
        <p:nvSpPr>
          <p:cNvPr id="9" name="Text 7"/>
          <p:cNvSpPr/>
          <p:nvPr/>
        </p:nvSpPr>
        <p:spPr>
          <a:xfrm>
            <a:off x="678537" y="5632072"/>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5"/>
            </a:pPr>
            <a:r>
              <a:rPr lang="en-US" sz="2000" dirty="0">
                <a:solidFill>
                  <a:srgbClr val="272525"/>
                </a:solidFill>
                <a:latin typeface="Arial" panose="020B0604020202020204" pitchFamily="34" charset="0"/>
                <a:ea typeface="Inter" pitchFamily="34" charset="-122"/>
                <a:cs typeface="Arial" panose="020B0604020202020204" pitchFamily="34" charset="0"/>
              </a:rPr>
              <a:t>236</a:t>
            </a:r>
            <a:endParaRPr lang="en-US" sz="2000" dirty="0">
              <a:latin typeface="Arial" panose="020B0604020202020204" pitchFamily="34" charset="0"/>
              <a:cs typeface="Arial" panose="020B0604020202020204" pitchFamily="34" charset="0"/>
            </a:endParaRPr>
          </a:p>
        </p:txBody>
      </p:sp>
      <p:sp>
        <p:nvSpPr>
          <p:cNvPr id="10" name="Text 8"/>
          <p:cNvSpPr/>
          <p:nvPr/>
        </p:nvSpPr>
        <p:spPr>
          <a:xfrm>
            <a:off x="678537" y="6004381"/>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6"/>
            </a:pPr>
            <a:r>
              <a:rPr lang="en-US" sz="2000" dirty="0">
                <a:solidFill>
                  <a:srgbClr val="272525"/>
                </a:solidFill>
                <a:latin typeface="Arial" panose="020B0604020202020204" pitchFamily="34" charset="0"/>
                <a:ea typeface="Inter" pitchFamily="34" charset="-122"/>
                <a:cs typeface="Arial" panose="020B0604020202020204" pitchFamily="34" charset="0"/>
              </a:rPr>
              <a:t>896</a:t>
            </a:r>
            <a:endParaRPr lang="en-US" sz="2000" dirty="0">
              <a:latin typeface="Arial" panose="020B0604020202020204" pitchFamily="34" charset="0"/>
              <a:cs typeface="Arial" panose="020B0604020202020204" pitchFamily="34" charset="0"/>
            </a:endParaRPr>
          </a:p>
        </p:txBody>
      </p:sp>
      <p:sp>
        <p:nvSpPr>
          <p:cNvPr id="11" name="Text 9"/>
          <p:cNvSpPr/>
          <p:nvPr/>
        </p:nvSpPr>
        <p:spPr>
          <a:xfrm>
            <a:off x="678537" y="6372016"/>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7"/>
            </a:pPr>
            <a:r>
              <a:rPr lang="en-US" sz="2000" dirty="0">
                <a:solidFill>
                  <a:srgbClr val="272525"/>
                </a:solidFill>
                <a:latin typeface="Arial" panose="020B0604020202020204" pitchFamily="34" charset="0"/>
                <a:ea typeface="Inter" pitchFamily="34" charset="-122"/>
                <a:cs typeface="Arial" panose="020B0604020202020204" pitchFamily="34" charset="0"/>
              </a:rPr>
              <a:t>986</a:t>
            </a:r>
            <a:endParaRPr lang="en-US" sz="2000" dirty="0">
              <a:latin typeface="Arial" panose="020B0604020202020204" pitchFamily="34" charset="0"/>
              <a:cs typeface="Arial" panose="020B0604020202020204" pitchFamily="34" charset="0"/>
            </a:endParaRPr>
          </a:p>
        </p:txBody>
      </p:sp>
      <p:sp>
        <p:nvSpPr>
          <p:cNvPr id="12" name="Text 10"/>
          <p:cNvSpPr/>
          <p:nvPr/>
        </p:nvSpPr>
        <p:spPr>
          <a:xfrm>
            <a:off x="680085" y="6745098"/>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8"/>
            </a:pPr>
            <a:r>
              <a:rPr lang="en-US" sz="2000" dirty="0">
                <a:solidFill>
                  <a:srgbClr val="272525"/>
                </a:solidFill>
                <a:latin typeface="Arial" panose="020B0604020202020204" pitchFamily="34" charset="0"/>
                <a:ea typeface="Inter" pitchFamily="34" charset="-122"/>
                <a:cs typeface="Arial" panose="020B0604020202020204" pitchFamily="34" charset="0"/>
              </a:rPr>
              <a:t>987</a:t>
            </a:r>
            <a:endParaRPr lang="en-US" sz="2000" dirty="0">
              <a:latin typeface="Arial" panose="020B0604020202020204" pitchFamily="34" charset="0"/>
              <a:cs typeface="Arial" panose="020B0604020202020204" pitchFamily="34" charset="0"/>
            </a:endParaRPr>
          </a:p>
        </p:txBody>
      </p:sp>
      <p:sp>
        <p:nvSpPr>
          <p:cNvPr id="13" name="Text 11"/>
          <p:cNvSpPr/>
          <p:nvPr/>
        </p:nvSpPr>
        <p:spPr>
          <a:xfrm>
            <a:off x="678537" y="7121306"/>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9"/>
            </a:pPr>
            <a:r>
              <a:rPr lang="en-US" sz="2000" dirty="0">
                <a:solidFill>
                  <a:srgbClr val="272525"/>
                </a:solidFill>
                <a:latin typeface="Arial" panose="020B0604020202020204" pitchFamily="34" charset="0"/>
                <a:ea typeface="Inter" pitchFamily="34" charset="-122"/>
                <a:cs typeface="Arial" panose="020B0604020202020204" pitchFamily="34" charset="0"/>
              </a:rPr>
              <a:t>763</a:t>
            </a:r>
            <a:endParaRPr lang="en-US" sz="2000" dirty="0">
              <a:latin typeface="Arial" panose="020B0604020202020204" pitchFamily="34" charset="0"/>
              <a:cs typeface="Arial" panose="020B0604020202020204" pitchFamily="34" charset="0"/>
            </a:endParaRPr>
          </a:p>
        </p:txBody>
      </p:sp>
      <p:sp>
        <p:nvSpPr>
          <p:cNvPr id="14" name="Text 12"/>
          <p:cNvSpPr/>
          <p:nvPr/>
        </p:nvSpPr>
        <p:spPr>
          <a:xfrm>
            <a:off x="678537" y="7493614"/>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10"/>
            </a:pPr>
            <a:r>
              <a:rPr lang="en-US" sz="2000" dirty="0">
                <a:solidFill>
                  <a:srgbClr val="272525"/>
                </a:solidFill>
                <a:latin typeface="Arial" panose="020B0604020202020204" pitchFamily="34" charset="0"/>
                <a:ea typeface="Inter" pitchFamily="34" charset="-122"/>
                <a:cs typeface="Arial" panose="020B0604020202020204" pitchFamily="34" charset="0"/>
              </a:rPr>
              <a:t>783</a:t>
            </a:r>
            <a:endParaRPr lang="en-US" sz="2000" dirty="0">
              <a:latin typeface="Arial" panose="020B0604020202020204" pitchFamily="34" charset="0"/>
              <a:cs typeface="Arial" panose="020B0604020202020204" pitchFamily="34" charset="0"/>
            </a:endParaRPr>
          </a:p>
        </p:txBody>
      </p:sp>
      <p:sp>
        <p:nvSpPr>
          <p:cNvPr id="15" name="Text 13"/>
          <p:cNvSpPr/>
          <p:nvPr/>
        </p:nvSpPr>
        <p:spPr>
          <a:xfrm>
            <a:off x="7641431" y="3597829"/>
            <a:ext cx="2506266" cy="313253"/>
          </a:xfrm>
          <a:prstGeom prst="rect">
            <a:avLst/>
          </a:prstGeom>
          <a:noFill/>
          <a:ln/>
        </p:spPr>
        <p:txBody>
          <a:bodyPr wrap="none" lIns="0" tIns="0" rIns="0" bIns="0" rtlCol="0" anchor="t"/>
          <a:lstStyle/>
          <a:p>
            <a:pPr marL="0" indent="0">
              <a:lnSpc>
                <a:spcPts val="245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Hash Value (mod 10)</a:t>
            </a:r>
            <a:endParaRPr lang="en-US" sz="2000" dirty="0">
              <a:latin typeface="Arial" panose="020B0604020202020204" pitchFamily="34" charset="0"/>
              <a:cs typeface="Arial" panose="020B0604020202020204" pitchFamily="34" charset="0"/>
            </a:endParaRPr>
          </a:p>
        </p:txBody>
      </p:sp>
      <p:sp>
        <p:nvSpPr>
          <p:cNvPr id="16" name="Text 14"/>
          <p:cNvSpPr/>
          <p:nvPr/>
        </p:nvSpPr>
        <p:spPr>
          <a:xfrm>
            <a:off x="7565946" y="4142839"/>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a:pPr>
            <a:r>
              <a:rPr lang="en-US" sz="2000" dirty="0">
                <a:solidFill>
                  <a:srgbClr val="272525"/>
                </a:solidFill>
                <a:latin typeface="Arial" panose="020B0604020202020204" pitchFamily="34" charset="0"/>
                <a:ea typeface="Inter" pitchFamily="34" charset="-122"/>
                <a:cs typeface="Arial" panose="020B0604020202020204" pitchFamily="34" charset="0"/>
              </a:rPr>
              <a:t>6</a:t>
            </a:r>
            <a:endParaRPr lang="en-US" sz="2000" dirty="0">
              <a:latin typeface="Arial" panose="020B0604020202020204" pitchFamily="34" charset="0"/>
              <a:cs typeface="Arial" panose="020B0604020202020204" pitchFamily="34" charset="0"/>
            </a:endParaRPr>
          </a:p>
        </p:txBody>
      </p:sp>
      <p:sp>
        <p:nvSpPr>
          <p:cNvPr id="17" name="Text 15"/>
          <p:cNvSpPr/>
          <p:nvPr/>
        </p:nvSpPr>
        <p:spPr>
          <a:xfrm>
            <a:off x="7565946" y="4515147"/>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2"/>
            </a:pPr>
            <a:r>
              <a:rPr lang="en-US" sz="2000" dirty="0">
                <a:solidFill>
                  <a:srgbClr val="272525"/>
                </a:solidFill>
                <a:latin typeface="Arial" panose="020B0604020202020204" pitchFamily="34" charset="0"/>
                <a:ea typeface="Inter" pitchFamily="34" charset="-122"/>
                <a:cs typeface="Arial" panose="020B0604020202020204" pitchFamily="34" charset="0"/>
              </a:rPr>
              <a:t>8</a:t>
            </a:r>
            <a:endParaRPr lang="en-US" sz="2000" dirty="0">
              <a:latin typeface="Arial" panose="020B0604020202020204" pitchFamily="34" charset="0"/>
              <a:cs typeface="Arial" panose="020B0604020202020204" pitchFamily="34" charset="0"/>
            </a:endParaRPr>
          </a:p>
        </p:txBody>
      </p:sp>
      <p:sp>
        <p:nvSpPr>
          <p:cNvPr id="18" name="Text 16"/>
          <p:cNvSpPr/>
          <p:nvPr/>
        </p:nvSpPr>
        <p:spPr>
          <a:xfrm>
            <a:off x="7565946" y="4887455"/>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3"/>
            </a:pPr>
            <a:r>
              <a:rPr lang="en-US" sz="2000" dirty="0">
                <a:solidFill>
                  <a:srgbClr val="272525"/>
                </a:solidFill>
                <a:latin typeface="Arial" panose="020B0604020202020204" pitchFamily="34" charset="0"/>
                <a:ea typeface="Inter"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19" name="Text 17"/>
          <p:cNvSpPr/>
          <p:nvPr/>
        </p:nvSpPr>
        <p:spPr>
          <a:xfrm>
            <a:off x="7565946" y="5259764"/>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4"/>
            </a:pPr>
            <a:r>
              <a:rPr lang="en-US" sz="2000" dirty="0">
                <a:solidFill>
                  <a:srgbClr val="272525"/>
                </a:solidFill>
                <a:latin typeface="Arial" panose="020B0604020202020204" pitchFamily="34" charset="0"/>
                <a:ea typeface="Inter" pitchFamily="34" charset="-122"/>
                <a:cs typeface="Arial" panose="020B0604020202020204" pitchFamily="34" charset="0"/>
              </a:rPr>
              <a:t>5</a:t>
            </a:r>
            <a:endParaRPr lang="en-US" sz="2000" dirty="0">
              <a:latin typeface="Arial" panose="020B0604020202020204" pitchFamily="34" charset="0"/>
              <a:cs typeface="Arial" panose="020B0604020202020204" pitchFamily="34" charset="0"/>
            </a:endParaRPr>
          </a:p>
        </p:txBody>
      </p:sp>
      <p:sp>
        <p:nvSpPr>
          <p:cNvPr id="20" name="Text 18"/>
          <p:cNvSpPr/>
          <p:nvPr/>
        </p:nvSpPr>
        <p:spPr>
          <a:xfrm>
            <a:off x="7565946" y="5632072"/>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5"/>
            </a:pPr>
            <a:r>
              <a:rPr lang="en-US" sz="2000" dirty="0">
                <a:solidFill>
                  <a:srgbClr val="272525"/>
                </a:solidFill>
                <a:latin typeface="Arial" panose="020B0604020202020204" pitchFamily="34" charset="0"/>
                <a:ea typeface="Inter" pitchFamily="34" charset="-122"/>
                <a:cs typeface="Arial" panose="020B0604020202020204" pitchFamily="34" charset="0"/>
              </a:rPr>
              <a:t>6</a:t>
            </a:r>
            <a:endParaRPr lang="en-US" sz="2000" dirty="0">
              <a:latin typeface="Arial" panose="020B0604020202020204" pitchFamily="34" charset="0"/>
              <a:cs typeface="Arial" panose="020B0604020202020204" pitchFamily="34" charset="0"/>
            </a:endParaRPr>
          </a:p>
        </p:txBody>
      </p:sp>
      <p:sp>
        <p:nvSpPr>
          <p:cNvPr id="21" name="Text 19"/>
          <p:cNvSpPr/>
          <p:nvPr/>
        </p:nvSpPr>
        <p:spPr>
          <a:xfrm>
            <a:off x="7565946" y="6004381"/>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6"/>
            </a:pPr>
            <a:r>
              <a:rPr lang="en-US" sz="2000" dirty="0">
                <a:solidFill>
                  <a:srgbClr val="272525"/>
                </a:solidFill>
                <a:latin typeface="Arial" panose="020B0604020202020204" pitchFamily="34" charset="0"/>
                <a:ea typeface="Inter" pitchFamily="34" charset="-122"/>
                <a:cs typeface="Arial" panose="020B0604020202020204" pitchFamily="34" charset="0"/>
              </a:rPr>
              <a:t>6</a:t>
            </a:r>
            <a:endParaRPr lang="en-US" sz="2000" dirty="0">
              <a:latin typeface="Arial" panose="020B0604020202020204" pitchFamily="34" charset="0"/>
              <a:cs typeface="Arial" panose="020B0604020202020204" pitchFamily="34" charset="0"/>
            </a:endParaRPr>
          </a:p>
        </p:txBody>
      </p:sp>
      <p:sp>
        <p:nvSpPr>
          <p:cNvPr id="22" name="Text 20"/>
          <p:cNvSpPr/>
          <p:nvPr/>
        </p:nvSpPr>
        <p:spPr>
          <a:xfrm>
            <a:off x="7565946" y="6376689"/>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7"/>
            </a:pPr>
            <a:r>
              <a:rPr lang="en-US" sz="2000" dirty="0">
                <a:solidFill>
                  <a:srgbClr val="272525"/>
                </a:solidFill>
                <a:latin typeface="Arial" panose="020B0604020202020204" pitchFamily="34" charset="0"/>
                <a:ea typeface="Inter" pitchFamily="34" charset="-122"/>
                <a:cs typeface="Arial" panose="020B0604020202020204" pitchFamily="34" charset="0"/>
              </a:rPr>
              <a:t>6</a:t>
            </a:r>
            <a:endParaRPr lang="en-US" sz="2000" dirty="0">
              <a:latin typeface="Arial" panose="020B0604020202020204" pitchFamily="34" charset="0"/>
              <a:cs typeface="Arial" panose="020B0604020202020204" pitchFamily="34" charset="0"/>
            </a:endParaRPr>
          </a:p>
        </p:txBody>
      </p:sp>
      <p:sp>
        <p:nvSpPr>
          <p:cNvPr id="23" name="Text 21"/>
          <p:cNvSpPr/>
          <p:nvPr/>
        </p:nvSpPr>
        <p:spPr>
          <a:xfrm>
            <a:off x="7565946" y="6748998"/>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8"/>
            </a:pPr>
            <a:r>
              <a:rPr lang="en-US" sz="2000" dirty="0">
                <a:solidFill>
                  <a:srgbClr val="272525"/>
                </a:solidFill>
                <a:latin typeface="Arial" panose="020B0604020202020204" pitchFamily="34" charset="0"/>
                <a:ea typeface="Inter" pitchFamily="34" charset="-122"/>
                <a:cs typeface="Arial" panose="020B0604020202020204" pitchFamily="34" charset="0"/>
              </a:rPr>
              <a:t>7</a:t>
            </a:r>
            <a:endParaRPr lang="en-US" sz="2000" dirty="0">
              <a:latin typeface="Arial" panose="020B0604020202020204" pitchFamily="34" charset="0"/>
              <a:cs typeface="Arial" panose="020B0604020202020204" pitchFamily="34" charset="0"/>
            </a:endParaRPr>
          </a:p>
        </p:txBody>
      </p:sp>
      <p:sp>
        <p:nvSpPr>
          <p:cNvPr id="24" name="Text 22"/>
          <p:cNvSpPr/>
          <p:nvPr/>
        </p:nvSpPr>
        <p:spPr>
          <a:xfrm>
            <a:off x="7565946" y="7121306"/>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9"/>
            </a:pPr>
            <a:r>
              <a:rPr lang="en-US" sz="2000" dirty="0">
                <a:solidFill>
                  <a:srgbClr val="272525"/>
                </a:solidFill>
                <a:latin typeface="Arial" panose="020B0604020202020204" pitchFamily="34" charset="0"/>
                <a:ea typeface="Inter"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25" name="Text 23"/>
          <p:cNvSpPr/>
          <p:nvPr/>
        </p:nvSpPr>
        <p:spPr>
          <a:xfrm>
            <a:off x="7565946" y="7493614"/>
            <a:ext cx="6108502" cy="305514"/>
          </a:xfrm>
          <a:prstGeom prst="rect">
            <a:avLst/>
          </a:prstGeom>
          <a:noFill/>
          <a:ln/>
        </p:spPr>
        <p:txBody>
          <a:bodyPr wrap="none" lIns="0" tIns="0" rIns="0" bIns="0" rtlCol="0" anchor="t"/>
          <a:lstStyle/>
          <a:p>
            <a:pPr marL="342900" indent="-342900" algn="l">
              <a:lnSpc>
                <a:spcPts val="2400"/>
              </a:lnSpc>
              <a:buSzPct val="100000"/>
              <a:buFont typeface="+mj-lt"/>
              <a:buAutoNum type="arabicPeriod" startAt="10"/>
            </a:pPr>
            <a:r>
              <a:rPr lang="en-US" sz="2000" dirty="0">
                <a:solidFill>
                  <a:srgbClr val="272525"/>
                </a:solidFill>
                <a:latin typeface="Arial" panose="020B0604020202020204" pitchFamily="34" charset="0"/>
                <a:ea typeface="Inter"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27" name="Rectangle 26">
            <a:extLst>
              <a:ext uri="{FF2B5EF4-FFF2-40B4-BE49-F238E27FC236}">
                <a16:creationId xmlns:a16="http://schemas.microsoft.com/office/drawing/2014/main" id="{3D4FEDFA-8679-94BF-8B5C-16773C8EB9E5}"/>
              </a:ext>
            </a:extLst>
          </p:cNvPr>
          <p:cNvSpPr/>
          <p:nvPr/>
        </p:nvSpPr>
        <p:spPr>
          <a:xfrm>
            <a:off x="12902084" y="7799128"/>
            <a:ext cx="1627832" cy="3055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5</a:t>
            </a:r>
          </a:p>
        </p:txBody>
      </p:sp>
    </p:spTree>
  </p:cSld>
  <p:clrMapOvr>
    <a:masterClrMapping/>
  </p:clrMapOvr>
  <mc:AlternateContent xmlns:mc="http://schemas.openxmlformats.org/markup-compatibility/2006" xmlns:p14="http://schemas.microsoft.com/office/powerpoint/2010/main">
    <mc:Choice Requires="p14">
      <p:transition spd="slow" p14:dur="1200">
        <p14:prism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96835" y="341329"/>
            <a:ext cx="3869769" cy="372070"/>
          </a:xfrm>
          <a:prstGeom prst="rect">
            <a:avLst/>
          </a:prstGeom>
          <a:noFill/>
          <a:ln/>
        </p:spPr>
        <p:txBody>
          <a:bodyPr wrap="none" lIns="0" tIns="0" rIns="0" bIns="0" rtlCol="0" anchor="t"/>
          <a:lstStyle/>
          <a:p>
            <a:pPr marL="0" indent="0">
              <a:lnSpc>
                <a:spcPts val="2900"/>
              </a:lnSpc>
              <a:buNone/>
            </a:pPr>
            <a:r>
              <a:rPr lang="en-US" b="1" dirty="0">
                <a:solidFill>
                  <a:srgbClr val="000000"/>
                </a:solidFill>
                <a:latin typeface="Arial" panose="020B0604020202020204" pitchFamily="34" charset="0"/>
                <a:ea typeface="Petrona Bold" pitchFamily="34" charset="-122"/>
                <a:cs typeface="Arial" panose="020B0604020202020204" pitchFamily="34" charset="0"/>
              </a:rPr>
              <a:t>Step-by-Step Demonstration</a:t>
            </a:r>
            <a:endParaRPr lang="en-US" dirty="0">
              <a:latin typeface="Arial" panose="020B0604020202020204" pitchFamily="34" charset="0"/>
              <a:cs typeface="Arial" panose="020B0604020202020204" pitchFamily="34" charset="0"/>
            </a:endParaRPr>
          </a:p>
        </p:txBody>
      </p:sp>
      <p:pic>
        <p:nvPicPr>
          <p:cNvPr id="4" name="Image 0" descr="preencoded.png"/>
          <p:cNvPicPr>
            <a:picLocks noChangeAspect="1"/>
          </p:cNvPicPr>
          <p:nvPr/>
        </p:nvPicPr>
        <p:blipFill>
          <a:blip r:embed="rId3"/>
          <a:stretch>
            <a:fillRect/>
          </a:stretch>
        </p:blipFill>
        <p:spPr>
          <a:xfrm>
            <a:off x="396835" y="1219676"/>
            <a:ext cx="447227" cy="715638"/>
          </a:xfrm>
          <a:prstGeom prst="rect">
            <a:avLst/>
          </a:prstGeom>
        </p:spPr>
      </p:pic>
      <p:sp>
        <p:nvSpPr>
          <p:cNvPr id="5" name="Text 2"/>
          <p:cNvSpPr/>
          <p:nvPr/>
        </p:nvSpPr>
        <p:spPr>
          <a:xfrm>
            <a:off x="1194954" y="1273134"/>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1. Insert 456</a:t>
            </a:r>
            <a:endParaRPr lang="en-US" sz="1400" dirty="0">
              <a:latin typeface="Arial" panose="020B0604020202020204" pitchFamily="34" charset="0"/>
              <a:cs typeface="Arial" panose="020B0604020202020204" pitchFamily="34" charset="0"/>
            </a:endParaRPr>
          </a:p>
        </p:txBody>
      </p:sp>
      <p:sp>
        <p:nvSpPr>
          <p:cNvPr id="6" name="Text 3"/>
          <p:cNvSpPr/>
          <p:nvPr/>
        </p:nvSpPr>
        <p:spPr>
          <a:xfrm>
            <a:off x="1133832" y="1586983"/>
            <a:ext cx="5388887" cy="574995"/>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6 (456 % 10 = 6). </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Since slot 6 is empty, we insert 456 into the linked list at slot 6.</a:t>
            </a:r>
            <a:endParaRPr lang="en-US" sz="1400" dirty="0">
              <a:latin typeface="Arial" panose="020B0604020202020204" pitchFamily="34" charset="0"/>
              <a:cs typeface="Arial" panose="020B0604020202020204" pitchFamily="34" charset="0"/>
            </a:endParaRPr>
          </a:p>
        </p:txBody>
      </p:sp>
      <p:pic>
        <p:nvPicPr>
          <p:cNvPr id="7" name="Image 1" descr="preencoded.png"/>
          <p:cNvPicPr>
            <a:picLocks noChangeAspect="1"/>
          </p:cNvPicPr>
          <p:nvPr/>
        </p:nvPicPr>
        <p:blipFill>
          <a:blip r:embed="rId4"/>
          <a:stretch>
            <a:fillRect/>
          </a:stretch>
        </p:blipFill>
        <p:spPr>
          <a:xfrm>
            <a:off x="396835" y="2126933"/>
            <a:ext cx="447227" cy="715638"/>
          </a:xfrm>
          <a:prstGeom prst="rect">
            <a:avLst/>
          </a:prstGeom>
        </p:spPr>
      </p:pic>
      <p:sp>
        <p:nvSpPr>
          <p:cNvPr id="8" name="Text 4"/>
          <p:cNvSpPr/>
          <p:nvPr/>
        </p:nvSpPr>
        <p:spPr>
          <a:xfrm>
            <a:off x="1133832" y="2240280"/>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2. Insert 678</a:t>
            </a:r>
            <a:endParaRPr lang="en-US" sz="1400" dirty="0">
              <a:latin typeface="Arial" panose="020B0604020202020204" pitchFamily="34" charset="0"/>
              <a:cs typeface="Arial" panose="020B0604020202020204" pitchFamily="34" charset="0"/>
            </a:endParaRPr>
          </a:p>
        </p:txBody>
      </p:sp>
      <p:sp>
        <p:nvSpPr>
          <p:cNvPr id="9" name="Text 5"/>
          <p:cNvSpPr/>
          <p:nvPr/>
        </p:nvSpPr>
        <p:spPr>
          <a:xfrm>
            <a:off x="1133832" y="2540537"/>
            <a:ext cx="4865035" cy="539014"/>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8 (678 % 10 = 8).</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 Slot 8 is empty, so we insert 678 into the linked list at slot 8.</a:t>
            </a:r>
            <a:endParaRPr lang="en-US" sz="14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5"/>
          <a:stretch>
            <a:fillRect/>
          </a:stretch>
        </p:blipFill>
        <p:spPr>
          <a:xfrm>
            <a:off x="396835" y="3034189"/>
            <a:ext cx="447227" cy="715638"/>
          </a:xfrm>
          <a:prstGeom prst="rect">
            <a:avLst/>
          </a:prstGeom>
        </p:spPr>
      </p:pic>
      <p:sp>
        <p:nvSpPr>
          <p:cNvPr id="11" name="Text 6"/>
          <p:cNvSpPr/>
          <p:nvPr/>
        </p:nvSpPr>
        <p:spPr>
          <a:xfrm>
            <a:off x="1133832" y="3147536"/>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3. Insert 123</a:t>
            </a:r>
            <a:endParaRPr lang="en-US" sz="1400" dirty="0">
              <a:latin typeface="Arial" panose="020B0604020202020204" pitchFamily="34" charset="0"/>
              <a:cs typeface="Arial" panose="020B0604020202020204" pitchFamily="34" charset="0"/>
            </a:endParaRPr>
          </a:p>
        </p:txBody>
      </p:sp>
      <p:sp>
        <p:nvSpPr>
          <p:cNvPr id="12" name="Text 7"/>
          <p:cNvSpPr/>
          <p:nvPr/>
        </p:nvSpPr>
        <p:spPr>
          <a:xfrm>
            <a:off x="1133832" y="3401497"/>
            <a:ext cx="4756427" cy="519350"/>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3 (123 % 10 = 3).</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 Slot 3 is empty, so we insert 123 into the linked list at slot 3.</a:t>
            </a:r>
            <a:endParaRPr lang="en-US" sz="1400" dirty="0">
              <a:latin typeface="Arial" panose="020B0604020202020204" pitchFamily="34" charset="0"/>
              <a:cs typeface="Arial" panose="020B0604020202020204" pitchFamily="34" charset="0"/>
            </a:endParaRPr>
          </a:p>
        </p:txBody>
      </p:sp>
      <p:pic>
        <p:nvPicPr>
          <p:cNvPr id="13" name="Image 3" descr="preencoded.png"/>
          <p:cNvPicPr>
            <a:picLocks noChangeAspect="1"/>
          </p:cNvPicPr>
          <p:nvPr/>
        </p:nvPicPr>
        <p:blipFill>
          <a:blip r:embed="rId6"/>
          <a:stretch>
            <a:fillRect/>
          </a:stretch>
        </p:blipFill>
        <p:spPr>
          <a:xfrm>
            <a:off x="396834" y="3855125"/>
            <a:ext cx="447228" cy="715639"/>
          </a:xfrm>
          <a:prstGeom prst="rect">
            <a:avLst/>
          </a:prstGeom>
        </p:spPr>
      </p:pic>
      <p:sp>
        <p:nvSpPr>
          <p:cNvPr id="14" name="Text 8"/>
          <p:cNvSpPr/>
          <p:nvPr/>
        </p:nvSpPr>
        <p:spPr>
          <a:xfrm>
            <a:off x="1133832" y="4054793"/>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4. Insert 435</a:t>
            </a:r>
            <a:endParaRPr lang="en-US" sz="1400" dirty="0">
              <a:latin typeface="Arial" panose="020B0604020202020204" pitchFamily="34" charset="0"/>
              <a:cs typeface="Arial" panose="020B0604020202020204" pitchFamily="34" charset="0"/>
            </a:endParaRPr>
          </a:p>
        </p:txBody>
      </p:sp>
      <p:sp>
        <p:nvSpPr>
          <p:cNvPr id="15" name="Text 9"/>
          <p:cNvSpPr/>
          <p:nvPr/>
        </p:nvSpPr>
        <p:spPr>
          <a:xfrm>
            <a:off x="1133832" y="4308753"/>
            <a:ext cx="4756427" cy="623156"/>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5 (435 % 10 = 5). </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Slot 5 is empty, so we insert 435 into the linked list at slot 5.</a:t>
            </a:r>
            <a:endParaRPr lang="en-US" sz="1400" dirty="0">
              <a:latin typeface="Arial" panose="020B0604020202020204" pitchFamily="34" charset="0"/>
              <a:cs typeface="Arial" panose="020B0604020202020204" pitchFamily="34" charset="0"/>
            </a:endParaRPr>
          </a:p>
        </p:txBody>
      </p:sp>
      <p:pic>
        <p:nvPicPr>
          <p:cNvPr id="16" name="Image 4" descr="preencoded.png"/>
          <p:cNvPicPr>
            <a:picLocks noChangeAspect="1"/>
          </p:cNvPicPr>
          <p:nvPr/>
        </p:nvPicPr>
        <p:blipFill>
          <a:blip r:embed="rId7"/>
          <a:stretch>
            <a:fillRect/>
          </a:stretch>
        </p:blipFill>
        <p:spPr>
          <a:xfrm>
            <a:off x="383821" y="4729538"/>
            <a:ext cx="447227" cy="715638"/>
          </a:xfrm>
          <a:prstGeom prst="rect">
            <a:avLst/>
          </a:prstGeom>
        </p:spPr>
      </p:pic>
      <p:sp>
        <p:nvSpPr>
          <p:cNvPr id="17" name="Text 10"/>
          <p:cNvSpPr/>
          <p:nvPr/>
        </p:nvSpPr>
        <p:spPr>
          <a:xfrm>
            <a:off x="1133832" y="4962049"/>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5. Insert 236</a:t>
            </a:r>
            <a:endParaRPr lang="en-US" sz="1400" dirty="0">
              <a:latin typeface="Arial" panose="020B0604020202020204" pitchFamily="34" charset="0"/>
              <a:cs typeface="Arial" panose="020B0604020202020204" pitchFamily="34" charset="0"/>
            </a:endParaRPr>
          </a:p>
        </p:txBody>
      </p:sp>
      <p:sp>
        <p:nvSpPr>
          <p:cNvPr id="18" name="Text 11"/>
          <p:cNvSpPr/>
          <p:nvPr/>
        </p:nvSpPr>
        <p:spPr>
          <a:xfrm>
            <a:off x="1133833" y="5281969"/>
            <a:ext cx="4865034" cy="473990"/>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6 (236 % 10 = 6). Slot 6 already contains 456. </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We append 236 to the linked list at slot 6.</a:t>
            </a:r>
            <a:endParaRPr lang="en-US" sz="1400" dirty="0">
              <a:latin typeface="Arial" panose="020B0604020202020204" pitchFamily="34" charset="0"/>
              <a:cs typeface="Arial" panose="020B0604020202020204" pitchFamily="34" charset="0"/>
            </a:endParaRPr>
          </a:p>
        </p:txBody>
      </p:sp>
      <p:pic>
        <p:nvPicPr>
          <p:cNvPr id="19" name="Image 5" descr="preencoded.png"/>
          <p:cNvPicPr>
            <a:picLocks noChangeAspect="1"/>
          </p:cNvPicPr>
          <p:nvPr/>
        </p:nvPicPr>
        <p:blipFill>
          <a:blip r:embed="rId8"/>
          <a:stretch>
            <a:fillRect/>
          </a:stretch>
        </p:blipFill>
        <p:spPr>
          <a:xfrm>
            <a:off x="396835" y="5755958"/>
            <a:ext cx="447227" cy="715638"/>
          </a:xfrm>
          <a:prstGeom prst="rect">
            <a:avLst/>
          </a:prstGeom>
        </p:spPr>
      </p:pic>
      <p:sp>
        <p:nvSpPr>
          <p:cNvPr id="20" name="Text 12"/>
          <p:cNvSpPr/>
          <p:nvPr/>
        </p:nvSpPr>
        <p:spPr>
          <a:xfrm>
            <a:off x="1133832" y="5869305"/>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6. Insert 896</a:t>
            </a:r>
            <a:endParaRPr lang="en-US" sz="1400" dirty="0">
              <a:latin typeface="Arial" panose="020B0604020202020204" pitchFamily="34" charset="0"/>
              <a:cs typeface="Arial" panose="020B0604020202020204" pitchFamily="34" charset="0"/>
            </a:endParaRPr>
          </a:p>
        </p:txBody>
      </p:sp>
      <p:sp>
        <p:nvSpPr>
          <p:cNvPr id="21" name="Text 13"/>
          <p:cNvSpPr/>
          <p:nvPr/>
        </p:nvSpPr>
        <p:spPr>
          <a:xfrm>
            <a:off x="1133832" y="6123265"/>
            <a:ext cx="5320307" cy="539014"/>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6 (896 % 10 = 6). Slot 6 already contains 456 and 236. </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We append 896 to the linked list at slot 6.</a:t>
            </a:r>
            <a:endParaRPr lang="en-US" sz="1400" dirty="0">
              <a:latin typeface="Arial" panose="020B0604020202020204" pitchFamily="34" charset="0"/>
              <a:cs typeface="Arial" panose="020B0604020202020204" pitchFamily="34" charset="0"/>
            </a:endParaRPr>
          </a:p>
        </p:txBody>
      </p:sp>
      <p:pic>
        <p:nvPicPr>
          <p:cNvPr id="22" name="Image 6" descr="preencoded.png"/>
          <p:cNvPicPr>
            <a:picLocks noChangeAspect="1"/>
          </p:cNvPicPr>
          <p:nvPr/>
        </p:nvPicPr>
        <p:blipFill>
          <a:blip r:embed="rId9"/>
          <a:stretch>
            <a:fillRect/>
          </a:stretch>
        </p:blipFill>
        <p:spPr>
          <a:xfrm>
            <a:off x="6636861" y="643474"/>
            <a:ext cx="566976" cy="907256"/>
          </a:xfrm>
          <a:prstGeom prst="rect">
            <a:avLst/>
          </a:prstGeom>
        </p:spPr>
      </p:pic>
      <p:sp>
        <p:nvSpPr>
          <p:cNvPr id="23" name="Text 14"/>
          <p:cNvSpPr/>
          <p:nvPr/>
        </p:nvSpPr>
        <p:spPr>
          <a:xfrm>
            <a:off x="7426565" y="704314"/>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7. Insert 986</a:t>
            </a:r>
            <a:endParaRPr lang="en-US" sz="1400" dirty="0">
              <a:latin typeface="Arial" panose="020B0604020202020204" pitchFamily="34" charset="0"/>
              <a:cs typeface="Arial" panose="020B0604020202020204" pitchFamily="34" charset="0"/>
            </a:endParaRPr>
          </a:p>
        </p:txBody>
      </p:sp>
      <p:sp>
        <p:nvSpPr>
          <p:cNvPr id="24" name="Text 15"/>
          <p:cNvSpPr/>
          <p:nvPr/>
        </p:nvSpPr>
        <p:spPr>
          <a:xfrm>
            <a:off x="7539490" y="1050655"/>
            <a:ext cx="6321291" cy="574995"/>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6 (986 % 10 = 6). </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Slot 6 already contains 456, 236, and 896. We append 986 to the linked list at slot 6.</a:t>
            </a:r>
            <a:endParaRPr lang="en-US" sz="1400" dirty="0">
              <a:latin typeface="Arial" panose="020B0604020202020204" pitchFamily="34" charset="0"/>
              <a:cs typeface="Arial" panose="020B0604020202020204" pitchFamily="34" charset="0"/>
            </a:endParaRPr>
          </a:p>
        </p:txBody>
      </p:sp>
      <p:pic>
        <p:nvPicPr>
          <p:cNvPr id="25" name="Image 7" descr="preencoded.png"/>
          <p:cNvPicPr>
            <a:picLocks noChangeAspect="1"/>
          </p:cNvPicPr>
          <p:nvPr/>
        </p:nvPicPr>
        <p:blipFill>
          <a:blip r:embed="rId10"/>
          <a:stretch>
            <a:fillRect/>
          </a:stretch>
        </p:blipFill>
        <p:spPr>
          <a:xfrm>
            <a:off x="6636861" y="1599078"/>
            <a:ext cx="566976" cy="907256"/>
          </a:xfrm>
          <a:prstGeom prst="rect">
            <a:avLst/>
          </a:prstGeom>
        </p:spPr>
      </p:pic>
      <p:sp>
        <p:nvSpPr>
          <p:cNvPr id="26" name="Text 16"/>
          <p:cNvSpPr/>
          <p:nvPr/>
        </p:nvSpPr>
        <p:spPr>
          <a:xfrm>
            <a:off x="7426565" y="1675328"/>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8. Insert 987</a:t>
            </a:r>
            <a:endParaRPr lang="en-US" sz="1400" dirty="0">
              <a:latin typeface="Arial" panose="020B0604020202020204" pitchFamily="34" charset="0"/>
              <a:cs typeface="Arial" panose="020B0604020202020204" pitchFamily="34" charset="0"/>
            </a:endParaRPr>
          </a:p>
        </p:txBody>
      </p:sp>
      <p:sp>
        <p:nvSpPr>
          <p:cNvPr id="27" name="Text 17"/>
          <p:cNvSpPr/>
          <p:nvPr/>
        </p:nvSpPr>
        <p:spPr>
          <a:xfrm>
            <a:off x="7554730" y="2069723"/>
            <a:ext cx="5941840" cy="356533"/>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7 (987 % 10 = 7). </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Slot 7 is empty, so we insert 987 into the linked list at slot 7.</a:t>
            </a:r>
            <a:endParaRPr lang="en-US" sz="1400" dirty="0">
              <a:latin typeface="Arial" panose="020B0604020202020204" pitchFamily="34" charset="0"/>
              <a:cs typeface="Arial" panose="020B0604020202020204" pitchFamily="34" charset="0"/>
            </a:endParaRPr>
          </a:p>
        </p:txBody>
      </p:sp>
      <p:pic>
        <p:nvPicPr>
          <p:cNvPr id="28" name="Image 8" descr="preencoded.png"/>
          <p:cNvPicPr>
            <a:picLocks noChangeAspect="1"/>
          </p:cNvPicPr>
          <p:nvPr/>
        </p:nvPicPr>
        <p:blipFill>
          <a:blip r:embed="rId11"/>
          <a:stretch>
            <a:fillRect/>
          </a:stretch>
        </p:blipFill>
        <p:spPr>
          <a:xfrm>
            <a:off x="6636861" y="2675691"/>
            <a:ext cx="566976" cy="907256"/>
          </a:xfrm>
          <a:prstGeom prst="rect">
            <a:avLst/>
          </a:prstGeom>
        </p:spPr>
      </p:pic>
      <p:sp>
        <p:nvSpPr>
          <p:cNvPr id="29" name="Text 18"/>
          <p:cNvSpPr/>
          <p:nvPr/>
        </p:nvSpPr>
        <p:spPr>
          <a:xfrm>
            <a:off x="7426564" y="2769411"/>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9. Insert 763</a:t>
            </a:r>
            <a:endParaRPr lang="en-US" sz="1400" dirty="0">
              <a:latin typeface="Arial" panose="020B0604020202020204" pitchFamily="34" charset="0"/>
              <a:cs typeface="Arial" panose="020B0604020202020204" pitchFamily="34" charset="0"/>
            </a:endParaRPr>
          </a:p>
        </p:txBody>
      </p:sp>
      <p:sp>
        <p:nvSpPr>
          <p:cNvPr id="30" name="Text 19"/>
          <p:cNvSpPr/>
          <p:nvPr/>
        </p:nvSpPr>
        <p:spPr>
          <a:xfrm>
            <a:off x="7554729" y="3217901"/>
            <a:ext cx="5941841" cy="365046"/>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3 (763 % 10 = 3). </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Slot 3 already contains 123. We append 763 to the linked list at slot 3.</a:t>
            </a:r>
            <a:endParaRPr lang="en-US" sz="1400" dirty="0">
              <a:latin typeface="Arial" panose="020B0604020202020204" pitchFamily="34" charset="0"/>
              <a:cs typeface="Arial" panose="020B0604020202020204" pitchFamily="34" charset="0"/>
            </a:endParaRPr>
          </a:p>
        </p:txBody>
      </p:sp>
      <p:pic>
        <p:nvPicPr>
          <p:cNvPr id="31" name="Image 9" descr="preencoded.png"/>
          <p:cNvPicPr>
            <a:picLocks noChangeAspect="1"/>
          </p:cNvPicPr>
          <p:nvPr/>
        </p:nvPicPr>
        <p:blipFill>
          <a:blip r:embed="rId12"/>
          <a:stretch>
            <a:fillRect/>
          </a:stretch>
        </p:blipFill>
        <p:spPr>
          <a:xfrm>
            <a:off x="6636861" y="3920847"/>
            <a:ext cx="566976" cy="907256"/>
          </a:xfrm>
          <a:prstGeom prst="rect">
            <a:avLst/>
          </a:prstGeom>
        </p:spPr>
      </p:pic>
      <p:sp>
        <p:nvSpPr>
          <p:cNvPr id="32" name="Text 20"/>
          <p:cNvSpPr/>
          <p:nvPr/>
        </p:nvSpPr>
        <p:spPr>
          <a:xfrm>
            <a:off x="7426565" y="4106264"/>
            <a:ext cx="1488519" cy="185976"/>
          </a:xfrm>
          <a:prstGeom prst="rect">
            <a:avLst/>
          </a:prstGeom>
          <a:noFill/>
          <a:ln/>
        </p:spPr>
        <p:txBody>
          <a:bodyPr wrap="none" lIns="0" tIns="0" rIns="0" bIns="0" rtlCol="0" anchor="t"/>
          <a:lstStyle/>
          <a:p>
            <a:pPr marL="0" indent="0" algn="l">
              <a:lnSpc>
                <a:spcPts val="1450"/>
              </a:lnSpc>
              <a:buNone/>
            </a:pPr>
            <a:r>
              <a:rPr lang="en-US" sz="1400" b="1" dirty="0">
                <a:solidFill>
                  <a:srgbClr val="272525"/>
                </a:solidFill>
                <a:latin typeface="Arial" panose="020B0604020202020204" pitchFamily="34" charset="0"/>
                <a:ea typeface="Petrona Bold" pitchFamily="34" charset="-122"/>
                <a:cs typeface="Arial" panose="020B0604020202020204" pitchFamily="34" charset="0"/>
              </a:rPr>
              <a:t>10. Insert 783</a:t>
            </a:r>
            <a:endParaRPr lang="en-US" sz="1400" dirty="0">
              <a:latin typeface="Arial" panose="020B0604020202020204" pitchFamily="34" charset="0"/>
              <a:cs typeface="Arial" panose="020B0604020202020204" pitchFamily="34" charset="0"/>
            </a:endParaRPr>
          </a:p>
        </p:txBody>
      </p:sp>
      <p:sp>
        <p:nvSpPr>
          <p:cNvPr id="33" name="Text 21"/>
          <p:cNvSpPr/>
          <p:nvPr/>
        </p:nvSpPr>
        <p:spPr>
          <a:xfrm>
            <a:off x="7539490" y="4493396"/>
            <a:ext cx="6252710" cy="472283"/>
          </a:xfrm>
          <a:prstGeom prst="rect">
            <a:avLst/>
          </a:prstGeom>
          <a:noFill/>
          <a:ln/>
        </p:spPr>
        <p:txBody>
          <a:bodyPr wrap="none" lIns="0" tIns="0" rIns="0" bIns="0" rtlCol="0" anchor="t"/>
          <a:lstStyle/>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Hash value: 3 (783 % 10 = 3).</a:t>
            </a:r>
          </a:p>
          <a:p>
            <a:pPr marL="0" indent="0" algn="l">
              <a:lnSpc>
                <a:spcPts val="1400"/>
              </a:lnSpc>
              <a:buNone/>
            </a:pPr>
            <a:r>
              <a:rPr lang="en-US" sz="1400" dirty="0">
                <a:solidFill>
                  <a:srgbClr val="272525"/>
                </a:solidFill>
                <a:latin typeface="Arial" panose="020B0604020202020204" pitchFamily="34" charset="0"/>
                <a:ea typeface="Inter" pitchFamily="34" charset="-122"/>
                <a:cs typeface="Arial" panose="020B0604020202020204" pitchFamily="34" charset="0"/>
              </a:rPr>
              <a:t> Slot 3 already contains 123 and 763. We append 783 to the linked list at slot 3.</a:t>
            </a:r>
            <a:endParaRPr lang="en-US" sz="1400" dirty="0">
              <a:latin typeface="Arial" panose="020B060402020202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F7B0BD6A-CCA8-D006-2ED2-8D9F0DFEAE60}"/>
              </a:ext>
            </a:extLst>
          </p:cNvPr>
          <p:cNvSpPr/>
          <p:nvPr/>
        </p:nvSpPr>
        <p:spPr>
          <a:xfrm>
            <a:off x="12871938" y="7767376"/>
            <a:ext cx="1668027" cy="3617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6</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39265"/>
            <a:ext cx="12665273" cy="744260"/>
          </a:xfrm>
          <a:prstGeom prst="rect">
            <a:avLst/>
          </a:prstGeom>
          <a:noFill/>
          <a:ln/>
        </p:spPr>
        <p:txBody>
          <a:bodyPr wrap="none" lIns="0" tIns="0" rIns="0" bIns="0" rtlCol="0" anchor="t"/>
          <a:lstStyle/>
          <a:p>
            <a:pPr marL="0" marR="0" lvl="0" indent="0" algn="l" defTabSz="914400" rtl="0" eaLnBrk="1" fontAlgn="auto" latinLnBrk="0" hangingPunct="1">
              <a:lnSpc>
                <a:spcPts val="585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Arial" panose="020B0604020202020204" pitchFamily="34" charset="0"/>
                <a:ea typeface="Petrona Bold" pitchFamily="34" charset="-122"/>
                <a:cs typeface="Arial" panose="020B0604020202020204" pitchFamily="34" charset="0"/>
              </a:rPr>
              <a:t>Open Addressing Hashing with Linear Probing</a:t>
            </a: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3" name="Shape 1"/>
          <p:cNvSpPr/>
          <p:nvPr/>
        </p:nvSpPr>
        <p:spPr>
          <a:xfrm>
            <a:off x="793790" y="3078837"/>
            <a:ext cx="510302" cy="510302"/>
          </a:xfrm>
          <a:prstGeom prst="roundRect">
            <a:avLst>
              <a:gd name="adj" fmla="val 18669"/>
            </a:avLst>
          </a:prstGeom>
          <a:solidFill>
            <a:srgbClr val="CCEEFF"/>
          </a:solidFill>
          <a:ln w="7620">
            <a:solidFill>
              <a:srgbClr val="B2D4E5"/>
            </a:solidFill>
            <a:prstDash val="solid"/>
          </a:ln>
        </p:spPr>
      </p:sp>
      <p:sp>
        <p:nvSpPr>
          <p:cNvPr id="4" name="Text 2"/>
          <p:cNvSpPr/>
          <p:nvPr/>
        </p:nvSpPr>
        <p:spPr>
          <a:xfrm>
            <a:off x="972503" y="3155275"/>
            <a:ext cx="152876" cy="357307"/>
          </a:xfrm>
          <a:prstGeom prst="rect">
            <a:avLst/>
          </a:prstGeom>
          <a:noFill/>
          <a:ln/>
        </p:spPr>
        <p:txBody>
          <a:bodyPr wrap="none" lIns="0" tIns="0" rIns="0" bIns="0" rtlCol="0" anchor="t"/>
          <a:lstStyle/>
          <a:p>
            <a:pPr marL="0" marR="0" lvl="0" indent="0" algn="ctr" defTabSz="914400" rtl="0" eaLnBrk="1" fontAlgn="auto" latinLnBrk="0" hangingPunct="1">
              <a:lnSpc>
                <a:spcPts val="28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Arial" panose="020B0604020202020204" pitchFamily="34" charset="0"/>
                <a:ea typeface="Petrona Bold" pitchFamily="34" charset="-122"/>
                <a:cs typeface="Arial" panose="020B0604020202020204" pitchFamily="34" charset="0"/>
              </a:rPr>
              <a:t>1</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5" name="Text 3"/>
          <p:cNvSpPr/>
          <p:nvPr/>
        </p:nvSpPr>
        <p:spPr>
          <a:xfrm>
            <a:off x="1530906" y="3078837"/>
            <a:ext cx="2977039" cy="372070"/>
          </a:xfrm>
          <a:prstGeom prst="rect">
            <a:avLst/>
          </a:prstGeom>
          <a:noFill/>
          <a:ln/>
        </p:spPr>
        <p:txBody>
          <a:bodyPr wrap="none" lIns="0" tIns="0" rIns="0" bIns="0" rtlCol="0" anchor="t"/>
          <a:lstStyle/>
          <a:p>
            <a:pPr marL="0" marR="0" lvl="0" indent="0" algn="l" defTabSz="914400" rtl="0" eaLnBrk="1" fontAlgn="auto" latinLnBrk="0" hangingPunct="1">
              <a:lnSpc>
                <a:spcPts val="29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72525"/>
                </a:solidFill>
                <a:effectLst/>
                <a:uLnTx/>
                <a:uFillTx/>
                <a:latin typeface="Arial" panose="020B0604020202020204" pitchFamily="34" charset="0"/>
                <a:ea typeface="Petrona Bold" pitchFamily="34" charset="-122"/>
                <a:cs typeface="Arial" panose="020B0604020202020204" pitchFamily="34" charset="0"/>
              </a:rPr>
              <a:t>Collision Handling</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6" name="Text 4"/>
          <p:cNvSpPr/>
          <p:nvPr/>
        </p:nvSpPr>
        <p:spPr>
          <a:xfrm>
            <a:off x="1530906" y="3586996"/>
            <a:ext cx="3459242" cy="290322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72525"/>
                </a:solidFill>
                <a:effectLst/>
                <a:uLnTx/>
                <a:uFillTx/>
                <a:latin typeface="Arial" panose="020B0604020202020204" pitchFamily="34" charset="0"/>
                <a:ea typeface="Inter" pitchFamily="34" charset="-122"/>
                <a:cs typeface="Arial" panose="020B0604020202020204" pitchFamily="34" charset="0"/>
              </a:rPr>
              <a:t>When a collision occurs, linear probing sequentially examines consecutive slots in the hash table until an empty slot is found. This allows for efficient insertion and retrieval of data elements, even in the presence of collisions.</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Shape 5"/>
          <p:cNvSpPr/>
          <p:nvPr/>
        </p:nvSpPr>
        <p:spPr>
          <a:xfrm>
            <a:off x="5216962" y="3078837"/>
            <a:ext cx="510302" cy="510302"/>
          </a:xfrm>
          <a:prstGeom prst="roundRect">
            <a:avLst>
              <a:gd name="adj" fmla="val 18669"/>
            </a:avLst>
          </a:prstGeom>
          <a:solidFill>
            <a:srgbClr val="CCEEFF"/>
          </a:solidFill>
          <a:ln w="7620">
            <a:solidFill>
              <a:srgbClr val="B2D4E5"/>
            </a:solidFill>
            <a:prstDash val="solid"/>
          </a:ln>
        </p:spPr>
      </p:sp>
      <p:sp>
        <p:nvSpPr>
          <p:cNvPr id="8" name="Text 6"/>
          <p:cNvSpPr/>
          <p:nvPr/>
        </p:nvSpPr>
        <p:spPr>
          <a:xfrm>
            <a:off x="5370790" y="3155275"/>
            <a:ext cx="202525" cy="357307"/>
          </a:xfrm>
          <a:prstGeom prst="rect">
            <a:avLst/>
          </a:prstGeom>
          <a:noFill/>
          <a:ln/>
        </p:spPr>
        <p:txBody>
          <a:bodyPr wrap="none" lIns="0" tIns="0" rIns="0" bIns="0" rtlCol="0" anchor="t"/>
          <a:lstStyle/>
          <a:p>
            <a:pPr marL="0" marR="0" lvl="0" indent="0" algn="ctr" defTabSz="914400" rtl="0" eaLnBrk="1" fontAlgn="auto" latinLnBrk="0" hangingPunct="1">
              <a:lnSpc>
                <a:spcPts val="28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Arial" panose="020B0604020202020204" pitchFamily="34" charset="0"/>
                <a:ea typeface="Petrona Bold" pitchFamily="34" charset="-122"/>
                <a:cs typeface="Arial" panose="020B0604020202020204" pitchFamily="34" charset="0"/>
              </a:rPr>
              <a:t>2</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9" name="Text 7"/>
          <p:cNvSpPr/>
          <p:nvPr/>
        </p:nvSpPr>
        <p:spPr>
          <a:xfrm>
            <a:off x="5954078" y="3078837"/>
            <a:ext cx="2977039" cy="372070"/>
          </a:xfrm>
          <a:prstGeom prst="rect">
            <a:avLst/>
          </a:prstGeom>
          <a:noFill/>
          <a:ln/>
        </p:spPr>
        <p:txBody>
          <a:bodyPr wrap="none" lIns="0" tIns="0" rIns="0" bIns="0" rtlCol="0" anchor="t"/>
          <a:lstStyle/>
          <a:p>
            <a:pPr marL="0" marR="0" lvl="0" indent="0" algn="l" defTabSz="914400" rtl="0" eaLnBrk="1" fontAlgn="auto" latinLnBrk="0" hangingPunct="1">
              <a:lnSpc>
                <a:spcPts val="29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72525"/>
                </a:solidFill>
                <a:effectLst/>
                <a:uLnTx/>
                <a:uFillTx/>
                <a:latin typeface="Arial" panose="020B0604020202020204" pitchFamily="34" charset="0"/>
                <a:ea typeface="Petrona Bold" pitchFamily="34" charset="-122"/>
                <a:cs typeface="Arial" panose="020B0604020202020204" pitchFamily="34" charset="0"/>
              </a:rPr>
              <a:t>Sequential Search</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0" name="Text 8"/>
          <p:cNvSpPr/>
          <p:nvPr/>
        </p:nvSpPr>
        <p:spPr>
          <a:xfrm>
            <a:off x="5954078" y="3586996"/>
            <a:ext cx="3459242" cy="2177415"/>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72525"/>
                </a:solidFill>
                <a:effectLst/>
                <a:uLnTx/>
                <a:uFillTx/>
                <a:latin typeface="Arial" panose="020B0604020202020204" pitchFamily="34" charset="0"/>
                <a:ea typeface="Inter" pitchFamily="34" charset="-122"/>
                <a:cs typeface="Arial" panose="020B0604020202020204" pitchFamily="34" charset="0"/>
              </a:rPr>
              <a:t>Linear probing employs a sequential search pattern, starting from the initial hash location and exploring subsequent slots until an empty slot is found or the table is full.</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1" name="Shape 9"/>
          <p:cNvSpPr/>
          <p:nvPr/>
        </p:nvSpPr>
        <p:spPr>
          <a:xfrm>
            <a:off x="9640133" y="3078837"/>
            <a:ext cx="510302" cy="510302"/>
          </a:xfrm>
          <a:prstGeom prst="roundRect">
            <a:avLst>
              <a:gd name="adj" fmla="val 18669"/>
            </a:avLst>
          </a:prstGeom>
          <a:solidFill>
            <a:srgbClr val="CCEEFF"/>
          </a:solidFill>
          <a:ln w="7620">
            <a:solidFill>
              <a:srgbClr val="B2D4E5"/>
            </a:solidFill>
            <a:prstDash val="solid"/>
          </a:ln>
        </p:spPr>
      </p:sp>
      <p:sp>
        <p:nvSpPr>
          <p:cNvPr id="12" name="Text 10"/>
          <p:cNvSpPr/>
          <p:nvPr/>
        </p:nvSpPr>
        <p:spPr>
          <a:xfrm>
            <a:off x="9794200" y="3155275"/>
            <a:ext cx="202168" cy="357307"/>
          </a:xfrm>
          <a:prstGeom prst="rect">
            <a:avLst/>
          </a:prstGeom>
          <a:noFill/>
          <a:ln/>
        </p:spPr>
        <p:txBody>
          <a:bodyPr wrap="none" lIns="0" tIns="0" rIns="0" bIns="0" rtlCol="0" anchor="t"/>
          <a:lstStyle/>
          <a:p>
            <a:pPr marL="0" marR="0" lvl="0" indent="0" algn="ctr" defTabSz="914400" rtl="0" eaLnBrk="1" fontAlgn="auto" latinLnBrk="0" hangingPunct="1">
              <a:lnSpc>
                <a:spcPts val="28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272525"/>
                </a:solidFill>
                <a:effectLst/>
                <a:uLnTx/>
                <a:uFillTx/>
                <a:latin typeface="Arial" panose="020B0604020202020204" pitchFamily="34" charset="0"/>
                <a:ea typeface="Petrona Bold" pitchFamily="34" charset="-122"/>
                <a:cs typeface="Arial" panose="020B0604020202020204" pitchFamily="34" charset="0"/>
              </a:rPr>
              <a:t>3</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3" name="Text 11"/>
          <p:cNvSpPr/>
          <p:nvPr/>
        </p:nvSpPr>
        <p:spPr>
          <a:xfrm>
            <a:off x="10377249" y="3078837"/>
            <a:ext cx="2977039" cy="372070"/>
          </a:xfrm>
          <a:prstGeom prst="rect">
            <a:avLst/>
          </a:prstGeom>
          <a:noFill/>
          <a:ln/>
        </p:spPr>
        <p:txBody>
          <a:bodyPr wrap="none" lIns="0" tIns="0" rIns="0" bIns="0" rtlCol="0" anchor="t"/>
          <a:lstStyle/>
          <a:p>
            <a:pPr marL="0" marR="0" lvl="0" indent="0" algn="l" defTabSz="914400" rtl="0" eaLnBrk="1" fontAlgn="auto" latinLnBrk="0" hangingPunct="1">
              <a:lnSpc>
                <a:spcPts val="29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72525"/>
                </a:solidFill>
                <a:effectLst/>
                <a:uLnTx/>
                <a:uFillTx/>
                <a:latin typeface="Arial" panose="020B0604020202020204" pitchFamily="34" charset="0"/>
                <a:ea typeface="Petrona Bold" pitchFamily="34" charset="-122"/>
                <a:cs typeface="Arial" panose="020B0604020202020204" pitchFamily="34" charset="0"/>
              </a:rPr>
              <a:t>Key Mapping</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4" name="Text 12"/>
          <p:cNvSpPr/>
          <p:nvPr/>
        </p:nvSpPr>
        <p:spPr>
          <a:xfrm>
            <a:off x="10377249" y="3586996"/>
            <a:ext cx="3459242" cy="2540318"/>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272525"/>
                </a:solidFill>
                <a:effectLst/>
                <a:uLnTx/>
                <a:uFillTx/>
                <a:latin typeface="Arial" panose="020B0604020202020204" pitchFamily="34" charset="0"/>
                <a:ea typeface="Inter" pitchFamily="34" charset="-122"/>
                <a:cs typeface="Arial" panose="020B0604020202020204" pitchFamily="34" charset="0"/>
              </a:rPr>
              <a:t>Hashing with linear probing involves a hash function that maps data elements to key locations within the hash table. When collisions occur, linear probing helps resolve them by finding the next available slot.</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67A6504-87CE-1057-ABFC-4970ED3AF279}"/>
              </a:ext>
            </a:extLst>
          </p:cNvPr>
          <p:cNvSpPr/>
          <p:nvPr/>
        </p:nvSpPr>
        <p:spPr>
          <a:xfrm>
            <a:off x="12831745" y="7797521"/>
            <a:ext cx="1718268" cy="3215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7</a:t>
            </a: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30812"/>
            <a:ext cx="8351044" cy="744260"/>
          </a:xfrm>
          <a:prstGeom prst="rect">
            <a:avLst/>
          </a:prstGeom>
          <a:noFill/>
          <a:ln/>
        </p:spPr>
        <p:txBody>
          <a:bodyPr wrap="none" lIns="0" tIns="0" rIns="0" bIns="0" rtlCol="0" anchor="t"/>
          <a:lstStyle/>
          <a:p>
            <a:pPr marL="0" indent="0">
              <a:lnSpc>
                <a:spcPts val="5850"/>
              </a:lnSpc>
              <a:buNone/>
            </a:pPr>
            <a:r>
              <a:rPr lang="en-US" sz="2400" b="1" dirty="0">
                <a:solidFill>
                  <a:srgbClr val="000000"/>
                </a:solidFill>
                <a:latin typeface="Arial" panose="020B0604020202020204" pitchFamily="34" charset="0"/>
                <a:ea typeface="Petrona Bold" pitchFamily="34" charset="-122"/>
                <a:cs typeface="Arial" panose="020B0604020202020204" pitchFamily="34" charset="0"/>
              </a:rPr>
              <a:t>Understanding Linear Probing</a:t>
            </a:r>
            <a:endParaRPr lang="en-US" sz="2400" dirty="0">
              <a:latin typeface="Arial" panose="020B0604020202020204" pitchFamily="34" charset="0"/>
              <a:cs typeface="Arial" panose="020B0604020202020204" pitchFamily="34" charset="0"/>
            </a:endParaRPr>
          </a:p>
        </p:txBody>
      </p:sp>
      <p:sp>
        <p:nvSpPr>
          <p:cNvPr id="3" name="Shape 1"/>
          <p:cNvSpPr/>
          <p:nvPr/>
        </p:nvSpPr>
        <p:spPr>
          <a:xfrm>
            <a:off x="793790" y="3155394"/>
            <a:ext cx="13042821" cy="30480"/>
          </a:xfrm>
          <a:prstGeom prst="roundRect">
            <a:avLst>
              <a:gd name="adj" fmla="val 312558"/>
            </a:avLst>
          </a:prstGeom>
          <a:solidFill>
            <a:srgbClr val="B2D4E5"/>
          </a:solidFill>
          <a:ln/>
        </p:spPr>
      </p:sp>
      <p:sp>
        <p:nvSpPr>
          <p:cNvPr id="4" name="Shape 2"/>
          <p:cNvSpPr/>
          <p:nvPr/>
        </p:nvSpPr>
        <p:spPr>
          <a:xfrm>
            <a:off x="2876669" y="3155394"/>
            <a:ext cx="30480" cy="793790"/>
          </a:xfrm>
          <a:prstGeom prst="roundRect">
            <a:avLst>
              <a:gd name="adj" fmla="val 312558"/>
            </a:avLst>
          </a:prstGeom>
          <a:solidFill>
            <a:srgbClr val="B2D4E5"/>
          </a:solidFill>
          <a:ln/>
        </p:spPr>
      </p:sp>
      <p:sp>
        <p:nvSpPr>
          <p:cNvPr id="5" name="Shape 3"/>
          <p:cNvSpPr/>
          <p:nvPr/>
        </p:nvSpPr>
        <p:spPr>
          <a:xfrm>
            <a:off x="2636758" y="2900243"/>
            <a:ext cx="510302" cy="510302"/>
          </a:xfrm>
          <a:prstGeom prst="roundRect">
            <a:avLst>
              <a:gd name="adj" fmla="val 18669"/>
            </a:avLst>
          </a:prstGeom>
          <a:solidFill>
            <a:srgbClr val="CCEEFF"/>
          </a:solidFill>
          <a:ln w="7620">
            <a:solidFill>
              <a:srgbClr val="B2D4E5"/>
            </a:solidFill>
            <a:prstDash val="solid"/>
          </a:ln>
        </p:spPr>
      </p:sp>
      <p:sp>
        <p:nvSpPr>
          <p:cNvPr id="6" name="Text 4"/>
          <p:cNvSpPr/>
          <p:nvPr/>
        </p:nvSpPr>
        <p:spPr>
          <a:xfrm>
            <a:off x="2815471" y="2976682"/>
            <a:ext cx="152876" cy="357307"/>
          </a:xfrm>
          <a:prstGeom prst="rect">
            <a:avLst/>
          </a:prstGeom>
          <a:noFill/>
          <a:ln/>
        </p:spPr>
        <p:txBody>
          <a:bodyPr wrap="none" lIns="0" tIns="0" rIns="0" bIns="0" rtlCol="0" anchor="t"/>
          <a:lstStyle/>
          <a:p>
            <a:pPr marL="0" indent="0" algn="ctr">
              <a:lnSpc>
                <a:spcPts val="2800"/>
              </a:lnSpc>
              <a:buNone/>
            </a:pPr>
            <a:r>
              <a:rPr lang="en-US" sz="2000" b="1" dirty="0">
                <a:solidFill>
                  <a:srgbClr val="272525"/>
                </a:solidFill>
                <a:latin typeface="Arial" panose="020B0604020202020204" pitchFamily="34" charset="0"/>
                <a:ea typeface="Petrona Bold" pitchFamily="34" charset="-122"/>
                <a:cs typeface="Arial" panose="020B0604020202020204" pitchFamily="34" charset="0"/>
              </a:rPr>
              <a:t>1</a:t>
            </a:r>
            <a:endParaRPr lang="en-US" sz="2000" dirty="0">
              <a:latin typeface="Arial" panose="020B0604020202020204" pitchFamily="34" charset="0"/>
              <a:cs typeface="Arial" panose="020B0604020202020204" pitchFamily="34" charset="0"/>
            </a:endParaRPr>
          </a:p>
        </p:txBody>
      </p:sp>
      <p:sp>
        <p:nvSpPr>
          <p:cNvPr id="7" name="Text 5"/>
          <p:cNvSpPr/>
          <p:nvPr/>
        </p:nvSpPr>
        <p:spPr>
          <a:xfrm>
            <a:off x="1403390" y="4176117"/>
            <a:ext cx="2977039" cy="372070"/>
          </a:xfrm>
          <a:prstGeom prst="rect">
            <a:avLst/>
          </a:prstGeom>
          <a:noFill/>
          <a:ln/>
        </p:spPr>
        <p:txBody>
          <a:bodyPr wrap="none" lIns="0" tIns="0" rIns="0" bIns="0" rtlCol="0" anchor="t"/>
          <a:lstStyle/>
          <a:p>
            <a:pPr marL="0" indent="0" algn="ctr">
              <a:lnSpc>
                <a:spcPts val="29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Hashing</a:t>
            </a:r>
            <a:endParaRPr lang="en-US" sz="2400" dirty="0">
              <a:latin typeface="Arial" panose="020B0604020202020204" pitchFamily="34" charset="0"/>
              <a:cs typeface="Arial" panose="020B0604020202020204" pitchFamily="34" charset="0"/>
            </a:endParaRPr>
          </a:p>
        </p:txBody>
      </p:sp>
      <p:sp>
        <p:nvSpPr>
          <p:cNvPr id="8" name="Text 6"/>
          <p:cNvSpPr/>
          <p:nvPr/>
        </p:nvSpPr>
        <p:spPr>
          <a:xfrm>
            <a:off x="1020604" y="4684276"/>
            <a:ext cx="3742730" cy="1451610"/>
          </a:xfrm>
          <a:prstGeom prst="rect">
            <a:avLst/>
          </a:prstGeom>
          <a:noFill/>
          <a:ln/>
        </p:spPr>
        <p:txBody>
          <a:bodyPr wrap="square" lIns="0" tIns="0" rIns="0" bIns="0" rtlCol="0" anchor="t"/>
          <a:lstStyle/>
          <a:p>
            <a:pPr marL="0" indent="0" algn="ctr">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The hash function is applied to the data element, generating a hash key, which determines the initial slot in the hash table.</a:t>
            </a:r>
            <a:endParaRPr lang="en-US" sz="2000" dirty="0">
              <a:latin typeface="Arial" panose="020B0604020202020204" pitchFamily="34" charset="0"/>
              <a:cs typeface="Arial" panose="020B0604020202020204" pitchFamily="34" charset="0"/>
            </a:endParaRPr>
          </a:p>
        </p:txBody>
      </p:sp>
      <p:sp>
        <p:nvSpPr>
          <p:cNvPr id="9" name="Shape 7"/>
          <p:cNvSpPr/>
          <p:nvPr/>
        </p:nvSpPr>
        <p:spPr>
          <a:xfrm>
            <a:off x="7299841" y="3155394"/>
            <a:ext cx="30480" cy="793790"/>
          </a:xfrm>
          <a:prstGeom prst="roundRect">
            <a:avLst>
              <a:gd name="adj" fmla="val 312558"/>
            </a:avLst>
          </a:prstGeom>
          <a:solidFill>
            <a:srgbClr val="B2D4E5"/>
          </a:solidFill>
          <a:ln/>
        </p:spPr>
      </p:sp>
      <p:sp>
        <p:nvSpPr>
          <p:cNvPr id="10" name="Shape 8"/>
          <p:cNvSpPr/>
          <p:nvPr/>
        </p:nvSpPr>
        <p:spPr>
          <a:xfrm>
            <a:off x="7059930" y="2900243"/>
            <a:ext cx="510302" cy="510302"/>
          </a:xfrm>
          <a:prstGeom prst="roundRect">
            <a:avLst>
              <a:gd name="adj" fmla="val 18669"/>
            </a:avLst>
          </a:prstGeom>
          <a:solidFill>
            <a:srgbClr val="CCEEFF"/>
          </a:solidFill>
          <a:ln w="7620">
            <a:solidFill>
              <a:srgbClr val="B2D4E5"/>
            </a:solidFill>
            <a:prstDash val="solid"/>
          </a:ln>
        </p:spPr>
      </p:sp>
      <p:sp>
        <p:nvSpPr>
          <p:cNvPr id="11" name="Text 9"/>
          <p:cNvSpPr/>
          <p:nvPr/>
        </p:nvSpPr>
        <p:spPr>
          <a:xfrm>
            <a:off x="7213759" y="2976682"/>
            <a:ext cx="202525" cy="357307"/>
          </a:xfrm>
          <a:prstGeom prst="rect">
            <a:avLst/>
          </a:prstGeom>
          <a:noFill/>
          <a:ln/>
        </p:spPr>
        <p:txBody>
          <a:bodyPr wrap="none" lIns="0" tIns="0" rIns="0" bIns="0" rtlCol="0" anchor="t"/>
          <a:lstStyle/>
          <a:p>
            <a:pPr marL="0" indent="0" algn="ctr">
              <a:lnSpc>
                <a:spcPts val="2800"/>
              </a:lnSpc>
              <a:buNone/>
            </a:pPr>
            <a:r>
              <a:rPr lang="en-US" sz="2000" b="1" dirty="0">
                <a:solidFill>
                  <a:srgbClr val="272525"/>
                </a:solidFill>
                <a:latin typeface="Arial" panose="020B0604020202020204" pitchFamily="34" charset="0"/>
                <a:ea typeface="Petrona Bold" pitchFamily="34" charset="-122"/>
                <a:cs typeface="Arial" panose="020B0604020202020204" pitchFamily="34" charset="0"/>
              </a:rPr>
              <a:t>2</a:t>
            </a:r>
            <a:endParaRPr lang="en-US" sz="2000" dirty="0">
              <a:latin typeface="Arial" panose="020B0604020202020204" pitchFamily="34" charset="0"/>
              <a:cs typeface="Arial" panose="020B0604020202020204" pitchFamily="34" charset="0"/>
            </a:endParaRPr>
          </a:p>
        </p:txBody>
      </p:sp>
      <p:sp>
        <p:nvSpPr>
          <p:cNvPr id="12" name="Text 10"/>
          <p:cNvSpPr/>
          <p:nvPr/>
        </p:nvSpPr>
        <p:spPr>
          <a:xfrm>
            <a:off x="5826562" y="4176117"/>
            <a:ext cx="2977039" cy="372070"/>
          </a:xfrm>
          <a:prstGeom prst="rect">
            <a:avLst/>
          </a:prstGeom>
          <a:noFill/>
          <a:ln/>
        </p:spPr>
        <p:txBody>
          <a:bodyPr wrap="none" lIns="0" tIns="0" rIns="0" bIns="0" rtlCol="0" anchor="t"/>
          <a:lstStyle/>
          <a:p>
            <a:pPr marL="0" indent="0" algn="ctr">
              <a:lnSpc>
                <a:spcPts val="29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Collision</a:t>
            </a:r>
            <a:endParaRPr lang="en-US" sz="2400" dirty="0">
              <a:latin typeface="Arial" panose="020B0604020202020204" pitchFamily="34" charset="0"/>
              <a:cs typeface="Arial" panose="020B0604020202020204" pitchFamily="34" charset="0"/>
            </a:endParaRPr>
          </a:p>
        </p:txBody>
      </p:sp>
      <p:sp>
        <p:nvSpPr>
          <p:cNvPr id="13" name="Text 11"/>
          <p:cNvSpPr/>
          <p:nvPr/>
        </p:nvSpPr>
        <p:spPr>
          <a:xfrm>
            <a:off x="5443776" y="4684276"/>
            <a:ext cx="3742730" cy="1451610"/>
          </a:xfrm>
          <a:prstGeom prst="rect">
            <a:avLst/>
          </a:prstGeom>
          <a:noFill/>
          <a:ln/>
        </p:spPr>
        <p:txBody>
          <a:bodyPr wrap="square" lIns="0" tIns="0" rIns="0" bIns="0" rtlCol="0" anchor="t"/>
          <a:lstStyle/>
          <a:p>
            <a:pPr marL="0" indent="0" algn="ctr">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If the slot is occupied, a collision occurs. Linear probing starts by examining the next slot in the hash table.</a:t>
            </a:r>
            <a:endParaRPr lang="en-US" sz="2000" dirty="0">
              <a:latin typeface="Arial" panose="020B0604020202020204" pitchFamily="34" charset="0"/>
              <a:cs typeface="Arial" panose="020B0604020202020204" pitchFamily="34" charset="0"/>
            </a:endParaRPr>
          </a:p>
        </p:txBody>
      </p:sp>
      <p:sp>
        <p:nvSpPr>
          <p:cNvPr id="14" name="Shape 12"/>
          <p:cNvSpPr/>
          <p:nvPr/>
        </p:nvSpPr>
        <p:spPr>
          <a:xfrm>
            <a:off x="11723013" y="3155394"/>
            <a:ext cx="30480" cy="793790"/>
          </a:xfrm>
          <a:prstGeom prst="roundRect">
            <a:avLst>
              <a:gd name="adj" fmla="val 312558"/>
            </a:avLst>
          </a:prstGeom>
          <a:solidFill>
            <a:srgbClr val="B2D4E5"/>
          </a:solidFill>
          <a:ln/>
        </p:spPr>
      </p:sp>
      <p:sp>
        <p:nvSpPr>
          <p:cNvPr id="15" name="Shape 13"/>
          <p:cNvSpPr/>
          <p:nvPr/>
        </p:nvSpPr>
        <p:spPr>
          <a:xfrm>
            <a:off x="11483102" y="2900243"/>
            <a:ext cx="510302" cy="510302"/>
          </a:xfrm>
          <a:prstGeom prst="roundRect">
            <a:avLst>
              <a:gd name="adj" fmla="val 18669"/>
            </a:avLst>
          </a:prstGeom>
          <a:solidFill>
            <a:srgbClr val="CCEEFF"/>
          </a:solidFill>
          <a:ln w="7620">
            <a:solidFill>
              <a:srgbClr val="B2D4E5"/>
            </a:solidFill>
            <a:prstDash val="solid"/>
          </a:ln>
        </p:spPr>
      </p:sp>
      <p:sp>
        <p:nvSpPr>
          <p:cNvPr id="16" name="Text 14"/>
          <p:cNvSpPr/>
          <p:nvPr/>
        </p:nvSpPr>
        <p:spPr>
          <a:xfrm>
            <a:off x="11637169" y="2976682"/>
            <a:ext cx="202168" cy="357307"/>
          </a:xfrm>
          <a:prstGeom prst="rect">
            <a:avLst/>
          </a:prstGeom>
          <a:noFill/>
          <a:ln/>
        </p:spPr>
        <p:txBody>
          <a:bodyPr wrap="none" lIns="0" tIns="0" rIns="0" bIns="0" rtlCol="0" anchor="t"/>
          <a:lstStyle/>
          <a:p>
            <a:pPr marL="0" indent="0" algn="ctr">
              <a:lnSpc>
                <a:spcPts val="2800"/>
              </a:lnSpc>
              <a:buNone/>
            </a:pPr>
            <a:r>
              <a:rPr lang="en-US" sz="2000" b="1" dirty="0">
                <a:solidFill>
                  <a:srgbClr val="272525"/>
                </a:solidFill>
                <a:latin typeface="Arial" panose="020B0604020202020204" pitchFamily="34" charset="0"/>
                <a:ea typeface="Petrona Bold" pitchFamily="34" charset="-122"/>
                <a:cs typeface="Arial" panose="020B0604020202020204" pitchFamily="34" charset="0"/>
              </a:rPr>
              <a:t>3</a:t>
            </a:r>
            <a:endParaRPr lang="en-US" sz="2000" dirty="0">
              <a:latin typeface="Arial" panose="020B0604020202020204" pitchFamily="34" charset="0"/>
              <a:cs typeface="Arial" panose="020B0604020202020204" pitchFamily="34" charset="0"/>
            </a:endParaRPr>
          </a:p>
        </p:txBody>
      </p:sp>
      <p:sp>
        <p:nvSpPr>
          <p:cNvPr id="17" name="Text 15"/>
          <p:cNvSpPr/>
          <p:nvPr/>
        </p:nvSpPr>
        <p:spPr>
          <a:xfrm>
            <a:off x="10249733" y="4176117"/>
            <a:ext cx="2977039" cy="372070"/>
          </a:xfrm>
          <a:prstGeom prst="rect">
            <a:avLst/>
          </a:prstGeom>
          <a:noFill/>
          <a:ln/>
        </p:spPr>
        <p:txBody>
          <a:bodyPr wrap="none" lIns="0" tIns="0" rIns="0" bIns="0" rtlCol="0" anchor="t"/>
          <a:lstStyle/>
          <a:p>
            <a:pPr marL="0" indent="0" algn="ctr">
              <a:lnSpc>
                <a:spcPts val="29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Probing</a:t>
            </a:r>
            <a:endParaRPr lang="en-US" sz="2400" dirty="0">
              <a:latin typeface="Arial" panose="020B0604020202020204" pitchFamily="34" charset="0"/>
              <a:cs typeface="Arial" panose="020B0604020202020204" pitchFamily="34" charset="0"/>
            </a:endParaRPr>
          </a:p>
        </p:txBody>
      </p:sp>
      <p:sp>
        <p:nvSpPr>
          <p:cNvPr id="18" name="Text 16"/>
          <p:cNvSpPr/>
          <p:nvPr/>
        </p:nvSpPr>
        <p:spPr>
          <a:xfrm>
            <a:off x="9866948" y="4684276"/>
            <a:ext cx="3742730" cy="1814513"/>
          </a:xfrm>
          <a:prstGeom prst="rect">
            <a:avLst/>
          </a:prstGeom>
          <a:noFill/>
          <a:ln/>
        </p:spPr>
        <p:txBody>
          <a:bodyPr wrap="square" lIns="0" tIns="0" rIns="0" bIns="0" rtlCol="0" anchor="t"/>
          <a:lstStyle/>
          <a:p>
            <a:pPr marL="0" indent="0" algn="ctr">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Linear probing continues to examine consecutive slots until an empty slot is found. The data element is then inserted into the empty slot.</a:t>
            </a:r>
            <a:endParaRPr lang="en-US" sz="20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4AD81E46-B4F3-F6B8-D7A9-D1EAE5CF01F8}"/>
              </a:ext>
            </a:extLst>
          </p:cNvPr>
          <p:cNvSpPr/>
          <p:nvPr/>
        </p:nvSpPr>
        <p:spPr>
          <a:xfrm>
            <a:off x="12881987" y="7807569"/>
            <a:ext cx="1748413" cy="3215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8</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6270" y="499943"/>
            <a:ext cx="13357860" cy="1193006"/>
          </a:xfrm>
          <a:prstGeom prst="rect">
            <a:avLst/>
          </a:prstGeom>
          <a:noFill/>
          <a:ln/>
        </p:spPr>
        <p:txBody>
          <a:bodyPr wrap="square" lIns="0" tIns="0" rIns="0" bIns="0" rtlCol="0" anchor="t"/>
          <a:lstStyle/>
          <a:p>
            <a:pPr marL="0" indent="0">
              <a:lnSpc>
                <a:spcPts val="4650"/>
              </a:lnSpc>
              <a:buNone/>
            </a:pPr>
            <a:r>
              <a:rPr lang="en-US" sz="2400" b="1" dirty="0">
                <a:solidFill>
                  <a:srgbClr val="000000"/>
                </a:solidFill>
                <a:latin typeface="Arial" panose="020B0604020202020204" pitchFamily="34" charset="0"/>
                <a:ea typeface="Petrona Bold" pitchFamily="34" charset="-122"/>
                <a:cs typeface="Arial" panose="020B0604020202020204" pitchFamily="34" charset="0"/>
              </a:rPr>
              <a:t>Example: Hashing the sequence 456, 678, 123, 435, 236, 896, 986, 987, 763, 783</a:t>
            </a:r>
            <a:endParaRPr lang="en-US" sz="2400" dirty="0">
              <a:latin typeface="Arial" panose="020B0604020202020204" pitchFamily="34" charset="0"/>
              <a:cs typeface="Arial" panose="020B0604020202020204" pitchFamily="34" charset="0"/>
            </a:endParaRPr>
          </a:p>
        </p:txBody>
      </p:sp>
      <p:sp>
        <p:nvSpPr>
          <p:cNvPr id="3" name="Shape 1"/>
          <p:cNvSpPr/>
          <p:nvPr/>
        </p:nvSpPr>
        <p:spPr>
          <a:xfrm>
            <a:off x="636270" y="1965603"/>
            <a:ext cx="13357860" cy="5781794"/>
          </a:xfrm>
          <a:prstGeom prst="roundRect">
            <a:avLst>
              <a:gd name="adj" fmla="val 1321"/>
            </a:avLst>
          </a:prstGeom>
          <a:noFill/>
          <a:ln w="7620">
            <a:solidFill>
              <a:srgbClr val="000000">
                <a:alpha val="8000"/>
              </a:srgbClr>
            </a:solidFill>
            <a:prstDash val="solid"/>
          </a:ln>
        </p:spPr>
      </p:sp>
      <p:sp>
        <p:nvSpPr>
          <p:cNvPr id="4" name="Shape 2"/>
          <p:cNvSpPr/>
          <p:nvPr/>
        </p:nvSpPr>
        <p:spPr>
          <a:xfrm>
            <a:off x="643890" y="1973223"/>
            <a:ext cx="13341191" cy="524232"/>
          </a:xfrm>
          <a:prstGeom prst="rect">
            <a:avLst/>
          </a:prstGeom>
          <a:solidFill>
            <a:srgbClr val="FFFFFF">
              <a:alpha val="4000"/>
            </a:srgbClr>
          </a:solidFill>
          <a:ln/>
        </p:spPr>
      </p:sp>
      <p:sp>
        <p:nvSpPr>
          <p:cNvPr id="5" name="Text 3"/>
          <p:cNvSpPr/>
          <p:nvPr/>
        </p:nvSpPr>
        <p:spPr>
          <a:xfrm>
            <a:off x="827246" y="2089904"/>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Sequence</a:t>
            </a:r>
            <a:endParaRPr lang="en-US" sz="2400" dirty="0">
              <a:latin typeface="Arial" panose="020B0604020202020204" pitchFamily="34" charset="0"/>
              <a:cs typeface="Arial" panose="020B0604020202020204" pitchFamily="34" charset="0"/>
            </a:endParaRPr>
          </a:p>
        </p:txBody>
      </p:sp>
      <p:sp>
        <p:nvSpPr>
          <p:cNvPr id="6" name="Text 4"/>
          <p:cNvSpPr/>
          <p:nvPr/>
        </p:nvSpPr>
        <p:spPr>
          <a:xfrm>
            <a:off x="5277564" y="2089904"/>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Hash Key</a:t>
            </a:r>
            <a:endParaRPr lang="en-US" sz="2400" dirty="0">
              <a:latin typeface="Arial" panose="020B0604020202020204" pitchFamily="34" charset="0"/>
              <a:cs typeface="Arial" panose="020B0604020202020204" pitchFamily="34" charset="0"/>
            </a:endParaRPr>
          </a:p>
        </p:txBody>
      </p:sp>
      <p:sp>
        <p:nvSpPr>
          <p:cNvPr id="7" name="Text 5"/>
          <p:cNvSpPr/>
          <p:nvPr/>
        </p:nvSpPr>
        <p:spPr>
          <a:xfrm>
            <a:off x="9724073" y="2089904"/>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Hash Table Index</a:t>
            </a:r>
            <a:endParaRPr lang="en-US" sz="2400" dirty="0">
              <a:latin typeface="Arial" panose="020B0604020202020204" pitchFamily="34" charset="0"/>
              <a:cs typeface="Arial" panose="020B0604020202020204" pitchFamily="34" charset="0"/>
            </a:endParaRPr>
          </a:p>
        </p:txBody>
      </p:sp>
      <p:sp>
        <p:nvSpPr>
          <p:cNvPr id="8" name="Shape 6"/>
          <p:cNvSpPr/>
          <p:nvPr/>
        </p:nvSpPr>
        <p:spPr>
          <a:xfrm>
            <a:off x="643890" y="2497455"/>
            <a:ext cx="13341191" cy="524232"/>
          </a:xfrm>
          <a:prstGeom prst="rect">
            <a:avLst/>
          </a:prstGeom>
          <a:solidFill>
            <a:srgbClr val="000000">
              <a:alpha val="4000"/>
            </a:srgbClr>
          </a:solidFill>
          <a:ln/>
        </p:spPr>
      </p:sp>
      <p:sp>
        <p:nvSpPr>
          <p:cNvPr id="9" name="Text 7"/>
          <p:cNvSpPr/>
          <p:nvPr/>
        </p:nvSpPr>
        <p:spPr>
          <a:xfrm>
            <a:off x="827246" y="2614136"/>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456</a:t>
            </a:r>
            <a:endParaRPr lang="en-US" sz="2400" dirty="0">
              <a:latin typeface="Arial" panose="020B0604020202020204" pitchFamily="34" charset="0"/>
              <a:cs typeface="Arial" panose="020B0604020202020204" pitchFamily="34" charset="0"/>
            </a:endParaRPr>
          </a:p>
        </p:txBody>
      </p:sp>
      <p:sp>
        <p:nvSpPr>
          <p:cNvPr id="10" name="Text 8"/>
          <p:cNvSpPr/>
          <p:nvPr/>
        </p:nvSpPr>
        <p:spPr>
          <a:xfrm>
            <a:off x="5277564" y="2614136"/>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456 % 10 = 6</a:t>
            </a:r>
            <a:endParaRPr lang="en-US" sz="2400" dirty="0">
              <a:latin typeface="Arial" panose="020B0604020202020204" pitchFamily="34" charset="0"/>
              <a:cs typeface="Arial" panose="020B0604020202020204" pitchFamily="34" charset="0"/>
            </a:endParaRPr>
          </a:p>
        </p:txBody>
      </p:sp>
      <p:sp>
        <p:nvSpPr>
          <p:cNvPr id="11" name="Text 9"/>
          <p:cNvSpPr/>
          <p:nvPr/>
        </p:nvSpPr>
        <p:spPr>
          <a:xfrm>
            <a:off x="9724073" y="2614136"/>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6</a:t>
            </a:r>
            <a:endParaRPr lang="en-US" sz="2400" dirty="0">
              <a:latin typeface="Arial" panose="020B0604020202020204" pitchFamily="34" charset="0"/>
              <a:cs typeface="Arial" panose="020B0604020202020204" pitchFamily="34" charset="0"/>
            </a:endParaRPr>
          </a:p>
        </p:txBody>
      </p:sp>
      <p:sp>
        <p:nvSpPr>
          <p:cNvPr id="12" name="Shape 10"/>
          <p:cNvSpPr/>
          <p:nvPr/>
        </p:nvSpPr>
        <p:spPr>
          <a:xfrm>
            <a:off x="643890" y="3021687"/>
            <a:ext cx="13341191" cy="524232"/>
          </a:xfrm>
          <a:prstGeom prst="rect">
            <a:avLst/>
          </a:prstGeom>
          <a:solidFill>
            <a:srgbClr val="FFFFFF">
              <a:alpha val="4000"/>
            </a:srgbClr>
          </a:solidFill>
          <a:ln/>
        </p:spPr>
      </p:sp>
      <p:sp>
        <p:nvSpPr>
          <p:cNvPr id="13" name="Text 11"/>
          <p:cNvSpPr/>
          <p:nvPr/>
        </p:nvSpPr>
        <p:spPr>
          <a:xfrm>
            <a:off x="827246" y="3138368"/>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678</a:t>
            </a:r>
            <a:endParaRPr lang="en-US" sz="2400" dirty="0">
              <a:latin typeface="Arial" panose="020B0604020202020204" pitchFamily="34" charset="0"/>
              <a:cs typeface="Arial" panose="020B0604020202020204" pitchFamily="34" charset="0"/>
            </a:endParaRPr>
          </a:p>
        </p:txBody>
      </p:sp>
      <p:sp>
        <p:nvSpPr>
          <p:cNvPr id="14" name="Text 12"/>
          <p:cNvSpPr/>
          <p:nvPr/>
        </p:nvSpPr>
        <p:spPr>
          <a:xfrm>
            <a:off x="5277564" y="3138368"/>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678 % 10 = 8</a:t>
            </a:r>
            <a:endParaRPr lang="en-US" sz="2400" dirty="0">
              <a:latin typeface="Arial" panose="020B0604020202020204" pitchFamily="34" charset="0"/>
              <a:cs typeface="Arial" panose="020B0604020202020204" pitchFamily="34" charset="0"/>
            </a:endParaRPr>
          </a:p>
        </p:txBody>
      </p:sp>
      <p:sp>
        <p:nvSpPr>
          <p:cNvPr id="15" name="Text 13"/>
          <p:cNvSpPr/>
          <p:nvPr/>
        </p:nvSpPr>
        <p:spPr>
          <a:xfrm>
            <a:off x="9724073" y="3138368"/>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8</a:t>
            </a:r>
            <a:endParaRPr lang="en-US" sz="2400" dirty="0">
              <a:latin typeface="Arial" panose="020B0604020202020204" pitchFamily="34" charset="0"/>
              <a:cs typeface="Arial" panose="020B0604020202020204" pitchFamily="34" charset="0"/>
            </a:endParaRPr>
          </a:p>
        </p:txBody>
      </p:sp>
      <p:sp>
        <p:nvSpPr>
          <p:cNvPr id="16" name="Shape 14"/>
          <p:cNvSpPr/>
          <p:nvPr/>
        </p:nvSpPr>
        <p:spPr>
          <a:xfrm>
            <a:off x="643890" y="3545919"/>
            <a:ext cx="13341191" cy="524232"/>
          </a:xfrm>
          <a:prstGeom prst="rect">
            <a:avLst/>
          </a:prstGeom>
          <a:solidFill>
            <a:srgbClr val="000000">
              <a:alpha val="4000"/>
            </a:srgbClr>
          </a:solidFill>
          <a:ln/>
        </p:spPr>
      </p:sp>
      <p:sp>
        <p:nvSpPr>
          <p:cNvPr id="17" name="Text 15"/>
          <p:cNvSpPr/>
          <p:nvPr/>
        </p:nvSpPr>
        <p:spPr>
          <a:xfrm>
            <a:off x="827246" y="3662601"/>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123</a:t>
            </a:r>
            <a:endParaRPr lang="en-US" sz="2400" dirty="0">
              <a:latin typeface="Arial" panose="020B0604020202020204" pitchFamily="34" charset="0"/>
              <a:cs typeface="Arial" panose="020B0604020202020204" pitchFamily="34" charset="0"/>
            </a:endParaRPr>
          </a:p>
        </p:txBody>
      </p:sp>
      <p:sp>
        <p:nvSpPr>
          <p:cNvPr id="18" name="Text 16"/>
          <p:cNvSpPr/>
          <p:nvPr/>
        </p:nvSpPr>
        <p:spPr>
          <a:xfrm>
            <a:off x="5277564" y="3662601"/>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123 % 10 = 3</a:t>
            </a:r>
            <a:endParaRPr lang="en-US" sz="2400" dirty="0">
              <a:latin typeface="Arial" panose="020B0604020202020204" pitchFamily="34" charset="0"/>
              <a:cs typeface="Arial" panose="020B0604020202020204" pitchFamily="34" charset="0"/>
            </a:endParaRPr>
          </a:p>
        </p:txBody>
      </p:sp>
      <p:sp>
        <p:nvSpPr>
          <p:cNvPr id="19" name="Text 17"/>
          <p:cNvSpPr/>
          <p:nvPr/>
        </p:nvSpPr>
        <p:spPr>
          <a:xfrm>
            <a:off x="9724073" y="3662601"/>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3</a:t>
            </a:r>
            <a:endParaRPr lang="en-US" sz="2400" dirty="0">
              <a:latin typeface="Arial" panose="020B0604020202020204" pitchFamily="34" charset="0"/>
              <a:cs typeface="Arial" panose="020B0604020202020204" pitchFamily="34" charset="0"/>
            </a:endParaRPr>
          </a:p>
        </p:txBody>
      </p:sp>
      <p:sp>
        <p:nvSpPr>
          <p:cNvPr id="20" name="Shape 18"/>
          <p:cNvSpPr/>
          <p:nvPr/>
        </p:nvSpPr>
        <p:spPr>
          <a:xfrm>
            <a:off x="643890" y="4070152"/>
            <a:ext cx="13341191" cy="524232"/>
          </a:xfrm>
          <a:prstGeom prst="rect">
            <a:avLst/>
          </a:prstGeom>
          <a:solidFill>
            <a:srgbClr val="FFFFFF">
              <a:alpha val="4000"/>
            </a:srgbClr>
          </a:solidFill>
          <a:ln/>
        </p:spPr>
      </p:sp>
      <p:sp>
        <p:nvSpPr>
          <p:cNvPr id="21" name="Text 19"/>
          <p:cNvSpPr/>
          <p:nvPr/>
        </p:nvSpPr>
        <p:spPr>
          <a:xfrm>
            <a:off x="827246" y="4186833"/>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435</a:t>
            </a:r>
            <a:endParaRPr lang="en-US" sz="2400" dirty="0">
              <a:latin typeface="Arial" panose="020B0604020202020204" pitchFamily="34" charset="0"/>
              <a:cs typeface="Arial" panose="020B0604020202020204" pitchFamily="34" charset="0"/>
            </a:endParaRPr>
          </a:p>
        </p:txBody>
      </p:sp>
      <p:sp>
        <p:nvSpPr>
          <p:cNvPr id="22" name="Text 20"/>
          <p:cNvSpPr/>
          <p:nvPr/>
        </p:nvSpPr>
        <p:spPr>
          <a:xfrm>
            <a:off x="5277564" y="4186833"/>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435 % 10 = 5</a:t>
            </a:r>
            <a:endParaRPr lang="en-US" sz="2400" dirty="0">
              <a:latin typeface="Arial" panose="020B0604020202020204" pitchFamily="34" charset="0"/>
              <a:cs typeface="Arial" panose="020B0604020202020204" pitchFamily="34" charset="0"/>
            </a:endParaRPr>
          </a:p>
        </p:txBody>
      </p:sp>
      <p:sp>
        <p:nvSpPr>
          <p:cNvPr id="23" name="Text 21"/>
          <p:cNvSpPr/>
          <p:nvPr/>
        </p:nvSpPr>
        <p:spPr>
          <a:xfrm>
            <a:off x="9724073" y="4186833"/>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5</a:t>
            </a:r>
            <a:endParaRPr lang="en-US" sz="2400" dirty="0">
              <a:latin typeface="Arial" panose="020B0604020202020204" pitchFamily="34" charset="0"/>
              <a:cs typeface="Arial" panose="020B0604020202020204" pitchFamily="34" charset="0"/>
            </a:endParaRPr>
          </a:p>
        </p:txBody>
      </p:sp>
      <p:sp>
        <p:nvSpPr>
          <p:cNvPr id="24" name="Shape 22"/>
          <p:cNvSpPr/>
          <p:nvPr/>
        </p:nvSpPr>
        <p:spPr>
          <a:xfrm>
            <a:off x="643890" y="4594384"/>
            <a:ext cx="13341191" cy="524232"/>
          </a:xfrm>
          <a:prstGeom prst="rect">
            <a:avLst/>
          </a:prstGeom>
          <a:solidFill>
            <a:srgbClr val="000000">
              <a:alpha val="4000"/>
            </a:srgbClr>
          </a:solidFill>
          <a:ln/>
        </p:spPr>
      </p:sp>
      <p:sp>
        <p:nvSpPr>
          <p:cNvPr id="25" name="Text 23"/>
          <p:cNvSpPr/>
          <p:nvPr/>
        </p:nvSpPr>
        <p:spPr>
          <a:xfrm>
            <a:off x="827246" y="4711065"/>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236</a:t>
            </a:r>
            <a:endParaRPr lang="en-US" sz="2400" dirty="0">
              <a:latin typeface="Arial" panose="020B0604020202020204" pitchFamily="34" charset="0"/>
              <a:cs typeface="Arial" panose="020B0604020202020204" pitchFamily="34" charset="0"/>
            </a:endParaRPr>
          </a:p>
        </p:txBody>
      </p:sp>
      <p:sp>
        <p:nvSpPr>
          <p:cNvPr id="26" name="Text 24"/>
          <p:cNvSpPr/>
          <p:nvPr/>
        </p:nvSpPr>
        <p:spPr>
          <a:xfrm>
            <a:off x="5277564" y="4711065"/>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236 % 10 = 6</a:t>
            </a:r>
            <a:endParaRPr lang="en-US" sz="2400" dirty="0">
              <a:latin typeface="Arial" panose="020B0604020202020204" pitchFamily="34" charset="0"/>
              <a:cs typeface="Arial" panose="020B0604020202020204" pitchFamily="34" charset="0"/>
            </a:endParaRPr>
          </a:p>
        </p:txBody>
      </p:sp>
      <p:sp>
        <p:nvSpPr>
          <p:cNvPr id="27" name="Text 25"/>
          <p:cNvSpPr/>
          <p:nvPr/>
        </p:nvSpPr>
        <p:spPr>
          <a:xfrm>
            <a:off x="9724073" y="4711065"/>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7 (due to collision)</a:t>
            </a:r>
            <a:endParaRPr lang="en-US" sz="2400" dirty="0">
              <a:latin typeface="Arial" panose="020B0604020202020204" pitchFamily="34" charset="0"/>
              <a:cs typeface="Arial" panose="020B0604020202020204" pitchFamily="34" charset="0"/>
            </a:endParaRPr>
          </a:p>
        </p:txBody>
      </p:sp>
      <p:sp>
        <p:nvSpPr>
          <p:cNvPr id="28" name="Shape 26"/>
          <p:cNvSpPr/>
          <p:nvPr/>
        </p:nvSpPr>
        <p:spPr>
          <a:xfrm>
            <a:off x="643890" y="5118616"/>
            <a:ext cx="13341191" cy="524232"/>
          </a:xfrm>
          <a:prstGeom prst="rect">
            <a:avLst/>
          </a:prstGeom>
          <a:solidFill>
            <a:srgbClr val="FFFFFF">
              <a:alpha val="4000"/>
            </a:srgbClr>
          </a:solidFill>
          <a:ln/>
        </p:spPr>
      </p:sp>
      <p:sp>
        <p:nvSpPr>
          <p:cNvPr id="29" name="Text 27"/>
          <p:cNvSpPr/>
          <p:nvPr/>
        </p:nvSpPr>
        <p:spPr>
          <a:xfrm>
            <a:off x="827246" y="5235297"/>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896</a:t>
            </a:r>
            <a:endParaRPr lang="en-US" sz="2400" dirty="0">
              <a:latin typeface="Arial" panose="020B0604020202020204" pitchFamily="34" charset="0"/>
              <a:cs typeface="Arial" panose="020B0604020202020204" pitchFamily="34" charset="0"/>
            </a:endParaRPr>
          </a:p>
        </p:txBody>
      </p:sp>
      <p:sp>
        <p:nvSpPr>
          <p:cNvPr id="30" name="Text 28"/>
          <p:cNvSpPr/>
          <p:nvPr/>
        </p:nvSpPr>
        <p:spPr>
          <a:xfrm>
            <a:off x="5277564" y="5235297"/>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896 % 10 = 6</a:t>
            </a:r>
            <a:endParaRPr lang="en-US" sz="2400" dirty="0">
              <a:latin typeface="Arial" panose="020B0604020202020204" pitchFamily="34" charset="0"/>
              <a:cs typeface="Arial" panose="020B0604020202020204" pitchFamily="34" charset="0"/>
            </a:endParaRPr>
          </a:p>
        </p:txBody>
      </p:sp>
      <p:sp>
        <p:nvSpPr>
          <p:cNvPr id="31" name="Text 29"/>
          <p:cNvSpPr/>
          <p:nvPr/>
        </p:nvSpPr>
        <p:spPr>
          <a:xfrm>
            <a:off x="9724073" y="5235297"/>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9 (due to collision)</a:t>
            </a:r>
            <a:endParaRPr lang="en-US" sz="2400" dirty="0">
              <a:latin typeface="Arial" panose="020B0604020202020204" pitchFamily="34" charset="0"/>
              <a:cs typeface="Arial" panose="020B0604020202020204" pitchFamily="34" charset="0"/>
            </a:endParaRPr>
          </a:p>
        </p:txBody>
      </p:sp>
      <p:sp>
        <p:nvSpPr>
          <p:cNvPr id="32" name="Shape 30"/>
          <p:cNvSpPr/>
          <p:nvPr/>
        </p:nvSpPr>
        <p:spPr>
          <a:xfrm>
            <a:off x="643890" y="5642848"/>
            <a:ext cx="13341191" cy="524232"/>
          </a:xfrm>
          <a:prstGeom prst="rect">
            <a:avLst/>
          </a:prstGeom>
          <a:solidFill>
            <a:srgbClr val="000000">
              <a:alpha val="4000"/>
            </a:srgbClr>
          </a:solidFill>
          <a:ln/>
        </p:spPr>
      </p:sp>
      <p:sp>
        <p:nvSpPr>
          <p:cNvPr id="33" name="Text 31"/>
          <p:cNvSpPr/>
          <p:nvPr/>
        </p:nvSpPr>
        <p:spPr>
          <a:xfrm>
            <a:off x="827246" y="5759529"/>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986</a:t>
            </a:r>
            <a:endParaRPr lang="en-US" sz="2400" dirty="0">
              <a:latin typeface="Arial" panose="020B0604020202020204" pitchFamily="34" charset="0"/>
              <a:cs typeface="Arial" panose="020B0604020202020204" pitchFamily="34" charset="0"/>
            </a:endParaRPr>
          </a:p>
        </p:txBody>
      </p:sp>
      <p:sp>
        <p:nvSpPr>
          <p:cNvPr id="34" name="Text 32"/>
          <p:cNvSpPr/>
          <p:nvPr/>
        </p:nvSpPr>
        <p:spPr>
          <a:xfrm>
            <a:off x="5277564" y="5759529"/>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986 % 10 = 6</a:t>
            </a:r>
            <a:endParaRPr lang="en-US" sz="2400" dirty="0">
              <a:latin typeface="Arial" panose="020B0604020202020204" pitchFamily="34" charset="0"/>
              <a:cs typeface="Arial" panose="020B0604020202020204" pitchFamily="34" charset="0"/>
            </a:endParaRPr>
          </a:p>
        </p:txBody>
      </p:sp>
      <p:sp>
        <p:nvSpPr>
          <p:cNvPr id="35" name="Text 33"/>
          <p:cNvSpPr/>
          <p:nvPr/>
        </p:nvSpPr>
        <p:spPr>
          <a:xfrm>
            <a:off x="9724073" y="5759529"/>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0 (due to collision)</a:t>
            </a:r>
            <a:endParaRPr lang="en-US" sz="2400" dirty="0">
              <a:latin typeface="Arial" panose="020B0604020202020204" pitchFamily="34" charset="0"/>
              <a:cs typeface="Arial" panose="020B0604020202020204" pitchFamily="34" charset="0"/>
            </a:endParaRPr>
          </a:p>
        </p:txBody>
      </p:sp>
      <p:sp>
        <p:nvSpPr>
          <p:cNvPr id="36" name="Shape 34"/>
          <p:cNvSpPr/>
          <p:nvPr/>
        </p:nvSpPr>
        <p:spPr>
          <a:xfrm>
            <a:off x="643890" y="6167080"/>
            <a:ext cx="13341191" cy="524232"/>
          </a:xfrm>
          <a:prstGeom prst="rect">
            <a:avLst/>
          </a:prstGeom>
          <a:solidFill>
            <a:srgbClr val="FFFFFF">
              <a:alpha val="4000"/>
            </a:srgbClr>
          </a:solidFill>
          <a:ln/>
        </p:spPr>
      </p:sp>
      <p:sp>
        <p:nvSpPr>
          <p:cNvPr id="37" name="Text 35"/>
          <p:cNvSpPr/>
          <p:nvPr/>
        </p:nvSpPr>
        <p:spPr>
          <a:xfrm>
            <a:off x="827246" y="6283762"/>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987</a:t>
            </a:r>
            <a:endParaRPr lang="en-US" sz="2400" dirty="0">
              <a:latin typeface="Arial" panose="020B0604020202020204" pitchFamily="34" charset="0"/>
              <a:cs typeface="Arial" panose="020B0604020202020204" pitchFamily="34" charset="0"/>
            </a:endParaRPr>
          </a:p>
        </p:txBody>
      </p:sp>
      <p:sp>
        <p:nvSpPr>
          <p:cNvPr id="38" name="Text 36"/>
          <p:cNvSpPr/>
          <p:nvPr/>
        </p:nvSpPr>
        <p:spPr>
          <a:xfrm>
            <a:off x="5277564" y="6283762"/>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987 % 10 = 7</a:t>
            </a:r>
            <a:endParaRPr lang="en-US" sz="2400" dirty="0">
              <a:latin typeface="Arial" panose="020B0604020202020204" pitchFamily="34" charset="0"/>
              <a:cs typeface="Arial" panose="020B0604020202020204" pitchFamily="34" charset="0"/>
            </a:endParaRPr>
          </a:p>
        </p:txBody>
      </p:sp>
      <p:sp>
        <p:nvSpPr>
          <p:cNvPr id="39" name="Text 37"/>
          <p:cNvSpPr/>
          <p:nvPr/>
        </p:nvSpPr>
        <p:spPr>
          <a:xfrm>
            <a:off x="9724073" y="6283762"/>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1 (due to collision)</a:t>
            </a:r>
            <a:endParaRPr lang="en-US" sz="2400" dirty="0">
              <a:latin typeface="Arial" panose="020B0604020202020204" pitchFamily="34" charset="0"/>
              <a:cs typeface="Arial" panose="020B0604020202020204" pitchFamily="34" charset="0"/>
            </a:endParaRPr>
          </a:p>
        </p:txBody>
      </p:sp>
      <p:sp>
        <p:nvSpPr>
          <p:cNvPr id="40" name="Shape 38"/>
          <p:cNvSpPr/>
          <p:nvPr/>
        </p:nvSpPr>
        <p:spPr>
          <a:xfrm>
            <a:off x="643890" y="6691313"/>
            <a:ext cx="13341191" cy="524232"/>
          </a:xfrm>
          <a:prstGeom prst="rect">
            <a:avLst/>
          </a:prstGeom>
          <a:solidFill>
            <a:srgbClr val="000000">
              <a:alpha val="4000"/>
            </a:srgbClr>
          </a:solidFill>
          <a:ln/>
        </p:spPr>
      </p:sp>
      <p:sp>
        <p:nvSpPr>
          <p:cNvPr id="41" name="Text 39"/>
          <p:cNvSpPr/>
          <p:nvPr/>
        </p:nvSpPr>
        <p:spPr>
          <a:xfrm>
            <a:off x="827246" y="6807994"/>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763</a:t>
            </a:r>
            <a:endParaRPr lang="en-US" sz="2400" dirty="0">
              <a:latin typeface="Arial" panose="020B0604020202020204" pitchFamily="34" charset="0"/>
              <a:cs typeface="Arial" panose="020B0604020202020204" pitchFamily="34" charset="0"/>
            </a:endParaRPr>
          </a:p>
        </p:txBody>
      </p:sp>
      <p:sp>
        <p:nvSpPr>
          <p:cNvPr id="42" name="Text 40"/>
          <p:cNvSpPr/>
          <p:nvPr/>
        </p:nvSpPr>
        <p:spPr>
          <a:xfrm>
            <a:off x="5277564" y="6807994"/>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763 % 10 = 3</a:t>
            </a:r>
            <a:endParaRPr lang="en-US" sz="2400" dirty="0">
              <a:latin typeface="Arial" panose="020B0604020202020204" pitchFamily="34" charset="0"/>
              <a:cs typeface="Arial" panose="020B0604020202020204" pitchFamily="34" charset="0"/>
            </a:endParaRPr>
          </a:p>
        </p:txBody>
      </p:sp>
      <p:sp>
        <p:nvSpPr>
          <p:cNvPr id="43" name="Text 41"/>
          <p:cNvSpPr/>
          <p:nvPr/>
        </p:nvSpPr>
        <p:spPr>
          <a:xfrm>
            <a:off x="9724073" y="6807994"/>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4 (due to collision)</a:t>
            </a:r>
            <a:endParaRPr lang="en-US" sz="2400" dirty="0">
              <a:latin typeface="Arial" panose="020B0604020202020204" pitchFamily="34" charset="0"/>
              <a:cs typeface="Arial" panose="020B0604020202020204" pitchFamily="34" charset="0"/>
            </a:endParaRPr>
          </a:p>
        </p:txBody>
      </p:sp>
      <p:sp>
        <p:nvSpPr>
          <p:cNvPr id="44" name="Shape 42"/>
          <p:cNvSpPr/>
          <p:nvPr/>
        </p:nvSpPr>
        <p:spPr>
          <a:xfrm>
            <a:off x="643890" y="7215545"/>
            <a:ext cx="13341191" cy="524232"/>
          </a:xfrm>
          <a:prstGeom prst="rect">
            <a:avLst/>
          </a:prstGeom>
          <a:solidFill>
            <a:srgbClr val="FFFFFF">
              <a:alpha val="4000"/>
            </a:srgbClr>
          </a:solidFill>
          <a:ln/>
        </p:spPr>
      </p:sp>
      <p:sp>
        <p:nvSpPr>
          <p:cNvPr id="45" name="Text 43"/>
          <p:cNvSpPr/>
          <p:nvPr/>
        </p:nvSpPr>
        <p:spPr>
          <a:xfrm>
            <a:off x="827246" y="7332226"/>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783</a:t>
            </a:r>
            <a:endParaRPr lang="en-US" sz="2400" dirty="0">
              <a:latin typeface="Arial" panose="020B0604020202020204" pitchFamily="34" charset="0"/>
              <a:cs typeface="Arial" panose="020B0604020202020204" pitchFamily="34" charset="0"/>
            </a:endParaRPr>
          </a:p>
        </p:txBody>
      </p:sp>
      <p:sp>
        <p:nvSpPr>
          <p:cNvPr id="46" name="Text 44"/>
          <p:cNvSpPr/>
          <p:nvPr/>
        </p:nvSpPr>
        <p:spPr>
          <a:xfrm>
            <a:off x="5277564" y="7332226"/>
            <a:ext cx="407550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783 % 10 = 3</a:t>
            </a:r>
            <a:endParaRPr lang="en-US" sz="2400" dirty="0">
              <a:latin typeface="Arial" panose="020B0604020202020204" pitchFamily="34" charset="0"/>
              <a:cs typeface="Arial" panose="020B0604020202020204" pitchFamily="34" charset="0"/>
            </a:endParaRPr>
          </a:p>
        </p:txBody>
      </p:sp>
      <p:sp>
        <p:nvSpPr>
          <p:cNvPr id="47" name="Text 45"/>
          <p:cNvSpPr/>
          <p:nvPr/>
        </p:nvSpPr>
        <p:spPr>
          <a:xfrm>
            <a:off x="9724073" y="7332226"/>
            <a:ext cx="4079319" cy="290870"/>
          </a:xfrm>
          <a:prstGeom prst="rect">
            <a:avLst/>
          </a:prstGeom>
          <a:noFill/>
          <a:ln/>
        </p:spPr>
        <p:txBody>
          <a:bodyPr wrap="none" lIns="0" tIns="0" rIns="0" bIns="0" rtlCol="0" anchor="t"/>
          <a:lstStyle/>
          <a:p>
            <a:pPr marL="0" indent="0">
              <a:lnSpc>
                <a:spcPts val="22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2 (due to collision)</a:t>
            </a:r>
            <a:endParaRPr lang="en-US" sz="2400" dirty="0">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4FF78DA4-0866-2F61-A1A8-CC79AC1EC777}"/>
              </a:ext>
            </a:extLst>
          </p:cNvPr>
          <p:cNvSpPr/>
          <p:nvPr/>
        </p:nvSpPr>
        <p:spPr>
          <a:xfrm>
            <a:off x="12922180" y="7847763"/>
            <a:ext cx="1597688" cy="29140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9</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81395" y="535305"/>
            <a:ext cx="8488085" cy="638770"/>
          </a:xfrm>
          <a:prstGeom prst="rect">
            <a:avLst/>
          </a:prstGeom>
          <a:noFill/>
          <a:ln/>
        </p:spPr>
        <p:txBody>
          <a:bodyPr wrap="none" lIns="0" tIns="0" rIns="0" bIns="0" rtlCol="0" anchor="t"/>
          <a:lstStyle/>
          <a:p>
            <a:pPr marL="0" indent="0">
              <a:lnSpc>
                <a:spcPts val="5000"/>
              </a:lnSpc>
              <a:buNone/>
            </a:pPr>
            <a:r>
              <a:rPr lang="en-US" sz="2400" b="1" dirty="0">
                <a:solidFill>
                  <a:srgbClr val="000000"/>
                </a:solidFill>
                <a:latin typeface="Arial" panose="020B0604020202020204" pitchFamily="34" charset="0"/>
                <a:ea typeface="Petrona Bold" pitchFamily="34" charset="-122"/>
                <a:cs typeface="Arial" panose="020B0604020202020204" pitchFamily="34" charset="0"/>
              </a:rPr>
              <a:t>Representation of the Hashing Steps</a:t>
            </a:r>
            <a:endParaRPr lang="en-US" sz="2400" dirty="0">
              <a:latin typeface="Arial" panose="020B0604020202020204" pitchFamily="34" charset="0"/>
              <a:cs typeface="Arial" panose="020B0604020202020204" pitchFamily="34" charset="0"/>
            </a:endParaRPr>
          </a:p>
        </p:txBody>
      </p:sp>
      <p:pic>
        <p:nvPicPr>
          <p:cNvPr id="3" name="Image 0" descr="preencoded.png"/>
          <p:cNvPicPr>
            <a:picLocks noChangeAspect="1"/>
          </p:cNvPicPr>
          <p:nvPr/>
        </p:nvPicPr>
        <p:blipFill>
          <a:blip r:embed="rId3"/>
          <a:stretch>
            <a:fillRect/>
          </a:stretch>
        </p:blipFill>
        <p:spPr>
          <a:xfrm>
            <a:off x="681395" y="1466017"/>
            <a:ext cx="973455" cy="1557457"/>
          </a:xfrm>
          <a:prstGeom prst="rect">
            <a:avLst/>
          </a:prstGeom>
        </p:spPr>
      </p:pic>
      <p:sp>
        <p:nvSpPr>
          <p:cNvPr id="4" name="Text 1"/>
          <p:cNvSpPr/>
          <p:nvPr/>
        </p:nvSpPr>
        <p:spPr>
          <a:xfrm>
            <a:off x="1946791" y="1660684"/>
            <a:ext cx="2555319" cy="319326"/>
          </a:xfrm>
          <a:prstGeom prst="rect">
            <a:avLst/>
          </a:prstGeom>
          <a:noFill/>
          <a:ln/>
        </p:spPr>
        <p:txBody>
          <a:bodyPr wrap="none" lIns="0" tIns="0" rIns="0" bIns="0" rtlCol="0" anchor="t"/>
          <a:lstStyle/>
          <a:p>
            <a:pPr marL="0" indent="0" algn="l">
              <a:lnSpc>
                <a:spcPts val="25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Hashing</a:t>
            </a:r>
            <a:endParaRPr lang="en-US" sz="2400" dirty="0">
              <a:latin typeface="Arial" panose="020B0604020202020204" pitchFamily="34" charset="0"/>
              <a:cs typeface="Arial" panose="020B0604020202020204" pitchFamily="34" charset="0"/>
            </a:endParaRPr>
          </a:p>
        </p:txBody>
      </p:sp>
      <p:sp>
        <p:nvSpPr>
          <p:cNvPr id="5" name="Text 2"/>
          <p:cNvSpPr/>
          <p:nvPr/>
        </p:nvSpPr>
        <p:spPr>
          <a:xfrm>
            <a:off x="1946791" y="2096810"/>
            <a:ext cx="7222689" cy="693062"/>
          </a:xfrm>
          <a:prstGeom prst="rect">
            <a:avLst/>
          </a:prstGeom>
          <a:noFill/>
          <a:ln/>
        </p:spPr>
        <p:txBody>
          <a:bodyPr wrap="none" lIns="0" tIns="0" rIns="0" bIns="0" rtlCol="0" anchor="t"/>
          <a:lstStyle/>
          <a:p>
            <a:pPr marL="0" indent="0" algn="l">
              <a:lnSpc>
                <a:spcPts val="24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The data element is hashed using the hash function, resulting in a hash key.</a:t>
            </a:r>
            <a:endParaRPr lang="en-US" sz="2400" dirty="0">
              <a:latin typeface="Arial" panose="020B0604020202020204" pitchFamily="34" charset="0"/>
              <a:cs typeface="Arial" panose="020B0604020202020204" pitchFamily="34" charset="0"/>
            </a:endParaRPr>
          </a:p>
        </p:txBody>
      </p:sp>
      <p:pic>
        <p:nvPicPr>
          <p:cNvPr id="6" name="Image 1" descr="preencoded.png"/>
          <p:cNvPicPr>
            <a:picLocks noChangeAspect="1"/>
          </p:cNvPicPr>
          <p:nvPr/>
        </p:nvPicPr>
        <p:blipFill>
          <a:blip r:embed="rId4"/>
          <a:stretch>
            <a:fillRect/>
          </a:stretch>
        </p:blipFill>
        <p:spPr>
          <a:xfrm>
            <a:off x="681395" y="3023473"/>
            <a:ext cx="973455" cy="1557457"/>
          </a:xfrm>
          <a:prstGeom prst="rect">
            <a:avLst/>
          </a:prstGeom>
        </p:spPr>
      </p:pic>
      <p:sp>
        <p:nvSpPr>
          <p:cNvPr id="7" name="Text 3"/>
          <p:cNvSpPr/>
          <p:nvPr/>
        </p:nvSpPr>
        <p:spPr>
          <a:xfrm>
            <a:off x="1946791" y="3218140"/>
            <a:ext cx="2555319" cy="319326"/>
          </a:xfrm>
          <a:prstGeom prst="rect">
            <a:avLst/>
          </a:prstGeom>
          <a:noFill/>
          <a:ln/>
        </p:spPr>
        <p:txBody>
          <a:bodyPr wrap="none" lIns="0" tIns="0" rIns="0" bIns="0" rtlCol="0" anchor="t"/>
          <a:lstStyle/>
          <a:p>
            <a:pPr marL="0" indent="0" algn="l">
              <a:lnSpc>
                <a:spcPts val="25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Slot Determination</a:t>
            </a:r>
            <a:endParaRPr lang="en-US" sz="2400" dirty="0">
              <a:latin typeface="Arial" panose="020B0604020202020204" pitchFamily="34" charset="0"/>
              <a:cs typeface="Arial" panose="020B0604020202020204" pitchFamily="34" charset="0"/>
            </a:endParaRPr>
          </a:p>
        </p:txBody>
      </p:sp>
      <p:sp>
        <p:nvSpPr>
          <p:cNvPr id="8" name="Text 4"/>
          <p:cNvSpPr/>
          <p:nvPr/>
        </p:nvSpPr>
        <p:spPr>
          <a:xfrm>
            <a:off x="1946791" y="3654266"/>
            <a:ext cx="12002214" cy="311468"/>
          </a:xfrm>
          <a:prstGeom prst="rect">
            <a:avLst/>
          </a:prstGeom>
          <a:noFill/>
          <a:ln/>
        </p:spPr>
        <p:txBody>
          <a:bodyPr wrap="none" lIns="0" tIns="0" rIns="0" bIns="0" rtlCol="0" anchor="t"/>
          <a:lstStyle/>
          <a:p>
            <a:pPr marL="0" indent="0" algn="l">
              <a:lnSpc>
                <a:spcPts val="24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The hash key is used to identify the initial slot in the hash table.</a:t>
            </a:r>
            <a:endParaRPr lang="en-US" sz="2400" dirty="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5"/>
          <a:stretch>
            <a:fillRect/>
          </a:stretch>
        </p:blipFill>
        <p:spPr>
          <a:xfrm>
            <a:off x="681395" y="4580930"/>
            <a:ext cx="973455" cy="1557457"/>
          </a:xfrm>
          <a:prstGeom prst="rect">
            <a:avLst/>
          </a:prstGeom>
        </p:spPr>
      </p:pic>
      <p:sp>
        <p:nvSpPr>
          <p:cNvPr id="10" name="Text 5"/>
          <p:cNvSpPr/>
          <p:nvPr/>
        </p:nvSpPr>
        <p:spPr>
          <a:xfrm>
            <a:off x="1946791" y="4775597"/>
            <a:ext cx="2555319" cy="319326"/>
          </a:xfrm>
          <a:prstGeom prst="rect">
            <a:avLst/>
          </a:prstGeom>
          <a:noFill/>
          <a:ln/>
        </p:spPr>
        <p:txBody>
          <a:bodyPr wrap="none" lIns="0" tIns="0" rIns="0" bIns="0" rtlCol="0" anchor="t"/>
          <a:lstStyle/>
          <a:p>
            <a:pPr marL="0" indent="0" algn="l">
              <a:lnSpc>
                <a:spcPts val="25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Collision Resolution</a:t>
            </a:r>
            <a:endParaRPr lang="en-US" sz="2400" dirty="0">
              <a:latin typeface="Arial" panose="020B0604020202020204" pitchFamily="34" charset="0"/>
              <a:cs typeface="Arial" panose="020B0604020202020204" pitchFamily="34" charset="0"/>
            </a:endParaRPr>
          </a:p>
        </p:txBody>
      </p:sp>
      <p:sp>
        <p:nvSpPr>
          <p:cNvPr id="11" name="Text 6"/>
          <p:cNvSpPr/>
          <p:nvPr/>
        </p:nvSpPr>
        <p:spPr>
          <a:xfrm>
            <a:off x="1946791" y="5211723"/>
            <a:ext cx="12002214" cy="311468"/>
          </a:xfrm>
          <a:prstGeom prst="rect">
            <a:avLst/>
          </a:prstGeom>
          <a:noFill/>
          <a:ln/>
        </p:spPr>
        <p:txBody>
          <a:bodyPr wrap="none" lIns="0" tIns="0" rIns="0" bIns="0" rtlCol="0" anchor="t"/>
          <a:lstStyle/>
          <a:p>
            <a:pPr marL="0" indent="0" algn="l">
              <a:lnSpc>
                <a:spcPts val="24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If the slot is already occupied, linear probing is applied to find the next available slot.</a:t>
            </a:r>
            <a:endParaRPr lang="en-US" sz="2400" dirty="0">
              <a:latin typeface="Arial" panose="020B0604020202020204" pitchFamily="34" charset="0"/>
              <a:cs typeface="Arial" panose="020B0604020202020204" pitchFamily="34" charset="0"/>
            </a:endParaRPr>
          </a:p>
        </p:txBody>
      </p:sp>
      <p:pic>
        <p:nvPicPr>
          <p:cNvPr id="12" name="Image 3" descr="preencoded.png"/>
          <p:cNvPicPr>
            <a:picLocks noChangeAspect="1"/>
          </p:cNvPicPr>
          <p:nvPr/>
        </p:nvPicPr>
        <p:blipFill>
          <a:blip r:embed="rId6"/>
          <a:stretch>
            <a:fillRect/>
          </a:stretch>
        </p:blipFill>
        <p:spPr>
          <a:xfrm>
            <a:off x="681395" y="6138386"/>
            <a:ext cx="973455" cy="1557457"/>
          </a:xfrm>
          <a:prstGeom prst="rect">
            <a:avLst/>
          </a:prstGeom>
        </p:spPr>
      </p:pic>
      <p:sp>
        <p:nvSpPr>
          <p:cNvPr id="13" name="Text 7"/>
          <p:cNvSpPr/>
          <p:nvPr/>
        </p:nvSpPr>
        <p:spPr>
          <a:xfrm>
            <a:off x="1946791" y="6333053"/>
            <a:ext cx="2555319" cy="319326"/>
          </a:xfrm>
          <a:prstGeom prst="rect">
            <a:avLst/>
          </a:prstGeom>
          <a:noFill/>
          <a:ln/>
        </p:spPr>
        <p:txBody>
          <a:bodyPr wrap="none" lIns="0" tIns="0" rIns="0" bIns="0" rtlCol="0" anchor="t"/>
          <a:lstStyle/>
          <a:p>
            <a:pPr marL="0" indent="0" algn="l">
              <a:lnSpc>
                <a:spcPts val="2500"/>
              </a:lnSpc>
              <a:buNone/>
            </a:pPr>
            <a:r>
              <a:rPr lang="en-US" sz="2400" b="1" dirty="0">
                <a:solidFill>
                  <a:srgbClr val="272525"/>
                </a:solidFill>
                <a:latin typeface="Arial" panose="020B0604020202020204" pitchFamily="34" charset="0"/>
                <a:ea typeface="Petrona Bold" pitchFamily="34" charset="-122"/>
                <a:cs typeface="Arial" panose="020B0604020202020204" pitchFamily="34" charset="0"/>
              </a:rPr>
              <a:t>Insertion</a:t>
            </a:r>
            <a:endParaRPr lang="en-US" sz="2400" dirty="0">
              <a:latin typeface="Arial" panose="020B0604020202020204" pitchFamily="34" charset="0"/>
              <a:cs typeface="Arial" panose="020B0604020202020204" pitchFamily="34" charset="0"/>
            </a:endParaRPr>
          </a:p>
        </p:txBody>
      </p:sp>
      <p:sp>
        <p:nvSpPr>
          <p:cNvPr id="14" name="Text 8"/>
          <p:cNvSpPr/>
          <p:nvPr/>
        </p:nvSpPr>
        <p:spPr>
          <a:xfrm>
            <a:off x="1946791" y="6769179"/>
            <a:ext cx="12002214" cy="311468"/>
          </a:xfrm>
          <a:prstGeom prst="rect">
            <a:avLst/>
          </a:prstGeom>
          <a:noFill/>
          <a:ln/>
        </p:spPr>
        <p:txBody>
          <a:bodyPr wrap="none" lIns="0" tIns="0" rIns="0" bIns="0" rtlCol="0" anchor="t"/>
          <a:lstStyle/>
          <a:p>
            <a:pPr marL="0" indent="0" algn="l">
              <a:lnSpc>
                <a:spcPts val="24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The data element is inserted into the empty slot identified during the linear probing process.</a:t>
            </a:r>
            <a:endParaRPr lang="en-US" sz="24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EF269276-1A5B-D148-8150-49E6AD29465F}"/>
              </a:ext>
            </a:extLst>
          </p:cNvPr>
          <p:cNvSpPr/>
          <p:nvPr/>
        </p:nvSpPr>
        <p:spPr>
          <a:xfrm>
            <a:off x="12912132" y="7817618"/>
            <a:ext cx="1647930" cy="31146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10</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48439"/>
            <a:ext cx="13042821" cy="1488519"/>
          </a:xfrm>
          <a:prstGeom prst="rect">
            <a:avLst/>
          </a:prstGeom>
          <a:noFill/>
          <a:ln/>
        </p:spPr>
        <p:txBody>
          <a:bodyPr wrap="square" lIns="0" tIns="0" rIns="0" bIns="0" rtlCol="0" anchor="t"/>
          <a:lstStyle/>
          <a:p>
            <a:pPr marL="0" indent="0">
              <a:lnSpc>
                <a:spcPts val="585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Advantages and Limitations of Open Addressing with Linear Probing</a:t>
            </a:r>
            <a:endParaRPr lang="en-US" sz="2000" dirty="0">
              <a:latin typeface="Arial" panose="020B0604020202020204" pitchFamily="34" charset="0"/>
              <a:cs typeface="Arial" panose="020B0604020202020204" pitchFamily="34" charset="0"/>
            </a:endParaRPr>
          </a:p>
        </p:txBody>
      </p:sp>
      <p:sp>
        <p:nvSpPr>
          <p:cNvPr id="3" name="Text 1"/>
          <p:cNvSpPr/>
          <p:nvPr/>
        </p:nvSpPr>
        <p:spPr>
          <a:xfrm>
            <a:off x="793790" y="2903934"/>
            <a:ext cx="2977039" cy="372070"/>
          </a:xfrm>
          <a:prstGeom prst="rect">
            <a:avLst/>
          </a:prstGeom>
          <a:noFill/>
          <a:ln/>
        </p:spPr>
        <p:txBody>
          <a:bodyPr wrap="none" lIns="0" tIns="0" rIns="0" bIns="0" rtlCol="0" anchor="t"/>
          <a:lstStyle/>
          <a:p>
            <a:pPr marL="0" indent="0">
              <a:lnSpc>
                <a:spcPts val="290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Advantages</a:t>
            </a:r>
            <a:endParaRPr lang="en-US" sz="2000" dirty="0">
              <a:latin typeface="Arial" panose="020B0604020202020204" pitchFamily="34" charset="0"/>
              <a:cs typeface="Arial" panose="020B0604020202020204" pitchFamily="34" charset="0"/>
            </a:endParaRPr>
          </a:p>
        </p:txBody>
      </p:sp>
      <p:sp>
        <p:nvSpPr>
          <p:cNvPr id="4" name="Text 2"/>
          <p:cNvSpPr/>
          <p:nvPr/>
        </p:nvSpPr>
        <p:spPr>
          <a:xfrm>
            <a:off x="793790" y="3502819"/>
            <a:ext cx="6244709" cy="725805"/>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Simple to implement: It's a relatively straightforward algorithm that doesn't require complex data structures.</a:t>
            </a:r>
            <a:endParaRPr lang="en-US" sz="2000" dirty="0">
              <a:latin typeface="Arial" panose="020B0604020202020204" pitchFamily="34" charset="0"/>
              <a:cs typeface="Arial" panose="020B0604020202020204" pitchFamily="34" charset="0"/>
            </a:endParaRPr>
          </a:p>
        </p:txBody>
      </p:sp>
      <p:sp>
        <p:nvSpPr>
          <p:cNvPr id="5" name="Text 3"/>
          <p:cNvSpPr/>
          <p:nvPr/>
        </p:nvSpPr>
        <p:spPr>
          <a:xfrm>
            <a:off x="786171" y="4822627"/>
            <a:ext cx="6244709" cy="725805"/>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Space Efficiency: It can be more space-efficient than chaining, especially for low load factors.</a:t>
            </a:r>
            <a:endParaRPr lang="en-US" sz="2000" dirty="0">
              <a:latin typeface="Arial" panose="020B0604020202020204" pitchFamily="34" charset="0"/>
              <a:cs typeface="Arial" panose="020B0604020202020204" pitchFamily="34" charset="0"/>
            </a:endParaRPr>
          </a:p>
        </p:txBody>
      </p:sp>
      <p:sp>
        <p:nvSpPr>
          <p:cNvPr id="6" name="Text 4"/>
          <p:cNvSpPr/>
          <p:nvPr/>
        </p:nvSpPr>
        <p:spPr>
          <a:xfrm>
            <a:off x="904874" y="6276973"/>
            <a:ext cx="6244709" cy="947739"/>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Cache Locality: The sequential nature of linear probing can improve cache performance as data elements are likely to be clustered together.</a:t>
            </a:r>
            <a:endParaRPr lang="en-US" sz="2000" dirty="0">
              <a:latin typeface="Arial" panose="020B0604020202020204" pitchFamily="34" charset="0"/>
              <a:cs typeface="Arial" panose="020B0604020202020204" pitchFamily="34" charset="0"/>
            </a:endParaRPr>
          </a:p>
        </p:txBody>
      </p:sp>
      <p:sp>
        <p:nvSpPr>
          <p:cNvPr id="7" name="Text 5"/>
          <p:cNvSpPr/>
          <p:nvPr/>
        </p:nvSpPr>
        <p:spPr>
          <a:xfrm>
            <a:off x="7599521" y="2903934"/>
            <a:ext cx="2977039" cy="372070"/>
          </a:xfrm>
          <a:prstGeom prst="rect">
            <a:avLst/>
          </a:prstGeom>
          <a:noFill/>
          <a:ln/>
        </p:spPr>
        <p:txBody>
          <a:bodyPr wrap="none" lIns="0" tIns="0" rIns="0" bIns="0" rtlCol="0" anchor="t"/>
          <a:lstStyle/>
          <a:p>
            <a:pPr marL="0" indent="0">
              <a:lnSpc>
                <a:spcPts val="290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Limitations</a:t>
            </a:r>
            <a:endParaRPr lang="en-US" sz="2000" dirty="0">
              <a:latin typeface="Arial" panose="020B0604020202020204" pitchFamily="34" charset="0"/>
              <a:cs typeface="Arial" panose="020B0604020202020204" pitchFamily="34" charset="0"/>
            </a:endParaRPr>
          </a:p>
        </p:txBody>
      </p:sp>
      <p:sp>
        <p:nvSpPr>
          <p:cNvPr id="8" name="Text 6"/>
          <p:cNvSpPr/>
          <p:nvPr/>
        </p:nvSpPr>
        <p:spPr>
          <a:xfrm>
            <a:off x="7607141" y="3335536"/>
            <a:ext cx="6244709" cy="1078706"/>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Clustering: As the hash table fills, linear probing can lead to clustering of data elements, increasing search times.</a:t>
            </a:r>
            <a:endParaRPr lang="en-US" sz="2000" dirty="0">
              <a:latin typeface="Arial" panose="020B0604020202020204" pitchFamily="34" charset="0"/>
              <a:cs typeface="Arial" panose="020B0604020202020204" pitchFamily="34" charset="0"/>
            </a:endParaRPr>
          </a:p>
        </p:txBody>
      </p:sp>
      <p:sp>
        <p:nvSpPr>
          <p:cNvPr id="9" name="Text 7"/>
          <p:cNvSpPr/>
          <p:nvPr/>
        </p:nvSpPr>
        <p:spPr>
          <a:xfrm>
            <a:off x="7599521" y="4686299"/>
            <a:ext cx="6237089" cy="1402081"/>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Performance Degradation: The performance of linear probing can deteriorate significantly as the hash table becomes full. This can occur even with a relatively low load factor, especially with poor hash functions.</a:t>
            </a:r>
            <a:endParaRPr lang="en-US" sz="2000" dirty="0">
              <a:latin typeface="Arial" panose="020B0604020202020204" pitchFamily="34" charset="0"/>
              <a:cs typeface="Arial" panose="020B0604020202020204" pitchFamily="34" charset="0"/>
            </a:endParaRPr>
          </a:p>
        </p:txBody>
      </p:sp>
      <p:sp>
        <p:nvSpPr>
          <p:cNvPr id="10" name="Text 8"/>
          <p:cNvSpPr/>
          <p:nvPr/>
        </p:nvSpPr>
        <p:spPr>
          <a:xfrm>
            <a:off x="7686676" y="6276974"/>
            <a:ext cx="6038850" cy="1228726"/>
          </a:xfrm>
          <a:prstGeom prst="rect">
            <a:avLst/>
          </a:prstGeom>
          <a:noFill/>
          <a:ln/>
        </p:spPr>
        <p:txBody>
          <a:bodyPr wrap="square" lIns="0" tIns="0" rIns="0" bIns="0" rtlCol="0" anchor="t"/>
          <a:lstStyle/>
          <a:p>
            <a:pPr marL="0" indent="0">
              <a:lnSpc>
                <a:spcPts val="2850"/>
              </a:lnSpc>
              <a:buNone/>
            </a:pPr>
            <a:r>
              <a:rPr lang="en-US" sz="2000" dirty="0">
                <a:solidFill>
                  <a:srgbClr val="272525"/>
                </a:solidFill>
                <a:latin typeface="Arial" panose="020B0604020202020204" pitchFamily="34" charset="0"/>
                <a:ea typeface="Inter" pitchFamily="34" charset="-122"/>
                <a:cs typeface="Arial" panose="020B0604020202020204" pitchFamily="34" charset="0"/>
              </a:rPr>
              <a:t>Primary Clustering: The tendency for linear probing to group data elements together can create clusters where probing can take longer.</a:t>
            </a:r>
            <a:endParaRPr lang="en-US" sz="20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48735C1B-4610-169A-9F77-5CD381E2A101}"/>
              </a:ext>
            </a:extLst>
          </p:cNvPr>
          <p:cNvSpPr/>
          <p:nvPr/>
        </p:nvSpPr>
        <p:spPr>
          <a:xfrm>
            <a:off x="12902084" y="7817618"/>
            <a:ext cx="1607736" cy="3014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11</a:t>
            </a:r>
          </a:p>
        </p:txBody>
      </p:sp>
    </p:spTree>
  </p:cSld>
  <p:clrMapOvr>
    <a:masterClrMapping/>
  </p:clrMapOvr>
  <p:transition spd="slow">
    <p:comb/>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70559" y="2305050"/>
            <a:ext cx="10292715" cy="1581150"/>
          </a:xfrm>
          <a:prstGeom prst="rect">
            <a:avLst/>
          </a:prstGeom>
          <a:noFill/>
          <a:ln/>
        </p:spPr>
        <p:txBody>
          <a:bodyPr wrap="square" lIns="0" tIns="0" rIns="0" bIns="0" rtlCol="0" anchor="t"/>
          <a:lstStyle/>
          <a:p>
            <a:pPr marL="0" indent="0">
              <a:lnSpc>
                <a:spcPts val="8050"/>
              </a:lnSpc>
              <a:buNone/>
            </a:pPr>
            <a:r>
              <a:rPr lang="en-US" sz="3200" b="1" dirty="0">
                <a:solidFill>
                  <a:srgbClr val="000000"/>
                </a:solidFill>
                <a:latin typeface="Arial" panose="020B0604020202020204" pitchFamily="34" charset="0"/>
                <a:ea typeface="Petrona Bold" pitchFamily="34" charset="-122"/>
                <a:cs typeface="Arial" panose="020B0604020202020204" pitchFamily="34" charset="0"/>
              </a:rPr>
              <a:t>   Open Addressing Hashing with Quadratic Probing</a:t>
            </a:r>
            <a:endParaRPr lang="en-US" sz="3200" dirty="0">
              <a:latin typeface="Arial" panose="020B0604020202020204" pitchFamily="34" charset="0"/>
              <a:cs typeface="Arial" panose="020B0604020202020204" pitchFamily="34" charset="0"/>
            </a:endParaRPr>
          </a:p>
        </p:txBody>
      </p:sp>
      <p:sp>
        <p:nvSpPr>
          <p:cNvPr id="4" name="Text 1"/>
          <p:cNvSpPr/>
          <p:nvPr/>
        </p:nvSpPr>
        <p:spPr>
          <a:xfrm>
            <a:off x="1156693" y="4467225"/>
            <a:ext cx="10035181" cy="1962149"/>
          </a:xfrm>
          <a:prstGeom prst="rect">
            <a:avLst/>
          </a:prstGeom>
          <a:noFill/>
          <a:ln/>
        </p:spPr>
        <p:txBody>
          <a:bodyPr wrap="square" lIns="0" tIns="0" rIns="0" bIns="0" rtlCol="0" anchor="t"/>
          <a:lstStyle/>
          <a:p>
            <a:pPr marL="0" indent="0">
              <a:lnSpc>
                <a:spcPts val="2850"/>
              </a:lnSpc>
              <a:buNone/>
            </a:pPr>
            <a:r>
              <a:rPr lang="en-US" sz="2400" dirty="0">
                <a:solidFill>
                  <a:srgbClr val="272525"/>
                </a:solidFill>
                <a:latin typeface="Arial" panose="020B0604020202020204" pitchFamily="34" charset="0"/>
                <a:ea typeface="Inter" pitchFamily="34" charset="-122"/>
                <a:cs typeface="Arial" panose="020B0604020202020204" pitchFamily="34" charset="0"/>
              </a:rPr>
              <a:t>Open addressing hashing is a collision resolution technique used in hash tables. It involves placing all elements within the hash table itself, rather than separate linked lists or chains. Quadratic probing is a specific open addressing strategy where we probe the hash table in a pattern defined by a quadratic equation.</a:t>
            </a:r>
            <a:endParaRPr lang="en-US" sz="2400" dirty="0">
              <a:latin typeface="Arial" panose="020B0604020202020204" pitchFamily="34" charset="0"/>
              <a:cs typeface="Arial" panose="020B0604020202020204" pitchFamily="34" charset="0"/>
            </a:endParaRPr>
          </a:p>
        </p:txBody>
      </p:sp>
      <p:sp>
        <p:nvSpPr>
          <p:cNvPr id="5" name="Shape 2"/>
          <p:cNvSpPr/>
          <p:nvPr/>
        </p:nvSpPr>
        <p:spPr>
          <a:xfrm>
            <a:off x="793790" y="6678692"/>
            <a:ext cx="362903" cy="362903"/>
          </a:xfrm>
          <a:prstGeom prst="roundRect">
            <a:avLst>
              <a:gd name="adj" fmla="val 25194296"/>
            </a:avLst>
          </a:prstGeom>
          <a:noFill/>
          <a:ln w="7620">
            <a:solidFill>
              <a:srgbClr val="FFFFFF"/>
            </a:solidFill>
            <a:prstDash val="solid"/>
          </a:ln>
        </p:spPr>
      </p:sp>
      <p:sp>
        <p:nvSpPr>
          <p:cNvPr id="2" name="Rectangle 1">
            <a:extLst>
              <a:ext uri="{FF2B5EF4-FFF2-40B4-BE49-F238E27FC236}">
                <a16:creationId xmlns:a16="http://schemas.microsoft.com/office/drawing/2014/main" id="{36917FE0-25AC-7616-DCB4-BA90F03F228B}"/>
              </a:ext>
            </a:extLst>
          </p:cNvPr>
          <p:cNvSpPr/>
          <p:nvPr/>
        </p:nvSpPr>
        <p:spPr>
          <a:xfrm>
            <a:off x="12892035" y="7797521"/>
            <a:ext cx="1637881" cy="33159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12</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50821"/>
            <a:ext cx="10750748" cy="744260"/>
          </a:xfrm>
          <a:prstGeom prst="rect">
            <a:avLst/>
          </a:prstGeom>
          <a:noFill/>
          <a:ln/>
        </p:spPr>
        <p:txBody>
          <a:bodyPr wrap="none" lIns="0" tIns="0" rIns="0" bIns="0" rtlCol="0" anchor="t"/>
          <a:lstStyle/>
          <a:p>
            <a:pPr marL="0" indent="0">
              <a:lnSpc>
                <a:spcPts val="5850"/>
              </a:lnSpc>
              <a:buNone/>
            </a:pPr>
            <a:r>
              <a:rPr lang="en-US" sz="4650" b="1" dirty="0">
                <a:solidFill>
                  <a:srgbClr val="000000"/>
                </a:solidFill>
                <a:latin typeface="Petrona Bold" pitchFamily="34" charset="0"/>
                <a:ea typeface="Petrona Bold" pitchFamily="34" charset="-122"/>
                <a:cs typeface="Petrona Bold" pitchFamily="34" charset="-120"/>
              </a:rPr>
              <a:t>Quadratic Probing Collision Resolution</a:t>
            </a:r>
            <a:endParaRPr lang="en-US" sz="4650" dirty="0"/>
          </a:p>
        </p:txBody>
      </p:sp>
      <p:pic>
        <p:nvPicPr>
          <p:cNvPr id="3" name="Image 0" descr="preencoded.png"/>
          <p:cNvPicPr>
            <a:picLocks noChangeAspect="1"/>
          </p:cNvPicPr>
          <p:nvPr/>
        </p:nvPicPr>
        <p:blipFill>
          <a:blip r:embed="rId3"/>
          <a:stretch>
            <a:fillRect/>
          </a:stretch>
        </p:blipFill>
        <p:spPr>
          <a:xfrm>
            <a:off x="793790" y="1935242"/>
            <a:ext cx="1134070" cy="1814513"/>
          </a:xfrm>
          <a:prstGeom prst="rect">
            <a:avLst/>
          </a:prstGeom>
        </p:spPr>
      </p:pic>
      <p:sp>
        <p:nvSpPr>
          <p:cNvPr id="4" name="Text 1"/>
          <p:cNvSpPr/>
          <p:nvPr/>
        </p:nvSpPr>
        <p:spPr>
          <a:xfrm>
            <a:off x="2268022" y="2162056"/>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Initial Probe</a:t>
            </a:r>
            <a:endParaRPr lang="en-US" sz="2300" dirty="0"/>
          </a:p>
        </p:txBody>
      </p:sp>
      <p:sp>
        <p:nvSpPr>
          <p:cNvPr id="5" name="Text 2"/>
          <p:cNvSpPr/>
          <p:nvPr/>
        </p:nvSpPr>
        <p:spPr>
          <a:xfrm>
            <a:off x="2268022" y="2670215"/>
            <a:ext cx="1156858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Calculate the initial index using the hash function.</a:t>
            </a:r>
            <a:endParaRPr lang="en-US" sz="1750" dirty="0"/>
          </a:p>
        </p:txBody>
      </p:sp>
      <p:pic>
        <p:nvPicPr>
          <p:cNvPr id="6" name="Image 1" descr="preencoded.png"/>
          <p:cNvPicPr>
            <a:picLocks noChangeAspect="1"/>
          </p:cNvPicPr>
          <p:nvPr/>
        </p:nvPicPr>
        <p:blipFill>
          <a:blip r:embed="rId4"/>
          <a:stretch>
            <a:fillRect/>
          </a:stretch>
        </p:blipFill>
        <p:spPr>
          <a:xfrm>
            <a:off x="793790" y="3749754"/>
            <a:ext cx="1134070" cy="1814513"/>
          </a:xfrm>
          <a:prstGeom prst="rect">
            <a:avLst/>
          </a:prstGeom>
        </p:spPr>
      </p:pic>
      <p:sp>
        <p:nvSpPr>
          <p:cNvPr id="7" name="Text 3"/>
          <p:cNvSpPr/>
          <p:nvPr/>
        </p:nvSpPr>
        <p:spPr>
          <a:xfrm>
            <a:off x="2268022" y="3976568"/>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Quadratic Probe</a:t>
            </a:r>
            <a:endParaRPr lang="en-US" sz="2300" dirty="0"/>
          </a:p>
        </p:txBody>
      </p:sp>
      <p:sp>
        <p:nvSpPr>
          <p:cNvPr id="8" name="Text 4"/>
          <p:cNvSpPr/>
          <p:nvPr/>
        </p:nvSpPr>
        <p:spPr>
          <a:xfrm>
            <a:off x="2268022" y="4484727"/>
            <a:ext cx="1156858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If the initial index is occupied, probe the next slot using a quadratic equation.</a:t>
            </a:r>
            <a:endParaRPr lang="en-US" sz="1750" dirty="0"/>
          </a:p>
        </p:txBody>
      </p:sp>
      <p:pic>
        <p:nvPicPr>
          <p:cNvPr id="9" name="Image 2" descr="preencoded.png"/>
          <p:cNvPicPr>
            <a:picLocks noChangeAspect="1"/>
          </p:cNvPicPr>
          <p:nvPr/>
        </p:nvPicPr>
        <p:blipFill>
          <a:blip r:embed="rId5"/>
          <a:stretch>
            <a:fillRect/>
          </a:stretch>
        </p:blipFill>
        <p:spPr>
          <a:xfrm>
            <a:off x="793790" y="5564267"/>
            <a:ext cx="1134070" cy="1814513"/>
          </a:xfrm>
          <a:prstGeom prst="rect">
            <a:avLst/>
          </a:prstGeom>
        </p:spPr>
      </p:pic>
      <p:sp>
        <p:nvSpPr>
          <p:cNvPr id="10" name="Text 5"/>
          <p:cNvSpPr/>
          <p:nvPr/>
        </p:nvSpPr>
        <p:spPr>
          <a:xfrm>
            <a:off x="2268022" y="5791081"/>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Petrona Bold" pitchFamily="34" charset="0"/>
                <a:ea typeface="Petrona Bold" pitchFamily="34" charset="-122"/>
                <a:cs typeface="Petrona Bold" pitchFamily="34" charset="-120"/>
              </a:rPr>
              <a:t>Linear Search</a:t>
            </a:r>
            <a:endParaRPr lang="en-US" sz="2300" dirty="0"/>
          </a:p>
        </p:txBody>
      </p:sp>
      <p:sp>
        <p:nvSpPr>
          <p:cNvPr id="11" name="Text 6"/>
          <p:cNvSpPr/>
          <p:nvPr/>
        </p:nvSpPr>
        <p:spPr>
          <a:xfrm>
            <a:off x="2268022" y="6299240"/>
            <a:ext cx="11568589"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Inter" pitchFamily="34" charset="0"/>
                <a:ea typeface="Inter" pitchFamily="34" charset="-122"/>
                <a:cs typeface="Inter" pitchFamily="34" charset="-120"/>
              </a:rPr>
              <a:t>Continue probing until an empty slot is found.</a:t>
            </a:r>
            <a:endParaRPr lang="en-US" sz="1750" dirty="0"/>
          </a:p>
        </p:txBody>
      </p:sp>
      <p:sp>
        <p:nvSpPr>
          <p:cNvPr id="12" name="Rectangle 11">
            <a:extLst>
              <a:ext uri="{FF2B5EF4-FFF2-40B4-BE49-F238E27FC236}">
                <a16:creationId xmlns:a16="http://schemas.microsoft.com/office/drawing/2014/main" id="{F0AFA104-E2D0-E01E-F1DD-4FF03E4915D1}"/>
              </a:ext>
            </a:extLst>
          </p:cNvPr>
          <p:cNvSpPr/>
          <p:nvPr/>
        </p:nvSpPr>
        <p:spPr>
          <a:xfrm>
            <a:off x="12912132" y="7787473"/>
            <a:ext cx="1607736" cy="3629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13</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6270" y="499943"/>
            <a:ext cx="13357860" cy="1193006"/>
          </a:xfrm>
          <a:prstGeom prst="rect">
            <a:avLst/>
          </a:prstGeom>
          <a:noFill/>
          <a:ln/>
        </p:spPr>
        <p:txBody>
          <a:bodyPr wrap="square" lIns="0" tIns="0" rIns="0" bIns="0" rtlCol="0" anchor="t"/>
          <a:lstStyle/>
          <a:p>
            <a:pPr marL="0" indent="0">
              <a:lnSpc>
                <a:spcPts val="4650"/>
              </a:lnSpc>
              <a:buNone/>
            </a:pPr>
            <a:r>
              <a:rPr lang="en-US" sz="3750" b="1" dirty="0">
                <a:solidFill>
                  <a:srgbClr val="000000"/>
                </a:solidFill>
                <a:latin typeface="Petrona Bold" pitchFamily="34" charset="0"/>
                <a:ea typeface="Petrona Bold" pitchFamily="34" charset="-122"/>
                <a:cs typeface="Petrona Bold" pitchFamily="34" charset="-120"/>
              </a:rPr>
              <a:t>Example of Quadratic Probing: Input Array [456, 678, 123, 435, 236, 896, 986, 987, 763, 783]</a:t>
            </a:r>
            <a:endParaRPr lang="en-US" sz="3750" dirty="0"/>
          </a:p>
        </p:txBody>
      </p:sp>
      <p:sp>
        <p:nvSpPr>
          <p:cNvPr id="3" name="Shape 1"/>
          <p:cNvSpPr/>
          <p:nvPr/>
        </p:nvSpPr>
        <p:spPr>
          <a:xfrm>
            <a:off x="636270" y="1965603"/>
            <a:ext cx="13357860" cy="5781794"/>
          </a:xfrm>
          <a:prstGeom prst="roundRect">
            <a:avLst>
              <a:gd name="adj" fmla="val 1321"/>
            </a:avLst>
          </a:prstGeom>
          <a:noFill/>
          <a:ln w="7620">
            <a:solidFill>
              <a:srgbClr val="000000">
                <a:alpha val="8000"/>
              </a:srgbClr>
            </a:solidFill>
            <a:prstDash val="solid"/>
          </a:ln>
        </p:spPr>
      </p:sp>
      <p:sp>
        <p:nvSpPr>
          <p:cNvPr id="4" name="Shape 2"/>
          <p:cNvSpPr/>
          <p:nvPr/>
        </p:nvSpPr>
        <p:spPr>
          <a:xfrm>
            <a:off x="643890" y="1973223"/>
            <a:ext cx="13341191" cy="524232"/>
          </a:xfrm>
          <a:prstGeom prst="rect">
            <a:avLst/>
          </a:prstGeom>
          <a:solidFill>
            <a:srgbClr val="FFFFFF">
              <a:alpha val="4000"/>
            </a:srgbClr>
          </a:solidFill>
          <a:ln/>
        </p:spPr>
      </p:sp>
      <p:sp>
        <p:nvSpPr>
          <p:cNvPr id="5" name="Text 3"/>
          <p:cNvSpPr/>
          <p:nvPr/>
        </p:nvSpPr>
        <p:spPr>
          <a:xfrm>
            <a:off x="827246" y="2089904"/>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Index</a:t>
            </a:r>
            <a:endParaRPr lang="en-US" sz="1400" dirty="0"/>
          </a:p>
        </p:txBody>
      </p:sp>
      <p:sp>
        <p:nvSpPr>
          <p:cNvPr id="6" name="Text 4"/>
          <p:cNvSpPr/>
          <p:nvPr/>
        </p:nvSpPr>
        <p:spPr>
          <a:xfrm>
            <a:off x="5277564" y="2089904"/>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Value</a:t>
            </a:r>
            <a:endParaRPr lang="en-US" sz="1400" dirty="0"/>
          </a:p>
        </p:txBody>
      </p:sp>
      <p:sp>
        <p:nvSpPr>
          <p:cNvPr id="7" name="Text 5"/>
          <p:cNvSpPr/>
          <p:nvPr/>
        </p:nvSpPr>
        <p:spPr>
          <a:xfrm>
            <a:off x="9724073" y="2089904"/>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Hash Index</a:t>
            </a:r>
            <a:endParaRPr lang="en-US" sz="1400" dirty="0"/>
          </a:p>
        </p:txBody>
      </p:sp>
      <p:sp>
        <p:nvSpPr>
          <p:cNvPr id="8" name="Shape 6"/>
          <p:cNvSpPr/>
          <p:nvPr/>
        </p:nvSpPr>
        <p:spPr>
          <a:xfrm>
            <a:off x="643890" y="2497455"/>
            <a:ext cx="13341191" cy="524232"/>
          </a:xfrm>
          <a:prstGeom prst="rect">
            <a:avLst/>
          </a:prstGeom>
          <a:solidFill>
            <a:srgbClr val="000000">
              <a:alpha val="4000"/>
            </a:srgbClr>
          </a:solidFill>
          <a:ln/>
        </p:spPr>
      </p:sp>
      <p:sp>
        <p:nvSpPr>
          <p:cNvPr id="9" name="Text 7"/>
          <p:cNvSpPr/>
          <p:nvPr/>
        </p:nvSpPr>
        <p:spPr>
          <a:xfrm>
            <a:off x="827246" y="2614136"/>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0</a:t>
            </a:r>
            <a:endParaRPr lang="en-US" sz="1400" dirty="0"/>
          </a:p>
        </p:txBody>
      </p:sp>
      <p:sp>
        <p:nvSpPr>
          <p:cNvPr id="10" name="Text 8"/>
          <p:cNvSpPr/>
          <p:nvPr/>
        </p:nvSpPr>
        <p:spPr>
          <a:xfrm>
            <a:off x="5277564" y="2614136"/>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456</a:t>
            </a:r>
            <a:endParaRPr lang="en-US" sz="1400" dirty="0"/>
          </a:p>
        </p:txBody>
      </p:sp>
      <p:sp>
        <p:nvSpPr>
          <p:cNvPr id="11" name="Text 9"/>
          <p:cNvSpPr/>
          <p:nvPr/>
        </p:nvSpPr>
        <p:spPr>
          <a:xfrm>
            <a:off x="9724073" y="2614136"/>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6</a:t>
            </a:r>
            <a:endParaRPr lang="en-US" sz="1400" dirty="0"/>
          </a:p>
        </p:txBody>
      </p:sp>
      <p:sp>
        <p:nvSpPr>
          <p:cNvPr id="12" name="Shape 10"/>
          <p:cNvSpPr/>
          <p:nvPr/>
        </p:nvSpPr>
        <p:spPr>
          <a:xfrm>
            <a:off x="643890" y="3021687"/>
            <a:ext cx="13341191" cy="524232"/>
          </a:xfrm>
          <a:prstGeom prst="rect">
            <a:avLst/>
          </a:prstGeom>
          <a:solidFill>
            <a:srgbClr val="FFFFFF">
              <a:alpha val="4000"/>
            </a:srgbClr>
          </a:solidFill>
          <a:ln/>
        </p:spPr>
      </p:sp>
      <p:sp>
        <p:nvSpPr>
          <p:cNvPr id="13" name="Text 11"/>
          <p:cNvSpPr/>
          <p:nvPr/>
        </p:nvSpPr>
        <p:spPr>
          <a:xfrm>
            <a:off x="827246" y="3138368"/>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1</a:t>
            </a:r>
            <a:endParaRPr lang="en-US" sz="1400" dirty="0"/>
          </a:p>
        </p:txBody>
      </p:sp>
      <p:sp>
        <p:nvSpPr>
          <p:cNvPr id="14" name="Text 12"/>
          <p:cNvSpPr/>
          <p:nvPr/>
        </p:nvSpPr>
        <p:spPr>
          <a:xfrm>
            <a:off x="5277564" y="3138368"/>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678</a:t>
            </a:r>
            <a:endParaRPr lang="en-US" sz="1400" dirty="0"/>
          </a:p>
        </p:txBody>
      </p:sp>
      <p:sp>
        <p:nvSpPr>
          <p:cNvPr id="15" name="Text 13"/>
          <p:cNvSpPr/>
          <p:nvPr/>
        </p:nvSpPr>
        <p:spPr>
          <a:xfrm>
            <a:off x="9724073" y="3138368"/>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8</a:t>
            </a:r>
            <a:endParaRPr lang="en-US" sz="1400" dirty="0"/>
          </a:p>
        </p:txBody>
      </p:sp>
      <p:sp>
        <p:nvSpPr>
          <p:cNvPr id="16" name="Shape 14"/>
          <p:cNvSpPr/>
          <p:nvPr/>
        </p:nvSpPr>
        <p:spPr>
          <a:xfrm>
            <a:off x="643890" y="3545919"/>
            <a:ext cx="13341191" cy="524232"/>
          </a:xfrm>
          <a:prstGeom prst="rect">
            <a:avLst/>
          </a:prstGeom>
          <a:solidFill>
            <a:srgbClr val="000000">
              <a:alpha val="4000"/>
            </a:srgbClr>
          </a:solidFill>
          <a:ln/>
        </p:spPr>
      </p:sp>
      <p:sp>
        <p:nvSpPr>
          <p:cNvPr id="17" name="Text 15"/>
          <p:cNvSpPr/>
          <p:nvPr/>
        </p:nvSpPr>
        <p:spPr>
          <a:xfrm>
            <a:off x="827246" y="3662601"/>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2</a:t>
            </a:r>
            <a:endParaRPr lang="en-US" sz="1400" dirty="0"/>
          </a:p>
        </p:txBody>
      </p:sp>
      <p:sp>
        <p:nvSpPr>
          <p:cNvPr id="18" name="Text 16"/>
          <p:cNvSpPr/>
          <p:nvPr/>
        </p:nvSpPr>
        <p:spPr>
          <a:xfrm>
            <a:off x="5277564" y="3662601"/>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123</a:t>
            </a:r>
            <a:endParaRPr lang="en-US" sz="1400" dirty="0"/>
          </a:p>
        </p:txBody>
      </p:sp>
      <p:sp>
        <p:nvSpPr>
          <p:cNvPr id="19" name="Text 17"/>
          <p:cNvSpPr/>
          <p:nvPr/>
        </p:nvSpPr>
        <p:spPr>
          <a:xfrm>
            <a:off x="9724073" y="3662601"/>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3</a:t>
            </a:r>
            <a:endParaRPr lang="en-US" sz="1400" dirty="0"/>
          </a:p>
        </p:txBody>
      </p:sp>
      <p:sp>
        <p:nvSpPr>
          <p:cNvPr id="20" name="Shape 18"/>
          <p:cNvSpPr/>
          <p:nvPr/>
        </p:nvSpPr>
        <p:spPr>
          <a:xfrm>
            <a:off x="643890" y="4070152"/>
            <a:ext cx="13341191" cy="524232"/>
          </a:xfrm>
          <a:prstGeom prst="rect">
            <a:avLst/>
          </a:prstGeom>
          <a:solidFill>
            <a:srgbClr val="FFFFFF">
              <a:alpha val="4000"/>
            </a:srgbClr>
          </a:solidFill>
          <a:ln/>
        </p:spPr>
      </p:sp>
      <p:sp>
        <p:nvSpPr>
          <p:cNvPr id="21" name="Text 19"/>
          <p:cNvSpPr/>
          <p:nvPr/>
        </p:nvSpPr>
        <p:spPr>
          <a:xfrm>
            <a:off x="827246" y="4186833"/>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3</a:t>
            </a:r>
            <a:endParaRPr lang="en-US" sz="1400" dirty="0"/>
          </a:p>
        </p:txBody>
      </p:sp>
      <p:sp>
        <p:nvSpPr>
          <p:cNvPr id="22" name="Text 20"/>
          <p:cNvSpPr/>
          <p:nvPr/>
        </p:nvSpPr>
        <p:spPr>
          <a:xfrm>
            <a:off x="5277564" y="4186833"/>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435</a:t>
            </a:r>
            <a:endParaRPr lang="en-US" sz="1400" dirty="0"/>
          </a:p>
        </p:txBody>
      </p:sp>
      <p:sp>
        <p:nvSpPr>
          <p:cNvPr id="23" name="Text 21"/>
          <p:cNvSpPr/>
          <p:nvPr/>
        </p:nvSpPr>
        <p:spPr>
          <a:xfrm>
            <a:off x="9724073" y="4186833"/>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5</a:t>
            </a:r>
            <a:endParaRPr lang="en-US" sz="1400" dirty="0"/>
          </a:p>
        </p:txBody>
      </p:sp>
      <p:sp>
        <p:nvSpPr>
          <p:cNvPr id="24" name="Shape 22"/>
          <p:cNvSpPr/>
          <p:nvPr/>
        </p:nvSpPr>
        <p:spPr>
          <a:xfrm>
            <a:off x="643890" y="4594384"/>
            <a:ext cx="13341191" cy="524232"/>
          </a:xfrm>
          <a:prstGeom prst="rect">
            <a:avLst/>
          </a:prstGeom>
          <a:solidFill>
            <a:srgbClr val="000000">
              <a:alpha val="4000"/>
            </a:srgbClr>
          </a:solidFill>
          <a:ln/>
        </p:spPr>
      </p:sp>
      <p:sp>
        <p:nvSpPr>
          <p:cNvPr id="25" name="Text 23"/>
          <p:cNvSpPr/>
          <p:nvPr/>
        </p:nvSpPr>
        <p:spPr>
          <a:xfrm>
            <a:off x="827246" y="4711065"/>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4</a:t>
            </a:r>
            <a:endParaRPr lang="en-US" sz="1400" dirty="0"/>
          </a:p>
        </p:txBody>
      </p:sp>
      <p:sp>
        <p:nvSpPr>
          <p:cNvPr id="26" name="Text 24"/>
          <p:cNvSpPr/>
          <p:nvPr/>
        </p:nvSpPr>
        <p:spPr>
          <a:xfrm>
            <a:off x="5277564" y="4711065"/>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236</a:t>
            </a:r>
            <a:endParaRPr lang="en-US" sz="1400" dirty="0"/>
          </a:p>
        </p:txBody>
      </p:sp>
      <p:sp>
        <p:nvSpPr>
          <p:cNvPr id="27" name="Text 25"/>
          <p:cNvSpPr/>
          <p:nvPr/>
        </p:nvSpPr>
        <p:spPr>
          <a:xfrm>
            <a:off x="9724073" y="4711065"/>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6</a:t>
            </a:r>
            <a:endParaRPr lang="en-US" sz="1400" dirty="0"/>
          </a:p>
        </p:txBody>
      </p:sp>
      <p:sp>
        <p:nvSpPr>
          <p:cNvPr id="28" name="Shape 26"/>
          <p:cNvSpPr/>
          <p:nvPr/>
        </p:nvSpPr>
        <p:spPr>
          <a:xfrm>
            <a:off x="643890" y="5118616"/>
            <a:ext cx="13341191" cy="524232"/>
          </a:xfrm>
          <a:prstGeom prst="rect">
            <a:avLst/>
          </a:prstGeom>
          <a:solidFill>
            <a:srgbClr val="FFFFFF">
              <a:alpha val="4000"/>
            </a:srgbClr>
          </a:solidFill>
          <a:ln/>
        </p:spPr>
      </p:sp>
      <p:sp>
        <p:nvSpPr>
          <p:cNvPr id="29" name="Text 27"/>
          <p:cNvSpPr/>
          <p:nvPr/>
        </p:nvSpPr>
        <p:spPr>
          <a:xfrm>
            <a:off x="827246" y="5235297"/>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5</a:t>
            </a:r>
            <a:endParaRPr lang="en-US" sz="1400" dirty="0"/>
          </a:p>
        </p:txBody>
      </p:sp>
      <p:sp>
        <p:nvSpPr>
          <p:cNvPr id="30" name="Text 28"/>
          <p:cNvSpPr/>
          <p:nvPr/>
        </p:nvSpPr>
        <p:spPr>
          <a:xfrm>
            <a:off x="5277564" y="5235297"/>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896</a:t>
            </a:r>
            <a:endParaRPr lang="en-US" sz="1400" dirty="0"/>
          </a:p>
        </p:txBody>
      </p:sp>
      <p:sp>
        <p:nvSpPr>
          <p:cNvPr id="31" name="Text 29"/>
          <p:cNvSpPr/>
          <p:nvPr/>
        </p:nvSpPr>
        <p:spPr>
          <a:xfrm>
            <a:off x="9724073" y="5235297"/>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6</a:t>
            </a:r>
            <a:endParaRPr lang="en-US" sz="1400" dirty="0"/>
          </a:p>
        </p:txBody>
      </p:sp>
      <p:sp>
        <p:nvSpPr>
          <p:cNvPr id="32" name="Shape 30"/>
          <p:cNvSpPr/>
          <p:nvPr/>
        </p:nvSpPr>
        <p:spPr>
          <a:xfrm>
            <a:off x="643890" y="5642848"/>
            <a:ext cx="13341191" cy="524232"/>
          </a:xfrm>
          <a:prstGeom prst="rect">
            <a:avLst/>
          </a:prstGeom>
          <a:solidFill>
            <a:srgbClr val="000000">
              <a:alpha val="4000"/>
            </a:srgbClr>
          </a:solidFill>
          <a:ln/>
        </p:spPr>
      </p:sp>
      <p:sp>
        <p:nvSpPr>
          <p:cNvPr id="33" name="Text 31"/>
          <p:cNvSpPr/>
          <p:nvPr/>
        </p:nvSpPr>
        <p:spPr>
          <a:xfrm>
            <a:off x="827246" y="5759529"/>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6</a:t>
            </a:r>
            <a:endParaRPr lang="en-US" sz="1400" dirty="0"/>
          </a:p>
        </p:txBody>
      </p:sp>
      <p:sp>
        <p:nvSpPr>
          <p:cNvPr id="34" name="Text 32"/>
          <p:cNvSpPr/>
          <p:nvPr/>
        </p:nvSpPr>
        <p:spPr>
          <a:xfrm>
            <a:off x="5277564" y="5759529"/>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986</a:t>
            </a:r>
            <a:endParaRPr lang="en-US" sz="1400" dirty="0"/>
          </a:p>
        </p:txBody>
      </p:sp>
      <p:sp>
        <p:nvSpPr>
          <p:cNvPr id="35" name="Text 33"/>
          <p:cNvSpPr/>
          <p:nvPr/>
        </p:nvSpPr>
        <p:spPr>
          <a:xfrm>
            <a:off x="9724073" y="5759529"/>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6</a:t>
            </a:r>
            <a:endParaRPr lang="en-US" sz="1400" dirty="0"/>
          </a:p>
        </p:txBody>
      </p:sp>
      <p:sp>
        <p:nvSpPr>
          <p:cNvPr id="36" name="Shape 34"/>
          <p:cNvSpPr/>
          <p:nvPr/>
        </p:nvSpPr>
        <p:spPr>
          <a:xfrm>
            <a:off x="643890" y="6167080"/>
            <a:ext cx="13341191" cy="524232"/>
          </a:xfrm>
          <a:prstGeom prst="rect">
            <a:avLst/>
          </a:prstGeom>
          <a:solidFill>
            <a:srgbClr val="FFFFFF">
              <a:alpha val="4000"/>
            </a:srgbClr>
          </a:solidFill>
          <a:ln/>
        </p:spPr>
      </p:sp>
      <p:sp>
        <p:nvSpPr>
          <p:cNvPr id="37" name="Text 35"/>
          <p:cNvSpPr/>
          <p:nvPr/>
        </p:nvSpPr>
        <p:spPr>
          <a:xfrm>
            <a:off x="827246" y="6283762"/>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7</a:t>
            </a:r>
            <a:endParaRPr lang="en-US" sz="1400" dirty="0"/>
          </a:p>
        </p:txBody>
      </p:sp>
      <p:sp>
        <p:nvSpPr>
          <p:cNvPr id="38" name="Text 36"/>
          <p:cNvSpPr/>
          <p:nvPr/>
        </p:nvSpPr>
        <p:spPr>
          <a:xfrm>
            <a:off x="5277564" y="6283762"/>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987</a:t>
            </a:r>
            <a:endParaRPr lang="en-US" sz="1400" dirty="0"/>
          </a:p>
        </p:txBody>
      </p:sp>
      <p:sp>
        <p:nvSpPr>
          <p:cNvPr id="39" name="Text 37"/>
          <p:cNvSpPr/>
          <p:nvPr/>
        </p:nvSpPr>
        <p:spPr>
          <a:xfrm>
            <a:off x="9724073" y="6283762"/>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7</a:t>
            </a:r>
            <a:endParaRPr lang="en-US" sz="1400" dirty="0"/>
          </a:p>
        </p:txBody>
      </p:sp>
      <p:sp>
        <p:nvSpPr>
          <p:cNvPr id="40" name="Shape 38"/>
          <p:cNvSpPr/>
          <p:nvPr/>
        </p:nvSpPr>
        <p:spPr>
          <a:xfrm>
            <a:off x="643890" y="6691313"/>
            <a:ext cx="13341191" cy="524232"/>
          </a:xfrm>
          <a:prstGeom prst="rect">
            <a:avLst/>
          </a:prstGeom>
          <a:solidFill>
            <a:srgbClr val="000000">
              <a:alpha val="4000"/>
            </a:srgbClr>
          </a:solidFill>
          <a:ln/>
        </p:spPr>
      </p:sp>
      <p:sp>
        <p:nvSpPr>
          <p:cNvPr id="41" name="Text 39"/>
          <p:cNvSpPr/>
          <p:nvPr/>
        </p:nvSpPr>
        <p:spPr>
          <a:xfrm>
            <a:off x="827246" y="6807994"/>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8</a:t>
            </a:r>
            <a:endParaRPr lang="en-US" sz="1400" dirty="0"/>
          </a:p>
        </p:txBody>
      </p:sp>
      <p:sp>
        <p:nvSpPr>
          <p:cNvPr id="42" name="Text 40"/>
          <p:cNvSpPr/>
          <p:nvPr/>
        </p:nvSpPr>
        <p:spPr>
          <a:xfrm>
            <a:off x="5277564" y="6807994"/>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763</a:t>
            </a:r>
            <a:endParaRPr lang="en-US" sz="1400" dirty="0"/>
          </a:p>
        </p:txBody>
      </p:sp>
      <p:sp>
        <p:nvSpPr>
          <p:cNvPr id="43" name="Text 41"/>
          <p:cNvSpPr/>
          <p:nvPr/>
        </p:nvSpPr>
        <p:spPr>
          <a:xfrm>
            <a:off x="9724073" y="6807994"/>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3</a:t>
            </a:r>
            <a:endParaRPr lang="en-US" sz="1400" dirty="0"/>
          </a:p>
        </p:txBody>
      </p:sp>
      <p:sp>
        <p:nvSpPr>
          <p:cNvPr id="44" name="Shape 42"/>
          <p:cNvSpPr/>
          <p:nvPr/>
        </p:nvSpPr>
        <p:spPr>
          <a:xfrm>
            <a:off x="643890" y="7215545"/>
            <a:ext cx="13341191" cy="524232"/>
          </a:xfrm>
          <a:prstGeom prst="rect">
            <a:avLst/>
          </a:prstGeom>
          <a:solidFill>
            <a:srgbClr val="FFFFFF">
              <a:alpha val="4000"/>
            </a:srgbClr>
          </a:solidFill>
          <a:ln/>
        </p:spPr>
      </p:sp>
      <p:sp>
        <p:nvSpPr>
          <p:cNvPr id="45" name="Text 43"/>
          <p:cNvSpPr/>
          <p:nvPr/>
        </p:nvSpPr>
        <p:spPr>
          <a:xfrm>
            <a:off x="827246" y="7332226"/>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9</a:t>
            </a:r>
            <a:endParaRPr lang="en-US" sz="1400" dirty="0"/>
          </a:p>
        </p:txBody>
      </p:sp>
      <p:sp>
        <p:nvSpPr>
          <p:cNvPr id="46" name="Text 44"/>
          <p:cNvSpPr/>
          <p:nvPr/>
        </p:nvSpPr>
        <p:spPr>
          <a:xfrm>
            <a:off x="5277564" y="7332226"/>
            <a:ext cx="407550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783</a:t>
            </a:r>
            <a:endParaRPr lang="en-US" sz="1400" dirty="0"/>
          </a:p>
        </p:txBody>
      </p:sp>
      <p:sp>
        <p:nvSpPr>
          <p:cNvPr id="47" name="Text 45"/>
          <p:cNvSpPr/>
          <p:nvPr/>
        </p:nvSpPr>
        <p:spPr>
          <a:xfrm>
            <a:off x="9724073" y="7332226"/>
            <a:ext cx="4079319" cy="290870"/>
          </a:xfrm>
          <a:prstGeom prst="rect">
            <a:avLst/>
          </a:prstGeom>
          <a:noFill/>
          <a:ln/>
        </p:spPr>
        <p:txBody>
          <a:bodyPr wrap="none" lIns="0" tIns="0" rIns="0" bIns="0" rtlCol="0" anchor="t"/>
          <a:lstStyle/>
          <a:p>
            <a:pPr marL="0" indent="0">
              <a:lnSpc>
                <a:spcPts val="2250"/>
              </a:lnSpc>
              <a:buNone/>
            </a:pPr>
            <a:r>
              <a:rPr lang="en-US" sz="1400" dirty="0">
                <a:solidFill>
                  <a:srgbClr val="272525"/>
                </a:solidFill>
                <a:latin typeface="Inter" pitchFamily="34" charset="0"/>
                <a:ea typeface="Inter" pitchFamily="34" charset="-122"/>
                <a:cs typeface="Inter" pitchFamily="34" charset="-120"/>
              </a:rPr>
              <a:t>3</a:t>
            </a:r>
            <a:endParaRPr lang="en-US" sz="1400" dirty="0"/>
          </a:p>
        </p:txBody>
      </p:sp>
      <p:sp>
        <p:nvSpPr>
          <p:cNvPr id="48" name="Rectangle 47">
            <a:extLst>
              <a:ext uri="{FF2B5EF4-FFF2-40B4-BE49-F238E27FC236}">
                <a16:creationId xmlns:a16="http://schemas.microsoft.com/office/drawing/2014/main" id="{8267E562-AB49-0AA6-772B-60E35F21FC5D}"/>
              </a:ext>
            </a:extLst>
          </p:cNvPr>
          <p:cNvSpPr/>
          <p:nvPr/>
        </p:nvSpPr>
        <p:spPr>
          <a:xfrm>
            <a:off x="12892035" y="7857811"/>
            <a:ext cx="1637881" cy="261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14</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8868" y="368737"/>
            <a:ext cx="8023741" cy="439579"/>
          </a:xfrm>
          <a:prstGeom prst="rect">
            <a:avLst/>
          </a:prstGeom>
          <a:noFill/>
          <a:ln/>
        </p:spPr>
        <p:txBody>
          <a:bodyPr wrap="none" lIns="0" tIns="0" rIns="0" bIns="0" rtlCol="0" anchor="t"/>
          <a:lstStyle/>
          <a:p>
            <a:pPr marL="0" indent="0">
              <a:lnSpc>
                <a:spcPts val="3450"/>
              </a:lnSpc>
              <a:buNone/>
            </a:pPr>
            <a:r>
              <a:rPr lang="en-US" b="1" dirty="0">
                <a:solidFill>
                  <a:srgbClr val="000000"/>
                </a:solidFill>
                <a:latin typeface="Arial" panose="020B0604020202020204" pitchFamily="34" charset="0"/>
                <a:ea typeface="Petrona Bold" pitchFamily="34" charset="-122"/>
                <a:cs typeface="Arial" panose="020B0604020202020204" pitchFamily="34" charset="0"/>
              </a:rPr>
              <a:t>Step-by-Step Demonstration of Quadratic Probing</a:t>
            </a:r>
            <a:endParaRPr lang="en-US" dirty="0">
              <a:latin typeface="Arial" panose="020B0604020202020204" pitchFamily="34" charset="0"/>
              <a:cs typeface="Arial" panose="020B0604020202020204" pitchFamily="34" charset="0"/>
            </a:endParaRPr>
          </a:p>
        </p:txBody>
      </p:sp>
      <p:sp>
        <p:nvSpPr>
          <p:cNvPr id="3" name="Shape 1"/>
          <p:cNvSpPr/>
          <p:nvPr/>
        </p:nvSpPr>
        <p:spPr>
          <a:xfrm>
            <a:off x="7307580" y="1076206"/>
            <a:ext cx="15240" cy="6784538"/>
          </a:xfrm>
          <a:prstGeom prst="roundRect">
            <a:avLst>
              <a:gd name="adj" fmla="val 369259"/>
            </a:avLst>
          </a:prstGeom>
          <a:solidFill>
            <a:srgbClr val="B2D4E5"/>
          </a:solidFill>
          <a:ln/>
        </p:spPr>
      </p:sp>
      <p:sp>
        <p:nvSpPr>
          <p:cNvPr id="4" name="Shape 2"/>
          <p:cNvSpPr/>
          <p:nvPr/>
        </p:nvSpPr>
        <p:spPr>
          <a:xfrm>
            <a:off x="6710839" y="1370052"/>
            <a:ext cx="468868" cy="15240"/>
          </a:xfrm>
          <a:prstGeom prst="roundRect">
            <a:avLst>
              <a:gd name="adj" fmla="val 369259"/>
            </a:avLst>
          </a:prstGeom>
          <a:solidFill>
            <a:srgbClr val="B2D4E5"/>
          </a:solidFill>
          <a:ln/>
        </p:spPr>
      </p:sp>
      <p:sp>
        <p:nvSpPr>
          <p:cNvPr id="5" name="Shape 3"/>
          <p:cNvSpPr/>
          <p:nvPr/>
        </p:nvSpPr>
        <p:spPr>
          <a:xfrm>
            <a:off x="7164467" y="1226939"/>
            <a:ext cx="301466" cy="301466"/>
          </a:xfrm>
          <a:prstGeom prst="roundRect">
            <a:avLst>
              <a:gd name="adj" fmla="val 18667"/>
            </a:avLst>
          </a:prstGeom>
          <a:solidFill>
            <a:srgbClr val="CCEEFF"/>
          </a:solidFill>
          <a:ln w="7620">
            <a:solidFill>
              <a:srgbClr val="B2D4E5"/>
            </a:solidFill>
            <a:prstDash val="solid"/>
          </a:ln>
        </p:spPr>
      </p:sp>
      <p:sp>
        <p:nvSpPr>
          <p:cNvPr id="6" name="Text 4"/>
          <p:cNvSpPr/>
          <p:nvPr/>
        </p:nvSpPr>
        <p:spPr>
          <a:xfrm>
            <a:off x="7269956" y="1272183"/>
            <a:ext cx="90368"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1</a:t>
            </a:r>
            <a:endParaRPr lang="en-US" dirty="0">
              <a:latin typeface="Arial" panose="020B0604020202020204" pitchFamily="34" charset="0"/>
              <a:cs typeface="Arial" panose="020B0604020202020204" pitchFamily="34" charset="0"/>
            </a:endParaRPr>
          </a:p>
        </p:txBody>
      </p:sp>
      <p:sp>
        <p:nvSpPr>
          <p:cNvPr id="7" name="Text 5"/>
          <p:cNvSpPr/>
          <p:nvPr/>
        </p:nvSpPr>
        <p:spPr>
          <a:xfrm>
            <a:off x="4819769" y="1210151"/>
            <a:ext cx="1758553" cy="219789"/>
          </a:xfrm>
          <a:prstGeom prst="rect">
            <a:avLst/>
          </a:prstGeom>
          <a:noFill/>
          <a:ln/>
        </p:spPr>
        <p:txBody>
          <a:bodyPr wrap="none" lIns="0" tIns="0" rIns="0" bIns="0" rtlCol="0" anchor="t"/>
          <a:lstStyle/>
          <a:p>
            <a:pPr marL="0" indent="0" algn="r">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456</a:t>
            </a:r>
            <a:endParaRPr lang="en-US" dirty="0">
              <a:latin typeface="Arial" panose="020B0604020202020204" pitchFamily="34" charset="0"/>
              <a:cs typeface="Arial" panose="020B0604020202020204" pitchFamily="34" charset="0"/>
            </a:endParaRPr>
          </a:p>
        </p:txBody>
      </p:sp>
      <p:sp>
        <p:nvSpPr>
          <p:cNvPr id="8" name="Text 6"/>
          <p:cNvSpPr/>
          <p:nvPr/>
        </p:nvSpPr>
        <p:spPr>
          <a:xfrm>
            <a:off x="3063149" y="1670208"/>
            <a:ext cx="3513240" cy="298489"/>
          </a:xfrm>
          <a:prstGeom prst="rect">
            <a:avLst/>
          </a:prstGeom>
          <a:noFill/>
          <a:ln/>
        </p:spPr>
        <p:txBody>
          <a:bodyPr wrap="none" lIns="0" tIns="0" rIns="0" bIns="0" rtlCol="0" anchor="t"/>
          <a:lstStyle/>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6. Place 456 at index 6.</a:t>
            </a:r>
            <a:endParaRPr lang="en-US" dirty="0">
              <a:latin typeface="Arial" panose="020B0604020202020204" pitchFamily="34" charset="0"/>
              <a:cs typeface="Arial" panose="020B0604020202020204" pitchFamily="34" charset="0"/>
            </a:endParaRPr>
          </a:p>
        </p:txBody>
      </p:sp>
      <p:sp>
        <p:nvSpPr>
          <p:cNvPr id="9" name="Shape 7"/>
          <p:cNvSpPr/>
          <p:nvPr/>
        </p:nvSpPr>
        <p:spPr>
          <a:xfrm>
            <a:off x="7450693" y="2039898"/>
            <a:ext cx="468868" cy="15240"/>
          </a:xfrm>
          <a:prstGeom prst="roundRect">
            <a:avLst>
              <a:gd name="adj" fmla="val 369259"/>
            </a:avLst>
          </a:prstGeom>
          <a:solidFill>
            <a:srgbClr val="B2D4E5"/>
          </a:solidFill>
          <a:ln/>
        </p:spPr>
      </p:sp>
      <p:sp>
        <p:nvSpPr>
          <p:cNvPr id="10" name="Shape 8"/>
          <p:cNvSpPr/>
          <p:nvPr/>
        </p:nvSpPr>
        <p:spPr>
          <a:xfrm>
            <a:off x="7164467" y="1896785"/>
            <a:ext cx="301466" cy="301466"/>
          </a:xfrm>
          <a:prstGeom prst="roundRect">
            <a:avLst>
              <a:gd name="adj" fmla="val 18667"/>
            </a:avLst>
          </a:prstGeom>
          <a:solidFill>
            <a:srgbClr val="CCEEFF"/>
          </a:solidFill>
          <a:ln w="7620">
            <a:solidFill>
              <a:srgbClr val="B2D4E5"/>
            </a:solidFill>
            <a:prstDash val="solid"/>
          </a:ln>
        </p:spPr>
      </p:sp>
      <p:sp>
        <p:nvSpPr>
          <p:cNvPr id="11" name="Text 9"/>
          <p:cNvSpPr/>
          <p:nvPr/>
        </p:nvSpPr>
        <p:spPr>
          <a:xfrm>
            <a:off x="7255312" y="1942028"/>
            <a:ext cx="119658"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2</a:t>
            </a:r>
            <a:endParaRPr lang="en-US" dirty="0">
              <a:latin typeface="Arial" panose="020B0604020202020204" pitchFamily="34" charset="0"/>
              <a:cs typeface="Arial" panose="020B0604020202020204" pitchFamily="34" charset="0"/>
            </a:endParaRPr>
          </a:p>
        </p:txBody>
      </p:sp>
      <p:sp>
        <p:nvSpPr>
          <p:cNvPr id="12" name="Text 10"/>
          <p:cNvSpPr/>
          <p:nvPr/>
        </p:nvSpPr>
        <p:spPr>
          <a:xfrm>
            <a:off x="8052078" y="1879997"/>
            <a:ext cx="1758553" cy="219789"/>
          </a:xfrm>
          <a:prstGeom prst="rect">
            <a:avLst/>
          </a:prstGeom>
          <a:noFill/>
          <a:ln/>
        </p:spPr>
        <p:txBody>
          <a:bodyPr wrap="none" lIns="0" tIns="0" rIns="0" bIns="0" rtlCol="0" anchor="t"/>
          <a:lstStyle/>
          <a:p>
            <a:pPr marL="0" indent="0" algn="l">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678</a:t>
            </a:r>
            <a:endParaRPr lang="en-US" dirty="0">
              <a:latin typeface="Arial" panose="020B0604020202020204" pitchFamily="34" charset="0"/>
              <a:cs typeface="Arial" panose="020B0604020202020204" pitchFamily="34" charset="0"/>
            </a:endParaRPr>
          </a:p>
        </p:txBody>
      </p:sp>
      <p:sp>
        <p:nvSpPr>
          <p:cNvPr id="13" name="Text 11"/>
          <p:cNvSpPr/>
          <p:nvPr/>
        </p:nvSpPr>
        <p:spPr>
          <a:xfrm>
            <a:off x="8052078" y="2180153"/>
            <a:ext cx="6109454" cy="214312"/>
          </a:xfrm>
          <a:prstGeom prst="rect">
            <a:avLst/>
          </a:prstGeom>
          <a:noFill/>
          <a:ln/>
        </p:spPr>
        <p:txBody>
          <a:bodyPr wrap="none" lIns="0" tIns="0" rIns="0" bIns="0" rtlCol="0" anchor="t"/>
          <a:lstStyle/>
          <a:p>
            <a:pPr marL="0" indent="0" algn="l">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8. Place 678 at index 8.</a:t>
            </a:r>
            <a:endParaRPr lang="en-US" dirty="0">
              <a:latin typeface="Arial" panose="020B0604020202020204" pitchFamily="34" charset="0"/>
              <a:cs typeface="Arial" panose="020B0604020202020204" pitchFamily="34" charset="0"/>
            </a:endParaRPr>
          </a:p>
        </p:txBody>
      </p:sp>
      <p:sp>
        <p:nvSpPr>
          <p:cNvPr id="14" name="Shape 12"/>
          <p:cNvSpPr/>
          <p:nvPr/>
        </p:nvSpPr>
        <p:spPr>
          <a:xfrm>
            <a:off x="6710839" y="2642711"/>
            <a:ext cx="468868" cy="15240"/>
          </a:xfrm>
          <a:prstGeom prst="roundRect">
            <a:avLst>
              <a:gd name="adj" fmla="val 369259"/>
            </a:avLst>
          </a:prstGeom>
          <a:solidFill>
            <a:srgbClr val="B2D4E5"/>
          </a:solidFill>
          <a:ln/>
        </p:spPr>
      </p:sp>
      <p:sp>
        <p:nvSpPr>
          <p:cNvPr id="15" name="Shape 13"/>
          <p:cNvSpPr/>
          <p:nvPr/>
        </p:nvSpPr>
        <p:spPr>
          <a:xfrm>
            <a:off x="7164467" y="2499598"/>
            <a:ext cx="301466" cy="301466"/>
          </a:xfrm>
          <a:prstGeom prst="roundRect">
            <a:avLst>
              <a:gd name="adj" fmla="val 18667"/>
            </a:avLst>
          </a:prstGeom>
          <a:solidFill>
            <a:srgbClr val="CCEEFF"/>
          </a:solidFill>
          <a:ln w="7620">
            <a:solidFill>
              <a:srgbClr val="B2D4E5"/>
            </a:solidFill>
            <a:prstDash val="solid"/>
          </a:ln>
        </p:spPr>
      </p:sp>
      <p:sp>
        <p:nvSpPr>
          <p:cNvPr id="16" name="Text 14"/>
          <p:cNvSpPr/>
          <p:nvPr/>
        </p:nvSpPr>
        <p:spPr>
          <a:xfrm>
            <a:off x="7255431" y="2544842"/>
            <a:ext cx="119420"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3</a:t>
            </a:r>
            <a:endParaRPr lang="en-US" dirty="0">
              <a:latin typeface="Arial" panose="020B0604020202020204" pitchFamily="34" charset="0"/>
              <a:cs typeface="Arial" panose="020B0604020202020204" pitchFamily="34" charset="0"/>
            </a:endParaRPr>
          </a:p>
        </p:txBody>
      </p:sp>
      <p:sp>
        <p:nvSpPr>
          <p:cNvPr id="17" name="Text 15"/>
          <p:cNvSpPr/>
          <p:nvPr/>
        </p:nvSpPr>
        <p:spPr>
          <a:xfrm>
            <a:off x="4819769" y="2482810"/>
            <a:ext cx="1758553" cy="219789"/>
          </a:xfrm>
          <a:prstGeom prst="rect">
            <a:avLst/>
          </a:prstGeom>
          <a:noFill/>
          <a:ln/>
        </p:spPr>
        <p:txBody>
          <a:bodyPr wrap="none" lIns="0" tIns="0" rIns="0" bIns="0" rtlCol="0" anchor="t"/>
          <a:lstStyle/>
          <a:p>
            <a:pPr marL="0" indent="0" algn="r">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123</a:t>
            </a:r>
            <a:endParaRPr lang="en-US" dirty="0">
              <a:latin typeface="Arial" panose="020B0604020202020204" pitchFamily="34" charset="0"/>
              <a:cs typeface="Arial" panose="020B0604020202020204" pitchFamily="34" charset="0"/>
            </a:endParaRPr>
          </a:p>
        </p:txBody>
      </p:sp>
      <p:sp>
        <p:nvSpPr>
          <p:cNvPr id="18" name="Text 16"/>
          <p:cNvSpPr/>
          <p:nvPr/>
        </p:nvSpPr>
        <p:spPr>
          <a:xfrm>
            <a:off x="468868" y="2782967"/>
            <a:ext cx="6109454" cy="214312"/>
          </a:xfrm>
          <a:prstGeom prst="rect">
            <a:avLst/>
          </a:prstGeom>
          <a:noFill/>
          <a:ln/>
        </p:spPr>
        <p:txBody>
          <a:bodyPr wrap="none" lIns="0" tIns="0" rIns="0" bIns="0" rtlCol="0" anchor="t"/>
          <a:lstStyle/>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3. Place 123 at index 3.</a:t>
            </a:r>
            <a:endParaRPr lang="en-US" dirty="0">
              <a:latin typeface="Arial" panose="020B0604020202020204" pitchFamily="34" charset="0"/>
              <a:cs typeface="Arial" panose="020B0604020202020204" pitchFamily="34" charset="0"/>
            </a:endParaRPr>
          </a:p>
        </p:txBody>
      </p:sp>
      <p:sp>
        <p:nvSpPr>
          <p:cNvPr id="19" name="Shape 17"/>
          <p:cNvSpPr/>
          <p:nvPr/>
        </p:nvSpPr>
        <p:spPr>
          <a:xfrm>
            <a:off x="7450693" y="3245644"/>
            <a:ext cx="468868" cy="15240"/>
          </a:xfrm>
          <a:prstGeom prst="roundRect">
            <a:avLst>
              <a:gd name="adj" fmla="val 369259"/>
            </a:avLst>
          </a:prstGeom>
          <a:solidFill>
            <a:srgbClr val="B2D4E5"/>
          </a:solidFill>
          <a:ln/>
        </p:spPr>
      </p:sp>
      <p:sp>
        <p:nvSpPr>
          <p:cNvPr id="20" name="Shape 18"/>
          <p:cNvSpPr/>
          <p:nvPr/>
        </p:nvSpPr>
        <p:spPr>
          <a:xfrm>
            <a:off x="7164467" y="3102531"/>
            <a:ext cx="301466" cy="301466"/>
          </a:xfrm>
          <a:prstGeom prst="roundRect">
            <a:avLst>
              <a:gd name="adj" fmla="val 18667"/>
            </a:avLst>
          </a:prstGeom>
          <a:solidFill>
            <a:srgbClr val="CCEEFF"/>
          </a:solidFill>
          <a:ln w="7620">
            <a:solidFill>
              <a:srgbClr val="B2D4E5"/>
            </a:solidFill>
            <a:prstDash val="solid"/>
          </a:ln>
        </p:spPr>
      </p:sp>
      <p:sp>
        <p:nvSpPr>
          <p:cNvPr id="21" name="Text 19"/>
          <p:cNvSpPr/>
          <p:nvPr/>
        </p:nvSpPr>
        <p:spPr>
          <a:xfrm>
            <a:off x="7258288" y="3147774"/>
            <a:ext cx="113824"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4</a:t>
            </a:r>
            <a:endParaRPr lang="en-US" dirty="0">
              <a:latin typeface="Arial" panose="020B0604020202020204" pitchFamily="34" charset="0"/>
              <a:cs typeface="Arial" panose="020B0604020202020204" pitchFamily="34" charset="0"/>
            </a:endParaRPr>
          </a:p>
        </p:txBody>
      </p:sp>
      <p:sp>
        <p:nvSpPr>
          <p:cNvPr id="22" name="Text 20"/>
          <p:cNvSpPr/>
          <p:nvPr/>
        </p:nvSpPr>
        <p:spPr>
          <a:xfrm>
            <a:off x="8052078" y="3085743"/>
            <a:ext cx="1758553" cy="219789"/>
          </a:xfrm>
          <a:prstGeom prst="rect">
            <a:avLst/>
          </a:prstGeom>
          <a:noFill/>
          <a:ln/>
        </p:spPr>
        <p:txBody>
          <a:bodyPr wrap="none" lIns="0" tIns="0" rIns="0" bIns="0" rtlCol="0" anchor="t"/>
          <a:lstStyle/>
          <a:p>
            <a:pPr marL="0" indent="0" algn="l">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435</a:t>
            </a:r>
            <a:endParaRPr lang="en-US" dirty="0">
              <a:latin typeface="Arial" panose="020B0604020202020204" pitchFamily="34" charset="0"/>
              <a:cs typeface="Arial" panose="020B0604020202020204" pitchFamily="34" charset="0"/>
            </a:endParaRPr>
          </a:p>
        </p:txBody>
      </p:sp>
      <p:sp>
        <p:nvSpPr>
          <p:cNvPr id="23" name="Text 21"/>
          <p:cNvSpPr/>
          <p:nvPr/>
        </p:nvSpPr>
        <p:spPr>
          <a:xfrm>
            <a:off x="8052078" y="3385899"/>
            <a:ext cx="6109454" cy="214312"/>
          </a:xfrm>
          <a:prstGeom prst="rect">
            <a:avLst/>
          </a:prstGeom>
          <a:noFill/>
          <a:ln/>
        </p:spPr>
        <p:txBody>
          <a:bodyPr wrap="none" lIns="0" tIns="0" rIns="0" bIns="0" rtlCol="0" anchor="t"/>
          <a:lstStyle/>
          <a:p>
            <a:pPr marL="0" indent="0" algn="l">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5. Place 435 at index 5.</a:t>
            </a:r>
            <a:endParaRPr lang="en-US" dirty="0">
              <a:latin typeface="Arial" panose="020B0604020202020204" pitchFamily="34" charset="0"/>
              <a:cs typeface="Arial" panose="020B0604020202020204" pitchFamily="34" charset="0"/>
            </a:endParaRPr>
          </a:p>
        </p:txBody>
      </p:sp>
      <p:sp>
        <p:nvSpPr>
          <p:cNvPr id="24" name="Shape 22"/>
          <p:cNvSpPr/>
          <p:nvPr/>
        </p:nvSpPr>
        <p:spPr>
          <a:xfrm>
            <a:off x="6710839" y="3848576"/>
            <a:ext cx="468868" cy="15240"/>
          </a:xfrm>
          <a:prstGeom prst="roundRect">
            <a:avLst>
              <a:gd name="adj" fmla="val 369259"/>
            </a:avLst>
          </a:prstGeom>
          <a:solidFill>
            <a:srgbClr val="B2D4E5"/>
          </a:solidFill>
          <a:ln/>
        </p:spPr>
      </p:sp>
      <p:sp>
        <p:nvSpPr>
          <p:cNvPr id="25" name="Shape 23"/>
          <p:cNvSpPr/>
          <p:nvPr/>
        </p:nvSpPr>
        <p:spPr>
          <a:xfrm>
            <a:off x="7164467" y="3705463"/>
            <a:ext cx="301466" cy="301466"/>
          </a:xfrm>
          <a:prstGeom prst="roundRect">
            <a:avLst>
              <a:gd name="adj" fmla="val 18667"/>
            </a:avLst>
          </a:prstGeom>
          <a:solidFill>
            <a:srgbClr val="CCEEFF"/>
          </a:solidFill>
          <a:ln w="7620">
            <a:solidFill>
              <a:srgbClr val="B2D4E5"/>
            </a:solidFill>
            <a:prstDash val="solid"/>
          </a:ln>
        </p:spPr>
      </p:sp>
      <p:sp>
        <p:nvSpPr>
          <p:cNvPr id="26" name="Text 24"/>
          <p:cNvSpPr/>
          <p:nvPr/>
        </p:nvSpPr>
        <p:spPr>
          <a:xfrm>
            <a:off x="7255193" y="3750707"/>
            <a:ext cx="119896"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5</a:t>
            </a:r>
            <a:endParaRPr lang="en-US" dirty="0">
              <a:latin typeface="Arial" panose="020B0604020202020204" pitchFamily="34" charset="0"/>
              <a:cs typeface="Arial" panose="020B0604020202020204" pitchFamily="34" charset="0"/>
            </a:endParaRPr>
          </a:p>
        </p:txBody>
      </p:sp>
      <p:sp>
        <p:nvSpPr>
          <p:cNvPr id="27" name="Text 25"/>
          <p:cNvSpPr/>
          <p:nvPr/>
        </p:nvSpPr>
        <p:spPr>
          <a:xfrm>
            <a:off x="4819769" y="3688675"/>
            <a:ext cx="1758553" cy="219789"/>
          </a:xfrm>
          <a:prstGeom prst="rect">
            <a:avLst/>
          </a:prstGeom>
          <a:noFill/>
          <a:ln/>
        </p:spPr>
        <p:txBody>
          <a:bodyPr wrap="none" lIns="0" tIns="0" rIns="0" bIns="0" rtlCol="0" anchor="t"/>
          <a:lstStyle/>
          <a:p>
            <a:pPr marL="0" indent="0" algn="r">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236</a:t>
            </a:r>
            <a:endParaRPr lang="en-US" dirty="0">
              <a:latin typeface="Arial" panose="020B0604020202020204" pitchFamily="34" charset="0"/>
              <a:cs typeface="Arial" panose="020B0604020202020204" pitchFamily="34" charset="0"/>
            </a:endParaRPr>
          </a:p>
        </p:txBody>
      </p:sp>
      <p:sp>
        <p:nvSpPr>
          <p:cNvPr id="28" name="Text 26"/>
          <p:cNvSpPr/>
          <p:nvPr/>
        </p:nvSpPr>
        <p:spPr>
          <a:xfrm rot="10800000" flipV="1">
            <a:off x="2115343" y="4176472"/>
            <a:ext cx="4939942" cy="423387"/>
          </a:xfrm>
          <a:prstGeom prst="rect">
            <a:avLst/>
          </a:prstGeom>
          <a:noFill/>
          <a:ln/>
        </p:spPr>
        <p:txBody>
          <a:bodyPr wrap="none" lIns="0" tIns="0" rIns="0" bIns="0" rtlCol="0" anchor="t"/>
          <a:lstStyle/>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6, but occupied. </a:t>
            </a:r>
          </a:p>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Probe to (6 + 1^2) % 10 = 7. Place 236 at index 7.</a:t>
            </a:r>
            <a:endParaRPr lang="en-US" dirty="0">
              <a:latin typeface="Arial" panose="020B0604020202020204" pitchFamily="34" charset="0"/>
              <a:cs typeface="Arial" panose="020B0604020202020204" pitchFamily="34" charset="0"/>
            </a:endParaRPr>
          </a:p>
        </p:txBody>
      </p:sp>
      <p:sp>
        <p:nvSpPr>
          <p:cNvPr id="29" name="Shape 27"/>
          <p:cNvSpPr/>
          <p:nvPr/>
        </p:nvSpPr>
        <p:spPr>
          <a:xfrm>
            <a:off x="7450693" y="4451509"/>
            <a:ext cx="468868" cy="15240"/>
          </a:xfrm>
          <a:prstGeom prst="roundRect">
            <a:avLst>
              <a:gd name="adj" fmla="val 369259"/>
            </a:avLst>
          </a:prstGeom>
          <a:solidFill>
            <a:srgbClr val="B2D4E5"/>
          </a:solidFill>
          <a:ln/>
        </p:spPr>
      </p:sp>
      <p:sp>
        <p:nvSpPr>
          <p:cNvPr id="30" name="Shape 28"/>
          <p:cNvSpPr/>
          <p:nvPr/>
        </p:nvSpPr>
        <p:spPr>
          <a:xfrm>
            <a:off x="7164467" y="4308396"/>
            <a:ext cx="301466" cy="301466"/>
          </a:xfrm>
          <a:prstGeom prst="roundRect">
            <a:avLst>
              <a:gd name="adj" fmla="val 18667"/>
            </a:avLst>
          </a:prstGeom>
          <a:solidFill>
            <a:srgbClr val="CCEEFF"/>
          </a:solidFill>
          <a:ln w="7620">
            <a:solidFill>
              <a:srgbClr val="B2D4E5"/>
            </a:solidFill>
            <a:prstDash val="solid"/>
          </a:ln>
        </p:spPr>
      </p:sp>
      <p:sp>
        <p:nvSpPr>
          <p:cNvPr id="31" name="Text 29"/>
          <p:cNvSpPr/>
          <p:nvPr/>
        </p:nvSpPr>
        <p:spPr>
          <a:xfrm>
            <a:off x="7251263" y="4353639"/>
            <a:ext cx="127873"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6</a:t>
            </a:r>
            <a:endParaRPr lang="en-US" dirty="0">
              <a:latin typeface="Arial" panose="020B0604020202020204" pitchFamily="34" charset="0"/>
              <a:cs typeface="Arial" panose="020B0604020202020204" pitchFamily="34" charset="0"/>
            </a:endParaRPr>
          </a:p>
        </p:txBody>
      </p:sp>
      <p:sp>
        <p:nvSpPr>
          <p:cNvPr id="32" name="Text 30"/>
          <p:cNvSpPr/>
          <p:nvPr/>
        </p:nvSpPr>
        <p:spPr>
          <a:xfrm>
            <a:off x="8052078" y="4291608"/>
            <a:ext cx="1758553" cy="219789"/>
          </a:xfrm>
          <a:prstGeom prst="rect">
            <a:avLst/>
          </a:prstGeom>
          <a:noFill/>
          <a:ln/>
        </p:spPr>
        <p:txBody>
          <a:bodyPr wrap="none" lIns="0" tIns="0" rIns="0" bIns="0" rtlCol="0" anchor="t"/>
          <a:lstStyle/>
          <a:p>
            <a:pPr marL="0" indent="0" algn="l">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896</a:t>
            </a:r>
            <a:endParaRPr lang="en-US" dirty="0">
              <a:latin typeface="Arial" panose="020B0604020202020204" pitchFamily="34" charset="0"/>
              <a:cs typeface="Arial" panose="020B0604020202020204" pitchFamily="34" charset="0"/>
            </a:endParaRPr>
          </a:p>
        </p:txBody>
      </p:sp>
      <p:sp>
        <p:nvSpPr>
          <p:cNvPr id="33" name="Text 31"/>
          <p:cNvSpPr/>
          <p:nvPr/>
        </p:nvSpPr>
        <p:spPr>
          <a:xfrm>
            <a:off x="8062675" y="4790121"/>
            <a:ext cx="6109454" cy="428625"/>
          </a:xfrm>
          <a:prstGeom prst="rect">
            <a:avLst/>
          </a:prstGeom>
          <a:noFill/>
          <a:ln/>
        </p:spPr>
        <p:txBody>
          <a:bodyPr wrap="square" lIns="0" tIns="0" rIns="0" bIns="0" rtlCol="0" anchor="t"/>
          <a:lstStyle/>
          <a:p>
            <a:pPr marL="0" indent="0" algn="l">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6, but occupied. Probe to (6 + 1^2) % 10 = 7.Probe to (6+2^2)%10=10%10=0. Place 896 at index 0.</a:t>
            </a:r>
            <a:endParaRPr lang="en-US" dirty="0">
              <a:latin typeface="Arial" panose="020B0604020202020204" pitchFamily="34" charset="0"/>
              <a:cs typeface="Arial" panose="020B0604020202020204" pitchFamily="34" charset="0"/>
            </a:endParaRPr>
          </a:p>
        </p:txBody>
      </p:sp>
      <p:sp>
        <p:nvSpPr>
          <p:cNvPr id="34" name="Shape 32"/>
          <p:cNvSpPr/>
          <p:nvPr/>
        </p:nvSpPr>
        <p:spPr>
          <a:xfrm>
            <a:off x="6710839" y="5054441"/>
            <a:ext cx="468868" cy="15240"/>
          </a:xfrm>
          <a:prstGeom prst="roundRect">
            <a:avLst>
              <a:gd name="adj" fmla="val 369259"/>
            </a:avLst>
          </a:prstGeom>
          <a:solidFill>
            <a:srgbClr val="B2D4E5"/>
          </a:solidFill>
          <a:ln/>
        </p:spPr>
      </p:sp>
      <p:sp>
        <p:nvSpPr>
          <p:cNvPr id="35" name="Shape 33"/>
          <p:cNvSpPr/>
          <p:nvPr/>
        </p:nvSpPr>
        <p:spPr>
          <a:xfrm>
            <a:off x="7164467" y="4911328"/>
            <a:ext cx="301466" cy="301466"/>
          </a:xfrm>
          <a:prstGeom prst="roundRect">
            <a:avLst>
              <a:gd name="adj" fmla="val 18667"/>
            </a:avLst>
          </a:prstGeom>
          <a:solidFill>
            <a:srgbClr val="CCEEFF"/>
          </a:solidFill>
          <a:ln w="7620">
            <a:solidFill>
              <a:srgbClr val="B2D4E5"/>
            </a:solidFill>
            <a:prstDash val="solid"/>
          </a:ln>
        </p:spPr>
      </p:sp>
      <p:sp>
        <p:nvSpPr>
          <p:cNvPr id="36" name="Text 34"/>
          <p:cNvSpPr/>
          <p:nvPr/>
        </p:nvSpPr>
        <p:spPr>
          <a:xfrm>
            <a:off x="7262813" y="4956572"/>
            <a:ext cx="104656"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7</a:t>
            </a:r>
            <a:endParaRPr lang="en-US" dirty="0">
              <a:latin typeface="Arial" panose="020B0604020202020204" pitchFamily="34" charset="0"/>
              <a:cs typeface="Arial" panose="020B0604020202020204" pitchFamily="34" charset="0"/>
            </a:endParaRPr>
          </a:p>
        </p:txBody>
      </p:sp>
      <p:sp>
        <p:nvSpPr>
          <p:cNvPr id="37" name="Text 35"/>
          <p:cNvSpPr/>
          <p:nvPr/>
        </p:nvSpPr>
        <p:spPr>
          <a:xfrm>
            <a:off x="4819769" y="4894540"/>
            <a:ext cx="1758553" cy="219789"/>
          </a:xfrm>
          <a:prstGeom prst="rect">
            <a:avLst/>
          </a:prstGeom>
          <a:noFill/>
          <a:ln/>
        </p:spPr>
        <p:txBody>
          <a:bodyPr wrap="none" lIns="0" tIns="0" rIns="0" bIns="0" rtlCol="0" anchor="t"/>
          <a:lstStyle/>
          <a:p>
            <a:pPr marL="0" indent="0" algn="r">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986</a:t>
            </a:r>
            <a:endParaRPr lang="en-US" dirty="0">
              <a:latin typeface="Arial" panose="020B0604020202020204" pitchFamily="34" charset="0"/>
              <a:cs typeface="Arial" panose="020B0604020202020204" pitchFamily="34" charset="0"/>
            </a:endParaRPr>
          </a:p>
        </p:txBody>
      </p:sp>
      <p:sp>
        <p:nvSpPr>
          <p:cNvPr id="38" name="Text 36"/>
          <p:cNvSpPr/>
          <p:nvPr/>
        </p:nvSpPr>
        <p:spPr>
          <a:xfrm>
            <a:off x="468867" y="5194697"/>
            <a:ext cx="6241971" cy="730686"/>
          </a:xfrm>
          <a:prstGeom prst="rect">
            <a:avLst/>
          </a:prstGeom>
          <a:noFill/>
          <a:ln/>
        </p:spPr>
        <p:txBody>
          <a:bodyPr wrap="square" lIns="0" tIns="0" rIns="0" bIns="0" rtlCol="0" anchor="t"/>
          <a:lstStyle/>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6, but occupied. Probe to (6 + 1^2) % 10 = 7. Probe to (6 + 2^2) % 10 = 0. Probe to(6+3^2)%10=9</a:t>
            </a:r>
            <a:endParaRPr lang="en-US" dirty="0">
              <a:latin typeface="Arial" panose="020B0604020202020204" pitchFamily="34" charset="0"/>
              <a:cs typeface="Arial" panose="020B0604020202020204" pitchFamily="34" charset="0"/>
            </a:endParaRPr>
          </a:p>
        </p:txBody>
      </p:sp>
      <p:sp>
        <p:nvSpPr>
          <p:cNvPr id="39" name="Text 37"/>
          <p:cNvSpPr/>
          <p:nvPr/>
        </p:nvSpPr>
        <p:spPr>
          <a:xfrm>
            <a:off x="468868" y="5703689"/>
            <a:ext cx="6109454" cy="214312"/>
          </a:xfrm>
          <a:prstGeom prst="rect">
            <a:avLst/>
          </a:prstGeom>
          <a:noFill/>
          <a:ln/>
        </p:spPr>
        <p:txBody>
          <a:bodyPr wrap="none" lIns="0" tIns="0" rIns="0" bIns="0" rtlCol="0" anchor="t"/>
          <a:lstStyle/>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Place 986 at index 9.</a:t>
            </a:r>
            <a:endParaRPr lang="en-US" dirty="0">
              <a:latin typeface="Arial" panose="020B0604020202020204" pitchFamily="34" charset="0"/>
              <a:cs typeface="Arial" panose="020B0604020202020204" pitchFamily="34" charset="0"/>
            </a:endParaRPr>
          </a:p>
        </p:txBody>
      </p:sp>
      <p:sp>
        <p:nvSpPr>
          <p:cNvPr id="40" name="Shape 38"/>
          <p:cNvSpPr/>
          <p:nvPr/>
        </p:nvSpPr>
        <p:spPr>
          <a:xfrm>
            <a:off x="7450693" y="5767030"/>
            <a:ext cx="468868" cy="15240"/>
          </a:xfrm>
          <a:prstGeom prst="roundRect">
            <a:avLst>
              <a:gd name="adj" fmla="val 369259"/>
            </a:avLst>
          </a:prstGeom>
          <a:solidFill>
            <a:srgbClr val="B2D4E5"/>
          </a:solidFill>
          <a:ln/>
        </p:spPr>
      </p:sp>
      <p:sp>
        <p:nvSpPr>
          <p:cNvPr id="41" name="Shape 39"/>
          <p:cNvSpPr/>
          <p:nvPr/>
        </p:nvSpPr>
        <p:spPr>
          <a:xfrm>
            <a:off x="7164467" y="5623917"/>
            <a:ext cx="301466" cy="301466"/>
          </a:xfrm>
          <a:prstGeom prst="roundRect">
            <a:avLst>
              <a:gd name="adj" fmla="val 18667"/>
            </a:avLst>
          </a:prstGeom>
          <a:solidFill>
            <a:srgbClr val="CCEEFF"/>
          </a:solidFill>
          <a:ln w="7620">
            <a:solidFill>
              <a:srgbClr val="B2D4E5"/>
            </a:solidFill>
            <a:prstDash val="solid"/>
          </a:ln>
        </p:spPr>
      </p:sp>
      <p:sp>
        <p:nvSpPr>
          <p:cNvPr id="42" name="Text 40"/>
          <p:cNvSpPr/>
          <p:nvPr/>
        </p:nvSpPr>
        <p:spPr>
          <a:xfrm>
            <a:off x="7251621" y="5669161"/>
            <a:ext cx="127040"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8</a:t>
            </a:r>
            <a:endParaRPr lang="en-US" dirty="0">
              <a:latin typeface="Arial" panose="020B0604020202020204" pitchFamily="34" charset="0"/>
              <a:cs typeface="Arial" panose="020B0604020202020204" pitchFamily="34" charset="0"/>
            </a:endParaRPr>
          </a:p>
        </p:txBody>
      </p:sp>
      <p:sp>
        <p:nvSpPr>
          <p:cNvPr id="43" name="Text 41"/>
          <p:cNvSpPr/>
          <p:nvPr/>
        </p:nvSpPr>
        <p:spPr>
          <a:xfrm>
            <a:off x="8052078" y="5607129"/>
            <a:ext cx="1758553" cy="219789"/>
          </a:xfrm>
          <a:prstGeom prst="rect">
            <a:avLst/>
          </a:prstGeom>
          <a:noFill/>
          <a:ln/>
        </p:spPr>
        <p:txBody>
          <a:bodyPr wrap="none" lIns="0" tIns="0" rIns="0" bIns="0" rtlCol="0" anchor="t"/>
          <a:lstStyle/>
          <a:p>
            <a:pPr marL="0" indent="0" algn="l">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987</a:t>
            </a:r>
            <a:endParaRPr lang="en-US" dirty="0">
              <a:latin typeface="Arial" panose="020B0604020202020204" pitchFamily="34" charset="0"/>
              <a:cs typeface="Arial" panose="020B0604020202020204" pitchFamily="34" charset="0"/>
            </a:endParaRPr>
          </a:p>
        </p:txBody>
      </p:sp>
      <p:sp>
        <p:nvSpPr>
          <p:cNvPr id="44" name="Text 42"/>
          <p:cNvSpPr/>
          <p:nvPr/>
        </p:nvSpPr>
        <p:spPr>
          <a:xfrm>
            <a:off x="8052078" y="5907286"/>
            <a:ext cx="6396782" cy="632341"/>
          </a:xfrm>
          <a:prstGeom prst="rect">
            <a:avLst/>
          </a:prstGeom>
          <a:noFill/>
          <a:ln/>
        </p:spPr>
        <p:txBody>
          <a:bodyPr wrap="square" lIns="0" tIns="0" rIns="0" bIns="0" rtlCol="0" anchor="t"/>
          <a:lstStyle/>
          <a:p>
            <a:pPr marL="0" indent="0" algn="l">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7, but occupied. Probe to (7 + 1^2) % 10 = 8. Probe to (7 + 2^2) % 10 =11%10=1. Place 987 at index 1.</a:t>
            </a:r>
            <a:endParaRPr lang="en-US" dirty="0">
              <a:latin typeface="Arial" panose="020B0604020202020204" pitchFamily="34" charset="0"/>
              <a:cs typeface="Arial" panose="020B0604020202020204" pitchFamily="34" charset="0"/>
            </a:endParaRPr>
          </a:p>
        </p:txBody>
      </p:sp>
      <p:sp>
        <p:nvSpPr>
          <p:cNvPr id="45" name="Shape 43"/>
          <p:cNvSpPr/>
          <p:nvPr/>
        </p:nvSpPr>
        <p:spPr>
          <a:xfrm>
            <a:off x="6710839" y="6479738"/>
            <a:ext cx="468868" cy="15240"/>
          </a:xfrm>
          <a:prstGeom prst="roundRect">
            <a:avLst>
              <a:gd name="adj" fmla="val 369259"/>
            </a:avLst>
          </a:prstGeom>
          <a:solidFill>
            <a:srgbClr val="B2D4E5"/>
          </a:solidFill>
          <a:ln/>
        </p:spPr>
      </p:sp>
      <p:sp>
        <p:nvSpPr>
          <p:cNvPr id="46" name="Shape 44"/>
          <p:cNvSpPr/>
          <p:nvPr/>
        </p:nvSpPr>
        <p:spPr>
          <a:xfrm>
            <a:off x="7164467" y="6336625"/>
            <a:ext cx="301466" cy="301466"/>
          </a:xfrm>
          <a:prstGeom prst="roundRect">
            <a:avLst>
              <a:gd name="adj" fmla="val 18667"/>
            </a:avLst>
          </a:prstGeom>
          <a:solidFill>
            <a:srgbClr val="CCEEFF"/>
          </a:solidFill>
          <a:ln w="7620">
            <a:solidFill>
              <a:srgbClr val="B2D4E5"/>
            </a:solidFill>
            <a:prstDash val="solid"/>
          </a:ln>
        </p:spPr>
      </p:sp>
      <p:sp>
        <p:nvSpPr>
          <p:cNvPr id="47" name="Text 45"/>
          <p:cNvSpPr/>
          <p:nvPr/>
        </p:nvSpPr>
        <p:spPr>
          <a:xfrm>
            <a:off x="7250549" y="6381869"/>
            <a:ext cx="129183"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9</a:t>
            </a:r>
            <a:endParaRPr lang="en-US" dirty="0">
              <a:latin typeface="Arial" panose="020B0604020202020204" pitchFamily="34" charset="0"/>
              <a:cs typeface="Arial" panose="020B0604020202020204" pitchFamily="34" charset="0"/>
            </a:endParaRPr>
          </a:p>
        </p:txBody>
      </p:sp>
      <p:sp>
        <p:nvSpPr>
          <p:cNvPr id="48" name="Text 46"/>
          <p:cNvSpPr/>
          <p:nvPr/>
        </p:nvSpPr>
        <p:spPr>
          <a:xfrm>
            <a:off x="4819769" y="6319838"/>
            <a:ext cx="1758553" cy="219789"/>
          </a:xfrm>
          <a:prstGeom prst="rect">
            <a:avLst/>
          </a:prstGeom>
          <a:noFill/>
          <a:ln/>
        </p:spPr>
        <p:txBody>
          <a:bodyPr wrap="none" lIns="0" tIns="0" rIns="0" bIns="0" rtlCol="0" anchor="t"/>
          <a:lstStyle/>
          <a:p>
            <a:pPr marL="0" indent="0" algn="r">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763</a:t>
            </a:r>
            <a:endParaRPr lang="en-US" dirty="0">
              <a:latin typeface="Arial" panose="020B0604020202020204" pitchFamily="34" charset="0"/>
              <a:cs typeface="Arial" panose="020B0604020202020204" pitchFamily="34" charset="0"/>
            </a:endParaRPr>
          </a:p>
        </p:txBody>
      </p:sp>
      <p:sp>
        <p:nvSpPr>
          <p:cNvPr id="49" name="Text 47"/>
          <p:cNvSpPr/>
          <p:nvPr/>
        </p:nvSpPr>
        <p:spPr>
          <a:xfrm>
            <a:off x="1155560" y="6619993"/>
            <a:ext cx="5509557" cy="621031"/>
          </a:xfrm>
          <a:prstGeom prst="rect">
            <a:avLst/>
          </a:prstGeom>
          <a:noFill/>
          <a:ln/>
        </p:spPr>
        <p:txBody>
          <a:bodyPr wrap="none" lIns="0" tIns="0" rIns="0" bIns="0" rtlCol="0" anchor="t"/>
          <a:lstStyle/>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3, but occupied.</a:t>
            </a:r>
          </a:p>
          <a:p>
            <a:pPr marL="0" indent="0" algn="r">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 Probe to (3 + 1^2) % 10 = 4.   Place 763 at index 4.</a:t>
            </a:r>
            <a:endParaRPr lang="en-US" dirty="0">
              <a:latin typeface="Arial" panose="020B0604020202020204" pitchFamily="34" charset="0"/>
              <a:cs typeface="Arial" panose="020B0604020202020204" pitchFamily="34" charset="0"/>
            </a:endParaRPr>
          </a:p>
        </p:txBody>
      </p:sp>
      <p:sp>
        <p:nvSpPr>
          <p:cNvPr id="50" name="Shape 48"/>
          <p:cNvSpPr/>
          <p:nvPr/>
        </p:nvSpPr>
        <p:spPr>
          <a:xfrm>
            <a:off x="7450693" y="7082671"/>
            <a:ext cx="468868" cy="15240"/>
          </a:xfrm>
          <a:prstGeom prst="roundRect">
            <a:avLst>
              <a:gd name="adj" fmla="val 369259"/>
            </a:avLst>
          </a:prstGeom>
          <a:solidFill>
            <a:srgbClr val="B2D4E5"/>
          </a:solidFill>
          <a:ln/>
        </p:spPr>
      </p:sp>
      <p:sp>
        <p:nvSpPr>
          <p:cNvPr id="51" name="Shape 49"/>
          <p:cNvSpPr/>
          <p:nvPr/>
        </p:nvSpPr>
        <p:spPr>
          <a:xfrm>
            <a:off x="7164467" y="6939558"/>
            <a:ext cx="301466" cy="301466"/>
          </a:xfrm>
          <a:prstGeom prst="roundRect">
            <a:avLst>
              <a:gd name="adj" fmla="val 18667"/>
            </a:avLst>
          </a:prstGeom>
          <a:solidFill>
            <a:srgbClr val="CCEEFF"/>
          </a:solidFill>
          <a:ln w="7620">
            <a:solidFill>
              <a:srgbClr val="B2D4E5"/>
            </a:solidFill>
            <a:prstDash val="solid"/>
          </a:ln>
        </p:spPr>
      </p:sp>
      <p:sp>
        <p:nvSpPr>
          <p:cNvPr id="52" name="Text 50"/>
          <p:cNvSpPr/>
          <p:nvPr/>
        </p:nvSpPr>
        <p:spPr>
          <a:xfrm>
            <a:off x="7198400" y="6984802"/>
            <a:ext cx="233601" cy="210979"/>
          </a:xfrm>
          <a:prstGeom prst="rect">
            <a:avLst/>
          </a:prstGeom>
          <a:noFill/>
          <a:ln/>
        </p:spPr>
        <p:txBody>
          <a:bodyPr wrap="none" lIns="0" tIns="0" rIns="0" bIns="0" rtlCol="0" anchor="t"/>
          <a:lstStyle/>
          <a:p>
            <a:pPr marL="0" indent="0" algn="ctr">
              <a:lnSpc>
                <a:spcPts val="165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10</a:t>
            </a:r>
            <a:endParaRPr lang="en-US" dirty="0">
              <a:latin typeface="Arial" panose="020B0604020202020204" pitchFamily="34" charset="0"/>
              <a:cs typeface="Arial" panose="020B0604020202020204" pitchFamily="34" charset="0"/>
            </a:endParaRPr>
          </a:p>
        </p:txBody>
      </p:sp>
      <p:sp>
        <p:nvSpPr>
          <p:cNvPr id="53" name="Text 51"/>
          <p:cNvSpPr/>
          <p:nvPr/>
        </p:nvSpPr>
        <p:spPr>
          <a:xfrm>
            <a:off x="8052078" y="6922770"/>
            <a:ext cx="1758553" cy="219789"/>
          </a:xfrm>
          <a:prstGeom prst="rect">
            <a:avLst/>
          </a:prstGeom>
          <a:noFill/>
          <a:ln/>
        </p:spPr>
        <p:txBody>
          <a:bodyPr wrap="none" lIns="0" tIns="0" rIns="0" bIns="0" rtlCol="0" anchor="t"/>
          <a:lstStyle/>
          <a:p>
            <a:pPr marL="0" indent="0" algn="l">
              <a:lnSpc>
                <a:spcPts val="1700"/>
              </a:lnSpc>
              <a:buNone/>
            </a:pPr>
            <a:r>
              <a:rPr lang="en-US" b="1" dirty="0">
                <a:solidFill>
                  <a:srgbClr val="272525"/>
                </a:solidFill>
                <a:latin typeface="Arial" panose="020B0604020202020204" pitchFamily="34" charset="0"/>
                <a:ea typeface="Petrona Bold" pitchFamily="34" charset="-122"/>
                <a:cs typeface="Arial" panose="020B0604020202020204" pitchFamily="34" charset="0"/>
              </a:rPr>
              <a:t>Insert 783</a:t>
            </a:r>
            <a:endParaRPr lang="en-US" dirty="0">
              <a:latin typeface="Arial" panose="020B0604020202020204" pitchFamily="34" charset="0"/>
              <a:cs typeface="Arial" panose="020B0604020202020204" pitchFamily="34" charset="0"/>
            </a:endParaRPr>
          </a:p>
        </p:txBody>
      </p:sp>
      <p:sp>
        <p:nvSpPr>
          <p:cNvPr id="54" name="Text 52"/>
          <p:cNvSpPr/>
          <p:nvPr/>
        </p:nvSpPr>
        <p:spPr>
          <a:xfrm>
            <a:off x="8028743" y="7222808"/>
            <a:ext cx="6221438" cy="637817"/>
          </a:xfrm>
          <a:prstGeom prst="rect">
            <a:avLst/>
          </a:prstGeom>
          <a:noFill/>
          <a:ln/>
        </p:spPr>
        <p:txBody>
          <a:bodyPr wrap="square" lIns="0" tIns="0" rIns="0" bIns="0" rtlCol="0" anchor="t"/>
          <a:lstStyle/>
          <a:p>
            <a:pPr marL="0" indent="0" algn="l">
              <a:lnSpc>
                <a:spcPts val="1650"/>
              </a:lnSpc>
              <a:buNone/>
            </a:pPr>
            <a:r>
              <a:rPr lang="en-US" dirty="0">
                <a:solidFill>
                  <a:srgbClr val="272525"/>
                </a:solidFill>
                <a:latin typeface="Arial" panose="020B0604020202020204" pitchFamily="34" charset="0"/>
                <a:ea typeface="Inter" pitchFamily="34" charset="-122"/>
                <a:cs typeface="Arial" panose="020B0604020202020204" pitchFamily="34" charset="0"/>
              </a:rPr>
              <a:t>Hash index is 3, but occupied. Probe to (3 + 1^2) % 10 = 4. Probe to (3 + 2^2) % 10 = 7. Probe to (3+3^2)%10=12%10=2.Place 783 at index 2.</a:t>
            </a:r>
            <a:endParaRPr lang="en-US" dirty="0">
              <a:latin typeface="Arial" panose="020B0604020202020204" pitchFamily="34" charset="0"/>
              <a:cs typeface="Arial" panose="020B0604020202020204" pitchFamily="34" charset="0"/>
            </a:endParaRPr>
          </a:p>
        </p:txBody>
      </p:sp>
      <p:sp>
        <p:nvSpPr>
          <p:cNvPr id="55" name="Rectangle 54">
            <a:extLst>
              <a:ext uri="{FF2B5EF4-FFF2-40B4-BE49-F238E27FC236}">
                <a16:creationId xmlns:a16="http://schemas.microsoft.com/office/drawing/2014/main" id="{93C2CB5E-8875-C341-E416-06B7EF8DBC82}"/>
              </a:ext>
            </a:extLst>
          </p:cNvPr>
          <p:cNvSpPr/>
          <p:nvPr/>
        </p:nvSpPr>
        <p:spPr>
          <a:xfrm>
            <a:off x="12871938" y="7767376"/>
            <a:ext cx="1632690" cy="3516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15</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75359" y="1001076"/>
            <a:ext cx="6286501" cy="1246823"/>
          </a:xfrm>
          <a:prstGeom prst="rect">
            <a:avLst/>
          </a:prstGeom>
          <a:noFill/>
          <a:ln/>
        </p:spPr>
        <p:txBody>
          <a:bodyPr wrap="square" lIns="0" tIns="0" rIns="0" bIns="0" rtlCol="0" anchor="t"/>
          <a:lstStyle/>
          <a:p>
            <a:pPr marL="0" indent="0">
              <a:lnSpc>
                <a:spcPts val="585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Advantages and Limitations of Quadratic Probing</a:t>
            </a:r>
            <a:endParaRPr lang="en-US" sz="2000" dirty="0">
              <a:latin typeface="Arial" panose="020B0604020202020204" pitchFamily="34" charset="0"/>
              <a:cs typeface="Arial" panose="020B0604020202020204" pitchFamily="34" charset="0"/>
            </a:endParaRPr>
          </a:p>
        </p:txBody>
      </p:sp>
      <p:sp>
        <p:nvSpPr>
          <p:cNvPr id="3" name="Text 1"/>
          <p:cNvSpPr/>
          <p:nvPr/>
        </p:nvSpPr>
        <p:spPr>
          <a:xfrm>
            <a:off x="793790" y="4400906"/>
            <a:ext cx="3117089" cy="560641"/>
          </a:xfrm>
          <a:prstGeom prst="rect">
            <a:avLst/>
          </a:prstGeom>
          <a:noFill/>
          <a:ln/>
        </p:spPr>
        <p:txBody>
          <a:bodyPr wrap="none" lIns="0" tIns="0" rIns="0" bIns="0" rtlCol="0" anchor="t"/>
          <a:lstStyle/>
          <a:p>
            <a:pPr marL="0" indent="0">
              <a:lnSpc>
                <a:spcPts val="290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            Advantages</a:t>
            </a:r>
            <a:endParaRPr lang="en-US" sz="2000" dirty="0">
              <a:latin typeface="Arial" panose="020B0604020202020204" pitchFamily="34" charset="0"/>
              <a:cs typeface="Arial" panose="020B0604020202020204" pitchFamily="34" charset="0"/>
            </a:endParaRPr>
          </a:p>
        </p:txBody>
      </p:sp>
      <p:sp>
        <p:nvSpPr>
          <p:cNvPr id="4" name="Text 2"/>
          <p:cNvSpPr/>
          <p:nvPr/>
        </p:nvSpPr>
        <p:spPr>
          <a:xfrm>
            <a:off x="1156692" y="4999792"/>
            <a:ext cx="6158508" cy="546828"/>
          </a:xfrm>
          <a:prstGeom prst="rect">
            <a:avLst/>
          </a:prstGeom>
          <a:noFill/>
          <a:ln/>
        </p:spPr>
        <p:txBody>
          <a:bodyPr wrap="none" lIns="0" tIns="0" rIns="0" bIns="0" rtlCol="0" anchor="t"/>
          <a:lstStyle/>
          <a:p>
            <a:pPr marL="342900" indent="-342900" algn="l">
              <a:lnSpc>
                <a:spcPts val="2850"/>
              </a:lnSpc>
              <a:buSzPct val="100000"/>
              <a:buChar char="•"/>
            </a:pPr>
            <a:r>
              <a:rPr lang="en-US" sz="2400" dirty="0">
                <a:solidFill>
                  <a:srgbClr val="272525"/>
                </a:solidFill>
                <a:latin typeface="Arial" panose="020B0604020202020204" pitchFamily="34" charset="0"/>
                <a:ea typeface="Inter" pitchFamily="34" charset="-122"/>
                <a:cs typeface="Arial" panose="020B0604020202020204" pitchFamily="34" charset="0"/>
              </a:rPr>
              <a:t>Simple implementation</a:t>
            </a:r>
            <a:endParaRPr lang="en-US" sz="2400" dirty="0">
              <a:latin typeface="Arial" panose="020B0604020202020204" pitchFamily="34" charset="0"/>
              <a:cs typeface="Arial" panose="020B0604020202020204" pitchFamily="34" charset="0"/>
            </a:endParaRPr>
          </a:p>
        </p:txBody>
      </p:sp>
      <p:sp>
        <p:nvSpPr>
          <p:cNvPr id="5" name="Text 3"/>
          <p:cNvSpPr/>
          <p:nvPr/>
        </p:nvSpPr>
        <p:spPr>
          <a:xfrm>
            <a:off x="1156692" y="5584864"/>
            <a:ext cx="3978016" cy="1058966"/>
          </a:xfrm>
          <a:prstGeom prst="rect">
            <a:avLst/>
          </a:prstGeom>
          <a:noFill/>
          <a:ln/>
        </p:spPr>
        <p:txBody>
          <a:bodyPr wrap="none" lIns="0" tIns="0" rIns="0" bIns="0" rtlCol="0" anchor="t"/>
          <a:lstStyle/>
          <a:p>
            <a:pPr marL="342900" indent="-342900" algn="l">
              <a:lnSpc>
                <a:spcPts val="2850"/>
              </a:lnSpc>
              <a:buSzPct val="100000"/>
              <a:buChar char="•"/>
            </a:pPr>
            <a:r>
              <a:rPr lang="en-US" sz="2400" dirty="0">
                <a:solidFill>
                  <a:srgbClr val="272525"/>
                </a:solidFill>
                <a:latin typeface="Arial" panose="020B0604020202020204" pitchFamily="34" charset="0"/>
                <a:ea typeface="Inter" pitchFamily="34" charset="-122"/>
                <a:cs typeface="Arial" panose="020B0604020202020204" pitchFamily="34" charset="0"/>
              </a:rPr>
              <a:t>Less prone to clustering </a:t>
            </a:r>
          </a:p>
          <a:p>
            <a:pPr algn="l">
              <a:lnSpc>
                <a:spcPts val="2850"/>
              </a:lnSpc>
              <a:buSzPct val="100000"/>
            </a:pPr>
            <a:r>
              <a:rPr lang="en-US" sz="2400" dirty="0">
                <a:solidFill>
                  <a:srgbClr val="272525"/>
                </a:solidFill>
                <a:latin typeface="Arial" panose="020B0604020202020204" pitchFamily="34" charset="0"/>
                <a:ea typeface="Inter" pitchFamily="34" charset="-122"/>
                <a:cs typeface="Arial" panose="020B0604020202020204" pitchFamily="34" charset="0"/>
              </a:rPr>
              <a:t>  compared to linear probing</a:t>
            </a:r>
            <a:endParaRPr lang="en-US" sz="2400" dirty="0">
              <a:latin typeface="Arial" panose="020B0604020202020204" pitchFamily="34" charset="0"/>
              <a:cs typeface="Arial" panose="020B0604020202020204" pitchFamily="34" charset="0"/>
            </a:endParaRPr>
          </a:p>
        </p:txBody>
      </p:sp>
      <p:sp>
        <p:nvSpPr>
          <p:cNvPr id="6" name="Text 4"/>
          <p:cNvSpPr/>
          <p:nvPr/>
        </p:nvSpPr>
        <p:spPr>
          <a:xfrm>
            <a:off x="7599521" y="4400906"/>
            <a:ext cx="3117089" cy="560641"/>
          </a:xfrm>
          <a:prstGeom prst="rect">
            <a:avLst/>
          </a:prstGeom>
          <a:noFill/>
          <a:ln/>
        </p:spPr>
        <p:txBody>
          <a:bodyPr wrap="none" lIns="0" tIns="0" rIns="0" bIns="0" rtlCol="0" anchor="t"/>
          <a:lstStyle/>
          <a:p>
            <a:pPr marL="0" indent="0">
              <a:lnSpc>
                <a:spcPts val="2900"/>
              </a:lnSpc>
              <a:buNone/>
            </a:pPr>
            <a:r>
              <a:rPr lang="en-US" sz="2000" b="1" dirty="0">
                <a:solidFill>
                  <a:srgbClr val="000000"/>
                </a:solidFill>
                <a:latin typeface="Arial" panose="020B0604020202020204" pitchFamily="34" charset="0"/>
                <a:ea typeface="Petrona Bold" pitchFamily="34" charset="-122"/>
                <a:cs typeface="Arial" panose="020B0604020202020204" pitchFamily="34" charset="0"/>
              </a:rPr>
              <a:t>           Limitations</a:t>
            </a:r>
            <a:endParaRPr lang="en-US" sz="2000" dirty="0">
              <a:latin typeface="Arial" panose="020B0604020202020204" pitchFamily="34" charset="0"/>
              <a:cs typeface="Arial" panose="020B0604020202020204" pitchFamily="34" charset="0"/>
            </a:endParaRPr>
          </a:p>
        </p:txBody>
      </p:sp>
      <p:sp>
        <p:nvSpPr>
          <p:cNvPr id="7" name="Text 5"/>
          <p:cNvSpPr/>
          <p:nvPr/>
        </p:nvSpPr>
        <p:spPr>
          <a:xfrm>
            <a:off x="7962423" y="4999791"/>
            <a:ext cx="6238895" cy="723999"/>
          </a:xfrm>
          <a:prstGeom prst="rect">
            <a:avLst/>
          </a:prstGeom>
          <a:noFill/>
          <a:ln/>
        </p:spPr>
        <p:txBody>
          <a:bodyPr wrap="none" lIns="0" tIns="0" rIns="0" bIns="0" rtlCol="0" anchor="t"/>
          <a:lstStyle/>
          <a:p>
            <a:pPr marL="342900" indent="-342900" algn="l">
              <a:lnSpc>
                <a:spcPts val="2850"/>
              </a:lnSpc>
              <a:buSzPct val="100000"/>
              <a:buChar char="•"/>
            </a:pPr>
            <a:r>
              <a:rPr lang="en-US" sz="2400" dirty="0">
                <a:solidFill>
                  <a:srgbClr val="272525"/>
                </a:solidFill>
                <a:latin typeface="Arial" panose="020B0604020202020204" pitchFamily="34" charset="0"/>
                <a:ea typeface="Inter" pitchFamily="34" charset="-122"/>
                <a:cs typeface="Arial" panose="020B0604020202020204" pitchFamily="34" charset="0"/>
              </a:rPr>
              <a:t>Can lead to secondary clustering</a:t>
            </a:r>
          </a:p>
          <a:p>
            <a:pPr algn="l">
              <a:lnSpc>
                <a:spcPts val="2850"/>
              </a:lnSpc>
              <a:buSzPct val="100000"/>
            </a:pPr>
            <a:r>
              <a:rPr lang="en-US" sz="2400" dirty="0">
                <a:solidFill>
                  <a:srgbClr val="272525"/>
                </a:solidFill>
                <a:latin typeface="Arial" panose="020B0604020202020204" pitchFamily="34" charset="0"/>
                <a:ea typeface="Inter" pitchFamily="34" charset="-122"/>
                <a:cs typeface="Arial" panose="020B0604020202020204" pitchFamily="34" charset="0"/>
              </a:rPr>
              <a:t>              in some cases</a:t>
            </a:r>
            <a:endParaRPr lang="en-US" sz="2400" dirty="0">
              <a:latin typeface="Arial" panose="020B0604020202020204" pitchFamily="34" charset="0"/>
              <a:cs typeface="Arial" panose="020B0604020202020204" pitchFamily="34" charset="0"/>
            </a:endParaRPr>
          </a:p>
        </p:txBody>
      </p:sp>
      <p:sp>
        <p:nvSpPr>
          <p:cNvPr id="8" name="Text 6"/>
          <p:cNvSpPr/>
          <p:nvPr/>
        </p:nvSpPr>
        <p:spPr>
          <a:xfrm>
            <a:off x="8042811" y="6097002"/>
            <a:ext cx="6158508" cy="546828"/>
          </a:xfrm>
          <a:prstGeom prst="rect">
            <a:avLst/>
          </a:prstGeom>
          <a:noFill/>
          <a:ln/>
        </p:spPr>
        <p:txBody>
          <a:bodyPr wrap="none" lIns="0" tIns="0" rIns="0" bIns="0" rtlCol="0" anchor="t"/>
          <a:lstStyle/>
          <a:p>
            <a:pPr marL="342900" indent="-342900" algn="l">
              <a:lnSpc>
                <a:spcPts val="2850"/>
              </a:lnSpc>
              <a:buSzPct val="100000"/>
              <a:buChar char="•"/>
            </a:pPr>
            <a:r>
              <a:rPr lang="en-US" sz="2400" dirty="0">
                <a:solidFill>
                  <a:srgbClr val="272525"/>
                </a:solidFill>
                <a:latin typeface="Arial" panose="020B0604020202020204" pitchFamily="34" charset="0"/>
                <a:ea typeface="Inter" pitchFamily="34" charset="-122"/>
                <a:cs typeface="Arial" panose="020B0604020202020204" pitchFamily="34" charset="0"/>
              </a:rPr>
              <a:t>May not be suitable for large hash tables</a:t>
            </a:r>
            <a:endParaRPr lang="en-US" sz="24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52C6D90-BF09-651F-901B-250E616F48C0}"/>
              </a:ext>
            </a:extLst>
          </p:cNvPr>
          <p:cNvSpPr/>
          <p:nvPr/>
        </p:nvSpPr>
        <p:spPr>
          <a:xfrm>
            <a:off x="12881987" y="7797521"/>
            <a:ext cx="1657978" cy="32154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16</a:t>
            </a:r>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26729DC-6DEE-6942-4C84-0756F958C417}"/>
              </a:ext>
            </a:extLst>
          </p:cNvPr>
          <p:cNvSpPr/>
          <p:nvPr/>
        </p:nvSpPr>
        <p:spPr>
          <a:xfrm>
            <a:off x="1959428" y="2090057"/>
            <a:ext cx="10590963" cy="456195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sz="6000" b="1" dirty="0">
                <a:latin typeface="Arial" panose="020B0604020202020204" pitchFamily="34" charset="0"/>
                <a:cs typeface="Arial" panose="020B0604020202020204" pitchFamily="34" charset="0"/>
              </a:rPr>
              <a:t>THANK YOU </a:t>
            </a:r>
          </a:p>
        </p:txBody>
      </p:sp>
      <p:sp>
        <p:nvSpPr>
          <p:cNvPr id="3" name="Rectangle 2">
            <a:extLst>
              <a:ext uri="{FF2B5EF4-FFF2-40B4-BE49-F238E27FC236}">
                <a16:creationId xmlns:a16="http://schemas.microsoft.com/office/drawing/2014/main" id="{04D30A3F-1F2B-FB14-4153-92C5C1B427CC}"/>
              </a:ext>
            </a:extLst>
          </p:cNvPr>
          <p:cNvSpPr/>
          <p:nvPr/>
        </p:nvSpPr>
        <p:spPr>
          <a:xfrm>
            <a:off x="12881987" y="7807569"/>
            <a:ext cx="1647929" cy="3114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17</a:t>
            </a:r>
          </a:p>
        </p:txBody>
      </p:sp>
    </p:spTree>
    <p:extLst>
      <p:ext uri="{BB962C8B-B14F-4D97-AF65-F5344CB8AC3E}">
        <p14:creationId xmlns:p14="http://schemas.microsoft.com/office/powerpoint/2010/main" val="36537551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2013</Words>
  <Application>Microsoft Office PowerPoint</Application>
  <PresentationFormat>Custom</PresentationFormat>
  <Paragraphs>269</Paragraphs>
  <Slides>17</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Petrona Bold</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Akash S</cp:lastModifiedBy>
  <cp:revision>6</cp:revision>
  <dcterms:created xsi:type="dcterms:W3CDTF">2024-10-20T11:52:55Z</dcterms:created>
  <dcterms:modified xsi:type="dcterms:W3CDTF">2024-10-21T02:02:11Z</dcterms:modified>
</cp:coreProperties>
</file>